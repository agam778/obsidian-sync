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2" r:id="rId3"/>
    <p:sldId id="313" r:id="rId4"/>
    <p:sldId id="257" r:id="rId5"/>
    <p:sldId id="366" r:id="rId6"/>
    <p:sldId id="368" r:id="rId7"/>
    <p:sldId id="369" r:id="rId8"/>
    <p:sldId id="370" r:id="rId9"/>
    <p:sldId id="371" r:id="rId10"/>
    <p:sldId id="258" r:id="rId11"/>
    <p:sldId id="367" r:id="rId12"/>
    <p:sldId id="361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20FFC-1BAA-4089-BB78-BFB114F69DE9}" v="62" dt="2025-08-27T07:23:01.69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47" autoAdjust="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4936-67D7-410A-98A3-74B2FDB9C98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860D2-00FC-4F1E-8FA4-8D375C9A45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49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5860D2-00FC-4F1E-8FA4-8D375C9A45F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0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523" y="108203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8944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-3047" y="1036294"/>
            <a:ext cx="9885934" cy="1355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140440" y="3047"/>
            <a:ext cx="1051559" cy="11003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9663683" y="1082039"/>
            <a:ext cx="177165" cy="0"/>
          </a:xfrm>
          <a:custGeom>
            <a:avLst/>
            <a:gdLst/>
            <a:ahLst/>
            <a:cxnLst/>
            <a:rect l="l" t="t" r="r" b="b"/>
            <a:pathLst>
              <a:path w="177165">
                <a:moveTo>
                  <a:pt x="0" y="0"/>
                </a:moveTo>
                <a:lnTo>
                  <a:pt x="176783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523" y="1082039"/>
            <a:ext cx="2529840" cy="0"/>
          </a:xfrm>
          <a:custGeom>
            <a:avLst/>
            <a:gdLst/>
            <a:ahLst/>
            <a:cxnLst/>
            <a:rect l="l" t="t" r="r" b="b"/>
            <a:pathLst>
              <a:path w="2529840">
                <a:moveTo>
                  <a:pt x="0" y="0"/>
                </a:moveTo>
                <a:lnTo>
                  <a:pt x="2529840" y="0"/>
                </a:lnTo>
              </a:path>
            </a:pathLst>
          </a:custGeom>
          <a:ln w="45720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1523" y="1059180"/>
            <a:ext cx="9839325" cy="45720"/>
          </a:xfrm>
          <a:custGeom>
            <a:avLst/>
            <a:gdLst/>
            <a:ahLst/>
            <a:cxnLst/>
            <a:rect l="l" t="t" r="r" b="b"/>
            <a:pathLst>
              <a:path w="9839325" h="45719">
                <a:moveTo>
                  <a:pt x="0" y="45720"/>
                </a:moveTo>
                <a:lnTo>
                  <a:pt x="9838944" y="45720"/>
                </a:lnTo>
                <a:lnTo>
                  <a:pt x="9838944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914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2465832" y="457200"/>
            <a:ext cx="7258684" cy="37260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2531364" y="504444"/>
            <a:ext cx="7132320" cy="3599815"/>
          </a:xfrm>
          <a:custGeom>
            <a:avLst/>
            <a:gdLst/>
            <a:ahLst/>
            <a:cxnLst/>
            <a:rect l="l" t="t" r="r" b="b"/>
            <a:pathLst>
              <a:path w="7132320" h="3599815">
                <a:moveTo>
                  <a:pt x="0" y="3599687"/>
                </a:moveTo>
                <a:lnTo>
                  <a:pt x="7132320" y="3599687"/>
                </a:lnTo>
                <a:lnTo>
                  <a:pt x="7132320" y="0"/>
                </a:lnTo>
                <a:lnTo>
                  <a:pt x="0" y="0"/>
                </a:lnTo>
                <a:lnTo>
                  <a:pt x="0" y="3599687"/>
                </a:lnTo>
                <a:close/>
              </a:path>
            </a:pathLst>
          </a:custGeom>
          <a:ln w="9144">
            <a:solidFill>
              <a:srgbClr val="C7C9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2694432" y="667512"/>
            <a:ext cx="6803135" cy="3273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56491"/>
            <a:ext cx="3932237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98442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268414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3/14/18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prstClr val="black">
                    <a:tint val="75000"/>
                  </a:prstClr>
                </a:solidFill>
              </a:rPr>
              <a:t>Manipal University Jaipur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52CCF-9C18-EE4F-AF97-937D2292C2BD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43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045330"/>
            <a:ext cx="9873373" cy="117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1981" y="2271725"/>
            <a:ext cx="9448037" cy="220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948" y="1379677"/>
            <a:ext cx="10522102" cy="1962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7354" y="6595440"/>
            <a:ext cx="2044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16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20040"/>
            <a:ext cx="11549380" cy="6217920"/>
          </a:xfrm>
          <a:custGeom>
            <a:avLst/>
            <a:gdLst/>
            <a:ahLst/>
            <a:cxnLst/>
            <a:rect l="l" t="t" r="r" b="b"/>
            <a:pathLst>
              <a:path w="11549380" h="6217920">
                <a:moveTo>
                  <a:pt x="0" y="6217920"/>
                </a:moveTo>
                <a:lnTo>
                  <a:pt x="11548872" y="6217920"/>
                </a:lnTo>
                <a:lnTo>
                  <a:pt x="11548872" y="0"/>
                </a:lnTo>
                <a:lnTo>
                  <a:pt x="0" y="0"/>
                </a:lnTo>
                <a:lnTo>
                  <a:pt x="0" y="621792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54296" y="20574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18288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90602" y="2677122"/>
            <a:ext cx="10997245" cy="704488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96335" marR="5080">
              <a:lnSpc>
                <a:spcPts val="5190"/>
              </a:lnSpc>
              <a:spcBef>
                <a:spcPts val="750"/>
              </a:spcBef>
            </a:pPr>
            <a:r>
              <a:rPr lang="en-US" sz="3600" dirty="0">
                <a:solidFill>
                  <a:srgbClr val="3366CC"/>
                </a:solidFill>
              </a:rPr>
              <a:t>Metal Forming: The Basic Concepts</a:t>
            </a:r>
            <a:endParaRPr sz="3600" spc="-60" dirty="0"/>
          </a:p>
        </p:txBody>
      </p:sp>
      <p:sp>
        <p:nvSpPr>
          <p:cNvPr id="5" name="object 5"/>
          <p:cNvSpPr/>
          <p:nvPr/>
        </p:nvSpPr>
        <p:spPr>
          <a:xfrm>
            <a:off x="11204702" y="6175667"/>
            <a:ext cx="49530" cy="85725"/>
          </a:xfrm>
          <a:custGeom>
            <a:avLst/>
            <a:gdLst/>
            <a:ahLst/>
            <a:cxnLst/>
            <a:rect l="l" t="t" r="r" b="b"/>
            <a:pathLst>
              <a:path w="49529" h="85725">
                <a:moveTo>
                  <a:pt x="47244" y="76301"/>
                </a:moveTo>
                <a:lnTo>
                  <a:pt x="2286" y="76301"/>
                </a:lnTo>
                <a:lnTo>
                  <a:pt x="2031" y="76390"/>
                </a:lnTo>
                <a:lnTo>
                  <a:pt x="1777" y="76593"/>
                </a:lnTo>
                <a:lnTo>
                  <a:pt x="1397" y="76784"/>
                </a:lnTo>
                <a:lnTo>
                  <a:pt x="1270" y="77076"/>
                </a:lnTo>
                <a:lnTo>
                  <a:pt x="762" y="77812"/>
                </a:lnTo>
                <a:lnTo>
                  <a:pt x="634" y="78282"/>
                </a:lnTo>
                <a:lnTo>
                  <a:pt x="380" y="79413"/>
                </a:lnTo>
                <a:lnTo>
                  <a:pt x="380" y="82410"/>
                </a:lnTo>
                <a:lnTo>
                  <a:pt x="634" y="83540"/>
                </a:lnTo>
                <a:lnTo>
                  <a:pt x="889" y="83997"/>
                </a:lnTo>
                <a:lnTo>
                  <a:pt x="1143" y="84353"/>
                </a:lnTo>
                <a:lnTo>
                  <a:pt x="1270" y="84696"/>
                </a:lnTo>
                <a:lnTo>
                  <a:pt x="1524" y="84950"/>
                </a:lnTo>
                <a:lnTo>
                  <a:pt x="2031" y="85255"/>
                </a:lnTo>
                <a:lnTo>
                  <a:pt x="2413" y="85331"/>
                </a:lnTo>
                <a:lnTo>
                  <a:pt x="47244" y="85331"/>
                </a:lnTo>
                <a:lnTo>
                  <a:pt x="48768" y="83997"/>
                </a:lnTo>
                <a:lnTo>
                  <a:pt x="49022" y="83540"/>
                </a:lnTo>
                <a:lnTo>
                  <a:pt x="49275" y="82410"/>
                </a:lnTo>
                <a:lnTo>
                  <a:pt x="49275" y="79413"/>
                </a:lnTo>
                <a:lnTo>
                  <a:pt x="48895" y="77812"/>
                </a:lnTo>
                <a:lnTo>
                  <a:pt x="48641" y="77444"/>
                </a:lnTo>
                <a:lnTo>
                  <a:pt x="48514" y="77076"/>
                </a:lnTo>
                <a:lnTo>
                  <a:pt x="48259" y="76784"/>
                </a:lnTo>
                <a:lnTo>
                  <a:pt x="47878" y="76593"/>
                </a:lnTo>
                <a:lnTo>
                  <a:pt x="47625" y="76390"/>
                </a:lnTo>
                <a:lnTo>
                  <a:pt x="47244" y="76301"/>
                </a:lnTo>
                <a:close/>
              </a:path>
              <a:path w="49529" h="85725">
                <a:moveTo>
                  <a:pt x="31623" y="11861"/>
                </a:moveTo>
                <a:lnTo>
                  <a:pt x="20320" y="11861"/>
                </a:lnTo>
                <a:lnTo>
                  <a:pt x="20320" y="76301"/>
                </a:lnTo>
                <a:lnTo>
                  <a:pt x="31623" y="76301"/>
                </a:lnTo>
                <a:lnTo>
                  <a:pt x="31623" y="11861"/>
                </a:lnTo>
                <a:close/>
              </a:path>
              <a:path w="49529" h="85725">
                <a:moveTo>
                  <a:pt x="27431" y="0"/>
                </a:moveTo>
                <a:lnTo>
                  <a:pt x="21463" y="787"/>
                </a:lnTo>
                <a:lnTo>
                  <a:pt x="1904" y="13296"/>
                </a:lnTo>
                <a:lnTo>
                  <a:pt x="1143" y="13817"/>
                </a:lnTo>
                <a:lnTo>
                  <a:pt x="889" y="14084"/>
                </a:lnTo>
                <a:lnTo>
                  <a:pt x="762" y="14350"/>
                </a:lnTo>
                <a:lnTo>
                  <a:pt x="507" y="14655"/>
                </a:lnTo>
                <a:lnTo>
                  <a:pt x="126" y="15786"/>
                </a:lnTo>
                <a:lnTo>
                  <a:pt x="0" y="20040"/>
                </a:lnTo>
                <a:lnTo>
                  <a:pt x="253" y="21348"/>
                </a:lnTo>
                <a:lnTo>
                  <a:pt x="507" y="21818"/>
                </a:lnTo>
                <a:lnTo>
                  <a:pt x="762" y="22110"/>
                </a:lnTo>
                <a:lnTo>
                  <a:pt x="1143" y="22390"/>
                </a:lnTo>
                <a:lnTo>
                  <a:pt x="1524" y="22491"/>
                </a:lnTo>
                <a:lnTo>
                  <a:pt x="2540" y="22313"/>
                </a:lnTo>
                <a:lnTo>
                  <a:pt x="3175" y="22047"/>
                </a:lnTo>
                <a:lnTo>
                  <a:pt x="3937" y="21615"/>
                </a:lnTo>
                <a:lnTo>
                  <a:pt x="20320" y="11861"/>
                </a:lnTo>
                <a:lnTo>
                  <a:pt x="31623" y="11861"/>
                </a:lnTo>
                <a:lnTo>
                  <a:pt x="31623" y="1320"/>
                </a:lnTo>
                <a:lnTo>
                  <a:pt x="31369" y="1092"/>
                </a:lnTo>
                <a:lnTo>
                  <a:pt x="31242" y="850"/>
                </a:lnTo>
                <a:lnTo>
                  <a:pt x="30988" y="647"/>
                </a:lnTo>
                <a:lnTo>
                  <a:pt x="30225" y="342"/>
                </a:lnTo>
                <a:lnTo>
                  <a:pt x="29718" y="228"/>
                </a:lnTo>
                <a:lnTo>
                  <a:pt x="28321" y="50"/>
                </a:lnTo>
                <a:lnTo>
                  <a:pt x="27431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D0A4B27-CA26-7C2F-BB7E-F1E69664A6D2}"/>
              </a:ext>
            </a:extLst>
          </p:cNvPr>
          <p:cNvSpPr txBox="1">
            <a:spLocks/>
          </p:cNvSpPr>
          <p:nvPr/>
        </p:nvSpPr>
        <p:spPr>
          <a:xfrm>
            <a:off x="438467" y="2665971"/>
            <a:ext cx="4100450" cy="76302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3695700" marR="5080" indent="-2803525">
              <a:lnSpc>
                <a:spcPts val="5190"/>
              </a:lnSpc>
              <a:spcBef>
                <a:spcPts val="750"/>
              </a:spcBef>
            </a:pPr>
            <a:r>
              <a:rPr lang="en-US" kern="0" dirty="0">
                <a:solidFill>
                  <a:srgbClr val="3366CC"/>
                </a:solidFill>
              </a:rPr>
              <a:t>Lecture 13</a:t>
            </a:r>
            <a:endParaRPr lang="en-US" kern="0" spc="-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AFE203F-48CF-F96F-E8E1-55AC5690B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5867400" cy="685800"/>
          </a:xfrm>
          <a:noFill/>
        </p:spPr>
        <p:txBody>
          <a:bodyPr>
            <a:noAutofit/>
          </a:bodyPr>
          <a:lstStyle/>
          <a:p>
            <a:pPr algn="l" eaLnBrk="1" hangingPunct="1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</a:rPr>
              <a:t>Metal Forming Process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D4BBC49-A308-FA6C-7007-AC803C3698D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11049000" cy="1676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90170" indent="-90170" algn="just">
              <a:lnSpc>
                <a:spcPct val="115000"/>
              </a:lnSpc>
              <a:spcBef>
                <a:spcPts val="1200"/>
              </a:spcBef>
            </a:pPr>
            <a:r>
              <a:rPr lang="en-US" sz="3200" dirty="0">
                <a:solidFill>
                  <a:srgbClr val="FF0000"/>
                </a:solidFill>
                <a:ea typeface="Times New Roman"/>
                <a:cs typeface="Arial"/>
              </a:rPr>
              <a:t>Metal Forming Process</a:t>
            </a:r>
            <a:r>
              <a:rPr lang="en-US" sz="3200" dirty="0">
                <a:solidFill>
                  <a:schemeClr val="tx1"/>
                </a:solidFill>
                <a:ea typeface="Times New Roman"/>
                <a:cs typeface="Arial"/>
              </a:rPr>
              <a:t>: A Fabrication process in which parts/components are produced by subjecting the material to heavy plastic deformation.</a:t>
            </a:r>
          </a:p>
        </p:txBody>
      </p:sp>
      <p:pic>
        <p:nvPicPr>
          <p:cNvPr id="1026" name="Picture 2" descr="Metal Forming: Basic, Types , Diagram ...">
            <a:extLst>
              <a:ext uri="{FF2B5EF4-FFF2-40B4-BE49-F238E27FC236}">
                <a16:creationId xmlns:a16="http://schemas.microsoft.com/office/drawing/2014/main" id="{86CBD3DE-41A7-FBA8-0F10-62E669101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7"/>
          <a:stretch>
            <a:fillRect/>
          </a:stretch>
        </p:blipFill>
        <p:spPr bwMode="auto">
          <a:xfrm>
            <a:off x="5410200" y="2623128"/>
            <a:ext cx="5638800" cy="400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Write short notes on Stress strain diagram of ductile ...">
            <a:extLst>
              <a:ext uri="{FF2B5EF4-FFF2-40B4-BE49-F238E27FC236}">
                <a16:creationId xmlns:a16="http://schemas.microsoft.com/office/drawing/2014/main" id="{C2E686A0-2405-D95E-0C2C-018FED719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390900"/>
            <a:ext cx="4949911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65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900BF6F-9873-7DAF-F65C-0F2F01D0ACB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04800"/>
            <a:ext cx="8077200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>
              <a:defRPr sz="4800" b="0" i="0">
                <a:solidFill>
                  <a:srgbClr val="2E54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algn="l"/>
            <a:r>
              <a:rPr lang="en-US" sz="4000" b="1" kern="0" dirty="0">
                <a:solidFill>
                  <a:schemeClr val="accent1">
                    <a:lumMod val="50000"/>
                  </a:schemeClr>
                </a:solidFill>
              </a:rPr>
              <a:t>Different Metal Forming Processes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63213-B7E8-8021-BC25-B6A6F7BD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200"/>
            <a:ext cx="5943600" cy="542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04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693" y="2623917"/>
            <a:ext cx="6832441" cy="32043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610" algn="just">
              <a:lnSpc>
                <a:spcPct val="150000"/>
              </a:lnSpc>
              <a:spcBef>
                <a:spcPts val="1560"/>
              </a:spcBef>
            </a:pPr>
            <a:r>
              <a:rPr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Rolling:</a:t>
            </a:r>
            <a:r>
              <a:rPr b="1" spc="-1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process,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of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rotating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direction,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reduced.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rotating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slab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gap and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it.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sheet.</a:t>
            </a:r>
            <a:endParaRPr lang="en-US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4610" algn="just">
              <a:lnSpc>
                <a:spcPct val="150000"/>
              </a:lnSpc>
              <a:spcBef>
                <a:spcPts val="156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50000"/>
              </a:lnSpc>
              <a:spcBef>
                <a:spcPts val="960"/>
              </a:spcBef>
            </a:pPr>
            <a:r>
              <a:rPr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Forging:</a:t>
            </a:r>
            <a:r>
              <a:rPr b="1" spc="-4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contours.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die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imparted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44560"/>
            <a:ext cx="944803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rgbClr val="660066"/>
                </a:solidFill>
              </a:rPr>
              <a:t>B</a:t>
            </a:r>
            <a:r>
              <a:rPr dirty="0">
                <a:solidFill>
                  <a:srgbClr val="660066"/>
                </a:solidFill>
              </a:rPr>
              <a:t>ulk</a:t>
            </a:r>
            <a:r>
              <a:rPr spc="-5" dirty="0">
                <a:solidFill>
                  <a:srgbClr val="660066"/>
                </a:solidFill>
              </a:rPr>
              <a:t> </a:t>
            </a:r>
            <a:r>
              <a:rPr lang="en-US" spc="-5" dirty="0">
                <a:solidFill>
                  <a:srgbClr val="660066"/>
                </a:solidFill>
              </a:rPr>
              <a:t>F</a:t>
            </a:r>
            <a:r>
              <a:rPr dirty="0">
                <a:solidFill>
                  <a:srgbClr val="660066"/>
                </a:solidFill>
              </a:rPr>
              <a:t>orming</a:t>
            </a:r>
            <a:r>
              <a:rPr spc="-10" dirty="0">
                <a:solidFill>
                  <a:srgbClr val="660066"/>
                </a:solidFill>
              </a:rPr>
              <a:t> </a:t>
            </a:r>
            <a:r>
              <a:rPr lang="en-US" spc="-10" dirty="0">
                <a:solidFill>
                  <a:srgbClr val="660066"/>
                </a:solidFill>
              </a:rPr>
              <a:t>P</a:t>
            </a:r>
            <a:r>
              <a:rPr spc="-10" dirty="0">
                <a:solidFill>
                  <a:srgbClr val="660066"/>
                </a:solidFill>
              </a:rPr>
              <a:t>rocesses</a:t>
            </a:r>
            <a:r>
              <a:rPr lang="en-US" spc="-10" dirty="0">
                <a:solidFill>
                  <a:srgbClr val="660066"/>
                </a:solidFill>
              </a:rPr>
              <a:t> (1)</a:t>
            </a:r>
            <a:endParaRPr spc="-10" dirty="0">
              <a:solidFill>
                <a:srgbClr val="660066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31B636-CECB-5593-59EA-4F3F5486434F}"/>
              </a:ext>
            </a:extLst>
          </p:cNvPr>
          <p:cNvGrpSpPr/>
          <p:nvPr/>
        </p:nvGrpSpPr>
        <p:grpSpPr>
          <a:xfrm>
            <a:off x="7249886" y="2811866"/>
            <a:ext cx="4713514" cy="3254096"/>
            <a:chOff x="2085075" y="749006"/>
            <a:chExt cx="4127099" cy="234326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5075" y="749006"/>
              <a:ext cx="4115058" cy="2036757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2669845" y="2772283"/>
              <a:ext cx="1062723" cy="31999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600" b="1" spc="-10" dirty="0">
                  <a:latin typeface="Arial"/>
                  <a:cs typeface="Arial"/>
                </a:rPr>
                <a:t>Rolling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879975" y="2315082"/>
              <a:ext cx="1332199" cy="319992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600" b="1" spc="-10" dirty="0">
                  <a:latin typeface="Arial"/>
                  <a:cs typeface="Arial"/>
                </a:rPr>
                <a:t>Forging</a:t>
              </a:r>
              <a:endParaRPr sz="1600" dirty="0">
                <a:latin typeface="Arial"/>
                <a:cs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91FFD25-9E2B-01DA-2DB5-65C8131D998B}"/>
              </a:ext>
            </a:extLst>
          </p:cNvPr>
          <p:cNvSpPr txBox="1"/>
          <p:nvPr/>
        </p:nvSpPr>
        <p:spPr>
          <a:xfrm>
            <a:off x="315686" y="1180055"/>
            <a:ext cx="11647714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Bulk</a:t>
            </a:r>
            <a:r>
              <a:rPr lang="en-US" sz="2400" b="1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forming:</a:t>
            </a:r>
            <a:r>
              <a:rPr lang="en-US" sz="2400" b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deformation</a:t>
            </a:r>
            <a:r>
              <a:rPr lang="en-US" sz="24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results in a significant</a:t>
            </a:r>
            <a:r>
              <a:rPr lang="en-US" sz="2400" spc="-4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change.</a:t>
            </a:r>
            <a:r>
              <a:rPr lang="en-US" sz="2400" spc="-5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>
              <a:spcBef>
                <a:spcPts val="95"/>
              </a:spcBef>
            </a:pPr>
            <a:r>
              <a:rPr lang="en-US" sz="24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area-</a:t>
            </a:r>
            <a:r>
              <a:rPr lang="en-US"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ratio of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is</a:t>
            </a:r>
            <a:r>
              <a:rPr lang="en-US" sz="2400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small.</a:t>
            </a:r>
            <a:r>
              <a:rPr lang="en-US" sz="24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Mostly</a:t>
            </a:r>
            <a:r>
              <a:rPr lang="en-US" sz="24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n-US" sz="24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35348A4-555B-C1BD-D11F-2B6E06DC3E15}"/>
              </a:ext>
            </a:extLst>
          </p:cNvPr>
          <p:cNvGrpSpPr/>
          <p:nvPr/>
        </p:nvGrpSpPr>
        <p:grpSpPr>
          <a:xfrm>
            <a:off x="6629400" y="1981200"/>
            <a:ext cx="4876800" cy="2548121"/>
            <a:chOff x="6413120" y="972422"/>
            <a:chExt cx="4065684" cy="19058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3120" y="972422"/>
              <a:ext cx="4065684" cy="1404065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6937629" y="2619882"/>
              <a:ext cx="96075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600" b="1" spc="-10" dirty="0">
                  <a:latin typeface="Arial"/>
                  <a:cs typeface="Arial"/>
                </a:rPr>
                <a:t>Extrusion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8919464" y="2467482"/>
              <a:ext cx="1304290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600" b="1" dirty="0">
                  <a:latin typeface="Arial"/>
                  <a:cs typeface="Arial"/>
                </a:rPr>
                <a:t>Wire</a:t>
              </a:r>
              <a:r>
                <a:rPr sz="1600" b="1" spc="-35" dirty="0">
                  <a:latin typeface="Arial"/>
                  <a:cs typeface="Arial"/>
                </a:rPr>
                <a:t> </a:t>
              </a:r>
              <a:r>
                <a:rPr sz="1600" b="1" spc="-10" dirty="0">
                  <a:latin typeface="Arial"/>
                  <a:cs typeface="Arial"/>
                </a:rPr>
                <a:t>drawing</a:t>
              </a:r>
              <a:endParaRPr sz="1600">
                <a:latin typeface="Arial"/>
                <a:cs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A118BB8-E5AD-D9F6-98D9-3F035DFA246D}"/>
              </a:ext>
            </a:extLst>
          </p:cNvPr>
          <p:cNvSpPr txBox="1"/>
          <p:nvPr/>
        </p:nvSpPr>
        <p:spPr>
          <a:xfrm>
            <a:off x="304800" y="1579090"/>
            <a:ext cx="6096000" cy="4714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387985" algn="just">
              <a:lnSpc>
                <a:spcPct val="150000"/>
              </a:lnSpc>
              <a:spcBef>
                <a:spcPts val="960"/>
              </a:spcBef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Extrusion:</a:t>
            </a:r>
            <a:r>
              <a:rPr lang="en-US" sz="2400" b="1" spc="-2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this,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pushed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" marR="387985" algn="just">
              <a:lnSpc>
                <a:spcPct val="150000"/>
              </a:lnSpc>
              <a:spcBef>
                <a:spcPts val="96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47955" algn="just">
              <a:lnSpc>
                <a:spcPct val="150000"/>
              </a:lnSpc>
              <a:spcBef>
                <a:spcPts val="960"/>
              </a:spcBef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</a:t>
            </a:r>
            <a:r>
              <a:rPr lang="en-US" sz="2400" b="1" spc="-4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1" spc="-3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rod</a:t>
            </a:r>
            <a:r>
              <a:rPr lang="en-US" sz="2400" b="1" spc="-4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drawing:</a:t>
            </a:r>
            <a:r>
              <a:rPr lang="en-US" sz="2400" b="1" spc="-4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extrusion,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pulled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take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section.</a:t>
            </a:r>
            <a:r>
              <a:rPr lang="en-US" sz="24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aseline="-595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E698EFC-483B-7D21-E5F9-5803DFB6F0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4560"/>
            <a:ext cx="944803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rgbClr val="660066"/>
                </a:solidFill>
              </a:rPr>
              <a:t>B</a:t>
            </a:r>
            <a:r>
              <a:rPr dirty="0">
                <a:solidFill>
                  <a:srgbClr val="660066"/>
                </a:solidFill>
              </a:rPr>
              <a:t>ulk</a:t>
            </a:r>
            <a:r>
              <a:rPr spc="-5" dirty="0">
                <a:solidFill>
                  <a:srgbClr val="660066"/>
                </a:solidFill>
              </a:rPr>
              <a:t> </a:t>
            </a:r>
            <a:r>
              <a:rPr lang="en-US" spc="-5" dirty="0">
                <a:solidFill>
                  <a:srgbClr val="660066"/>
                </a:solidFill>
              </a:rPr>
              <a:t>F</a:t>
            </a:r>
            <a:r>
              <a:rPr dirty="0">
                <a:solidFill>
                  <a:srgbClr val="660066"/>
                </a:solidFill>
              </a:rPr>
              <a:t>orming</a:t>
            </a:r>
            <a:r>
              <a:rPr spc="-10" dirty="0">
                <a:solidFill>
                  <a:srgbClr val="660066"/>
                </a:solidFill>
              </a:rPr>
              <a:t> </a:t>
            </a:r>
            <a:r>
              <a:rPr lang="en-US" spc="-10" dirty="0">
                <a:solidFill>
                  <a:srgbClr val="660066"/>
                </a:solidFill>
              </a:rPr>
              <a:t>P</a:t>
            </a:r>
            <a:r>
              <a:rPr spc="-10" dirty="0">
                <a:solidFill>
                  <a:srgbClr val="660066"/>
                </a:solidFill>
              </a:rPr>
              <a:t>rocesses</a:t>
            </a:r>
            <a:r>
              <a:rPr lang="en-US" spc="-10" dirty="0">
                <a:solidFill>
                  <a:srgbClr val="660066"/>
                </a:solidFill>
              </a:rPr>
              <a:t> (2)</a:t>
            </a:r>
            <a:endParaRPr spc="-10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58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9C89C-86D8-628C-AB9C-EAA404AC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082598"/>
            <a:ext cx="9144000" cy="553998"/>
          </a:xfrm>
        </p:spPr>
        <p:txBody>
          <a:bodyPr/>
          <a:lstStyle/>
          <a:p>
            <a:pPr algn="l"/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Working Processes: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3EE5B-38DC-BB09-EE2A-A048872B1DC2}"/>
              </a:ext>
            </a:extLst>
          </p:cNvPr>
          <p:cNvSpPr txBox="1"/>
          <p:nvPr/>
        </p:nvSpPr>
        <p:spPr>
          <a:xfrm>
            <a:off x="0" y="381000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Bulk Forming Processes: Hot Working and Cold Working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52D710-05BC-0F85-A97E-06AEECC07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6" t="17635" r="11539" b="9626"/>
          <a:stretch>
            <a:fillRect/>
          </a:stretch>
        </p:blipFill>
        <p:spPr>
          <a:xfrm>
            <a:off x="6982971" y="1336501"/>
            <a:ext cx="4653858" cy="2517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222F85-3BAA-5C6B-CA9A-A0A6C61347C5}"/>
              </a:ext>
            </a:extLst>
          </p:cNvPr>
          <p:cNvSpPr txBox="1"/>
          <p:nvPr/>
        </p:nvSpPr>
        <p:spPr>
          <a:xfrm>
            <a:off x="533400" y="2057400"/>
            <a:ext cx="6019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bulk deformation process occurs above the recrystallization temperature.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and hardness decrease because of recrystallization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deformation process is carried out at a higher temperature, but lower than the melting temperature (0.5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0.75 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91907-69DE-8990-6860-153E508E8461}"/>
              </a:ext>
            </a:extLst>
          </p:cNvPr>
          <p:cNvSpPr txBox="1"/>
          <p:nvPr/>
        </p:nvSpPr>
        <p:spPr>
          <a:xfrm>
            <a:off x="6705600" y="3832391"/>
            <a:ext cx="5105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crystals are formed due to recrystallization, which are strain-free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residual stresses.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finish is not good.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force is required.</a:t>
            </a:r>
          </a:p>
        </p:txBody>
      </p:sp>
    </p:spTree>
    <p:extLst>
      <p:ext uri="{BB962C8B-B14F-4D97-AF65-F5344CB8AC3E}">
        <p14:creationId xmlns:p14="http://schemas.microsoft.com/office/powerpoint/2010/main" val="49842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D7B49D-DAB3-EE28-203B-40B0D826B2F6}"/>
              </a:ext>
            </a:extLst>
          </p:cNvPr>
          <p:cNvSpPr txBox="1"/>
          <p:nvPr/>
        </p:nvSpPr>
        <p:spPr>
          <a:xfrm>
            <a:off x="381000" y="962828"/>
            <a:ext cx="64770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>
              <a:lnSpc>
                <a:spcPct val="150000"/>
              </a:lnSpc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2400" b="1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deformation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to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64769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shape,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64769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required,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64769">
              <a:lnSpc>
                <a:spcPct val="150000"/>
              </a:lnSpc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premature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formed,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64769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hardening.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02BDC-52F4-1493-E868-7CD2410FFDFD}"/>
              </a:ext>
            </a:extLst>
          </p:cNvPr>
          <p:cNvSpPr txBox="1"/>
          <p:nvPr/>
        </p:nvSpPr>
        <p:spPr>
          <a:xfrm>
            <a:off x="533400" y="25494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Working Processes: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E052E-B9B8-0F57-0C24-5A21D308D269}"/>
              </a:ext>
            </a:extLst>
          </p:cNvPr>
          <p:cNvSpPr txBox="1"/>
          <p:nvPr/>
        </p:nvSpPr>
        <p:spPr>
          <a:xfrm>
            <a:off x="7010400" y="1066800"/>
            <a:ext cx="48768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marR="787400">
              <a:lnSpc>
                <a:spcPct val="150000"/>
              </a:lnSpc>
              <a:spcBef>
                <a:spcPts val="5"/>
              </a:spcBef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  <a:r>
              <a:rPr lang="en-US" sz="2400" b="1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93700" marR="787400" indent="-342900">
              <a:lnSpc>
                <a:spcPct val="150000"/>
              </a:lnSpc>
              <a:spcBef>
                <a:spcPts val="5"/>
              </a:spcBef>
              <a:buAutoNum type="arabi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life,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93700" marR="787400" indent="-342900">
              <a:lnSpc>
                <a:spcPct val="150000"/>
              </a:lnSpc>
              <a:spcBef>
                <a:spcPts val="5"/>
              </a:spcBef>
              <a:buAutoNum type="arabi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finish, </a:t>
            </a:r>
          </a:p>
          <a:p>
            <a:pPr marL="393700" marR="787400" indent="-342900">
              <a:lnSpc>
                <a:spcPct val="150000"/>
              </a:lnSpc>
              <a:spcBef>
                <a:spcPts val="5"/>
              </a:spcBef>
              <a:buAutoNum type="arabicParenBoth"/>
            </a:pP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</a:t>
            </a:r>
            <a:r>
              <a:rPr lang="en-US"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93700" marR="787400" indent="-342900">
              <a:lnSpc>
                <a:spcPct val="150000"/>
              </a:lnSpc>
              <a:spcBef>
                <a:spcPts val="5"/>
              </a:spcBef>
              <a:buAutoNum type="arabicParenBoth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15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ypes of Cold Working Processes: Definitions,… | Ulbrich">
            <a:extLst>
              <a:ext uri="{FF2B5EF4-FFF2-40B4-BE49-F238E27FC236}">
                <a16:creationId xmlns:a16="http://schemas.microsoft.com/office/drawing/2014/main" id="{C8CBA5C4-6D36-C77A-3132-80BF09FB7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7"/>
          <a:stretch>
            <a:fillRect/>
          </a:stretch>
        </p:blipFill>
        <p:spPr bwMode="auto">
          <a:xfrm>
            <a:off x="9753600" y="3169756"/>
            <a:ext cx="2203602" cy="253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264F0-CE46-5946-1548-4388F5333E64}"/>
              </a:ext>
            </a:extLst>
          </p:cNvPr>
          <p:cNvSpPr txBox="1"/>
          <p:nvPr/>
        </p:nvSpPr>
        <p:spPr>
          <a:xfrm>
            <a:off x="533400" y="25494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Working Processes: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7F84D-C79C-07C2-6583-0BE14677C5C5}"/>
              </a:ext>
            </a:extLst>
          </p:cNvPr>
          <p:cNvSpPr txBox="1"/>
          <p:nvPr/>
        </p:nvSpPr>
        <p:spPr>
          <a:xfrm>
            <a:off x="234798" y="1371600"/>
            <a:ext cx="11347602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bulk deformation process occurs below the recrystallization temperature.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hardening leads to an increase in strength and hardness.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Ductility decreases.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Internal/residual stresses set up in the material.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new crystal forms.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finish can be achieved.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force and power are required.</a:t>
            </a:r>
          </a:p>
        </p:txBody>
      </p:sp>
    </p:spTree>
    <p:extLst>
      <p:ext uri="{BB962C8B-B14F-4D97-AF65-F5344CB8AC3E}">
        <p14:creationId xmlns:p14="http://schemas.microsoft.com/office/powerpoint/2010/main" val="319809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6E0201-1FBD-D6DB-A10C-8F1E9D537DFA}"/>
              </a:ext>
            </a:extLst>
          </p:cNvPr>
          <p:cNvSpPr txBox="1"/>
          <p:nvPr/>
        </p:nvSpPr>
        <p:spPr>
          <a:xfrm>
            <a:off x="304800" y="1600200"/>
            <a:ext cx="11353800" cy="519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3700" marR="41592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case,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forming is performed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temperatures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recrystallization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temperature.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93700" marR="415925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temperature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</a:t>
            </a:r>
            <a:r>
              <a:rPr lang="en-US" sz="2400" i="1" spc="-30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400" i="1" spc="209" baseline="-208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melting point</a:t>
            </a:r>
            <a:r>
              <a:rPr lang="en-US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workpiece.</a:t>
            </a:r>
          </a:p>
          <a:p>
            <a:pPr marL="50800" marR="415925" algn="just"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3180" algn="just">
              <a:lnSpc>
                <a:spcPct val="100000"/>
              </a:lnSpc>
              <a:spcBef>
                <a:spcPts val="5"/>
              </a:spcBef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r>
              <a:rPr lang="en-US" sz="2400" b="1" spc="-1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43180" algn="just">
              <a:lnSpc>
                <a:spcPct val="150000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nhanced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deformation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properties,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43180" algn="just">
              <a:lnSpc>
                <a:spcPct val="150000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ower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required,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43180" algn="just">
              <a:lnSpc>
                <a:spcPct val="150000"/>
              </a:lnSpc>
              <a:spcBef>
                <a:spcPts val="5"/>
              </a:spcBef>
            </a:pP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ntricate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geometries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possible,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0800" marR="43180" algn="just">
              <a:lnSpc>
                <a:spcPct val="150000"/>
              </a:lnSpc>
              <a:spcBef>
                <a:spcPts val="5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Annealing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B4385-921F-5046-8A0C-6F1EC9422769}"/>
              </a:ext>
            </a:extLst>
          </p:cNvPr>
          <p:cNvSpPr txBox="1"/>
          <p:nvPr/>
        </p:nvSpPr>
        <p:spPr>
          <a:xfrm>
            <a:off x="1447800" y="228600"/>
            <a:ext cx="6477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Worm Working Process</a:t>
            </a:r>
          </a:p>
        </p:txBody>
      </p:sp>
    </p:spTree>
    <p:extLst>
      <p:ext uri="{BB962C8B-B14F-4D97-AF65-F5344CB8AC3E}">
        <p14:creationId xmlns:p14="http://schemas.microsoft.com/office/powerpoint/2010/main" val="2280729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3813" y="4343400"/>
            <a:ext cx="7902384" cy="18737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0685" algn="just">
              <a:lnSpc>
                <a:spcPct val="150000"/>
              </a:lnSpc>
              <a:spcBef>
                <a:spcPts val="1440"/>
              </a:spcBef>
            </a:pPr>
            <a:r>
              <a:rPr sz="28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Bending:</a:t>
            </a:r>
            <a:r>
              <a:rPr sz="2800" b="1" spc="-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strained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(angle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shape)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9508" y="0"/>
            <a:ext cx="944803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rgbClr val="660066"/>
                </a:solidFill>
              </a:rPr>
              <a:t>S</a:t>
            </a:r>
            <a:r>
              <a:rPr dirty="0">
                <a:solidFill>
                  <a:srgbClr val="660066"/>
                </a:solidFill>
              </a:rPr>
              <a:t>heet </a:t>
            </a:r>
            <a:r>
              <a:rPr lang="en-US" dirty="0">
                <a:solidFill>
                  <a:srgbClr val="660066"/>
                </a:solidFill>
              </a:rPr>
              <a:t>Metal F</a:t>
            </a:r>
            <a:r>
              <a:rPr dirty="0">
                <a:solidFill>
                  <a:srgbClr val="660066"/>
                </a:solidFill>
              </a:rPr>
              <a:t>orming</a:t>
            </a:r>
            <a:r>
              <a:rPr spc="-15" dirty="0">
                <a:solidFill>
                  <a:srgbClr val="660066"/>
                </a:solidFill>
              </a:rPr>
              <a:t> </a:t>
            </a:r>
            <a:r>
              <a:rPr lang="en-US" spc="-10" dirty="0">
                <a:solidFill>
                  <a:srgbClr val="660066"/>
                </a:solidFill>
              </a:rPr>
              <a:t>P</a:t>
            </a:r>
            <a:r>
              <a:rPr spc="-10" dirty="0">
                <a:solidFill>
                  <a:srgbClr val="660066"/>
                </a:solidFill>
              </a:rPr>
              <a:t>rocesses</a:t>
            </a:r>
            <a:r>
              <a:rPr lang="en-US" spc="-10" dirty="0">
                <a:solidFill>
                  <a:srgbClr val="660066"/>
                </a:solidFill>
              </a:rPr>
              <a:t> (1)</a:t>
            </a:r>
            <a:endParaRPr spc="-10" dirty="0">
              <a:solidFill>
                <a:srgbClr val="660066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r="55347"/>
          <a:stretch>
            <a:fillRect/>
          </a:stretch>
        </p:blipFill>
        <p:spPr>
          <a:xfrm>
            <a:off x="8523515" y="3429000"/>
            <a:ext cx="3184672" cy="28684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829800" y="6353375"/>
            <a:ext cx="120112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2374900" algn="l"/>
              </a:tabLst>
            </a:pPr>
            <a:r>
              <a:rPr sz="1600" b="1" spc="-10" dirty="0">
                <a:latin typeface="Arial"/>
                <a:cs typeface="Arial"/>
              </a:rPr>
              <a:t>Bending</a:t>
            </a:r>
            <a:r>
              <a:rPr sz="1600" b="1" dirty="0">
                <a:latin typeface="Arial"/>
                <a:cs typeface="Arial"/>
              </a:rPr>
              <a:t>	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E4D2D1-43EC-A123-9F80-48A9C362B3B4}"/>
              </a:ext>
            </a:extLst>
          </p:cNvPr>
          <p:cNvSpPr txBox="1"/>
          <p:nvPr/>
        </p:nvSpPr>
        <p:spPr>
          <a:xfrm>
            <a:off x="228600" y="1019243"/>
            <a:ext cx="11963400" cy="262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lang="en-US" sz="28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2800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</a:t>
            </a:r>
            <a:r>
              <a:rPr lang="en-US" sz="2800" spc="-6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cutting</a:t>
            </a:r>
            <a:r>
              <a:rPr lang="en-US" sz="2800" spc="-4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800" spc="-3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sheets,</a:t>
            </a:r>
            <a:r>
              <a:rPr lang="en-US" sz="28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strips,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coils.</a:t>
            </a:r>
            <a:r>
              <a:rPr lang="en-US" sz="2800" spc="-7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</a:t>
            </a:r>
            <a:r>
              <a:rPr lang="en-US" sz="28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area-to-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en-US" sz="28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en-US" sz="28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8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US" sz="28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2800" spc="-2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800" spc="-2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</a:t>
            </a:r>
            <a:r>
              <a:rPr lang="en-US" sz="2800" spc="-4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high. </a:t>
            </a:r>
          </a:p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Punches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dies</a:t>
            </a:r>
            <a:r>
              <a:rPr lang="en-US" sz="2800" spc="-3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used as tools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800" spc="-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deform the</a:t>
            </a:r>
            <a:r>
              <a:rPr lang="en-US" sz="2800" spc="-15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sheets.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9363378-03F6-EDC0-1A74-1A926DDC38B4}"/>
              </a:ext>
            </a:extLst>
          </p:cNvPr>
          <p:cNvGrpSpPr/>
          <p:nvPr/>
        </p:nvGrpSpPr>
        <p:grpSpPr>
          <a:xfrm>
            <a:off x="1066800" y="4191000"/>
            <a:ext cx="3962400" cy="2438400"/>
            <a:chOff x="6585067" y="609621"/>
            <a:chExt cx="3644249" cy="22686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5067" y="609621"/>
              <a:ext cx="3644249" cy="1797650"/>
            </a:xfrm>
            <a:prstGeom prst="rect">
              <a:avLst/>
            </a:prstGeom>
          </p:spPr>
        </p:pic>
        <p:sp>
          <p:nvSpPr>
            <p:cNvPr id="7" name="object 7"/>
            <p:cNvSpPr txBox="1"/>
            <p:nvPr/>
          </p:nvSpPr>
          <p:spPr>
            <a:xfrm>
              <a:off x="7928610" y="2619882"/>
              <a:ext cx="87058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600" b="1" spc="-10" dirty="0">
                  <a:latin typeface="Arial"/>
                  <a:cs typeface="Arial"/>
                </a:rPr>
                <a:t>shearing</a:t>
              </a:r>
              <a:endParaRPr sz="1600">
                <a:latin typeface="Arial"/>
                <a:cs typeface="Arial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EFB2C46-D1AE-0675-A36F-F184CB515F4B}"/>
              </a:ext>
            </a:extLst>
          </p:cNvPr>
          <p:cNvSpPr txBox="1"/>
          <p:nvPr/>
        </p:nvSpPr>
        <p:spPr>
          <a:xfrm>
            <a:off x="337457" y="3180593"/>
            <a:ext cx="7815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just">
              <a:spcBef>
                <a:spcPts val="965"/>
              </a:spcBef>
            </a:pPr>
            <a:r>
              <a:rPr lang="en-US" sz="2400" b="1" dirty="0">
                <a:solidFill>
                  <a:srgbClr val="000099"/>
                </a:solidFill>
                <a:latin typeface="Arial"/>
                <a:cs typeface="Arial"/>
              </a:rPr>
              <a:t>Shearing:</a:t>
            </a:r>
            <a:r>
              <a:rPr lang="en-US" sz="2400" b="1" spc="-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lang="en-US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utting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shearing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A2E637E-B4A1-43A0-5326-E14B51AD20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9508" y="0"/>
            <a:ext cx="944803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>
                <a:solidFill>
                  <a:srgbClr val="660066"/>
                </a:solidFill>
              </a:rPr>
              <a:t>S</a:t>
            </a:r>
            <a:r>
              <a:rPr dirty="0">
                <a:solidFill>
                  <a:srgbClr val="660066"/>
                </a:solidFill>
              </a:rPr>
              <a:t>heet </a:t>
            </a:r>
            <a:r>
              <a:rPr lang="en-US" dirty="0">
                <a:solidFill>
                  <a:srgbClr val="660066"/>
                </a:solidFill>
              </a:rPr>
              <a:t>Metal F</a:t>
            </a:r>
            <a:r>
              <a:rPr dirty="0">
                <a:solidFill>
                  <a:srgbClr val="660066"/>
                </a:solidFill>
              </a:rPr>
              <a:t>orming</a:t>
            </a:r>
            <a:r>
              <a:rPr spc="-15" dirty="0">
                <a:solidFill>
                  <a:srgbClr val="660066"/>
                </a:solidFill>
              </a:rPr>
              <a:t> </a:t>
            </a:r>
            <a:r>
              <a:rPr lang="en-US" spc="-10" dirty="0">
                <a:solidFill>
                  <a:srgbClr val="660066"/>
                </a:solidFill>
              </a:rPr>
              <a:t>P</a:t>
            </a:r>
            <a:r>
              <a:rPr spc="-10" dirty="0">
                <a:solidFill>
                  <a:srgbClr val="660066"/>
                </a:solidFill>
              </a:rPr>
              <a:t>rocesses</a:t>
            </a:r>
            <a:r>
              <a:rPr lang="en-US" spc="-10" dirty="0">
                <a:solidFill>
                  <a:srgbClr val="660066"/>
                </a:solidFill>
              </a:rPr>
              <a:t> (2)</a:t>
            </a:r>
            <a:endParaRPr spc="-10" dirty="0">
              <a:solidFill>
                <a:srgbClr val="6600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E2705-B402-F438-AB2F-0FDF2E991D67}"/>
              </a:ext>
            </a:extLst>
          </p:cNvPr>
          <p:cNvSpPr txBox="1"/>
          <p:nvPr/>
        </p:nvSpPr>
        <p:spPr>
          <a:xfrm>
            <a:off x="304800" y="1254174"/>
            <a:ext cx="1150620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64769" algn="just">
              <a:spcBef>
                <a:spcPts val="960"/>
              </a:spcBef>
            </a:pP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en-US" sz="2400" b="1" spc="-4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lang="en-US" sz="2400" b="1" spc="-1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cup)</a:t>
            </a:r>
            <a:r>
              <a:rPr lang="en-US" sz="2400" b="1" spc="-2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drawing:</a:t>
            </a:r>
            <a:r>
              <a:rPr lang="en-US" sz="2400" b="1" spc="-25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orming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hollow</a:t>
            </a:r>
            <a:r>
              <a:rPr lang="en-US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concave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a cup, is achieved by stretching the metal in specific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regions.</a:t>
            </a:r>
            <a:r>
              <a:rPr lang="en-US"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 marR="64769" algn="just">
              <a:spcBef>
                <a:spcPts val="96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holder is used to clamp the blank against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die,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punch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pushes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metal.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sheet is</a:t>
            </a:r>
            <a:r>
              <a:rPr lang="en-US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drawn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die</a:t>
            </a:r>
            <a:r>
              <a:rPr lang="en-US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hole,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en-US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</a:t>
            </a:r>
            <a:r>
              <a:rPr lang="en-US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cavity.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B0090-5957-D60A-0C49-BB7E6EA6E2A1}"/>
              </a:ext>
            </a:extLst>
          </p:cNvPr>
          <p:cNvSpPr txBox="1"/>
          <p:nvPr/>
        </p:nvSpPr>
        <p:spPr>
          <a:xfrm>
            <a:off x="8991600" y="6159230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"/>
                <a:cs typeface="Arial"/>
              </a:rPr>
              <a:t>Deep</a:t>
            </a:r>
            <a:r>
              <a:rPr lang="en-US" sz="1800" b="1" spc="-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drawing</a:t>
            </a:r>
            <a:endParaRPr lang="en-US" dirty="0"/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9A08FC1E-782C-D166-148C-4F1F83BC8113}"/>
              </a:ext>
            </a:extLst>
          </p:cNvPr>
          <p:cNvPicPr/>
          <p:nvPr/>
        </p:nvPicPr>
        <p:blipFill>
          <a:blip r:embed="rId3" cstate="print"/>
          <a:srcRect l="50633"/>
          <a:stretch>
            <a:fillRect/>
          </a:stretch>
        </p:blipFill>
        <p:spPr>
          <a:xfrm>
            <a:off x="8131628" y="3674915"/>
            <a:ext cx="3298371" cy="248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83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40 Perfect thank you messages (Appreciation sms)">
            <a:extLst>
              <a:ext uri="{FF2B5EF4-FFF2-40B4-BE49-F238E27FC236}">
                <a16:creationId xmlns:a16="http://schemas.microsoft.com/office/drawing/2014/main" id="{0EF917C7-33B0-4584-96EC-D99575EC62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183188" y="1944520"/>
            <a:ext cx="6172200" cy="3381469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FC1B-8562-4575-9EEC-3FE101CA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53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0224EE6-E032-0A4B-A8B2-3B3E72DB797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1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2240</TotalTime>
  <Words>694</Words>
  <Application>Microsoft Office PowerPoint</Application>
  <PresentationFormat>Widescreen</PresentationFormat>
  <Paragraphs>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Metal Forming: The Basic Concepts</vt:lpstr>
      <vt:lpstr>Metal Forming Process</vt:lpstr>
      <vt:lpstr>PowerPoint Presentation</vt:lpstr>
      <vt:lpstr>Bulk Forming Processes (1)</vt:lpstr>
      <vt:lpstr>Bulk Forming Processes (2)</vt:lpstr>
      <vt:lpstr>PowerPoint Presentation</vt:lpstr>
      <vt:lpstr>PowerPoint Presentation</vt:lpstr>
      <vt:lpstr>PowerPoint Presentation</vt:lpstr>
      <vt:lpstr>PowerPoint Presentation</vt:lpstr>
      <vt:lpstr>Sheet Metal Forming Processes (1)</vt:lpstr>
      <vt:lpstr>Sheet Metal Forming Processes (2)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 Metal Arc Welding  (GMAW / MIG) Submerged Welding</dc:title>
  <dc:creator>Dr. Ashok Kumar Sharma [MU - Jaipur]</dc:creator>
  <cp:lastModifiedBy>Dr. Dhaneshwar Mishra [MU - Jaipur]</cp:lastModifiedBy>
  <cp:revision>43</cp:revision>
  <dcterms:created xsi:type="dcterms:W3CDTF">2020-04-30T11:37:54Z</dcterms:created>
  <dcterms:modified xsi:type="dcterms:W3CDTF">2025-08-27T07:27:35Z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2020-04-30T00:00:00Z</vt:filetime>
  </property>
</Properties>
</file>