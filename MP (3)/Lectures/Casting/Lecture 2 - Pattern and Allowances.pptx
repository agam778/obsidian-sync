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93" r:id="rId3"/>
    <p:sldId id="294" r:id="rId4"/>
    <p:sldId id="295" r:id="rId5"/>
    <p:sldId id="296" r:id="rId6"/>
    <p:sldId id="303" r:id="rId7"/>
    <p:sldId id="305" r:id="rId8"/>
    <p:sldId id="308" r:id="rId9"/>
    <p:sldId id="328" r:id="rId10"/>
    <p:sldId id="310" r:id="rId11"/>
    <p:sldId id="332" r:id="rId12"/>
    <p:sldId id="335" r:id="rId13"/>
    <p:sldId id="333" r:id="rId14"/>
    <p:sldId id="313" r:id="rId15"/>
    <p:sldId id="314" r:id="rId16"/>
    <p:sldId id="315" r:id="rId17"/>
    <p:sldId id="316" r:id="rId18"/>
    <p:sldId id="329" r:id="rId19"/>
    <p:sldId id="317" r:id="rId20"/>
    <p:sldId id="318" r:id="rId21"/>
    <p:sldId id="325" r:id="rId22"/>
    <p:sldId id="319" r:id="rId23"/>
    <p:sldId id="323" r:id="rId24"/>
    <p:sldId id="320" r:id="rId25"/>
    <p:sldId id="324" r:id="rId26"/>
    <p:sldId id="321" r:id="rId27"/>
    <p:sldId id="326" r:id="rId28"/>
    <p:sldId id="322" r:id="rId29"/>
    <p:sldId id="327" r:id="rId30"/>
    <p:sldId id="266" r:id="rId31"/>
    <p:sldId id="330" r:id="rId32"/>
    <p:sldId id="331" r:id="rId33"/>
    <p:sldId id="334" r:id="rId3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378" y="6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4936-67D7-410A-98A3-74B2FDB9C98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860D2-00FC-4F1E-8FA4-8D375C9A4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49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A63086-85E1-4ACC-A6E2-9878D53F190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79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0A8998-4970-40FB-A12C-DA97952AB57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24437" cy="411003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27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644ABF-EE0A-45DB-8625-039A8172880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77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DAF1BA-CA63-47DD-ABD0-C03BACFB729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39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0589DD-1004-448E-B5BB-8E86AF148F4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97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363000-A42D-4F60-BFF6-C50073F8FD1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42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CB8802-9721-4134-BFA4-C045C9EDFE4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72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023139-DDBA-45FE-85FE-A7DAC2AFCB68}" type="slidenum">
              <a:rPr lang="en-US"/>
              <a:pPr/>
              <a:t>10</a:t>
            </a:fld>
            <a:endParaRPr lang="en-US"/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01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256F8B-278C-4234-9168-8EA4F06F47D0}" type="slidenum">
              <a:rPr lang="en-US"/>
              <a:pPr/>
              <a:t>14</a:t>
            </a:fld>
            <a:endParaRPr lang="en-US"/>
          </a:p>
        </p:txBody>
      </p:sp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81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0A766B-B889-4EB7-884E-574012E42711}" type="slidenum">
              <a:rPr lang="en-US"/>
              <a:pPr/>
              <a:t>15</a:t>
            </a:fld>
            <a:endParaRPr lang="en-US"/>
          </a:p>
        </p:txBody>
      </p:sp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1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B8A5CC-CD70-4D18-BC57-E15B3845266B}" type="slidenum">
              <a:rPr lang="en-US"/>
              <a:pPr/>
              <a:t>16</a:t>
            </a:fld>
            <a:endParaRPr lang="en-US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71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2B822A-C4D9-44D1-AF70-5D1B582A5456}" type="slidenum">
              <a:rPr lang="en-US"/>
              <a:pPr/>
              <a:t>17</a:t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35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B76589-B8EB-4AB0-82C9-7D62C1E96A6D}" type="slidenum">
              <a:rPr lang="en-US"/>
              <a:pPr/>
              <a:t>19</a:t>
            </a:fld>
            <a:endParaRPr lang="en-US"/>
          </a:p>
        </p:txBody>
      </p:sp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16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378242-D6AD-44CF-9CFF-BA9A8A352BE2}" type="slidenum">
              <a:rPr lang="en-US"/>
              <a:pPr/>
              <a:t>20</a:t>
            </a:fld>
            <a:endParaRPr lang="en-US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81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8B2E0-17A1-8814-8BD1-CE4179AA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54E5A32-96B2-E7C0-3425-081F93368A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378242-D6AD-44CF-9CFF-BA9A8A352BE2}" type="slidenum">
              <a:rPr lang="en-US"/>
              <a:pPr/>
              <a:t>21</a:t>
            </a:fld>
            <a:endParaRPr lang="en-US"/>
          </a:p>
        </p:txBody>
      </p:sp>
      <p:sp>
        <p:nvSpPr>
          <p:cNvPr id="209922" name="Rectangle 2">
            <a:extLst>
              <a:ext uri="{FF2B5EF4-FFF2-40B4-BE49-F238E27FC236}">
                <a16:creationId xmlns:a16="http://schemas.microsoft.com/office/drawing/2014/main" id="{7E346069-F3D1-8BA0-F85E-9BC602584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80EF3820-7B86-FBEF-F1C1-FC924F982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1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FC1036-D40E-412C-9438-C9F6F3796487}" type="slidenum">
              <a:rPr lang="en-US"/>
              <a:pPr/>
              <a:t>22</a:t>
            </a:fld>
            <a:endParaRPr lang="en-US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16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BAB5-16A3-F6F5-0498-7AEA81BD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5DE5F13-634E-F12F-16BE-3321541A96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FC1036-D40E-412C-9438-C9F6F3796487}" type="slidenum">
              <a:rPr lang="en-US"/>
              <a:pPr/>
              <a:t>23</a:t>
            </a:fld>
            <a:endParaRPr lang="en-US"/>
          </a:p>
        </p:txBody>
      </p:sp>
      <p:sp>
        <p:nvSpPr>
          <p:cNvPr id="211970" name="Rectangle 2">
            <a:extLst>
              <a:ext uri="{FF2B5EF4-FFF2-40B4-BE49-F238E27FC236}">
                <a16:creationId xmlns:a16="http://schemas.microsoft.com/office/drawing/2014/main" id="{4AC37509-7E75-E49B-DB50-FE0090664F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5F228EEB-58F9-33A2-0DB7-49E59E92C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15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B1829F-3B44-4252-97AB-8425F2B17810}" type="slidenum">
              <a:rPr lang="en-US"/>
              <a:pPr/>
              <a:t>24</a:t>
            </a:fld>
            <a:endParaRPr lang="en-US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0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884B5-B5C8-D362-1B62-7DADC73E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14F6478-FE27-0301-CBEC-B27000AE3E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B1829F-3B44-4252-97AB-8425F2B17810}" type="slidenum">
              <a:rPr lang="en-US"/>
              <a:pPr/>
              <a:t>25</a:t>
            </a:fld>
            <a:endParaRPr lang="en-US"/>
          </a:p>
        </p:txBody>
      </p:sp>
      <p:sp>
        <p:nvSpPr>
          <p:cNvPr id="214018" name="Rectangle 2">
            <a:extLst>
              <a:ext uri="{FF2B5EF4-FFF2-40B4-BE49-F238E27FC236}">
                <a16:creationId xmlns:a16="http://schemas.microsoft.com/office/drawing/2014/main" id="{4A9F8980-2DE6-E8FB-1257-C5BA5A6FE7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7BD2B3C4-4D2B-327B-724E-3CE2A7D4E7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289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906AFA-F3C7-4165-83A8-0BCCBF528D63}" type="slidenum">
              <a:rPr lang="en-US"/>
              <a:pPr/>
              <a:t>26</a:t>
            </a:fld>
            <a:endParaRPr lang="en-US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07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76EA-C17C-2D29-66DA-B979D748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093CD02-BC06-AEDC-9F03-5A74ABE628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906AFA-F3C7-4165-83A8-0BCCBF528D63}" type="slidenum">
              <a:rPr lang="en-US"/>
              <a:pPr/>
              <a:t>27</a:t>
            </a:fld>
            <a:endParaRPr lang="en-US"/>
          </a:p>
        </p:txBody>
      </p:sp>
      <p:sp>
        <p:nvSpPr>
          <p:cNvPr id="222210" name="Rectangle 2">
            <a:extLst>
              <a:ext uri="{FF2B5EF4-FFF2-40B4-BE49-F238E27FC236}">
                <a16:creationId xmlns:a16="http://schemas.microsoft.com/office/drawing/2014/main" id="{2857CCAE-362B-0DF5-D1D0-8E9E160A74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021A118F-90D4-199F-A54A-A662E21C74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750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5CA6FC-5086-49A4-9A78-4E13683B50D6}" type="slidenum">
              <a:rPr lang="en-US"/>
              <a:pPr/>
              <a:t>28</a:t>
            </a:fld>
            <a:endParaRPr lang="en-US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741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A3AC7-786E-CD6F-FCB2-65D65B35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23562FF-D6EF-EF12-C88A-C70AF2680B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5CA6FC-5086-49A4-9A78-4E13683B50D6}" type="slidenum">
              <a:rPr lang="en-US"/>
              <a:pPr/>
              <a:t>29</a:t>
            </a:fld>
            <a:endParaRPr lang="en-US"/>
          </a:p>
        </p:txBody>
      </p:sp>
      <p:sp>
        <p:nvSpPr>
          <p:cNvPr id="224258" name="Rectangle 2">
            <a:extLst>
              <a:ext uri="{FF2B5EF4-FFF2-40B4-BE49-F238E27FC236}">
                <a16:creationId xmlns:a16="http://schemas.microsoft.com/office/drawing/2014/main" id="{BD845302-EB2A-1406-F6C3-414E57961C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F4F083FA-7C69-AF79-AC61-2CA0A52B8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59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2465832" y="457200"/>
            <a:ext cx="7258684" cy="37260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2531364" y="504444"/>
            <a:ext cx="7132320" cy="3599815"/>
          </a:xfrm>
          <a:custGeom>
            <a:avLst/>
            <a:gdLst/>
            <a:ahLst/>
            <a:cxnLst/>
            <a:rect l="l" t="t" r="r" b="b"/>
            <a:pathLst>
              <a:path w="7132320" h="3599815">
                <a:moveTo>
                  <a:pt x="0" y="3599687"/>
                </a:moveTo>
                <a:lnTo>
                  <a:pt x="7132320" y="3599687"/>
                </a:lnTo>
                <a:lnTo>
                  <a:pt x="7132320" y="0"/>
                </a:lnTo>
                <a:lnTo>
                  <a:pt x="0" y="0"/>
                </a:lnTo>
                <a:lnTo>
                  <a:pt x="0" y="3599687"/>
                </a:lnTo>
                <a:close/>
              </a:path>
            </a:pathLst>
          </a:custGeom>
          <a:ln w="9144">
            <a:solidFill>
              <a:srgbClr val="C7C9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2694432" y="667512"/>
            <a:ext cx="6803135" cy="32735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1981" y="2271725"/>
            <a:ext cx="9448037" cy="2202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4948" y="1379677"/>
            <a:ext cx="10522102" cy="196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7354" y="6595440"/>
            <a:ext cx="2044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Sand%20Casting%201%20(Preparing%20mould)%20-%20YouTube.flv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gif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gif"/><Relationship Id="rId4" Type="http://schemas.openxmlformats.org/officeDocument/2006/relationships/image" Target="../media/image28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320040"/>
            <a:ext cx="11549380" cy="6217920"/>
          </a:xfrm>
          <a:custGeom>
            <a:avLst/>
            <a:gdLst/>
            <a:ahLst/>
            <a:cxnLst/>
            <a:rect l="l" t="t" r="r" b="b"/>
            <a:pathLst>
              <a:path w="11549380" h="6217920">
                <a:moveTo>
                  <a:pt x="0" y="6217920"/>
                </a:moveTo>
                <a:lnTo>
                  <a:pt x="11548872" y="6217920"/>
                </a:lnTo>
                <a:lnTo>
                  <a:pt x="11548872" y="0"/>
                </a:lnTo>
                <a:lnTo>
                  <a:pt x="0" y="0"/>
                </a:lnTo>
                <a:lnTo>
                  <a:pt x="0" y="6217920"/>
                </a:lnTo>
                <a:close/>
              </a:path>
            </a:pathLst>
          </a:custGeom>
          <a:solidFill>
            <a:srgbClr val="000000">
              <a:alpha val="784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828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47801" y="2286000"/>
            <a:ext cx="9372217" cy="142987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696335" marR="5080">
              <a:lnSpc>
                <a:spcPts val="5190"/>
              </a:lnSpc>
              <a:spcBef>
                <a:spcPts val="750"/>
              </a:spcBef>
            </a:pPr>
            <a:r>
              <a:rPr lang="en-US" dirty="0">
                <a:solidFill>
                  <a:srgbClr val="3366CC"/>
                </a:solidFill>
              </a:rPr>
              <a:t>CASTING:</a:t>
            </a:r>
            <a:br>
              <a:rPr lang="en-US" dirty="0">
                <a:solidFill>
                  <a:srgbClr val="3366CC"/>
                </a:solidFill>
              </a:rPr>
            </a:br>
            <a:r>
              <a:rPr lang="en-US" dirty="0">
                <a:solidFill>
                  <a:srgbClr val="3366CC"/>
                </a:solidFill>
              </a:rPr>
              <a:t>Pattern &amp; Allowances</a:t>
            </a:r>
            <a:endParaRPr spc="-60" dirty="0"/>
          </a:p>
        </p:txBody>
      </p:sp>
      <p:sp>
        <p:nvSpPr>
          <p:cNvPr id="5" name="object 5"/>
          <p:cNvSpPr/>
          <p:nvPr/>
        </p:nvSpPr>
        <p:spPr>
          <a:xfrm>
            <a:off x="11204702" y="6175667"/>
            <a:ext cx="49530" cy="85725"/>
          </a:xfrm>
          <a:custGeom>
            <a:avLst/>
            <a:gdLst/>
            <a:ahLst/>
            <a:cxnLst/>
            <a:rect l="l" t="t" r="r" b="b"/>
            <a:pathLst>
              <a:path w="49529" h="85725">
                <a:moveTo>
                  <a:pt x="47244" y="76301"/>
                </a:moveTo>
                <a:lnTo>
                  <a:pt x="2286" y="76301"/>
                </a:lnTo>
                <a:lnTo>
                  <a:pt x="2031" y="76390"/>
                </a:lnTo>
                <a:lnTo>
                  <a:pt x="1777" y="76593"/>
                </a:lnTo>
                <a:lnTo>
                  <a:pt x="1397" y="76784"/>
                </a:lnTo>
                <a:lnTo>
                  <a:pt x="1270" y="77076"/>
                </a:lnTo>
                <a:lnTo>
                  <a:pt x="762" y="77812"/>
                </a:lnTo>
                <a:lnTo>
                  <a:pt x="634" y="78282"/>
                </a:lnTo>
                <a:lnTo>
                  <a:pt x="380" y="79413"/>
                </a:lnTo>
                <a:lnTo>
                  <a:pt x="380" y="82410"/>
                </a:lnTo>
                <a:lnTo>
                  <a:pt x="634" y="83540"/>
                </a:lnTo>
                <a:lnTo>
                  <a:pt x="889" y="83997"/>
                </a:lnTo>
                <a:lnTo>
                  <a:pt x="1143" y="84353"/>
                </a:lnTo>
                <a:lnTo>
                  <a:pt x="1270" y="84696"/>
                </a:lnTo>
                <a:lnTo>
                  <a:pt x="1524" y="84950"/>
                </a:lnTo>
                <a:lnTo>
                  <a:pt x="2031" y="85255"/>
                </a:lnTo>
                <a:lnTo>
                  <a:pt x="2413" y="85331"/>
                </a:lnTo>
                <a:lnTo>
                  <a:pt x="47244" y="85331"/>
                </a:lnTo>
                <a:lnTo>
                  <a:pt x="48768" y="83997"/>
                </a:lnTo>
                <a:lnTo>
                  <a:pt x="49022" y="83540"/>
                </a:lnTo>
                <a:lnTo>
                  <a:pt x="49275" y="82410"/>
                </a:lnTo>
                <a:lnTo>
                  <a:pt x="49275" y="79413"/>
                </a:lnTo>
                <a:lnTo>
                  <a:pt x="48895" y="77812"/>
                </a:lnTo>
                <a:lnTo>
                  <a:pt x="48641" y="77444"/>
                </a:lnTo>
                <a:lnTo>
                  <a:pt x="48514" y="77076"/>
                </a:lnTo>
                <a:lnTo>
                  <a:pt x="48259" y="76784"/>
                </a:lnTo>
                <a:lnTo>
                  <a:pt x="47878" y="76593"/>
                </a:lnTo>
                <a:lnTo>
                  <a:pt x="47625" y="76390"/>
                </a:lnTo>
                <a:lnTo>
                  <a:pt x="47244" y="76301"/>
                </a:lnTo>
                <a:close/>
              </a:path>
              <a:path w="49529" h="85725">
                <a:moveTo>
                  <a:pt x="31623" y="11861"/>
                </a:moveTo>
                <a:lnTo>
                  <a:pt x="20320" y="11861"/>
                </a:lnTo>
                <a:lnTo>
                  <a:pt x="20320" y="76301"/>
                </a:lnTo>
                <a:lnTo>
                  <a:pt x="31623" y="76301"/>
                </a:lnTo>
                <a:lnTo>
                  <a:pt x="31623" y="11861"/>
                </a:lnTo>
                <a:close/>
              </a:path>
              <a:path w="49529" h="85725">
                <a:moveTo>
                  <a:pt x="27431" y="0"/>
                </a:moveTo>
                <a:lnTo>
                  <a:pt x="21463" y="787"/>
                </a:lnTo>
                <a:lnTo>
                  <a:pt x="1904" y="13296"/>
                </a:lnTo>
                <a:lnTo>
                  <a:pt x="1143" y="13817"/>
                </a:lnTo>
                <a:lnTo>
                  <a:pt x="889" y="14084"/>
                </a:lnTo>
                <a:lnTo>
                  <a:pt x="762" y="14350"/>
                </a:lnTo>
                <a:lnTo>
                  <a:pt x="507" y="14655"/>
                </a:lnTo>
                <a:lnTo>
                  <a:pt x="126" y="15786"/>
                </a:lnTo>
                <a:lnTo>
                  <a:pt x="0" y="20040"/>
                </a:lnTo>
                <a:lnTo>
                  <a:pt x="253" y="21348"/>
                </a:lnTo>
                <a:lnTo>
                  <a:pt x="507" y="21818"/>
                </a:lnTo>
                <a:lnTo>
                  <a:pt x="762" y="22110"/>
                </a:lnTo>
                <a:lnTo>
                  <a:pt x="1143" y="22390"/>
                </a:lnTo>
                <a:lnTo>
                  <a:pt x="1524" y="22491"/>
                </a:lnTo>
                <a:lnTo>
                  <a:pt x="2540" y="22313"/>
                </a:lnTo>
                <a:lnTo>
                  <a:pt x="3175" y="22047"/>
                </a:lnTo>
                <a:lnTo>
                  <a:pt x="3937" y="21615"/>
                </a:lnTo>
                <a:lnTo>
                  <a:pt x="20320" y="11861"/>
                </a:lnTo>
                <a:lnTo>
                  <a:pt x="31623" y="11861"/>
                </a:lnTo>
                <a:lnTo>
                  <a:pt x="31623" y="1320"/>
                </a:lnTo>
                <a:lnTo>
                  <a:pt x="31369" y="1092"/>
                </a:lnTo>
                <a:lnTo>
                  <a:pt x="31242" y="850"/>
                </a:lnTo>
                <a:lnTo>
                  <a:pt x="30988" y="647"/>
                </a:lnTo>
                <a:lnTo>
                  <a:pt x="30225" y="342"/>
                </a:lnTo>
                <a:lnTo>
                  <a:pt x="29718" y="228"/>
                </a:lnTo>
                <a:lnTo>
                  <a:pt x="28321" y="50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D0A4B27-CA26-7C2F-BB7E-F1E69664A6D2}"/>
              </a:ext>
            </a:extLst>
          </p:cNvPr>
          <p:cNvSpPr txBox="1">
            <a:spLocks/>
          </p:cNvSpPr>
          <p:nvPr/>
        </p:nvSpPr>
        <p:spPr>
          <a:xfrm>
            <a:off x="438467" y="2665971"/>
            <a:ext cx="4100450" cy="76302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3695700" marR="5080" indent="-2803525">
              <a:lnSpc>
                <a:spcPts val="5190"/>
              </a:lnSpc>
              <a:spcBef>
                <a:spcPts val="750"/>
              </a:spcBef>
            </a:pPr>
            <a:r>
              <a:rPr lang="en-US" kern="0" dirty="0">
                <a:solidFill>
                  <a:srgbClr val="3366CC"/>
                </a:solidFill>
              </a:rPr>
              <a:t>Lecture 2</a:t>
            </a:r>
            <a:endParaRPr lang="en-US" kern="0" spc="-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4343400" y="451644"/>
            <a:ext cx="1752600" cy="462756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Casting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82000" cy="3155159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buFontTx/>
              <a:buNone/>
            </a:pPr>
            <a:r>
              <a:rPr lang="en-US" sz="3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process of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producing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33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metallic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 by pouring a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molten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</a:t>
            </a:r>
            <a:r>
              <a:rPr lang="en-US" sz="3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to the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mold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allowing the metal to</a:t>
            </a: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solidify</a:t>
            </a:r>
            <a:r>
              <a:rPr lang="en-US" sz="3600" b="1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1729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381000"/>
            <a:ext cx="3581018" cy="615553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accent1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Casting Process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8991600" cy="4487382"/>
          </a:xfrm>
        </p:spPr>
        <p:txBody>
          <a:bodyPr/>
          <a:lstStyle/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Mold is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</a:t>
            </a: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is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Heated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above Melting Point Temp</a:t>
            </a: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 Metal is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Poured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Mold</a:t>
            </a: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Solidifies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Shape of Mold</a:t>
            </a: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Casted Part is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Mold</a:t>
            </a:r>
          </a:p>
          <a:p>
            <a:pPr marL="571500" indent="-5715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Casting Operations</a:t>
            </a:r>
          </a:p>
          <a:p>
            <a:pPr marL="1028700" lvl="1" indent="-5715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Cutting </a:t>
            </a:r>
          </a:p>
          <a:p>
            <a:pPr marL="1028700" lvl="1" indent="-5715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Up</a:t>
            </a:r>
          </a:p>
          <a:p>
            <a:pPr marL="1028700" lvl="1" indent="-5715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Machining</a:t>
            </a:r>
          </a:p>
        </p:txBody>
      </p:sp>
    </p:spTree>
    <p:extLst>
      <p:ext uri="{BB962C8B-B14F-4D97-AF65-F5344CB8AC3E}">
        <p14:creationId xmlns:p14="http://schemas.microsoft.com/office/powerpoint/2010/main" val="791633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599946" y="228600"/>
            <a:ext cx="8839454" cy="6131690"/>
          </a:xfrm>
          <a:noFill/>
        </p:spPr>
      </p:pic>
    </p:spTree>
    <p:extLst>
      <p:ext uri="{BB962C8B-B14F-4D97-AF65-F5344CB8AC3E}">
        <p14:creationId xmlns:p14="http://schemas.microsoft.com/office/powerpoint/2010/main" val="4291318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/>
          </a:p>
        </p:txBody>
      </p:sp>
      <p:pic>
        <p:nvPicPr>
          <p:cNvPr id="5123" name="Picture 4" descr="sand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667000" y="762001"/>
            <a:ext cx="6400800" cy="5191125"/>
          </a:xfrm>
          <a:noFill/>
        </p:spPr>
      </p:pic>
    </p:spTree>
    <p:extLst>
      <p:ext uri="{BB962C8B-B14F-4D97-AF65-F5344CB8AC3E}">
        <p14:creationId xmlns:p14="http://schemas.microsoft.com/office/powerpoint/2010/main" val="472665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3962400" y="304800"/>
            <a:ext cx="3124200" cy="615553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Pattern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00200"/>
            <a:ext cx="10522102" cy="3016210"/>
          </a:xfrm>
        </p:spPr>
        <p:txBody>
          <a:bodyPr/>
          <a:lstStyle/>
          <a:p>
            <a:pPr eaLnBrk="1" hangingPunct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replica of a casting to be made.</a:t>
            </a:r>
          </a:p>
          <a:p>
            <a:pPr eaLnBrk="1" hangingPunct="1">
              <a:buFontTx/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pattern, impressions (mold cavity) can be formed in the damp sand to make a mold.</a:t>
            </a:r>
          </a:p>
          <a:p>
            <a:pPr eaLnBrk="1" hangingPunct="1"/>
            <a:endParaRPr lang="en-US" sz="2800" dirty="0"/>
          </a:p>
          <a:p>
            <a:pPr eaLnBrk="1" hangingPunct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8356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  <p:sp>
        <p:nvSpPr>
          <p:cNvPr id="216066" name="Text Box 2"/>
          <p:cNvSpPr txBox="1">
            <a:spLocks noChangeArrowheads="1"/>
          </p:cNvSpPr>
          <p:nvPr/>
        </p:nvSpPr>
        <p:spPr bwMode="auto">
          <a:xfrm>
            <a:off x="762000" y="1289953"/>
            <a:ext cx="10896600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2400" dirty="0"/>
              <a:t>  </a:t>
            </a:r>
            <a:r>
              <a:rPr lang="en-US" sz="32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Wood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easy to work &amp; readily available, can be cut in to required shapes and used when small number of castings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change their shape when subjected to moist condition, used when small number of castings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Plastics: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absorb moisture, smooth, can be withdrawn from the mold easily, without damaging the mold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Plaster: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compressive strength</a:t>
            </a:r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3810000" y="426274"/>
            <a:ext cx="364875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materials</a:t>
            </a:r>
          </a:p>
        </p:txBody>
      </p:sp>
    </p:spTree>
    <p:extLst>
      <p:ext uri="{BB962C8B-B14F-4D97-AF65-F5344CB8AC3E}">
        <p14:creationId xmlns:p14="http://schemas.microsoft.com/office/powerpoint/2010/main" val="387629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1752601" y="25400"/>
            <a:ext cx="254858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3366CC"/>
                </a:solidFill>
                <a:hlinkClick r:id="rId3" action="ppaction://hlinkfile"/>
              </a:rPr>
              <a:t>Green sand mold</a:t>
            </a:r>
          </a:p>
          <a:p>
            <a:pPr algn="l"/>
            <a:r>
              <a:rPr lang="en-US" sz="2600" b="1" dirty="0">
                <a:solidFill>
                  <a:srgbClr val="3366CC"/>
                </a:solidFill>
                <a:hlinkClick r:id="rId3" action="ppaction://hlinkfile"/>
              </a:rPr>
              <a:t>with pattern</a:t>
            </a:r>
            <a:endParaRPr lang="en-US" sz="2600" b="1" dirty="0">
              <a:solidFill>
                <a:srgbClr val="3366CC"/>
              </a:solidFill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876800" y="6032500"/>
            <a:ext cx="5638800" cy="825500"/>
            <a:chOff x="2064" y="3800"/>
            <a:chExt cx="3792" cy="520"/>
          </a:xfrm>
        </p:grpSpPr>
        <p:sp>
          <p:nvSpPr>
            <p:cNvPr id="23086" name="Rectangle 4"/>
            <p:cNvSpPr>
              <a:spLocks noChangeArrowheads="1"/>
            </p:cNvSpPr>
            <p:nvPr/>
          </p:nvSpPr>
          <p:spPr bwMode="auto">
            <a:xfrm>
              <a:off x="2064" y="3840"/>
              <a:ext cx="1344" cy="336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87" name="Rectangle 5"/>
            <p:cNvSpPr>
              <a:spLocks noChangeArrowheads="1"/>
            </p:cNvSpPr>
            <p:nvPr/>
          </p:nvSpPr>
          <p:spPr bwMode="auto">
            <a:xfrm>
              <a:off x="5232" y="3800"/>
              <a:ext cx="624" cy="5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2214" name="Rectangle 6"/>
          <p:cNvSpPr>
            <a:spLocks noChangeArrowheads="1"/>
          </p:cNvSpPr>
          <p:nvPr/>
        </p:nvSpPr>
        <p:spPr bwMode="auto">
          <a:xfrm>
            <a:off x="2514600" y="6262688"/>
            <a:ext cx="215411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sng"/>
              <a:t>SECOND OPERATION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8013700" y="215900"/>
            <a:ext cx="1066800" cy="381000"/>
            <a:chOff x="4224" y="96"/>
            <a:chExt cx="672" cy="240"/>
          </a:xfrm>
        </p:grpSpPr>
        <p:sp>
          <p:nvSpPr>
            <p:cNvPr id="23084" name="Rectangle 8"/>
            <p:cNvSpPr>
              <a:spLocks noChangeArrowheads="1"/>
            </p:cNvSpPr>
            <p:nvPr/>
          </p:nvSpPr>
          <p:spPr bwMode="auto">
            <a:xfrm>
              <a:off x="4272" y="96"/>
              <a:ext cx="62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Drag</a:t>
              </a:r>
            </a:p>
          </p:txBody>
        </p:sp>
        <p:sp>
          <p:nvSpPr>
            <p:cNvPr id="23085" name="Line 9"/>
            <p:cNvSpPr>
              <a:spLocks noChangeShapeType="1"/>
            </p:cNvSpPr>
            <p:nvPr/>
          </p:nvSpPr>
          <p:spPr bwMode="auto">
            <a:xfrm flipH="1">
              <a:off x="4224" y="19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5689600" y="901700"/>
            <a:ext cx="1676400" cy="533400"/>
            <a:chOff x="3816" y="1776"/>
            <a:chExt cx="1056" cy="336"/>
          </a:xfrm>
        </p:grpSpPr>
        <p:sp>
          <p:nvSpPr>
            <p:cNvPr id="23072" name="Line 11"/>
            <p:cNvSpPr>
              <a:spLocks noChangeShapeType="1"/>
            </p:cNvSpPr>
            <p:nvPr/>
          </p:nvSpPr>
          <p:spPr bwMode="auto">
            <a:xfrm>
              <a:off x="3816" y="2112"/>
              <a:ext cx="10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3816" y="1776"/>
              <a:ext cx="1056" cy="336"/>
              <a:chOff x="3816" y="1776"/>
              <a:chExt cx="1056" cy="336"/>
            </a:xfrm>
          </p:grpSpPr>
          <p:sp>
            <p:nvSpPr>
              <p:cNvPr id="23074" name="Line 13"/>
              <p:cNvSpPr>
                <a:spLocks noChangeShapeType="1"/>
              </p:cNvSpPr>
              <p:nvPr/>
            </p:nvSpPr>
            <p:spPr bwMode="auto">
              <a:xfrm flipH="1">
                <a:off x="4440" y="1920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" name="Group 14"/>
              <p:cNvGrpSpPr>
                <a:grpSpLocks/>
              </p:cNvGrpSpPr>
              <p:nvPr/>
            </p:nvGrpSpPr>
            <p:grpSpPr bwMode="auto">
              <a:xfrm>
                <a:off x="3816" y="1776"/>
                <a:ext cx="1056" cy="336"/>
                <a:chOff x="3816" y="1776"/>
                <a:chExt cx="1056" cy="336"/>
              </a:xfrm>
            </p:grpSpPr>
            <p:sp>
              <p:nvSpPr>
                <p:cNvPr id="23076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3816" y="1920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77" name="Line 16"/>
                <p:cNvSpPr>
                  <a:spLocks noChangeShapeType="1"/>
                </p:cNvSpPr>
                <p:nvPr/>
              </p:nvSpPr>
              <p:spPr bwMode="auto">
                <a:xfrm>
                  <a:off x="4872" y="1920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78" name="Line 17"/>
                <p:cNvSpPr>
                  <a:spLocks noChangeShapeType="1"/>
                </p:cNvSpPr>
                <p:nvPr/>
              </p:nvSpPr>
              <p:spPr bwMode="auto">
                <a:xfrm>
                  <a:off x="3816" y="1920"/>
                  <a:ext cx="4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79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4240" y="17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80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440" y="17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81" name="Line 20"/>
                <p:cNvSpPr>
                  <a:spLocks noChangeShapeType="1"/>
                </p:cNvSpPr>
                <p:nvPr/>
              </p:nvSpPr>
              <p:spPr bwMode="auto">
                <a:xfrm>
                  <a:off x="4248" y="1776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82" name="Freeform 21"/>
                <p:cNvSpPr>
                  <a:spLocks/>
                </p:cNvSpPr>
                <p:nvPr/>
              </p:nvSpPr>
              <p:spPr bwMode="auto">
                <a:xfrm>
                  <a:off x="3904" y="1920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83" name="Freeform 22"/>
                <p:cNvSpPr>
                  <a:spLocks/>
                </p:cNvSpPr>
                <p:nvPr/>
              </p:nvSpPr>
              <p:spPr bwMode="auto">
                <a:xfrm>
                  <a:off x="4560" y="1920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5041900" y="1435100"/>
            <a:ext cx="3048000" cy="381000"/>
            <a:chOff x="2352" y="864"/>
            <a:chExt cx="1920" cy="240"/>
          </a:xfrm>
        </p:grpSpPr>
        <p:sp>
          <p:nvSpPr>
            <p:cNvPr id="23069" name="Rectangle 24"/>
            <p:cNvSpPr>
              <a:spLocks noChangeArrowheads="1"/>
            </p:cNvSpPr>
            <p:nvPr/>
          </p:nvSpPr>
          <p:spPr bwMode="auto">
            <a:xfrm>
              <a:off x="2352" y="864"/>
              <a:ext cx="1920" cy="96"/>
            </a:xfrm>
            <a:prstGeom prst="rect">
              <a:avLst/>
            </a:prstGeom>
            <a:solidFill>
              <a:srgbClr val="9966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70" name="Rectangle 25"/>
            <p:cNvSpPr>
              <a:spLocks noChangeArrowheads="1"/>
            </p:cNvSpPr>
            <p:nvPr/>
          </p:nvSpPr>
          <p:spPr bwMode="auto">
            <a:xfrm>
              <a:off x="2544" y="960"/>
              <a:ext cx="240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71" name="Rectangle 26"/>
            <p:cNvSpPr>
              <a:spLocks noChangeArrowheads="1"/>
            </p:cNvSpPr>
            <p:nvPr/>
          </p:nvSpPr>
          <p:spPr bwMode="auto">
            <a:xfrm>
              <a:off x="3816" y="960"/>
              <a:ext cx="240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4813300" y="419100"/>
            <a:ext cx="3505200" cy="1155700"/>
            <a:chOff x="2208" y="224"/>
            <a:chExt cx="2208" cy="728"/>
          </a:xfrm>
        </p:grpSpPr>
        <p:sp>
          <p:nvSpPr>
            <p:cNvPr id="23049" name="Line 28"/>
            <p:cNvSpPr>
              <a:spLocks noChangeShapeType="1"/>
            </p:cNvSpPr>
            <p:nvPr/>
          </p:nvSpPr>
          <p:spPr bwMode="auto">
            <a:xfrm>
              <a:off x="2208" y="952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29"/>
            <p:cNvGrpSpPr>
              <a:grpSpLocks/>
            </p:cNvGrpSpPr>
            <p:nvPr/>
          </p:nvGrpSpPr>
          <p:grpSpPr bwMode="auto">
            <a:xfrm>
              <a:off x="2216" y="224"/>
              <a:ext cx="2200" cy="728"/>
              <a:chOff x="2216" y="224"/>
              <a:chExt cx="2200" cy="728"/>
            </a:xfrm>
          </p:grpSpPr>
          <p:sp>
            <p:nvSpPr>
              <p:cNvPr id="23051" name="Line 30"/>
              <p:cNvSpPr>
                <a:spLocks noChangeShapeType="1"/>
              </p:cNvSpPr>
              <p:nvPr/>
            </p:nvSpPr>
            <p:spPr bwMode="auto">
              <a:xfrm>
                <a:off x="4368" y="800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" name="Group 31"/>
              <p:cNvGrpSpPr>
                <a:grpSpLocks/>
              </p:cNvGrpSpPr>
              <p:nvPr/>
            </p:nvGrpSpPr>
            <p:grpSpPr bwMode="auto">
              <a:xfrm>
                <a:off x="2216" y="224"/>
                <a:ext cx="2200" cy="728"/>
                <a:chOff x="2216" y="224"/>
                <a:chExt cx="2200" cy="728"/>
              </a:xfrm>
            </p:grpSpPr>
            <p:grpSp>
              <p:nvGrpSpPr>
                <p:cNvPr id="11" name="Group 32"/>
                <p:cNvGrpSpPr>
                  <a:grpSpLocks/>
                </p:cNvGrpSpPr>
                <p:nvPr/>
              </p:nvGrpSpPr>
              <p:grpSpPr bwMode="auto">
                <a:xfrm>
                  <a:off x="4272" y="760"/>
                  <a:ext cx="144" cy="192"/>
                  <a:chOff x="2880" y="1536"/>
                  <a:chExt cx="144" cy="192"/>
                </a:xfrm>
              </p:grpSpPr>
              <p:sp>
                <p:nvSpPr>
                  <p:cNvPr id="23065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1536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66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1568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67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3008" y="1536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68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2976" y="1728"/>
                    <a:ext cx="4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" name="Group 37"/>
                <p:cNvGrpSpPr>
                  <a:grpSpLocks/>
                </p:cNvGrpSpPr>
                <p:nvPr/>
              </p:nvGrpSpPr>
              <p:grpSpPr bwMode="auto">
                <a:xfrm>
                  <a:off x="2216" y="760"/>
                  <a:ext cx="144" cy="192"/>
                  <a:chOff x="816" y="1528"/>
                  <a:chExt cx="144" cy="192"/>
                </a:xfrm>
              </p:grpSpPr>
              <p:sp>
                <p:nvSpPr>
                  <p:cNvPr id="23060" name="Line 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1536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61" name="Line 3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48" y="1568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13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816" y="1528"/>
                    <a:ext cx="32" cy="192"/>
                    <a:chOff x="816" y="1632"/>
                    <a:chExt cx="32" cy="192"/>
                  </a:xfrm>
                </p:grpSpPr>
                <p:sp>
                  <p:nvSpPr>
                    <p:cNvPr id="23063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16" y="1632"/>
                      <a:ext cx="0" cy="18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064" name="Line 4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848" y="1680"/>
                      <a:ext cx="0" cy="1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23055" name="Rectangle 43"/>
                <p:cNvSpPr>
                  <a:spLocks noChangeArrowheads="1"/>
                </p:cNvSpPr>
                <p:nvPr/>
              </p:nvSpPr>
              <p:spPr bwMode="auto">
                <a:xfrm>
                  <a:off x="2408" y="240"/>
                  <a:ext cx="96" cy="62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56" name="Rectangle 44"/>
                <p:cNvSpPr>
                  <a:spLocks noChangeArrowheads="1"/>
                </p:cNvSpPr>
                <p:nvPr/>
              </p:nvSpPr>
              <p:spPr bwMode="auto">
                <a:xfrm>
                  <a:off x="4112" y="240"/>
                  <a:ext cx="96" cy="62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57" name="Rectangle 45"/>
                <p:cNvSpPr>
                  <a:spLocks noChangeArrowheads="1"/>
                </p:cNvSpPr>
                <p:nvPr/>
              </p:nvSpPr>
              <p:spPr bwMode="auto">
                <a:xfrm>
                  <a:off x="4216" y="672"/>
                  <a:ext cx="48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58" name="Rectangle 46"/>
                <p:cNvSpPr>
                  <a:spLocks noChangeArrowheads="1"/>
                </p:cNvSpPr>
                <p:nvPr/>
              </p:nvSpPr>
              <p:spPr bwMode="auto">
                <a:xfrm>
                  <a:off x="2352" y="672"/>
                  <a:ext cx="48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59" name="Line 47"/>
                <p:cNvSpPr>
                  <a:spLocks noChangeShapeType="1"/>
                </p:cNvSpPr>
                <p:nvPr/>
              </p:nvSpPr>
              <p:spPr bwMode="auto">
                <a:xfrm>
                  <a:off x="2400" y="224"/>
                  <a:ext cx="17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4" name="Group 48"/>
          <p:cNvGrpSpPr>
            <a:grpSpLocks/>
          </p:cNvGrpSpPr>
          <p:nvPr/>
        </p:nvGrpSpPr>
        <p:grpSpPr bwMode="auto">
          <a:xfrm>
            <a:off x="5422900" y="444500"/>
            <a:ext cx="990600" cy="457200"/>
            <a:chOff x="3648" y="1536"/>
            <a:chExt cx="624" cy="288"/>
          </a:xfrm>
        </p:grpSpPr>
        <p:sp>
          <p:nvSpPr>
            <p:cNvPr id="23047" name="Rectangle 49"/>
            <p:cNvSpPr>
              <a:spLocks noChangeArrowheads="1"/>
            </p:cNvSpPr>
            <p:nvPr/>
          </p:nvSpPr>
          <p:spPr bwMode="auto">
            <a:xfrm>
              <a:off x="3648" y="1536"/>
              <a:ext cx="62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Pattern</a:t>
              </a:r>
            </a:p>
          </p:txBody>
        </p:sp>
        <p:sp>
          <p:nvSpPr>
            <p:cNvPr id="23048" name="Line 50"/>
            <p:cNvSpPr>
              <a:spLocks noChangeShapeType="1"/>
            </p:cNvSpPr>
            <p:nvPr/>
          </p:nvSpPr>
          <p:spPr bwMode="auto">
            <a:xfrm>
              <a:off x="3936" y="1680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51"/>
          <p:cNvGrpSpPr>
            <a:grpSpLocks/>
          </p:cNvGrpSpPr>
          <p:nvPr/>
        </p:nvGrpSpPr>
        <p:grpSpPr bwMode="auto">
          <a:xfrm>
            <a:off x="3708400" y="1587500"/>
            <a:ext cx="1638300" cy="304800"/>
            <a:chOff x="1512" y="960"/>
            <a:chExt cx="1032" cy="192"/>
          </a:xfrm>
        </p:grpSpPr>
        <p:sp>
          <p:nvSpPr>
            <p:cNvPr id="23045" name="Rectangle 52"/>
            <p:cNvSpPr>
              <a:spLocks noChangeArrowheads="1"/>
            </p:cNvSpPr>
            <p:nvPr/>
          </p:nvSpPr>
          <p:spPr bwMode="auto">
            <a:xfrm>
              <a:off x="1512" y="1008"/>
              <a:ext cx="86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Molding board</a:t>
              </a:r>
            </a:p>
          </p:txBody>
        </p:sp>
        <p:sp>
          <p:nvSpPr>
            <p:cNvPr id="23046" name="Line 53"/>
            <p:cNvSpPr>
              <a:spLocks noChangeShapeType="1"/>
            </p:cNvSpPr>
            <p:nvPr/>
          </p:nvSpPr>
          <p:spPr bwMode="auto">
            <a:xfrm flipV="1">
              <a:off x="2400" y="96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262" name="Rectangle 54"/>
          <p:cNvSpPr>
            <a:spLocks noChangeArrowheads="1"/>
          </p:cNvSpPr>
          <p:nvPr/>
        </p:nvSpPr>
        <p:spPr bwMode="auto">
          <a:xfrm>
            <a:off x="5803900" y="1968500"/>
            <a:ext cx="19812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u="sng"/>
              <a:t>FIRST OPERATION</a:t>
            </a:r>
          </a:p>
        </p:txBody>
      </p:sp>
      <p:sp>
        <p:nvSpPr>
          <p:cNvPr id="222263" name="Rectangle 55" descr="Large confetti"/>
          <p:cNvSpPr>
            <a:spLocks noChangeArrowheads="1"/>
          </p:cNvSpPr>
          <p:nvPr/>
        </p:nvSpPr>
        <p:spPr bwMode="auto">
          <a:xfrm rot="10800000">
            <a:off x="6388100" y="444500"/>
            <a:ext cx="1447800" cy="3810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264" name="Rectangle 56" descr="Large confetti"/>
          <p:cNvSpPr>
            <a:spLocks noChangeArrowheads="1"/>
          </p:cNvSpPr>
          <p:nvPr/>
        </p:nvSpPr>
        <p:spPr bwMode="auto">
          <a:xfrm rot="10800000">
            <a:off x="5245100" y="444500"/>
            <a:ext cx="1447800" cy="3810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265" name="Rectangle 57" descr="Large confetti"/>
          <p:cNvSpPr>
            <a:spLocks noChangeAspect="1" noChangeArrowheads="1"/>
          </p:cNvSpPr>
          <p:nvPr/>
        </p:nvSpPr>
        <p:spPr bwMode="auto">
          <a:xfrm rot="10800000">
            <a:off x="6718300" y="825500"/>
            <a:ext cx="1117600" cy="32385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266" name="Rectangle 58" descr="Large confetti"/>
          <p:cNvSpPr>
            <a:spLocks noChangeAspect="1" noChangeArrowheads="1"/>
          </p:cNvSpPr>
          <p:nvPr/>
        </p:nvSpPr>
        <p:spPr bwMode="auto">
          <a:xfrm rot="10800000">
            <a:off x="5321300" y="812801"/>
            <a:ext cx="1066800" cy="309563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267" name="Rectangle 59" descr="Large confetti"/>
          <p:cNvSpPr>
            <a:spLocks noChangeAspect="1" noChangeArrowheads="1"/>
          </p:cNvSpPr>
          <p:nvPr/>
        </p:nvSpPr>
        <p:spPr bwMode="auto">
          <a:xfrm rot="10800000">
            <a:off x="5194300" y="901700"/>
            <a:ext cx="482600" cy="5334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268" name="Rectangle 60" descr="Large confetti"/>
          <p:cNvSpPr>
            <a:spLocks noChangeAspect="1" noChangeArrowheads="1"/>
          </p:cNvSpPr>
          <p:nvPr/>
        </p:nvSpPr>
        <p:spPr bwMode="auto">
          <a:xfrm rot="10800000">
            <a:off x="7404100" y="1130300"/>
            <a:ext cx="431800" cy="32385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grpSp>
        <p:nvGrpSpPr>
          <p:cNvPr id="16" name="Group 61"/>
          <p:cNvGrpSpPr>
            <a:grpSpLocks/>
          </p:cNvGrpSpPr>
          <p:nvPr/>
        </p:nvGrpSpPr>
        <p:grpSpPr bwMode="auto">
          <a:xfrm>
            <a:off x="8026400" y="215900"/>
            <a:ext cx="1066800" cy="381000"/>
            <a:chOff x="4224" y="96"/>
            <a:chExt cx="672" cy="240"/>
          </a:xfrm>
        </p:grpSpPr>
        <p:sp>
          <p:nvSpPr>
            <p:cNvPr id="23043" name="Rectangle 62"/>
            <p:cNvSpPr>
              <a:spLocks noChangeArrowheads="1"/>
            </p:cNvSpPr>
            <p:nvPr/>
          </p:nvSpPr>
          <p:spPr bwMode="auto">
            <a:xfrm>
              <a:off x="4272" y="96"/>
              <a:ext cx="62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Drag</a:t>
              </a:r>
            </a:p>
          </p:txBody>
        </p:sp>
        <p:sp>
          <p:nvSpPr>
            <p:cNvPr id="23044" name="Line 63"/>
            <p:cNvSpPr>
              <a:spLocks noChangeShapeType="1"/>
            </p:cNvSpPr>
            <p:nvPr/>
          </p:nvSpPr>
          <p:spPr bwMode="auto">
            <a:xfrm flipH="1">
              <a:off x="4224" y="19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64"/>
          <p:cNvGrpSpPr>
            <a:grpSpLocks/>
          </p:cNvGrpSpPr>
          <p:nvPr/>
        </p:nvGrpSpPr>
        <p:grpSpPr bwMode="auto">
          <a:xfrm>
            <a:off x="4826000" y="419100"/>
            <a:ext cx="3505200" cy="1155700"/>
            <a:chOff x="2208" y="224"/>
            <a:chExt cx="2208" cy="728"/>
          </a:xfrm>
        </p:grpSpPr>
        <p:sp>
          <p:nvSpPr>
            <p:cNvPr id="23023" name="Line 65"/>
            <p:cNvSpPr>
              <a:spLocks noChangeShapeType="1"/>
            </p:cNvSpPr>
            <p:nvPr/>
          </p:nvSpPr>
          <p:spPr bwMode="auto">
            <a:xfrm>
              <a:off x="2208" y="952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oup 66"/>
            <p:cNvGrpSpPr>
              <a:grpSpLocks/>
            </p:cNvGrpSpPr>
            <p:nvPr/>
          </p:nvGrpSpPr>
          <p:grpSpPr bwMode="auto">
            <a:xfrm>
              <a:off x="2216" y="224"/>
              <a:ext cx="2200" cy="728"/>
              <a:chOff x="2216" y="224"/>
              <a:chExt cx="2200" cy="728"/>
            </a:xfrm>
          </p:grpSpPr>
          <p:sp>
            <p:nvSpPr>
              <p:cNvPr id="23025" name="Line 67"/>
              <p:cNvSpPr>
                <a:spLocks noChangeShapeType="1"/>
              </p:cNvSpPr>
              <p:nvPr/>
            </p:nvSpPr>
            <p:spPr bwMode="auto">
              <a:xfrm>
                <a:off x="4368" y="800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" name="Group 68"/>
              <p:cNvGrpSpPr>
                <a:grpSpLocks/>
              </p:cNvGrpSpPr>
              <p:nvPr/>
            </p:nvGrpSpPr>
            <p:grpSpPr bwMode="auto">
              <a:xfrm>
                <a:off x="2216" y="224"/>
                <a:ext cx="2200" cy="728"/>
                <a:chOff x="2216" y="224"/>
                <a:chExt cx="2200" cy="728"/>
              </a:xfrm>
            </p:grpSpPr>
            <p:grpSp>
              <p:nvGrpSpPr>
                <p:cNvPr id="20" name="Group 69"/>
                <p:cNvGrpSpPr>
                  <a:grpSpLocks/>
                </p:cNvGrpSpPr>
                <p:nvPr/>
              </p:nvGrpSpPr>
              <p:grpSpPr bwMode="auto">
                <a:xfrm>
                  <a:off x="4272" y="760"/>
                  <a:ext cx="144" cy="192"/>
                  <a:chOff x="2880" y="1536"/>
                  <a:chExt cx="144" cy="192"/>
                </a:xfrm>
              </p:grpSpPr>
              <p:sp>
                <p:nvSpPr>
                  <p:cNvPr id="23039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1536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40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1568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41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3008" y="1536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42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2976" y="1728"/>
                    <a:ext cx="4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1" name="Group 74"/>
                <p:cNvGrpSpPr>
                  <a:grpSpLocks/>
                </p:cNvGrpSpPr>
                <p:nvPr/>
              </p:nvGrpSpPr>
              <p:grpSpPr bwMode="auto">
                <a:xfrm>
                  <a:off x="2216" y="760"/>
                  <a:ext cx="144" cy="192"/>
                  <a:chOff x="816" y="1528"/>
                  <a:chExt cx="144" cy="192"/>
                </a:xfrm>
              </p:grpSpPr>
              <p:sp>
                <p:nvSpPr>
                  <p:cNvPr id="23034" name="Line 7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16" y="1536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35" name="Line 7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48" y="1568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2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816" y="1528"/>
                    <a:ext cx="32" cy="192"/>
                    <a:chOff x="816" y="1632"/>
                    <a:chExt cx="32" cy="192"/>
                  </a:xfrm>
                </p:grpSpPr>
                <p:sp>
                  <p:nvSpPr>
                    <p:cNvPr id="23037" name="Line 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16" y="1632"/>
                      <a:ext cx="0" cy="18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038" name="Line 7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848" y="1680"/>
                      <a:ext cx="0" cy="1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23029" name="Rectangle 80"/>
                <p:cNvSpPr>
                  <a:spLocks noChangeArrowheads="1"/>
                </p:cNvSpPr>
                <p:nvPr/>
              </p:nvSpPr>
              <p:spPr bwMode="auto">
                <a:xfrm>
                  <a:off x="2408" y="240"/>
                  <a:ext cx="96" cy="62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30" name="Rectangle 81"/>
                <p:cNvSpPr>
                  <a:spLocks noChangeArrowheads="1"/>
                </p:cNvSpPr>
                <p:nvPr/>
              </p:nvSpPr>
              <p:spPr bwMode="auto">
                <a:xfrm>
                  <a:off x="4112" y="240"/>
                  <a:ext cx="96" cy="624"/>
                </a:xfrm>
                <a:prstGeom prst="rect">
                  <a:avLst/>
                </a:prstGeom>
                <a:solidFill>
                  <a:schemeClr val="fol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31" name="Rectangle 82"/>
                <p:cNvSpPr>
                  <a:spLocks noChangeArrowheads="1"/>
                </p:cNvSpPr>
                <p:nvPr/>
              </p:nvSpPr>
              <p:spPr bwMode="auto">
                <a:xfrm>
                  <a:off x="4216" y="672"/>
                  <a:ext cx="48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32" name="Rectangle 83"/>
                <p:cNvSpPr>
                  <a:spLocks noChangeArrowheads="1"/>
                </p:cNvSpPr>
                <p:nvPr/>
              </p:nvSpPr>
              <p:spPr bwMode="auto">
                <a:xfrm>
                  <a:off x="2352" y="672"/>
                  <a:ext cx="48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033" name="Line 84"/>
                <p:cNvSpPr>
                  <a:spLocks noChangeShapeType="1"/>
                </p:cNvSpPr>
                <p:nvPr/>
              </p:nvSpPr>
              <p:spPr bwMode="auto">
                <a:xfrm>
                  <a:off x="2400" y="224"/>
                  <a:ext cx="17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23" name="Group 85"/>
          <p:cNvGrpSpPr>
            <a:grpSpLocks/>
          </p:cNvGrpSpPr>
          <p:nvPr/>
        </p:nvGrpSpPr>
        <p:grpSpPr bwMode="auto">
          <a:xfrm>
            <a:off x="3721100" y="1587500"/>
            <a:ext cx="1638300" cy="304800"/>
            <a:chOff x="1512" y="960"/>
            <a:chExt cx="1032" cy="192"/>
          </a:xfrm>
        </p:grpSpPr>
        <p:sp>
          <p:nvSpPr>
            <p:cNvPr id="23021" name="Rectangle 86"/>
            <p:cNvSpPr>
              <a:spLocks noChangeArrowheads="1"/>
            </p:cNvSpPr>
            <p:nvPr/>
          </p:nvSpPr>
          <p:spPr bwMode="auto">
            <a:xfrm>
              <a:off x="1512" y="1008"/>
              <a:ext cx="86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Molding board</a:t>
              </a:r>
            </a:p>
          </p:txBody>
        </p:sp>
        <p:sp>
          <p:nvSpPr>
            <p:cNvPr id="23022" name="Line 87"/>
            <p:cNvSpPr>
              <a:spLocks noChangeShapeType="1"/>
            </p:cNvSpPr>
            <p:nvPr/>
          </p:nvSpPr>
          <p:spPr bwMode="auto">
            <a:xfrm flipV="1">
              <a:off x="2400" y="96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296" name="Rectangle 88" descr="Large confetti"/>
          <p:cNvSpPr>
            <a:spLocks noChangeArrowheads="1"/>
          </p:cNvSpPr>
          <p:nvPr/>
        </p:nvSpPr>
        <p:spPr bwMode="auto">
          <a:xfrm rot="10800000">
            <a:off x="6400800" y="825500"/>
            <a:ext cx="304800" cy="762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297" name="Freeform 89" descr="Large confetti"/>
          <p:cNvSpPr>
            <a:spLocks noChangeAspect="1"/>
          </p:cNvSpPr>
          <p:nvPr/>
        </p:nvSpPr>
        <p:spPr bwMode="auto">
          <a:xfrm>
            <a:off x="5854700" y="1117600"/>
            <a:ext cx="381000" cy="165100"/>
          </a:xfrm>
          <a:custGeom>
            <a:avLst/>
            <a:gdLst>
              <a:gd name="T0" fmla="*/ 0 w 712"/>
              <a:gd name="T1" fmla="*/ 18640 h 496"/>
              <a:gd name="T2" fmla="*/ 21404 w 712"/>
              <a:gd name="T3" fmla="*/ 55921 h 496"/>
              <a:gd name="T4" fmla="*/ 55652 w 712"/>
              <a:gd name="T5" fmla="*/ 117168 h 496"/>
              <a:gd name="T6" fmla="*/ 64213 w 712"/>
              <a:gd name="T7" fmla="*/ 130482 h 496"/>
              <a:gd name="T8" fmla="*/ 154112 w 712"/>
              <a:gd name="T9" fmla="*/ 165100 h 496"/>
              <a:gd name="T10" fmla="*/ 214045 w 712"/>
              <a:gd name="T11" fmla="*/ 151785 h 496"/>
              <a:gd name="T12" fmla="*/ 239730 w 712"/>
              <a:gd name="T13" fmla="*/ 141134 h 496"/>
              <a:gd name="T14" fmla="*/ 261135 w 712"/>
              <a:gd name="T15" fmla="*/ 114505 h 496"/>
              <a:gd name="T16" fmla="*/ 273978 w 712"/>
              <a:gd name="T17" fmla="*/ 103853 h 496"/>
              <a:gd name="T18" fmla="*/ 316787 w 712"/>
              <a:gd name="T19" fmla="*/ 55921 h 496"/>
              <a:gd name="T20" fmla="*/ 381000 w 712"/>
              <a:gd name="T21" fmla="*/ 0 h 4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12"/>
              <a:gd name="T34" fmla="*/ 0 h 496"/>
              <a:gd name="T35" fmla="*/ 712 w 712"/>
              <a:gd name="T36" fmla="*/ 496 h 4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12" h="496">
                <a:moveTo>
                  <a:pt x="0" y="56"/>
                </a:moveTo>
                <a:cubicBezTo>
                  <a:pt x="8" y="98"/>
                  <a:pt x="28" y="128"/>
                  <a:pt x="40" y="168"/>
                </a:cubicBezTo>
                <a:cubicBezTo>
                  <a:pt x="59" y="233"/>
                  <a:pt x="74" y="291"/>
                  <a:pt x="104" y="352"/>
                </a:cubicBezTo>
                <a:cubicBezTo>
                  <a:pt x="110" y="365"/>
                  <a:pt x="111" y="381"/>
                  <a:pt x="120" y="392"/>
                </a:cubicBezTo>
                <a:cubicBezTo>
                  <a:pt x="161" y="445"/>
                  <a:pt x="235" y="461"/>
                  <a:pt x="288" y="496"/>
                </a:cubicBezTo>
                <a:cubicBezTo>
                  <a:pt x="325" y="483"/>
                  <a:pt x="372" y="484"/>
                  <a:pt x="400" y="456"/>
                </a:cubicBezTo>
                <a:cubicBezTo>
                  <a:pt x="430" y="426"/>
                  <a:pt x="413" y="436"/>
                  <a:pt x="448" y="424"/>
                </a:cubicBezTo>
                <a:cubicBezTo>
                  <a:pt x="498" y="374"/>
                  <a:pt x="448" y="432"/>
                  <a:pt x="488" y="344"/>
                </a:cubicBezTo>
                <a:cubicBezTo>
                  <a:pt x="494" y="332"/>
                  <a:pt x="505" y="324"/>
                  <a:pt x="512" y="312"/>
                </a:cubicBezTo>
                <a:cubicBezTo>
                  <a:pt x="614" y="131"/>
                  <a:pt x="516" y="282"/>
                  <a:pt x="592" y="168"/>
                </a:cubicBezTo>
                <a:cubicBezTo>
                  <a:pt x="609" y="82"/>
                  <a:pt x="654" y="58"/>
                  <a:pt x="712" y="0"/>
                </a:cubicBezTo>
              </a:path>
            </a:pathLst>
          </a:custGeom>
          <a:pattFill prst="lgConfetti">
            <a:fgClr>
              <a:srgbClr val="996633"/>
            </a:fgClr>
            <a:bgClr>
              <a:srgbClr val="FFFFFF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90"/>
          <p:cNvGrpSpPr>
            <a:grpSpLocks/>
          </p:cNvGrpSpPr>
          <p:nvPr/>
        </p:nvGrpSpPr>
        <p:grpSpPr bwMode="auto">
          <a:xfrm>
            <a:off x="5702300" y="901700"/>
            <a:ext cx="1676400" cy="533400"/>
            <a:chOff x="2160" y="1488"/>
            <a:chExt cx="1056" cy="336"/>
          </a:xfrm>
        </p:grpSpPr>
        <p:sp>
          <p:nvSpPr>
            <p:cNvPr id="23010" name="Line 91"/>
            <p:cNvSpPr>
              <a:spLocks noChangeShapeType="1"/>
            </p:cNvSpPr>
            <p:nvPr/>
          </p:nvSpPr>
          <p:spPr bwMode="auto">
            <a:xfrm flipV="1">
              <a:off x="2160" y="163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1" name="Line 92"/>
            <p:cNvSpPr>
              <a:spLocks noChangeShapeType="1"/>
            </p:cNvSpPr>
            <p:nvPr/>
          </p:nvSpPr>
          <p:spPr bwMode="auto">
            <a:xfrm>
              <a:off x="3216" y="163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2" name="Line 93"/>
            <p:cNvSpPr>
              <a:spLocks noChangeShapeType="1"/>
            </p:cNvSpPr>
            <p:nvPr/>
          </p:nvSpPr>
          <p:spPr bwMode="auto">
            <a:xfrm>
              <a:off x="2160" y="163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3" name="Line 94"/>
            <p:cNvSpPr>
              <a:spLocks noChangeShapeType="1"/>
            </p:cNvSpPr>
            <p:nvPr/>
          </p:nvSpPr>
          <p:spPr bwMode="auto">
            <a:xfrm flipV="1">
              <a:off x="2584" y="148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4" name="Line 95"/>
            <p:cNvSpPr>
              <a:spLocks noChangeShapeType="1"/>
            </p:cNvSpPr>
            <p:nvPr/>
          </p:nvSpPr>
          <p:spPr bwMode="auto">
            <a:xfrm flipV="1">
              <a:off x="2784" y="148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5" name="Line 96"/>
            <p:cNvSpPr>
              <a:spLocks noChangeShapeType="1"/>
            </p:cNvSpPr>
            <p:nvPr/>
          </p:nvSpPr>
          <p:spPr bwMode="auto">
            <a:xfrm>
              <a:off x="2592" y="148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6" name="Freeform 97"/>
            <p:cNvSpPr>
              <a:spLocks/>
            </p:cNvSpPr>
            <p:nvPr/>
          </p:nvSpPr>
          <p:spPr bwMode="auto">
            <a:xfrm>
              <a:off x="2248" y="1632"/>
              <a:ext cx="240" cy="104"/>
            </a:xfrm>
            <a:custGeom>
              <a:avLst/>
              <a:gdLst>
                <a:gd name="T0" fmla="*/ 0 w 712"/>
                <a:gd name="T1" fmla="*/ 12 h 496"/>
                <a:gd name="T2" fmla="*/ 13 w 712"/>
                <a:gd name="T3" fmla="*/ 35 h 496"/>
                <a:gd name="T4" fmla="*/ 35 w 712"/>
                <a:gd name="T5" fmla="*/ 74 h 496"/>
                <a:gd name="T6" fmla="*/ 40 w 712"/>
                <a:gd name="T7" fmla="*/ 82 h 496"/>
                <a:gd name="T8" fmla="*/ 97 w 712"/>
                <a:gd name="T9" fmla="*/ 104 h 496"/>
                <a:gd name="T10" fmla="*/ 135 w 712"/>
                <a:gd name="T11" fmla="*/ 96 h 496"/>
                <a:gd name="T12" fmla="*/ 151 w 712"/>
                <a:gd name="T13" fmla="*/ 89 h 496"/>
                <a:gd name="T14" fmla="*/ 164 w 712"/>
                <a:gd name="T15" fmla="*/ 72 h 496"/>
                <a:gd name="T16" fmla="*/ 173 w 712"/>
                <a:gd name="T17" fmla="*/ 65 h 496"/>
                <a:gd name="T18" fmla="*/ 200 w 712"/>
                <a:gd name="T19" fmla="*/ 35 h 496"/>
                <a:gd name="T20" fmla="*/ 240 w 712"/>
                <a:gd name="T21" fmla="*/ 0 h 4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12"/>
                <a:gd name="T34" fmla="*/ 0 h 496"/>
                <a:gd name="T35" fmla="*/ 712 w 712"/>
                <a:gd name="T36" fmla="*/ 496 h 4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12" h="496">
                  <a:moveTo>
                    <a:pt x="0" y="56"/>
                  </a:moveTo>
                  <a:cubicBezTo>
                    <a:pt x="8" y="98"/>
                    <a:pt x="28" y="128"/>
                    <a:pt x="40" y="168"/>
                  </a:cubicBezTo>
                  <a:cubicBezTo>
                    <a:pt x="59" y="233"/>
                    <a:pt x="74" y="291"/>
                    <a:pt x="104" y="352"/>
                  </a:cubicBezTo>
                  <a:cubicBezTo>
                    <a:pt x="110" y="365"/>
                    <a:pt x="111" y="381"/>
                    <a:pt x="120" y="392"/>
                  </a:cubicBezTo>
                  <a:cubicBezTo>
                    <a:pt x="161" y="445"/>
                    <a:pt x="235" y="461"/>
                    <a:pt x="288" y="496"/>
                  </a:cubicBezTo>
                  <a:cubicBezTo>
                    <a:pt x="325" y="483"/>
                    <a:pt x="372" y="484"/>
                    <a:pt x="400" y="456"/>
                  </a:cubicBezTo>
                  <a:cubicBezTo>
                    <a:pt x="430" y="426"/>
                    <a:pt x="413" y="436"/>
                    <a:pt x="448" y="424"/>
                  </a:cubicBezTo>
                  <a:cubicBezTo>
                    <a:pt x="498" y="374"/>
                    <a:pt x="448" y="432"/>
                    <a:pt x="488" y="344"/>
                  </a:cubicBezTo>
                  <a:cubicBezTo>
                    <a:pt x="494" y="332"/>
                    <a:pt x="505" y="324"/>
                    <a:pt x="512" y="312"/>
                  </a:cubicBezTo>
                  <a:cubicBezTo>
                    <a:pt x="614" y="131"/>
                    <a:pt x="516" y="282"/>
                    <a:pt x="592" y="168"/>
                  </a:cubicBezTo>
                  <a:cubicBezTo>
                    <a:pt x="609" y="82"/>
                    <a:pt x="654" y="58"/>
                    <a:pt x="712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7" name="Freeform 98"/>
            <p:cNvSpPr>
              <a:spLocks/>
            </p:cNvSpPr>
            <p:nvPr/>
          </p:nvSpPr>
          <p:spPr bwMode="auto">
            <a:xfrm>
              <a:off x="2904" y="1624"/>
              <a:ext cx="240" cy="104"/>
            </a:xfrm>
            <a:custGeom>
              <a:avLst/>
              <a:gdLst>
                <a:gd name="T0" fmla="*/ 0 w 712"/>
                <a:gd name="T1" fmla="*/ 12 h 496"/>
                <a:gd name="T2" fmla="*/ 13 w 712"/>
                <a:gd name="T3" fmla="*/ 35 h 496"/>
                <a:gd name="T4" fmla="*/ 35 w 712"/>
                <a:gd name="T5" fmla="*/ 74 h 496"/>
                <a:gd name="T6" fmla="*/ 40 w 712"/>
                <a:gd name="T7" fmla="*/ 82 h 496"/>
                <a:gd name="T8" fmla="*/ 97 w 712"/>
                <a:gd name="T9" fmla="*/ 104 h 496"/>
                <a:gd name="T10" fmla="*/ 135 w 712"/>
                <a:gd name="T11" fmla="*/ 96 h 496"/>
                <a:gd name="T12" fmla="*/ 151 w 712"/>
                <a:gd name="T13" fmla="*/ 89 h 496"/>
                <a:gd name="T14" fmla="*/ 164 w 712"/>
                <a:gd name="T15" fmla="*/ 72 h 496"/>
                <a:gd name="T16" fmla="*/ 173 w 712"/>
                <a:gd name="T17" fmla="*/ 65 h 496"/>
                <a:gd name="T18" fmla="*/ 200 w 712"/>
                <a:gd name="T19" fmla="*/ 35 h 496"/>
                <a:gd name="T20" fmla="*/ 240 w 712"/>
                <a:gd name="T21" fmla="*/ 0 h 4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12"/>
                <a:gd name="T34" fmla="*/ 0 h 496"/>
                <a:gd name="T35" fmla="*/ 712 w 712"/>
                <a:gd name="T36" fmla="*/ 496 h 4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12" h="496">
                  <a:moveTo>
                    <a:pt x="0" y="56"/>
                  </a:moveTo>
                  <a:cubicBezTo>
                    <a:pt x="8" y="98"/>
                    <a:pt x="28" y="128"/>
                    <a:pt x="40" y="168"/>
                  </a:cubicBezTo>
                  <a:cubicBezTo>
                    <a:pt x="59" y="233"/>
                    <a:pt x="74" y="291"/>
                    <a:pt x="104" y="352"/>
                  </a:cubicBezTo>
                  <a:cubicBezTo>
                    <a:pt x="110" y="365"/>
                    <a:pt x="111" y="381"/>
                    <a:pt x="120" y="392"/>
                  </a:cubicBezTo>
                  <a:cubicBezTo>
                    <a:pt x="161" y="445"/>
                    <a:pt x="235" y="461"/>
                    <a:pt x="288" y="496"/>
                  </a:cubicBezTo>
                  <a:cubicBezTo>
                    <a:pt x="325" y="483"/>
                    <a:pt x="372" y="484"/>
                    <a:pt x="400" y="456"/>
                  </a:cubicBezTo>
                  <a:cubicBezTo>
                    <a:pt x="430" y="426"/>
                    <a:pt x="413" y="436"/>
                    <a:pt x="448" y="424"/>
                  </a:cubicBezTo>
                  <a:cubicBezTo>
                    <a:pt x="498" y="374"/>
                    <a:pt x="448" y="432"/>
                    <a:pt x="488" y="344"/>
                  </a:cubicBezTo>
                  <a:cubicBezTo>
                    <a:pt x="494" y="332"/>
                    <a:pt x="505" y="324"/>
                    <a:pt x="512" y="312"/>
                  </a:cubicBezTo>
                  <a:cubicBezTo>
                    <a:pt x="614" y="131"/>
                    <a:pt x="516" y="282"/>
                    <a:pt x="592" y="168"/>
                  </a:cubicBezTo>
                  <a:cubicBezTo>
                    <a:pt x="609" y="82"/>
                    <a:pt x="654" y="58"/>
                    <a:pt x="712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8" name="Line 99"/>
            <p:cNvSpPr>
              <a:spLocks noChangeAspect="1" noChangeShapeType="1"/>
            </p:cNvSpPr>
            <p:nvPr/>
          </p:nvSpPr>
          <p:spPr bwMode="auto">
            <a:xfrm>
              <a:off x="2472" y="1632"/>
              <a:ext cx="10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19" name="Line 100"/>
            <p:cNvSpPr>
              <a:spLocks noChangeAspect="1" noChangeShapeType="1"/>
            </p:cNvSpPr>
            <p:nvPr/>
          </p:nvSpPr>
          <p:spPr bwMode="auto">
            <a:xfrm>
              <a:off x="2787" y="1632"/>
              <a:ext cx="11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20" name="Line 101"/>
            <p:cNvSpPr>
              <a:spLocks noChangeShapeType="1"/>
            </p:cNvSpPr>
            <p:nvPr/>
          </p:nvSpPr>
          <p:spPr bwMode="auto">
            <a:xfrm>
              <a:off x="3120" y="163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310" name="Freeform 102" descr="Large confetti"/>
          <p:cNvSpPr>
            <a:spLocks noChangeAspect="1"/>
          </p:cNvSpPr>
          <p:nvPr/>
        </p:nvSpPr>
        <p:spPr bwMode="auto">
          <a:xfrm>
            <a:off x="6883400" y="1104900"/>
            <a:ext cx="381000" cy="165100"/>
          </a:xfrm>
          <a:custGeom>
            <a:avLst/>
            <a:gdLst>
              <a:gd name="T0" fmla="*/ 0 w 712"/>
              <a:gd name="T1" fmla="*/ 18640 h 496"/>
              <a:gd name="T2" fmla="*/ 21404 w 712"/>
              <a:gd name="T3" fmla="*/ 55921 h 496"/>
              <a:gd name="T4" fmla="*/ 55652 w 712"/>
              <a:gd name="T5" fmla="*/ 117168 h 496"/>
              <a:gd name="T6" fmla="*/ 64213 w 712"/>
              <a:gd name="T7" fmla="*/ 130482 h 496"/>
              <a:gd name="T8" fmla="*/ 154112 w 712"/>
              <a:gd name="T9" fmla="*/ 165100 h 496"/>
              <a:gd name="T10" fmla="*/ 214045 w 712"/>
              <a:gd name="T11" fmla="*/ 151785 h 496"/>
              <a:gd name="T12" fmla="*/ 239730 w 712"/>
              <a:gd name="T13" fmla="*/ 141134 h 496"/>
              <a:gd name="T14" fmla="*/ 261135 w 712"/>
              <a:gd name="T15" fmla="*/ 114505 h 496"/>
              <a:gd name="T16" fmla="*/ 273978 w 712"/>
              <a:gd name="T17" fmla="*/ 103853 h 496"/>
              <a:gd name="T18" fmla="*/ 316787 w 712"/>
              <a:gd name="T19" fmla="*/ 55921 h 496"/>
              <a:gd name="T20" fmla="*/ 381000 w 712"/>
              <a:gd name="T21" fmla="*/ 0 h 4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12"/>
              <a:gd name="T34" fmla="*/ 0 h 496"/>
              <a:gd name="T35" fmla="*/ 712 w 712"/>
              <a:gd name="T36" fmla="*/ 496 h 4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12" h="496">
                <a:moveTo>
                  <a:pt x="0" y="56"/>
                </a:moveTo>
                <a:cubicBezTo>
                  <a:pt x="8" y="98"/>
                  <a:pt x="28" y="128"/>
                  <a:pt x="40" y="168"/>
                </a:cubicBezTo>
                <a:cubicBezTo>
                  <a:pt x="59" y="233"/>
                  <a:pt x="74" y="291"/>
                  <a:pt x="104" y="352"/>
                </a:cubicBezTo>
                <a:cubicBezTo>
                  <a:pt x="110" y="365"/>
                  <a:pt x="111" y="381"/>
                  <a:pt x="120" y="392"/>
                </a:cubicBezTo>
                <a:cubicBezTo>
                  <a:pt x="161" y="445"/>
                  <a:pt x="235" y="461"/>
                  <a:pt x="288" y="496"/>
                </a:cubicBezTo>
                <a:cubicBezTo>
                  <a:pt x="325" y="483"/>
                  <a:pt x="372" y="484"/>
                  <a:pt x="400" y="456"/>
                </a:cubicBezTo>
                <a:cubicBezTo>
                  <a:pt x="430" y="426"/>
                  <a:pt x="413" y="436"/>
                  <a:pt x="448" y="424"/>
                </a:cubicBezTo>
                <a:cubicBezTo>
                  <a:pt x="498" y="374"/>
                  <a:pt x="448" y="432"/>
                  <a:pt x="488" y="344"/>
                </a:cubicBezTo>
                <a:cubicBezTo>
                  <a:pt x="494" y="332"/>
                  <a:pt x="505" y="324"/>
                  <a:pt x="512" y="312"/>
                </a:cubicBezTo>
                <a:cubicBezTo>
                  <a:pt x="614" y="131"/>
                  <a:pt x="516" y="282"/>
                  <a:pt x="592" y="168"/>
                </a:cubicBezTo>
                <a:cubicBezTo>
                  <a:pt x="609" y="82"/>
                  <a:pt x="654" y="58"/>
                  <a:pt x="712" y="0"/>
                </a:cubicBezTo>
              </a:path>
            </a:pathLst>
          </a:custGeom>
          <a:pattFill prst="lgConfetti">
            <a:fgClr>
              <a:srgbClr val="996633"/>
            </a:fgClr>
            <a:bgClr>
              <a:srgbClr val="FFFFFF"/>
            </a:bgClr>
          </a:patt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103"/>
          <p:cNvGrpSpPr>
            <a:grpSpLocks/>
          </p:cNvGrpSpPr>
          <p:nvPr/>
        </p:nvGrpSpPr>
        <p:grpSpPr bwMode="auto">
          <a:xfrm>
            <a:off x="3708400" y="215900"/>
            <a:ext cx="5372100" cy="1981200"/>
            <a:chOff x="1056" y="2304"/>
            <a:chExt cx="3384" cy="1248"/>
          </a:xfrm>
        </p:grpSpPr>
        <p:grpSp>
          <p:nvGrpSpPr>
            <p:cNvPr id="26" name="Group 104"/>
            <p:cNvGrpSpPr>
              <a:grpSpLocks/>
            </p:cNvGrpSpPr>
            <p:nvPr/>
          </p:nvGrpSpPr>
          <p:grpSpPr bwMode="auto">
            <a:xfrm>
              <a:off x="3768" y="2304"/>
              <a:ext cx="672" cy="240"/>
              <a:chOff x="4224" y="96"/>
              <a:chExt cx="672" cy="240"/>
            </a:xfrm>
          </p:grpSpPr>
          <p:sp>
            <p:nvSpPr>
              <p:cNvPr id="23008" name="Rectangle 105"/>
              <p:cNvSpPr>
                <a:spLocks noChangeArrowheads="1"/>
              </p:cNvSpPr>
              <p:nvPr/>
            </p:nvSpPr>
            <p:spPr bwMode="auto">
              <a:xfrm>
                <a:off x="4272" y="96"/>
                <a:ext cx="624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Drag</a:t>
                </a:r>
              </a:p>
            </p:txBody>
          </p:sp>
          <p:sp>
            <p:nvSpPr>
              <p:cNvPr id="23009" name="Line 106"/>
              <p:cNvSpPr>
                <a:spLocks noChangeShapeType="1"/>
              </p:cNvSpPr>
              <p:nvPr/>
            </p:nvSpPr>
            <p:spPr bwMode="auto">
              <a:xfrm flipH="1">
                <a:off x="4224" y="19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" name="Group 107"/>
            <p:cNvGrpSpPr>
              <a:grpSpLocks/>
            </p:cNvGrpSpPr>
            <p:nvPr/>
          </p:nvGrpSpPr>
          <p:grpSpPr bwMode="auto">
            <a:xfrm>
              <a:off x="2304" y="2736"/>
              <a:ext cx="1056" cy="336"/>
              <a:chOff x="3816" y="1776"/>
              <a:chExt cx="1056" cy="336"/>
            </a:xfrm>
          </p:grpSpPr>
          <p:sp>
            <p:nvSpPr>
              <p:cNvPr id="22996" name="Line 108"/>
              <p:cNvSpPr>
                <a:spLocks noChangeShapeType="1"/>
              </p:cNvSpPr>
              <p:nvPr/>
            </p:nvSpPr>
            <p:spPr bwMode="auto">
              <a:xfrm>
                <a:off x="3816" y="2112"/>
                <a:ext cx="10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8" name="Group 109"/>
              <p:cNvGrpSpPr>
                <a:grpSpLocks/>
              </p:cNvGrpSpPr>
              <p:nvPr/>
            </p:nvGrpSpPr>
            <p:grpSpPr bwMode="auto">
              <a:xfrm>
                <a:off x="3816" y="1776"/>
                <a:ext cx="1056" cy="336"/>
                <a:chOff x="3816" y="1776"/>
                <a:chExt cx="1056" cy="336"/>
              </a:xfrm>
            </p:grpSpPr>
            <p:sp>
              <p:nvSpPr>
                <p:cNvPr id="22998" name="Line 110"/>
                <p:cNvSpPr>
                  <a:spLocks noChangeShapeType="1"/>
                </p:cNvSpPr>
                <p:nvPr/>
              </p:nvSpPr>
              <p:spPr bwMode="auto">
                <a:xfrm flipH="1">
                  <a:off x="4440" y="1920"/>
                  <a:ext cx="4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9" name="Group 111"/>
                <p:cNvGrpSpPr>
                  <a:grpSpLocks/>
                </p:cNvGrpSpPr>
                <p:nvPr/>
              </p:nvGrpSpPr>
              <p:grpSpPr bwMode="auto">
                <a:xfrm>
                  <a:off x="3816" y="1776"/>
                  <a:ext cx="1056" cy="336"/>
                  <a:chOff x="3816" y="1776"/>
                  <a:chExt cx="1056" cy="336"/>
                </a:xfrm>
              </p:grpSpPr>
              <p:sp>
                <p:nvSpPr>
                  <p:cNvPr id="23000" name="Line 1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816" y="192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1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872" y="192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2" name="Line 114"/>
                  <p:cNvSpPr>
                    <a:spLocks noChangeShapeType="1"/>
                  </p:cNvSpPr>
                  <p:nvPr/>
                </p:nvSpPr>
                <p:spPr bwMode="auto">
                  <a:xfrm>
                    <a:off x="3816" y="1920"/>
                    <a:ext cx="43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3" name="Line 11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40" y="1776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4" name="Line 1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40" y="1776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5" name="Line 117"/>
                  <p:cNvSpPr>
                    <a:spLocks noChangeShapeType="1"/>
                  </p:cNvSpPr>
                  <p:nvPr/>
                </p:nvSpPr>
                <p:spPr bwMode="auto">
                  <a:xfrm>
                    <a:off x="4248" y="1776"/>
                    <a:ext cx="19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6" name="Freeform 118"/>
                  <p:cNvSpPr>
                    <a:spLocks/>
                  </p:cNvSpPr>
                  <p:nvPr/>
                </p:nvSpPr>
                <p:spPr bwMode="auto">
                  <a:xfrm>
                    <a:off x="3904" y="1920"/>
                    <a:ext cx="240" cy="104"/>
                  </a:xfrm>
                  <a:custGeom>
                    <a:avLst/>
                    <a:gdLst>
                      <a:gd name="T0" fmla="*/ 0 w 712"/>
                      <a:gd name="T1" fmla="*/ 12 h 496"/>
                      <a:gd name="T2" fmla="*/ 13 w 712"/>
                      <a:gd name="T3" fmla="*/ 35 h 496"/>
                      <a:gd name="T4" fmla="*/ 35 w 712"/>
                      <a:gd name="T5" fmla="*/ 74 h 496"/>
                      <a:gd name="T6" fmla="*/ 40 w 712"/>
                      <a:gd name="T7" fmla="*/ 82 h 496"/>
                      <a:gd name="T8" fmla="*/ 97 w 712"/>
                      <a:gd name="T9" fmla="*/ 104 h 496"/>
                      <a:gd name="T10" fmla="*/ 135 w 712"/>
                      <a:gd name="T11" fmla="*/ 96 h 496"/>
                      <a:gd name="T12" fmla="*/ 151 w 712"/>
                      <a:gd name="T13" fmla="*/ 89 h 496"/>
                      <a:gd name="T14" fmla="*/ 164 w 712"/>
                      <a:gd name="T15" fmla="*/ 72 h 496"/>
                      <a:gd name="T16" fmla="*/ 173 w 712"/>
                      <a:gd name="T17" fmla="*/ 65 h 496"/>
                      <a:gd name="T18" fmla="*/ 200 w 712"/>
                      <a:gd name="T19" fmla="*/ 35 h 496"/>
                      <a:gd name="T20" fmla="*/ 240 w 712"/>
                      <a:gd name="T21" fmla="*/ 0 h 49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712"/>
                      <a:gd name="T34" fmla="*/ 0 h 496"/>
                      <a:gd name="T35" fmla="*/ 712 w 712"/>
                      <a:gd name="T36" fmla="*/ 496 h 49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712" h="496">
                        <a:moveTo>
                          <a:pt x="0" y="56"/>
                        </a:moveTo>
                        <a:cubicBezTo>
                          <a:pt x="8" y="98"/>
                          <a:pt x="28" y="128"/>
                          <a:pt x="40" y="168"/>
                        </a:cubicBezTo>
                        <a:cubicBezTo>
                          <a:pt x="59" y="233"/>
                          <a:pt x="74" y="291"/>
                          <a:pt x="104" y="352"/>
                        </a:cubicBezTo>
                        <a:cubicBezTo>
                          <a:pt x="110" y="365"/>
                          <a:pt x="111" y="381"/>
                          <a:pt x="120" y="392"/>
                        </a:cubicBezTo>
                        <a:cubicBezTo>
                          <a:pt x="161" y="445"/>
                          <a:pt x="235" y="461"/>
                          <a:pt x="288" y="496"/>
                        </a:cubicBezTo>
                        <a:cubicBezTo>
                          <a:pt x="325" y="483"/>
                          <a:pt x="372" y="484"/>
                          <a:pt x="400" y="456"/>
                        </a:cubicBezTo>
                        <a:cubicBezTo>
                          <a:pt x="430" y="426"/>
                          <a:pt x="413" y="436"/>
                          <a:pt x="448" y="424"/>
                        </a:cubicBezTo>
                        <a:cubicBezTo>
                          <a:pt x="498" y="374"/>
                          <a:pt x="448" y="432"/>
                          <a:pt x="488" y="344"/>
                        </a:cubicBezTo>
                        <a:cubicBezTo>
                          <a:pt x="494" y="332"/>
                          <a:pt x="505" y="324"/>
                          <a:pt x="512" y="312"/>
                        </a:cubicBezTo>
                        <a:cubicBezTo>
                          <a:pt x="614" y="131"/>
                          <a:pt x="516" y="282"/>
                          <a:pt x="592" y="168"/>
                        </a:cubicBezTo>
                        <a:cubicBezTo>
                          <a:pt x="609" y="82"/>
                          <a:pt x="654" y="58"/>
                          <a:pt x="712" y="0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007" name="Freeform 119"/>
                  <p:cNvSpPr>
                    <a:spLocks/>
                  </p:cNvSpPr>
                  <p:nvPr/>
                </p:nvSpPr>
                <p:spPr bwMode="auto">
                  <a:xfrm>
                    <a:off x="4560" y="1920"/>
                    <a:ext cx="240" cy="104"/>
                  </a:xfrm>
                  <a:custGeom>
                    <a:avLst/>
                    <a:gdLst>
                      <a:gd name="T0" fmla="*/ 0 w 712"/>
                      <a:gd name="T1" fmla="*/ 12 h 496"/>
                      <a:gd name="T2" fmla="*/ 13 w 712"/>
                      <a:gd name="T3" fmla="*/ 35 h 496"/>
                      <a:gd name="T4" fmla="*/ 35 w 712"/>
                      <a:gd name="T5" fmla="*/ 74 h 496"/>
                      <a:gd name="T6" fmla="*/ 40 w 712"/>
                      <a:gd name="T7" fmla="*/ 82 h 496"/>
                      <a:gd name="T8" fmla="*/ 97 w 712"/>
                      <a:gd name="T9" fmla="*/ 104 h 496"/>
                      <a:gd name="T10" fmla="*/ 135 w 712"/>
                      <a:gd name="T11" fmla="*/ 96 h 496"/>
                      <a:gd name="T12" fmla="*/ 151 w 712"/>
                      <a:gd name="T13" fmla="*/ 89 h 496"/>
                      <a:gd name="T14" fmla="*/ 164 w 712"/>
                      <a:gd name="T15" fmla="*/ 72 h 496"/>
                      <a:gd name="T16" fmla="*/ 173 w 712"/>
                      <a:gd name="T17" fmla="*/ 65 h 496"/>
                      <a:gd name="T18" fmla="*/ 200 w 712"/>
                      <a:gd name="T19" fmla="*/ 35 h 496"/>
                      <a:gd name="T20" fmla="*/ 240 w 712"/>
                      <a:gd name="T21" fmla="*/ 0 h 49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712"/>
                      <a:gd name="T34" fmla="*/ 0 h 496"/>
                      <a:gd name="T35" fmla="*/ 712 w 712"/>
                      <a:gd name="T36" fmla="*/ 496 h 49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712" h="496">
                        <a:moveTo>
                          <a:pt x="0" y="56"/>
                        </a:moveTo>
                        <a:cubicBezTo>
                          <a:pt x="8" y="98"/>
                          <a:pt x="28" y="128"/>
                          <a:pt x="40" y="168"/>
                        </a:cubicBezTo>
                        <a:cubicBezTo>
                          <a:pt x="59" y="233"/>
                          <a:pt x="74" y="291"/>
                          <a:pt x="104" y="352"/>
                        </a:cubicBezTo>
                        <a:cubicBezTo>
                          <a:pt x="110" y="365"/>
                          <a:pt x="111" y="381"/>
                          <a:pt x="120" y="392"/>
                        </a:cubicBezTo>
                        <a:cubicBezTo>
                          <a:pt x="161" y="445"/>
                          <a:pt x="235" y="461"/>
                          <a:pt x="288" y="496"/>
                        </a:cubicBezTo>
                        <a:cubicBezTo>
                          <a:pt x="325" y="483"/>
                          <a:pt x="372" y="484"/>
                          <a:pt x="400" y="456"/>
                        </a:cubicBezTo>
                        <a:cubicBezTo>
                          <a:pt x="430" y="426"/>
                          <a:pt x="413" y="436"/>
                          <a:pt x="448" y="424"/>
                        </a:cubicBezTo>
                        <a:cubicBezTo>
                          <a:pt x="498" y="374"/>
                          <a:pt x="448" y="432"/>
                          <a:pt x="488" y="344"/>
                        </a:cubicBezTo>
                        <a:cubicBezTo>
                          <a:pt x="494" y="332"/>
                          <a:pt x="505" y="324"/>
                          <a:pt x="512" y="312"/>
                        </a:cubicBezTo>
                        <a:cubicBezTo>
                          <a:pt x="614" y="131"/>
                          <a:pt x="516" y="282"/>
                          <a:pt x="592" y="168"/>
                        </a:cubicBezTo>
                        <a:cubicBezTo>
                          <a:pt x="609" y="82"/>
                          <a:pt x="654" y="58"/>
                          <a:pt x="712" y="0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30" name="Group 120"/>
            <p:cNvGrpSpPr>
              <a:grpSpLocks/>
            </p:cNvGrpSpPr>
            <p:nvPr/>
          </p:nvGrpSpPr>
          <p:grpSpPr bwMode="auto">
            <a:xfrm>
              <a:off x="1896" y="3072"/>
              <a:ext cx="1920" cy="240"/>
              <a:chOff x="2352" y="864"/>
              <a:chExt cx="1920" cy="240"/>
            </a:xfrm>
          </p:grpSpPr>
          <p:sp>
            <p:nvSpPr>
              <p:cNvPr id="22993" name="Rectangle 121"/>
              <p:cNvSpPr>
                <a:spLocks noChangeArrowheads="1"/>
              </p:cNvSpPr>
              <p:nvPr/>
            </p:nvSpPr>
            <p:spPr bwMode="auto">
              <a:xfrm>
                <a:off x="2352" y="864"/>
                <a:ext cx="1920" cy="96"/>
              </a:xfrm>
              <a:prstGeom prst="rect">
                <a:avLst/>
              </a:prstGeom>
              <a:solidFill>
                <a:srgbClr val="996633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94" name="Rectangle 122"/>
              <p:cNvSpPr>
                <a:spLocks noChangeArrowheads="1"/>
              </p:cNvSpPr>
              <p:nvPr/>
            </p:nvSpPr>
            <p:spPr bwMode="auto">
              <a:xfrm>
                <a:off x="2544" y="960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95" name="Rectangle 123"/>
              <p:cNvSpPr>
                <a:spLocks noChangeArrowheads="1"/>
              </p:cNvSpPr>
              <p:nvPr/>
            </p:nvSpPr>
            <p:spPr bwMode="auto">
              <a:xfrm>
                <a:off x="3816" y="960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" name="Group 124"/>
            <p:cNvGrpSpPr>
              <a:grpSpLocks/>
            </p:cNvGrpSpPr>
            <p:nvPr/>
          </p:nvGrpSpPr>
          <p:grpSpPr bwMode="auto">
            <a:xfrm>
              <a:off x="1752" y="2432"/>
              <a:ext cx="2208" cy="728"/>
              <a:chOff x="2208" y="224"/>
              <a:chExt cx="2208" cy="728"/>
            </a:xfrm>
          </p:grpSpPr>
          <p:sp>
            <p:nvSpPr>
              <p:cNvPr id="22973" name="Line 125"/>
              <p:cNvSpPr>
                <a:spLocks noChangeShapeType="1"/>
              </p:cNvSpPr>
              <p:nvPr/>
            </p:nvSpPr>
            <p:spPr bwMode="auto">
              <a:xfrm>
                <a:off x="2208" y="952"/>
                <a:ext cx="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817" name="Group 126"/>
              <p:cNvGrpSpPr>
                <a:grpSpLocks/>
              </p:cNvGrpSpPr>
              <p:nvPr/>
            </p:nvGrpSpPr>
            <p:grpSpPr bwMode="auto">
              <a:xfrm>
                <a:off x="2216" y="224"/>
                <a:ext cx="2200" cy="728"/>
                <a:chOff x="2216" y="224"/>
                <a:chExt cx="2200" cy="728"/>
              </a:xfrm>
            </p:grpSpPr>
            <p:sp>
              <p:nvSpPr>
                <p:cNvPr id="22975" name="Line 127"/>
                <p:cNvSpPr>
                  <a:spLocks noChangeShapeType="1"/>
                </p:cNvSpPr>
                <p:nvPr/>
              </p:nvSpPr>
              <p:spPr bwMode="auto">
                <a:xfrm>
                  <a:off x="4368" y="800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819" name="Group 128"/>
                <p:cNvGrpSpPr>
                  <a:grpSpLocks/>
                </p:cNvGrpSpPr>
                <p:nvPr/>
              </p:nvGrpSpPr>
              <p:grpSpPr bwMode="auto">
                <a:xfrm>
                  <a:off x="2216" y="224"/>
                  <a:ext cx="2200" cy="728"/>
                  <a:chOff x="2216" y="224"/>
                  <a:chExt cx="2200" cy="728"/>
                </a:xfrm>
              </p:grpSpPr>
              <p:grpSp>
                <p:nvGrpSpPr>
                  <p:cNvPr id="22821" name="Group 129"/>
                  <p:cNvGrpSpPr>
                    <a:grpSpLocks/>
                  </p:cNvGrpSpPr>
                  <p:nvPr/>
                </p:nvGrpSpPr>
                <p:grpSpPr bwMode="auto">
                  <a:xfrm>
                    <a:off x="4272" y="760"/>
                    <a:ext cx="144" cy="192"/>
                    <a:chOff x="2880" y="1536"/>
                    <a:chExt cx="144" cy="192"/>
                  </a:xfrm>
                </p:grpSpPr>
                <p:sp>
                  <p:nvSpPr>
                    <p:cNvPr id="22989" name="Line 1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90" name="Line 1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68"/>
                      <a:ext cx="96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91" name="Line 13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08" y="1536"/>
                      <a:ext cx="0" cy="19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92" name="Line 13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728"/>
                      <a:ext cx="4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2823" name="Group 134"/>
                  <p:cNvGrpSpPr>
                    <a:grpSpLocks/>
                  </p:cNvGrpSpPr>
                  <p:nvPr/>
                </p:nvGrpSpPr>
                <p:grpSpPr bwMode="auto">
                  <a:xfrm>
                    <a:off x="2216" y="760"/>
                    <a:ext cx="144" cy="192"/>
                    <a:chOff x="816" y="1528"/>
                    <a:chExt cx="144" cy="192"/>
                  </a:xfrm>
                </p:grpSpPr>
                <p:sp>
                  <p:nvSpPr>
                    <p:cNvPr id="22984" name="Line 13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16" y="1536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85" name="Line 13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48" y="1568"/>
                      <a:ext cx="96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844" name="Group 13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6" y="1528"/>
                      <a:ext cx="32" cy="192"/>
                      <a:chOff x="816" y="1632"/>
                      <a:chExt cx="32" cy="192"/>
                    </a:xfrm>
                  </p:grpSpPr>
                  <p:sp>
                    <p:nvSpPr>
                      <p:cNvPr id="22987" name="Line 13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16" y="1632"/>
                        <a:ext cx="0" cy="18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988" name="Line 139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48" y="1680"/>
                        <a:ext cx="0" cy="14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22979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2408" y="240"/>
                    <a:ext cx="96" cy="62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80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4112" y="240"/>
                    <a:ext cx="96" cy="62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81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4216" y="672"/>
                    <a:ext cx="48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82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672"/>
                    <a:ext cx="48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83" name="Line 144"/>
                  <p:cNvSpPr>
                    <a:spLocks noChangeShapeType="1"/>
                  </p:cNvSpPr>
                  <p:nvPr/>
                </p:nvSpPr>
                <p:spPr bwMode="auto">
                  <a:xfrm>
                    <a:off x="2400" y="224"/>
                    <a:ext cx="17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2847" name="Group 145"/>
            <p:cNvGrpSpPr>
              <a:grpSpLocks/>
            </p:cNvGrpSpPr>
            <p:nvPr/>
          </p:nvGrpSpPr>
          <p:grpSpPr bwMode="auto">
            <a:xfrm>
              <a:off x="2136" y="2448"/>
              <a:ext cx="624" cy="288"/>
              <a:chOff x="3648" y="1536"/>
              <a:chExt cx="624" cy="288"/>
            </a:xfrm>
          </p:grpSpPr>
          <p:sp>
            <p:nvSpPr>
              <p:cNvPr id="22971" name="Rectangle 146"/>
              <p:cNvSpPr>
                <a:spLocks noChangeArrowheads="1"/>
              </p:cNvSpPr>
              <p:nvPr/>
            </p:nvSpPr>
            <p:spPr bwMode="auto">
              <a:xfrm>
                <a:off x="3648" y="1536"/>
                <a:ext cx="624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Pattern</a:t>
                </a:r>
              </a:p>
            </p:txBody>
          </p:sp>
          <p:sp>
            <p:nvSpPr>
              <p:cNvPr id="22972" name="Line 147"/>
              <p:cNvSpPr>
                <a:spLocks noChangeShapeType="1"/>
              </p:cNvSpPr>
              <p:nvPr/>
            </p:nvSpPr>
            <p:spPr bwMode="auto">
              <a:xfrm>
                <a:off x="3936" y="1680"/>
                <a:ext cx="28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2272" name="Group 148"/>
            <p:cNvGrpSpPr>
              <a:grpSpLocks/>
            </p:cNvGrpSpPr>
            <p:nvPr/>
          </p:nvGrpSpPr>
          <p:grpSpPr bwMode="auto">
            <a:xfrm>
              <a:off x="1056" y="3168"/>
              <a:ext cx="1032" cy="192"/>
              <a:chOff x="1512" y="960"/>
              <a:chExt cx="1032" cy="192"/>
            </a:xfrm>
          </p:grpSpPr>
          <p:sp>
            <p:nvSpPr>
              <p:cNvPr id="22969" name="Rectangle 149"/>
              <p:cNvSpPr>
                <a:spLocks noChangeArrowheads="1"/>
              </p:cNvSpPr>
              <p:nvPr/>
            </p:nvSpPr>
            <p:spPr bwMode="auto">
              <a:xfrm>
                <a:off x="1512" y="1008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Molding board</a:t>
                </a:r>
              </a:p>
            </p:txBody>
          </p:sp>
          <p:sp>
            <p:nvSpPr>
              <p:cNvPr id="22970" name="Line 150"/>
              <p:cNvSpPr>
                <a:spLocks noChangeShapeType="1"/>
              </p:cNvSpPr>
              <p:nvPr/>
            </p:nvSpPr>
            <p:spPr bwMode="auto">
              <a:xfrm flipV="1">
                <a:off x="2400" y="96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968" name="Rectangle 151"/>
            <p:cNvSpPr>
              <a:spLocks noChangeArrowheads="1"/>
            </p:cNvSpPr>
            <p:nvPr/>
          </p:nvSpPr>
          <p:spPr bwMode="auto">
            <a:xfrm>
              <a:off x="2376" y="3408"/>
              <a:ext cx="124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u="sng"/>
                <a:t>FIRST OPERATION</a:t>
              </a:r>
            </a:p>
          </p:txBody>
        </p:sp>
      </p:grpSp>
      <p:grpSp>
        <p:nvGrpSpPr>
          <p:cNvPr id="222273" name="Group 152"/>
          <p:cNvGrpSpPr>
            <a:grpSpLocks/>
          </p:cNvGrpSpPr>
          <p:nvPr/>
        </p:nvGrpSpPr>
        <p:grpSpPr bwMode="auto">
          <a:xfrm>
            <a:off x="3721100" y="215900"/>
            <a:ext cx="5372100" cy="1676400"/>
            <a:chOff x="3504" y="1104"/>
            <a:chExt cx="3384" cy="1056"/>
          </a:xfrm>
        </p:grpSpPr>
        <p:grpSp>
          <p:nvGrpSpPr>
            <p:cNvPr id="222274" name="Group 153"/>
            <p:cNvGrpSpPr>
              <a:grpSpLocks/>
            </p:cNvGrpSpPr>
            <p:nvPr/>
          </p:nvGrpSpPr>
          <p:grpSpPr bwMode="auto">
            <a:xfrm>
              <a:off x="6216" y="1104"/>
              <a:ext cx="672" cy="240"/>
              <a:chOff x="4224" y="96"/>
              <a:chExt cx="672" cy="240"/>
            </a:xfrm>
          </p:grpSpPr>
          <p:sp>
            <p:nvSpPr>
              <p:cNvPr id="22960" name="Rectangle 154"/>
              <p:cNvSpPr>
                <a:spLocks noChangeArrowheads="1"/>
              </p:cNvSpPr>
              <p:nvPr/>
            </p:nvSpPr>
            <p:spPr bwMode="auto">
              <a:xfrm>
                <a:off x="4272" y="96"/>
                <a:ext cx="624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Drag</a:t>
                </a:r>
              </a:p>
            </p:txBody>
          </p:sp>
          <p:sp>
            <p:nvSpPr>
              <p:cNvPr id="22961" name="Line 155"/>
              <p:cNvSpPr>
                <a:spLocks noChangeShapeType="1"/>
              </p:cNvSpPr>
              <p:nvPr/>
            </p:nvSpPr>
            <p:spPr bwMode="auto">
              <a:xfrm flipH="1">
                <a:off x="4224" y="19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2275" name="Group 156"/>
            <p:cNvGrpSpPr>
              <a:grpSpLocks/>
            </p:cNvGrpSpPr>
            <p:nvPr/>
          </p:nvGrpSpPr>
          <p:grpSpPr bwMode="auto">
            <a:xfrm>
              <a:off x="4752" y="1536"/>
              <a:ext cx="1056" cy="336"/>
              <a:chOff x="3816" y="1776"/>
              <a:chExt cx="1056" cy="336"/>
            </a:xfrm>
          </p:grpSpPr>
          <p:sp>
            <p:nvSpPr>
              <p:cNvPr id="22948" name="Line 157"/>
              <p:cNvSpPr>
                <a:spLocks noChangeShapeType="1"/>
              </p:cNvSpPr>
              <p:nvPr/>
            </p:nvSpPr>
            <p:spPr bwMode="auto">
              <a:xfrm>
                <a:off x="3816" y="2112"/>
                <a:ext cx="10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2276" name="Group 158"/>
              <p:cNvGrpSpPr>
                <a:grpSpLocks/>
              </p:cNvGrpSpPr>
              <p:nvPr/>
            </p:nvGrpSpPr>
            <p:grpSpPr bwMode="auto">
              <a:xfrm>
                <a:off x="3816" y="1776"/>
                <a:ext cx="1056" cy="336"/>
                <a:chOff x="3816" y="1776"/>
                <a:chExt cx="1056" cy="336"/>
              </a:xfrm>
            </p:grpSpPr>
            <p:sp>
              <p:nvSpPr>
                <p:cNvPr id="22950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4440" y="1920"/>
                  <a:ext cx="4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2277" name="Group 160"/>
                <p:cNvGrpSpPr>
                  <a:grpSpLocks/>
                </p:cNvGrpSpPr>
                <p:nvPr/>
              </p:nvGrpSpPr>
              <p:grpSpPr bwMode="auto">
                <a:xfrm>
                  <a:off x="3816" y="1776"/>
                  <a:ext cx="1056" cy="336"/>
                  <a:chOff x="3816" y="1776"/>
                  <a:chExt cx="1056" cy="336"/>
                </a:xfrm>
              </p:grpSpPr>
              <p:sp>
                <p:nvSpPr>
                  <p:cNvPr id="22952" name="Line 16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816" y="192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3" name="Line 162"/>
                  <p:cNvSpPr>
                    <a:spLocks noChangeShapeType="1"/>
                  </p:cNvSpPr>
                  <p:nvPr/>
                </p:nvSpPr>
                <p:spPr bwMode="auto">
                  <a:xfrm>
                    <a:off x="4872" y="1920"/>
                    <a:ext cx="0" cy="1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4" name="Line 163"/>
                  <p:cNvSpPr>
                    <a:spLocks noChangeShapeType="1"/>
                  </p:cNvSpPr>
                  <p:nvPr/>
                </p:nvSpPr>
                <p:spPr bwMode="auto">
                  <a:xfrm>
                    <a:off x="3816" y="1920"/>
                    <a:ext cx="43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5" name="Line 16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40" y="1776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6" name="Line 16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40" y="1776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7" name="Line 166"/>
                  <p:cNvSpPr>
                    <a:spLocks noChangeShapeType="1"/>
                  </p:cNvSpPr>
                  <p:nvPr/>
                </p:nvSpPr>
                <p:spPr bwMode="auto">
                  <a:xfrm>
                    <a:off x="4248" y="1776"/>
                    <a:ext cx="19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8" name="Freeform 167"/>
                  <p:cNvSpPr>
                    <a:spLocks/>
                  </p:cNvSpPr>
                  <p:nvPr/>
                </p:nvSpPr>
                <p:spPr bwMode="auto">
                  <a:xfrm>
                    <a:off x="3904" y="1920"/>
                    <a:ext cx="240" cy="104"/>
                  </a:xfrm>
                  <a:custGeom>
                    <a:avLst/>
                    <a:gdLst>
                      <a:gd name="T0" fmla="*/ 0 w 712"/>
                      <a:gd name="T1" fmla="*/ 12 h 496"/>
                      <a:gd name="T2" fmla="*/ 13 w 712"/>
                      <a:gd name="T3" fmla="*/ 35 h 496"/>
                      <a:gd name="T4" fmla="*/ 35 w 712"/>
                      <a:gd name="T5" fmla="*/ 74 h 496"/>
                      <a:gd name="T6" fmla="*/ 40 w 712"/>
                      <a:gd name="T7" fmla="*/ 82 h 496"/>
                      <a:gd name="T8" fmla="*/ 97 w 712"/>
                      <a:gd name="T9" fmla="*/ 104 h 496"/>
                      <a:gd name="T10" fmla="*/ 135 w 712"/>
                      <a:gd name="T11" fmla="*/ 96 h 496"/>
                      <a:gd name="T12" fmla="*/ 151 w 712"/>
                      <a:gd name="T13" fmla="*/ 89 h 496"/>
                      <a:gd name="T14" fmla="*/ 164 w 712"/>
                      <a:gd name="T15" fmla="*/ 72 h 496"/>
                      <a:gd name="T16" fmla="*/ 173 w 712"/>
                      <a:gd name="T17" fmla="*/ 65 h 496"/>
                      <a:gd name="T18" fmla="*/ 200 w 712"/>
                      <a:gd name="T19" fmla="*/ 35 h 496"/>
                      <a:gd name="T20" fmla="*/ 240 w 712"/>
                      <a:gd name="T21" fmla="*/ 0 h 49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712"/>
                      <a:gd name="T34" fmla="*/ 0 h 496"/>
                      <a:gd name="T35" fmla="*/ 712 w 712"/>
                      <a:gd name="T36" fmla="*/ 496 h 49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712" h="496">
                        <a:moveTo>
                          <a:pt x="0" y="56"/>
                        </a:moveTo>
                        <a:cubicBezTo>
                          <a:pt x="8" y="98"/>
                          <a:pt x="28" y="128"/>
                          <a:pt x="40" y="168"/>
                        </a:cubicBezTo>
                        <a:cubicBezTo>
                          <a:pt x="59" y="233"/>
                          <a:pt x="74" y="291"/>
                          <a:pt x="104" y="352"/>
                        </a:cubicBezTo>
                        <a:cubicBezTo>
                          <a:pt x="110" y="365"/>
                          <a:pt x="111" y="381"/>
                          <a:pt x="120" y="392"/>
                        </a:cubicBezTo>
                        <a:cubicBezTo>
                          <a:pt x="161" y="445"/>
                          <a:pt x="235" y="461"/>
                          <a:pt x="288" y="496"/>
                        </a:cubicBezTo>
                        <a:cubicBezTo>
                          <a:pt x="325" y="483"/>
                          <a:pt x="372" y="484"/>
                          <a:pt x="400" y="456"/>
                        </a:cubicBezTo>
                        <a:cubicBezTo>
                          <a:pt x="430" y="426"/>
                          <a:pt x="413" y="436"/>
                          <a:pt x="448" y="424"/>
                        </a:cubicBezTo>
                        <a:cubicBezTo>
                          <a:pt x="498" y="374"/>
                          <a:pt x="448" y="432"/>
                          <a:pt x="488" y="344"/>
                        </a:cubicBezTo>
                        <a:cubicBezTo>
                          <a:pt x="494" y="332"/>
                          <a:pt x="505" y="324"/>
                          <a:pt x="512" y="312"/>
                        </a:cubicBezTo>
                        <a:cubicBezTo>
                          <a:pt x="614" y="131"/>
                          <a:pt x="516" y="282"/>
                          <a:pt x="592" y="168"/>
                        </a:cubicBezTo>
                        <a:cubicBezTo>
                          <a:pt x="609" y="82"/>
                          <a:pt x="654" y="58"/>
                          <a:pt x="712" y="0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959" name="Freeform 168"/>
                  <p:cNvSpPr>
                    <a:spLocks/>
                  </p:cNvSpPr>
                  <p:nvPr/>
                </p:nvSpPr>
                <p:spPr bwMode="auto">
                  <a:xfrm>
                    <a:off x="4560" y="1920"/>
                    <a:ext cx="240" cy="104"/>
                  </a:xfrm>
                  <a:custGeom>
                    <a:avLst/>
                    <a:gdLst>
                      <a:gd name="T0" fmla="*/ 0 w 712"/>
                      <a:gd name="T1" fmla="*/ 12 h 496"/>
                      <a:gd name="T2" fmla="*/ 13 w 712"/>
                      <a:gd name="T3" fmla="*/ 35 h 496"/>
                      <a:gd name="T4" fmla="*/ 35 w 712"/>
                      <a:gd name="T5" fmla="*/ 74 h 496"/>
                      <a:gd name="T6" fmla="*/ 40 w 712"/>
                      <a:gd name="T7" fmla="*/ 82 h 496"/>
                      <a:gd name="T8" fmla="*/ 97 w 712"/>
                      <a:gd name="T9" fmla="*/ 104 h 496"/>
                      <a:gd name="T10" fmla="*/ 135 w 712"/>
                      <a:gd name="T11" fmla="*/ 96 h 496"/>
                      <a:gd name="T12" fmla="*/ 151 w 712"/>
                      <a:gd name="T13" fmla="*/ 89 h 496"/>
                      <a:gd name="T14" fmla="*/ 164 w 712"/>
                      <a:gd name="T15" fmla="*/ 72 h 496"/>
                      <a:gd name="T16" fmla="*/ 173 w 712"/>
                      <a:gd name="T17" fmla="*/ 65 h 496"/>
                      <a:gd name="T18" fmla="*/ 200 w 712"/>
                      <a:gd name="T19" fmla="*/ 35 h 496"/>
                      <a:gd name="T20" fmla="*/ 240 w 712"/>
                      <a:gd name="T21" fmla="*/ 0 h 49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712"/>
                      <a:gd name="T34" fmla="*/ 0 h 496"/>
                      <a:gd name="T35" fmla="*/ 712 w 712"/>
                      <a:gd name="T36" fmla="*/ 496 h 49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712" h="496">
                        <a:moveTo>
                          <a:pt x="0" y="56"/>
                        </a:moveTo>
                        <a:cubicBezTo>
                          <a:pt x="8" y="98"/>
                          <a:pt x="28" y="128"/>
                          <a:pt x="40" y="168"/>
                        </a:cubicBezTo>
                        <a:cubicBezTo>
                          <a:pt x="59" y="233"/>
                          <a:pt x="74" y="291"/>
                          <a:pt x="104" y="352"/>
                        </a:cubicBezTo>
                        <a:cubicBezTo>
                          <a:pt x="110" y="365"/>
                          <a:pt x="111" y="381"/>
                          <a:pt x="120" y="392"/>
                        </a:cubicBezTo>
                        <a:cubicBezTo>
                          <a:pt x="161" y="445"/>
                          <a:pt x="235" y="461"/>
                          <a:pt x="288" y="496"/>
                        </a:cubicBezTo>
                        <a:cubicBezTo>
                          <a:pt x="325" y="483"/>
                          <a:pt x="372" y="484"/>
                          <a:pt x="400" y="456"/>
                        </a:cubicBezTo>
                        <a:cubicBezTo>
                          <a:pt x="430" y="426"/>
                          <a:pt x="413" y="436"/>
                          <a:pt x="448" y="424"/>
                        </a:cubicBezTo>
                        <a:cubicBezTo>
                          <a:pt x="498" y="374"/>
                          <a:pt x="448" y="432"/>
                          <a:pt x="488" y="344"/>
                        </a:cubicBezTo>
                        <a:cubicBezTo>
                          <a:pt x="494" y="332"/>
                          <a:pt x="505" y="324"/>
                          <a:pt x="512" y="312"/>
                        </a:cubicBezTo>
                        <a:cubicBezTo>
                          <a:pt x="614" y="131"/>
                          <a:pt x="516" y="282"/>
                          <a:pt x="592" y="168"/>
                        </a:cubicBezTo>
                        <a:cubicBezTo>
                          <a:pt x="609" y="82"/>
                          <a:pt x="654" y="58"/>
                          <a:pt x="712" y="0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22278" name="Group 169"/>
            <p:cNvGrpSpPr>
              <a:grpSpLocks/>
            </p:cNvGrpSpPr>
            <p:nvPr/>
          </p:nvGrpSpPr>
          <p:grpSpPr bwMode="auto">
            <a:xfrm>
              <a:off x="4344" y="1872"/>
              <a:ext cx="1920" cy="240"/>
              <a:chOff x="2352" y="864"/>
              <a:chExt cx="1920" cy="240"/>
            </a:xfrm>
          </p:grpSpPr>
          <p:sp>
            <p:nvSpPr>
              <p:cNvPr id="22945" name="Rectangle 170"/>
              <p:cNvSpPr>
                <a:spLocks noChangeArrowheads="1"/>
              </p:cNvSpPr>
              <p:nvPr/>
            </p:nvSpPr>
            <p:spPr bwMode="auto">
              <a:xfrm>
                <a:off x="2352" y="864"/>
                <a:ext cx="1920" cy="96"/>
              </a:xfrm>
              <a:prstGeom prst="rect">
                <a:avLst/>
              </a:prstGeom>
              <a:solidFill>
                <a:srgbClr val="996633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46" name="Rectangle 171"/>
              <p:cNvSpPr>
                <a:spLocks noChangeArrowheads="1"/>
              </p:cNvSpPr>
              <p:nvPr/>
            </p:nvSpPr>
            <p:spPr bwMode="auto">
              <a:xfrm>
                <a:off x="2544" y="960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47" name="Rectangle 172"/>
              <p:cNvSpPr>
                <a:spLocks noChangeArrowheads="1"/>
              </p:cNvSpPr>
              <p:nvPr/>
            </p:nvSpPr>
            <p:spPr bwMode="auto">
              <a:xfrm>
                <a:off x="3816" y="960"/>
                <a:ext cx="240" cy="144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2279" name="Group 173"/>
            <p:cNvGrpSpPr>
              <a:grpSpLocks/>
            </p:cNvGrpSpPr>
            <p:nvPr/>
          </p:nvGrpSpPr>
          <p:grpSpPr bwMode="auto">
            <a:xfrm>
              <a:off x="4200" y="1232"/>
              <a:ext cx="2208" cy="728"/>
              <a:chOff x="2208" y="224"/>
              <a:chExt cx="2208" cy="728"/>
            </a:xfrm>
          </p:grpSpPr>
          <p:sp>
            <p:nvSpPr>
              <p:cNvPr id="22925" name="Line 174"/>
              <p:cNvSpPr>
                <a:spLocks noChangeShapeType="1"/>
              </p:cNvSpPr>
              <p:nvPr/>
            </p:nvSpPr>
            <p:spPr bwMode="auto">
              <a:xfrm>
                <a:off x="2208" y="952"/>
                <a:ext cx="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2280" name="Group 175"/>
              <p:cNvGrpSpPr>
                <a:grpSpLocks/>
              </p:cNvGrpSpPr>
              <p:nvPr/>
            </p:nvGrpSpPr>
            <p:grpSpPr bwMode="auto">
              <a:xfrm>
                <a:off x="2216" y="224"/>
                <a:ext cx="2200" cy="728"/>
                <a:chOff x="2216" y="224"/>
                <a:chExt cx="2200" cy="728"/>
              </a:xfrm>
            </p:grpSpPr>
            <p:sp>
              <p:nvSpPr>
                <p:cNvPr id="22927" name="Line 176"/>
                <p:cNvSpPr>
                  <a:spLocks noChangeShapeType="1"/>
                </p:cNvSpPr>
                <p:nvPr/>
              </p:nvSpPr>
              <p:spPr bwMode="auto">
                <a:xfrm>
                  <a:off x="4368" y="800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2281" name="Group 177"/>
                <p:cNvGrpSpPr>
                  <a:grpSpLocks/>
                </p:cNvGrpSpPr>
                <p:nvPr/>
              </p:nvGrpSpPr>
              <p:grpSpPr bwMode="auto">
                <a:xfrm>
                  <a:off x="2216" y="224"/>
                  <a:ext cx="2200" cy="728"/>
                  <a:chOff x="2216" y="224"/>
                  <a:chExt cx="2200" cy="728"/>
                </a:xfrm>
              </p:grpSpPr>
              <p:grpSp>
                <p:nvGrpSpPr>
                  <p:cNvPr id="222282" name="Group 178"/>
                  <p:cNvGrpSpPr>
                    <a:grpSpLocks/>
                  </p:cNvGrpSpPr>
                  <p:nvPr/>
                </p:nvGrpSpPr>
                <p:grpSpPr bwMode="auto">
                  <a:xfrm>
                    <a:off x="4272" y="760"/>
                    <a:ext cx="144" cy="192"/>
                    <a:chOff x="2880" y="1536"/>
                    <a:chExt cx="144" cy="192"/>
                  </a:xfrm>
                </p:grpSpPr>
                <p:sp>
                  <p:nvSpPr>
                    <p:cNvPr id="22941" name="Line 1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42" name="Line 18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68"/>
                      <a:ext cx="96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43" name="Line 18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08" y="1536"/>
                      <a:ext cx="0" cy="19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44" name="Line 18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728"/>
                      <a:ext cx="4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22283" name="Group 183"/>
                  <p:cNvGrpSpPr>
                    <a:grpSpLocks/>
                  </p:cNvGrpSpPr>
                  <p:nvPr/>
                </p:nvGrpSpPr>
                <p:grpSpPr bwMode="auto">
                  <a:xfrm>
                    <a:off x="2216" y="760"/>
                    <a:ext cx="144" cy="192"/>
                    <a:chOff x="816" y="1528"/>
                    <a:chExt cx="144" cy="192"/>
                  </a:xfrm>
                </p:grpSpPr>
                <p:sp>
                  <p:nvSpPr>
                    <p:cNvPr id="22936" name="Line 18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16" y="1536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37" name="Line 18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48" y="1568"/>
                      <a:ext cx="96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2284" name="Group 18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6" y="1528"/>
                      <a:ext cx="32" cy="192"/>
                      <a:chOff x="816" y="1632"/>
                      <a:chExt cx="32" cy="192"/>
                    </a:xfrm>
                  </p:grpSpPr>
                  <p:sp>
                    <p:nvSpPr>
                      <p:cNvPr id="22939" name="Line 18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16" y="1632"/>
                        <a:ext cx="0" cy="18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940" name="Line 188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848" y="1680"/>
                        <a:ext cx="0" cy="14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22931" name="Rectangle 189"/>
                  <p:cNvSpPr>
                    <a:spLocks noChangeArrowheads="1"/>
                  </p:cNvSpPr>
                  <p:nvPr/>
                </p:nvSpPr>
                <p:spPr bwMode="auto">
                  <a:xfrm>
                    <a:off x="2408" y="240"/>
                    <a:ext cx="96" cy="62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32" name="Rectangle 190"/>
                  <p:cNvSpPr>
                    <a:spLocks noChangeArrowheads="1"/>
                  </p:cNvSpPr>
                  <p:nvPr/>
                </p:nvSpPr>
                <p:spPr bwMode="auto">
                  <a:xfrm>
                    <a:off x="4112" y="240"/>
                    <a:ext cx="96" cy="624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33" name="Rectangle 191"/>
                  <p:cNvSpPr>
                    <a:spLocks noChangeArrowheads="1"/>
                  </p:cNvSpPr>
                  <p:nvPr/>
                </p:nvSpPr>
                <p:spPr bwMode="auto">
                  <a:xfrm>
                    <a:off x="4216" y="672"/>
                    <a:ext cx="48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34" name="Rectangle 192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672"/>
                    <a:ext cx="48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2935" name="Line 193"/>
                  <p:cNvSpPr>
                    <a:spLocks noChangeShapeType="1"/>
                  </p:cNvSpPr>
                  <p:nvPr/>
                </p:nvSpPr>
                <p:spPr bwMode="auto">
                  <a:xfrm>
                    <a:off x="2400" y="224"/>
                    <a:ext cx="177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22285" name="Group 194"/>
            <p:cNvGrpSpPr>
              <a:grpSpLocks/>
            </p:cNvGrpSpPr>
            <p:nvPr/>
          </p:nvGrpSpPr>
          <p:grpSpPr bwMode="auto">
            <a:xfrm>
              <a:off x="3504" y="1968"/>
              <a:ext cx="1032" cy="192"/>
              <a:chOff x="1512" y="960"/>
              <a:chExt cx="1032" cy="192"/>
            </a:xfrm>
          </p:grpSpPr>
          <p:sp>
            <p:nvSpPr>
              <p:cNvPr id="22923" name="Rectangle 195"/>
              <p:cNvSpPr>
                <a:spLocks noChangeArrowheads="1"/>
              </p:cNvSpPr>
              <p:nvPr/>
            </p:nvSpPr>
            <p:spPr bwMode="auto">
              <a:xfrm>
                <a:off x="1512" y="1008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/>
                  <a:t>Molding board</a:t>
                </a:r>
              </a:p>
            </p:txBody>
          </p:sp>
          <p:sp>
            <p:nvSpPr>
              <p:cNvPr id="22924" name="Line 196"/>
              <p:cNvSpPr>
                <a:spLocks noChangeShapeType="1"/>
              </p:cNvSpPr>
              <p:nvPr/>
            </p:nvSpPr>
            <p:spPr bwMode="auto">
              <a:xfrm flipV="1">
                <a:off x="2400" y="96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22286" name="Group 197"/>
          <p:cNvGrpSpPr>
            <a:grpSpLocks/>
          </p:cNvGrpSpPr>
          <p:nvPr/>
        </p:nvGrpSpPr>
        <p:grpSpPr bwMode="auto">
          <a:xfrm>
            <a:off x="5041900" y="1435100"/>
            <a:ext cx="3048000" cy="381000"/>
            <a:chOff x="2352" y="864"/>
            <a:chExt cx="1920" cy="240"/>
          </a:xfrm>
        </p:grpSpPr>
        <p:sp>
          <p:nvSpPr>
            <p:cNvPr id="22915" name="Rectangle 198"/>
            <p:cNvSpPr>
              <a:spLocks noChangeArrowheads="1"/>
            </p:cNvSpPr>
            <p:nvPr/>
          </p:nvSpPr>
          <p:spPr bwMode="auto">
            <a:xfrm>
              <a:off x="2352" y="864"/>
              <a:ext cx="1920" cy="96"/>
            </a:xfrm>
            <a:prstGeom prst="rect">
              <a:avLst/>
            </a:prstGeom>
            <a:solidFill>
              <a:srgbClr val="9966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16" name="Rectangle 199"/>
            <p:cNvSpPr>
              <a:spLocks noChangeArrowheads="1"/>
            </p:cNvSpPr>
            <p:nvPr/>
          </p:nvSpPr>
          <p:spPr bwMode="auto">
            <a:xfrm>
              <a:off x="2544" y="960"/>
              <a:ext cx="240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17" name="Rectangle 200"/>
            <p:cNvSpPr>
              <a:spLocks noChangeArrowheads="1"/>
            </p:cNvSpPr>
            <p:nvPr/>
          </p:nvSpPr>
          <p:spPr bwMode="auto">
            <a:xfrm>
              <a:off x="3816" y="960"/>
              <a:ext cx="240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2409" name="Rectangle 201"/>
          <p:cNvSpPr>
            <a:spLocks noChangeArrowheads="1"/>
          </p:cNvSpPr>
          <p:nvPr/>
        </p:nvSpPr>
        <p:spPr bwMode="auto">
          <a:xfrm>
            <a:off x="5715000" y="1905000"/>
            <a:ext cx="21336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1" u="sng"/>
          </a:p>
        </p:txBody>
      </p:sp>
      <p:sp>
        <p:nvSpPr>
          <p:cNvPr id="222410" name="Line 202"/>
          <p:cNvSpPr>
            <a:spLocks noChangeShapeType="1"/>
          </p:cNvSpPr>
          <p:nvPr/>
        </p:nvSpPr>
        <p:spPr bwMode="auto">
          <a:xfrm>
            <a:off x="1524000" y="22860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22287" name="Group 203"/>
          <p:cNvGrpSpPr>
            <a:grpSpLocks/>
          </p:cNvGrpSpPr>
          <p:nvPr/>
        </p:nvGrpSpPr>
        <p:grpSpPr bwMode="auto">
          <a:xfrm>
            <a:off x="4838700" y="266700"/>
            <a:ext cx="3505200" cy="1155700"/>
            <a:chOff x="1608" y="2400"/>
            <a:chExt cx="2208" cy="728"/>
          </a:xfrm>
        </p:grpSpPr>
        <p:grpSp>
          <p:nvGrpSpPr>
            <p:cNvPr id="222288" name="Group 204"/>
            <p:cNvGrpSpPr>
              <a:grpSpLocks/>
            </p:cNvGrpSpPr>
            <p:nvPr/>
          </p:nvGrpSpPr>
          <p:grpSpPr bwMode="auto">
            <a:xfrm>
              <a:off x="1608" y="2400"/>
              <a:ext cx="2208" cy="728"/>
              <a:chOff x="1608" y="2720"/>
              <a:chExt cx="2208" cy="728"/>
            </a:xfrm>
          </p:grpSpPr>
          <p:sp>
            <p:nvSpPr>
              <p:cNvPr id="22872" name="Rectangle 205" descr="Large confetti"/>
              <p:cNvSpPr>
                <a:spLocks noChangeArrowheads="1"/>
              </p:cNvSpPr>
              <p:nvPr/>
            </p:nvSpPr>
            <p:spPr bwMode="auto">
              <a:xfrm rot="10800000">
                <a:off x="2592" y="2736"/>
                <a:ext cx="912" cy="240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sp>
            <p:nvSpPr>
              <p:cNvPr id="22873" name="Rectangle 206" descr="Large confetti"/>
              <p:cNvSpPr>
                <a:spLocks noChangeArrowheads="1"/>
              </p:cNvSpPr>
              <p:nvPr/>
            </p:nvSpPr>
            <p:spPr bwMode="auto">
              <a:xfrm rot="10800000">
                <a:off x="1872" y="2736"/>
                <a:ext cx="912" cy="240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sp>
            <p:nvSpPr>
              <p:cNvPr id="22874" name="Rectangle 207" descr="Large confetti"/>
              <p:cNvSpPr>
                <a:spLocks noChangeAspect="1" noChangeArrowheads="1"/>
              </p:cNvSpPr>
              <p:nvPr/>
            </p:nvSpPr>
            <p:spPr bwMode="auto">
              <a:xfrm rot="10800000">
                <a:off x="2800" y="2976"/>
                <a:ext cx="704" cy="204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sp>
            <p:nvSpPr>
              <p:cNvPr id="22875" name="Rectangle 208" descr="Large confetti"/>
              <p:cNvSpPr>
                <a:spLocks noChangeAspect="1" noChangeArrowheads="1"/>
              </p:cNvSpPr>
              <p:nvPr/>
            </p:nvSpPr>
            <p:spPr bwMode="auto">
              <a:xfrm rot="10800000">
                <a:off x="1920" y="2968"/>
                <a:ext cx="672" cy="195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sp>
            <p:nvSpPr>
              <p:cNvPr id="22876" name="Rectangle 209" descr="Large confetti"/>
              <p:cNvSpPr>
                <a:spLocks noChangeAspect="1" noChangeArrowheads="1"/>
              </p:cNvSpPr>
              <p:nvPr/>
            </p:nvSpPr>
            <p:spPr bwMode="auto">
              <a:xfrm rot="10800000">
                <a:off x="1840" y="3024"/>
                <a:ext cx="304" cy="336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sp>
            <p:nvSpPr>
              <p:cNvPr id="22877" name="Rectangle 210" descr="Large confetti"/>
              <p:cNvSpPr>
                <a:spLocks noChangeAspect="1" noChangeArrowheads="1"/>
              </p:cNvSpPr>
              <p:nvPr/>
            </p:nvSpPr>
            <p:spPr bwMode="auto">
              <a:xfrm rot="10800000">
                <a:off x="3232" y="3168"/>
                <a:ext cx="272" cy="204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grpSp>
            <p:nvGrpSpPr>
              <p:cNvPr id="222289" name="Group 211"/>
              <p:cNvGrpSpPr>
                <a:grpSpLocks/>
              </p:cNvGrpSpPr>
              <p:nvPr/>
            </p:nvGrpSpPr>
            <p:grpSpPr bwMode="auto">
              <a:xfrm>
                <a:off x="1608" y="2720"/>
                <a:ext cx="2208" cy="728"/>
                <a:chOff x="2208" y="224"/>
                <a:chExt cx="2208" cy="728"/>
              </a:xfrm>
            </p:grpSpPr>
            <p:sp>
              <p:nvSpPr>
                <p:cNvPr id="22895" name="Line 212"/>
                <p:cNvSpPr>
                  <a:spLocks noChangeShapeType="1"/>
                </p:cNvSpPr>
                <p:nvPr/>
              </p:nvSpPr>
              <p:spPr bwMode="auto">
                <a:xfrm>
                  <a:off x="2208" y="952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2290" name="Group 213"/>
                <p:cNvGrpSpPr>
                  <a:grpSpLocks/>
                </p:cNvGrpSpPr>
                <p:nvPr/>
              </p:nvGrpSpPr>
              <p:grpSpPr bwMode="auto">
                <a:xfrm>
                  <a:off x="2216" y="224"/>
                  <a:ext cx="2200" cy="728"/>
                  <a:chOff x="2216" y="224"/>
                  <a:chExt cx="2200" cy="728"/>
                </a:xfrm>
              </p:grpSpPr>
              <p:sp>
                <p:nvSpPr>
                  <p:cNvPr id="22897" name="Line 214"/>
                  <p:cNvSpPr>
                    <a:spLocks noChangeShapeType="1"/>
                  </p:cNvSpPr>
                  <p:nvPr/>
                </p:nvSpPr>
                <p:spPr bwMode="auto">
                  <a:xfrm>
                    <a:off x="4368" y="800"/>
                    <a:ext cx="0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22291" name="Group 215"/>
                  <p:cNvGrpSpPr>
                    <a:grpSpLocks/>
                  </p:cNvGrpSpPr>
                  <p:nvPr/>
                </p:nvGrpSpPr>
                <p:grpSpPr bwMode="auto">
                  <a:xfrm>
                    <a:off x="2216" y="224"/>
                    <a:ext cx="2200" cy="728"/>
                    <a:chOff x="2216" y="224"/>
                    <a:chExt cx="2200" cy="728"/>
                  </a:xfrm>
                </p:grpSpPr>
                <p:grpSp>
                  <p:nvGrpSpPr>
                    <p:cNvPr id="222292" name="Group 21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272" y="760"/>
                      <a:ext cx="144" cy="192"/>
                      <a:chOff x="2880" y="1536"/>
                      <a:chExt cx="144" cy="192"/>
                    </a:xfrm>
                  </p:grpSpPr>
                  <p:sp>
                    <p:nvSpPr>
                      <p:cNvPr id="22911" name="Line 21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0" y="1536"/>
                        <a:ext cx="144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912" name="Line 2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0" y="1568"/>
                        <a:ext cx="96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913" name="Line 21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08" y="1536"/>
                        <a:ext cx="0" cy="1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914" name="Line 22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76" y="1728"/>
                        <a:ext cx="48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22293" name="Group 22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16" y="760"/>
                      <a:ext cx="144" cy="192"/>
                      <a:chOff x="816" y="1528"/>
                      <a:chExt cx="144" cy="192"/>
                    </a:xfrm>
                  </p:grpSpPr>
                  <p:sp>
                    <p:nvSpPr>
                      <p:cNvPr id="22906" name="Line 22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816" y="1536"/>
                        <a:ext cx="144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907" name="Line 223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848" y="1568"/>
                        <a:ext cx="96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22294" name="Group 22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816" y="1528"/>
                        <a:ext cx="32" cy="192"/>
                        <a:chOff x="816" y="1632"/>
                        <a:chExt cx="32" cy="192"/>
                      </a:xfrm>
                    </p:grpSpPr>
                    <p:sp>
                      <p:nvSpPr>
                        <p:cNvPr id="22909" name="Line 22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816" y="1632"/>
                          <a:ext cx="0" cy="184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910" name="Line 22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48" y="1680"/>
                          <a:ext cx="0" cy="144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sp>
                  <p:nvSpPr>
                    <p:cNvPr id="22901" name="Rectangle 2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08" y="240"/>
                      <a:ext cx="96" cy="62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02" name="Rectangle 2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12" y="240"/>
                      <a:ext cx="96" cy="62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03" name="Rectangle 2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6" y="672"/>
                      <a:ext cx="48" cy="19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04" name="Rectangle 2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52" y="672"/>
                      <a:ext cx="48" cy="19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05" name="Line 2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224"/>
                      <a:ext cx="177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22879" name="Rectangle 232" descr="Large confetti"/>
              <p:cNvSpPr>
                <a:spLocks noChangeArrowheads="1"/>
              </p:cNvSpPr>
              <p:nvPr/>
            </p:nvSpPr>
            <p:spPr bwMode="auto">
              <a:xfrm rot="10800000">
                <a:off x="2600" y="2976"/>
                <a:ext cx="192" cy="48"/>
              </a:xfrm>
              <a:prstGeom prst="rect">
                <a:avLst/>
              </a:prstGeom>
              <a:pattFill prst="lgConfetti">
                <a:fgClr>
                  <a:srgbClr val="996633"/>
                </a:fgClr>
                <a:bgClr>
                  <a:schemeClr val="bg1"/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 algn="l"/>
                <a:endParaRPr lang="en-US">
                  <a:solidFill>
                    <a:srgbClr val="996633"/>
                  </a:solidFill>
                </a:endParaRPr>
              </a:p>
            </p:txBody>
          </p:sp>
          <p:sp>
            <p:nvSpPr>
              <p:cNvPr id="22880" name="Freeform 233" descr="Large confetti"/>
              <p:cNvSpPr>
                <a:spLocks noChangeAspect="1"/>
              </p:cNvSpPr>
              <p:nvPr/>
            </p:nvSpPr>
            <p:spPr bwMode="auto">
              <a:xfrm>
                <a:off x="2256" y="3160"/>
                <a:ext cx="240" cy="104"/>
              </a:xfrm>
              <a:custGeom>
                <a:avLst/>
                <a:gdLst>
                  <a:gd name="T0" fmla="*/ 0 w 712"/>
                  <a:gd name="T1" fmla="*/ 12 h 496"/>
                  <a:gd name="T2" fmla="*/ 13 w 712"/>
                  <a:gd name="T3" fmla="*/ 35 h 496"/>
                  <a:gd name="T4" fmla="*/ 35 w 712"/>
                  <a:gd name="T5" fmla="*/ 74 h 496"/>
                  <a:gd name="T6" fmla="*/ 40 w 712"/>
                  <a:gd name="T7" fmla="*/ 82 h 496"/>
                  <a:gd name="T8" fmla="*/ 97 w 712"/>
                  <a:gd name="T9" fmla="*/ 104 h 496"/>
                  <a:gd name="T10" fmla="*/ 135 w 712"/>
                  <a:gd name="T11" fmla="*/ 96 h 496"/>
                  <a:gd name="T12" fmla="*/ 151 w 712"/>
                  <a:gd name="T13" fmla="*/ 89 h 496"/>
                  <a:gd name="T14" fmla="*/ 164 w 712"/>
                  <a:gd name="T15" fmla="*/ 72 h 496"/>
                  <a:gd name="T16" fmla="*/ 173 w 712"/>
                  <a:gd name="T17" fmla="*/ 65 h 496"/>
                  <a:gd name="T18" fmla="*/ 200 w 712"/>
                  <a:gd name="T19" fmla="*/ 35 h 496"/>
                  <a:gd name="T20" fmla="*/ 240 w 712"/>
                  <a:gd name="T21" fmla="*/ 0 h 49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12"/>
                  <a:gd name="T34" fmla="*/ 0 h 496"/>
                  <a:gd name="T35" fmla="*/ 712 w 712"/>
                  <a:gd name="T36" fmla="*/ 496 h 49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12" h="496">
                    <a:moveTo>
                      <a:pt x="0" y="56"/>
                    </a:moveTo>
                    <a:cubicBezTo>
                      <a:pt x="8" y="98"/>
                      <a:pt x="28" y="128"/>
                      <a:pt x="40" y="168"/>
                    </a:cubicBezTo>
                    <a:cubicBezTo>
                      <a:pt x="59" y="233"/>
                      <a:pt x="74" y="291"/>
                      <a:pt x="104" y="352"/>
                    </a:cubicBezTo>
                    <a:cubicBezTo>
                      <a:pt x="110" y="365"/>
                      <a:pt x="111" y="381"/>
                      <a:pt x="120" y="392"/>
                    </a:cubicBezTo>
                    <a:cubicBezTo>
                      <a:pt x="161" y="445"/>
                      <a:pt x="235" y="461"/>
                      <a:pt x="288" y="496"/>
                    </a:cubicBezTo>
                    <a:cubicBezTo>
                      <a:pt x="325" y="483"/>
                      <a:pt x="372" y="484"/>
                      <a:pt x="400" y="456"/>
                    </a:cubicBezTo>
                    <a:cubicBezTo>
                      <a:pt x="430" y="426"/>
                      <a:pt x="413" y="436"/>
                      <a:pt x="448" y="424"/>
                    </a:cubicBezTo>
                    <a:cubicBezTo>
                      <a:pt x="498" y="374"/>
                      <a:pt x="448" y="432"/>
                      <a:pt x="488" y="344"/>
                    </a:cubicBezTo>
                    <a:cubicBezTo>
                      <a:pt x="494" y="332"/>
                      <a:pt x="505" y="324"/>
                      <a:pt x="512" y="312"/>
                    </a:cubicBezTo>
                    <a:cubicBezTo>
                      <a:pt x="614" y="131"/>
                      <a:pt x="516" y="282"/>
                      <a:pt x="592" y="168"/>
                    </a:cubicBezTo>
                    <a:cubicBezTo>
                      <a:pt x="609" y="82"/>
                      <a:pt x="654" y="58"/>
                      <a:pt x="712" y="0"/>
                    </a:cubicBezTo>
                  </a:path>
                </a:pathLst>
              </a:custGeom>
              <a:pattFill prst="lgConfetti">
                <a:fgClr>
                  <a:srgbClr val="996633"/>
                </a:fgClr>
                <a:bgClr>
                  <a:srgbClr val="FFFFFF"/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2295" name="Group 234"/>
              <p:cNvGrpSpPr>
                <a:grpSpLocks/>
              </p:cNvGrpSpPr>
              <p:nvPr/>
            </p:nvGrpSpPr>
            <p:grpSpPr bwMode="auto">
              <a:xfrm>
                <a:off x="2160" y="3024"/>
                <a:ext cx="1056" cy="336"/>
                <a:chOff x="2160" y="1488"/>
                <a:chExt cx="1056" cy="336"/>
              </a:xfrm>
            </p:grpSpPr>
            <p:sp>
              <p:nvSpPr>
                <p:cNvPr id="22884" name="Line 235"/>
                <p:cNvSpPr>
                  <a:spLocks noChangeShapeType="1"/>
                </p:cNvSpPr>
                <p:nvPr/>
              </p:nvSpPr>
              <p:spPr bwMode="auto">
                <a:xfrm flipV="1">
                  <a:off x="2160" y="1632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85" name="Line 236"/>
                <p:cNvSpPr>
                  <a:spLocks noChangeShapeType="1"/>
                </p:cNvSpPr>
                <p:nvPr/>
              </p:nvSpPr>
              <p:spPr bwMode="auto">
                <a:xfrm>
                  <a:off x="3216" y="1632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86" name="Line 237"/>
                <p:cNvSpPr>
                  <a:spLocks noChangeShapeType="1"/>
                </p:cNvSpPr>
                <p:nvPr/>
              </p:nvSpPr>
              <p:spPr bwMode="auto">
                <a:xfrm>
                  <a:off x="2160" y="163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87" name="Line 238"/>
                <p:cNvSpPr>
                  <a:spLocks noChangeShapeType="1"/>
                </p:cNvSpPr>
                <p:nvPr/>
              </p:nvSpPr>
              <p:spPr bwMode="auto">
                <a:xfrm flipV="1">
                  <a:off x="2584" y="148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88" name="Line 239"/>
                <p:cNvSpPr>
                  <a:spLocks noChangeShapeType="1"/>
                </p:cNvSpPr>
                <p:nvPr/>
              </p:nvSpPr>
              <p:spPr bwMode="auto">
                <a:xfrm flipV="1">
                  <a:off x="2784" y="148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89" name="Line 240"/>
                <p:cNvSpPr>
                  <a:spLocks noChangeShapeType="1"/>
                </p:cNvSpPr>
                <p:nvPr/>
              </p:nvSpPr>
              <p:spPr bwMode="auto">
                <a:xfrm>
                  <a:off x="2592" y="148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90" name="Freeform 241"/>
                <p:cNvSpPr>
                  <a:spLocks/>
                </p:cNvSpPr>
                <p:nvPr/>
              </p:nvSpPr>
              <p:spPr bwMode="auto">
                <a:xfrm>
                  <a:off x="2248" y="1632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91" name="Freeform 242"/>
                <p:cNvSpPr>
                  <a:spLocks/>
                </p:cNvSpPr>
                <p:nvPr/>
              </p:nvSpPr>
              <p:spPr bwMode="auto">
                <a:xfrm>
                  <a:off x="2904" y="1624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92" name="Line 243"/>
                <p:cNvSpPr>
                  <a:spLocks noChangeAspect="1" noChangeShapeType="1"/>
                </p:cNvSpPr>
                <p:nvPr/>
              </p:nvSpPr>
              <p:spPr bwMode="auto">
                <a:xfrm>
                  <a:off x="2472" y="1632"/>
                  <a:ext cx="109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93" name="Line 244"/>
                <p:cNvSpPr>
                  <a:spLocks noChangeAspect="1" noChangeShapeType="1"/>
                </p:cNvSpPr>
                <p:nvPr/>
              </p:nvSpPr>
              <p:spPr bwMode="auto">
                <a:xfrm>
                  <a:off x="2787" y="1632"/>
                  <a:ext cx="115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94" name="Line 245"/>
                <p:cNvSpPr>
                  <a:spLocks noChangeShapeType="1"/>
                </p:cNvSpPr>
                <p:nvPr/>
              </p:nvSpPr>
              <p:spPr bwMode="auto">
                <a:xfrm>
                  <a:off x="3120" y="163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882" name="Freeform 246" descr="Large confetti"/>
              <p:cNvSpPr>
                <a:spLocks noChangeAspect="1"/>
              </p:cNvSpPr>
              <p:nvPr/>
            </p:nvSpPr>
            <p:spPr bwMode="auto">
              <a:xfrm>
                <a:off x="2904" y="3152"/>
                <a:ext cx="240" cy="104"/>
              </a:xfrm>
              <a:custGeom>
                <a:avLst/>
                <a:gdLst>
                  <a:gd name="T0" fmla="*/ 0 w 712"/>
                  <a:gd name="T1" fmla="*/ 12 h 496"/>
                  <a:gd name="T2" fmla="*/ 13 w 712"/>
                  <a:gd name="T3" fmla="*/ 35 h 496"/>
                  <a:gd name="T4" fmla="*/ 35 w 712"/>
                  <a:gd name="T5" fmla="*/ 74 h 496"/>
                  <a:gd name="T6" fmla="*/ 40 w 712"/>
                  <a:gd name="T7" fmla="*/ 82 h 496"/>
                  <a:gd name="T8" fmla="*/ 97 w 712"/>
                  <a:gd name="T9" fmla="*/ 104 h 496"/>
                  <a:gd name="T10" fmla="*/ 135 w 712"/>
                  <a:gd name="T11" fmla="*/ 96 h 496"/>
                  <a:gd name="T12" fmla="*/ 151 w 712"/>
                  <a:gd name="T13" fmla="*/ 89 h 496"/>
                  <a:gd name="T14" fmla="*/ 164 w 712"/>
                  <a:gd name="T15" fmla="*/ 72 h 496"/>
                  <a:gd name="T16" fmla="*/ 173 w 712"/>
                  <a:gd name="T17" fmla="*/ 65 h 496"/>
                  <a:gd name="T18" fmla="*/ 200 w 712"/>
                  <a:gd name="T19" fmla="*/ 35 h 496"/>
                  <a:gd name="T20" fmla="*/ 240 w 712"/>
                  <a:gd name="T21" fmla="*/ 0 h 49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12"/>
                  <a:gd name="T34" fmla="*/ 0 h 496"/>
                  <a:gd name="T35" fmla="*/ 712 w 712"/>
                  <a:gd name="T36" fmla="*/ 496 h 49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12" h="496">
                    <a:moveTo>
                      <a:pt x="0" y="56"/>
                    </a:moveTo>
                    <a:cubicBezTo>
                      <a:pt x="8" y="98"/>
                      <a:pt x="28" y="128"/>
                      <a:pt x="40" y="168"/>
                    </a:cubicBezTo>
                    <a:cubicBezTo>
                      <a:pt x="59" y="233"/>
                      <a:pt x="74" y="291"/>
                      <a:pt x="104" y="352"/>
                    </a:cubicBezTo>
                    <a:cubicBezTo>
                      <a:pt x="110" y="365"/>
                      <a:pt x="111" y="381"/>
                      <a:pt x="120" y="392"/>
                    </a:cubicBezTo>
                    <a:cubicBezTo>
                      <a:pt x="161" y="445"/>
                      <a:pt x="235" y="461"/>
                      <a:pt x="288" y="496"/>
                    </a:cubicBezTo>
                    <a:cubicBezTo>
                      <a:pt x="325" y="483"/>
                      <a:pt x="372" y="484"/>
                      <a:pt x="400" y="456"/>
                    </a:cubicBezTo>
                    <a:cubicBezTo>
                      <a:pt x="430" y="426"/>
                      <a:pt x="413" y="436"/>
                      <a:pt x="448" y="424"/>
                    </a:cubicBezTo>
                    <a:cubicBezTo>
                      <a:pt x="498" y="374"/>
                      <a:pt x="448" y="432"/>
                      <a:pt x="488" y="344"/>
                    </a:cubicBezTo>
                    <a:cubicBezTo>
                      <a:pt x="494" y="332"/>
                      <a:pt x="505" y="324"/>
                      <a:pt x="512" y="312"/>
                    </a:cubicBezTo>
                    <a:cubicBezTo>
                      <a:pt x="614" y="131"/>
                      <a:pt x="516" y="282"/>
                      <a:pt x="592" y="168"/>
                    </a:cubicBezTo>
                    <a:cubicBezTo>
                      <a:pt x="609" y="82"/>
                      <a:pt x="654" y="58"/>
                      <a:pt x="712" y="0"/>
                    </a:cubicBezTo>
                  </a:path>
                </a:pathLst>
              </a:custGeom>
              <a:pattFill prst="lgConfetti">
                <a:fgClr>
                  <a:srgbClr val="996633"/>
                </a:fgClr>
                <a:bgClr>
                  <a:srgbClr val="FFFFFF"/>
                </a:bgClr>
              </a:patt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83" name="Line 247"/>
              <p:cNvSpPr>
                <a:spLocks noChangeShapeType="1"/>
              </p:cNvSpPr>
              <p:nvPr/>
            </p:nvSpPr>
            <p:spPr bwMode="auto">
              <a:xfrm>
                <a:off x="2160" y="3360"/>
                <a:ext cx="10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871" name="Line 248"/>
            <p:cNvSpPr>
              <a:spLocks noChangeShapeType="1"/>
            </p:cNvSpPr>
            <p:nvPr/>
          </p:nvSpPr>
          <p:spPr bwMode="auto">
            <a:xfrm>
              <a:off x="1792" y="3048"/>
              <a:ext cx="18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298" name="Group 249"/>
          <p:cNvGrpSpPr>
            <a:grpSpLocks/>
          </p:cNvGrpSpPr>
          <p:nvPr/>
        </p:nvGrpSpPr>
        <p:grpSpPr bwMode="auto">
          <a:xfrm>
            <a:off x="3073400" y="3962400"/>
            <a:ext cx="1676400" cy="533400"/>
            <a:chOff x="4240" y="2480"/>
            <a:chExt cx="1056" cy="336"/>
          </a:xfrm>
        </p:grpSpPr>
        <p:sp>
          <p:nvSpPr>
            <p:cNvPr id="22859" name="Line 250"/>
            <p:cNvSpPr>
              <a:spLocks noChangeShapeType="1"/>
            </p:cNvSpPr>
            <p:nvPr/>
          </p:nvSpPr>
          <p:spPr bwMode="auto">
            <a:xfrm flipH="1">
              <a:off x="4864" y="2624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2299" name="Group 251"/>
            <p:cNvGrpSpPr>
              <a:grpSpLocks/>
            </p:cNvGrpSpPr>
            <p:nvPr/>
          </p:nvGrpSpPr>
          <p:grpSpPr bwMode="auto">
            <a:xfrm>
              <a:off x="4240" y="2480"/>
              <a:ext cx="1056" cy="336"/>
              <a:chOff x="1536" y="2256"/>
              <a:chExt cx="1056" cy="336"/>
            </a:xfrm>
          </p:grpSpPr>
          <p:sp>
            <p:nvSpPr>
              <p:cNvPr id="22863" name="Line 252"/>
              <p:cNvSpPr>
                <a:spLocks noChangeShapeType="1"/>
              </p:cNvSpPr>
              <p:nvPr/>
            </p:nvSpPr>
            <p:spPr bwMode="auto">
              <a:xfrm flipV="1">
                <a:off x="1536" y="240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4" name="Line 253"/>
              <p:cNvSpPr>
                <a:spLocks noChangeShapeType="1"/>
              </p:cNvSpPr>
              <p:nvPr/>
            </p:nvSpPr>
            <p:spPr bwMode="auto">
              <a:xfrm>
                <a:off x="2592" y="240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5" name="Line 254"/>
              <p:cNvSpPr>
                <a:spLocks noChangeShapeType="1"/>
              </p:cNvSpPr>
              <p:nvPr/>
            </p:nvSpPr>
            <p:spPr bwMode="auto">
              <a:xfrm>
                <a:off x="1536" y="2592"/>
                <a:ext cx="10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6" name="Line 255"/>
              <p:cNvSpPr>
                <a:spLocks noChangeShapeType="1"/>
              </p:cNvSpPr>
              <p:nvPr/>
            </p:nvSpPr>
            <p:spPr bwMode="auto">
              <a:xfrm>
                <a:off x="1536" y="2400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7" name="Line 256"/>
              <p:cNvSpPr>
                <a:spLocks noChangeShapeType="1"/>
              </p:cNvSpPr>
              <p:nvPr/>
            </p:nvSpPr>
            <p:spPr bwMode="auto">
              <a:xfrm flipV="1">
                <a:off x="1960" y="225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8" name="Line 257"/>
              <p:cNvSpPr>
                <a:spLocks noChangeShapeType="1"/>
              </p:cNvSpPr>
              <p:nvPr/>
            </p:nvSpPr>
            <p:spPr bwMode="auto">
              <a:xfrm flipV="1">
                <a:off x="2160" y="225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9" name="Line 258"/>
              <p:cNvSpPr>
                <a:spLocks noChangeShapeType="1"/>
              </p:cNvSpPr>
              <p:nvPr/>
            </p:nvSpPr>
            <p:spPr bwMode="auto">
              <a:xfrm>
                <a:off x="1968" y="225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861" name="Freeform 259"/>
            <p:cNvSpPr>
              <a:spLocks/>
            </p:cNvSpPr>
            <p:nvPr/>
          </p:nvSpPr>
          <p:spPr bwMode="auto">
            <a:xfrm>
              <a:off x="4328" y="2624"/>
              <a:ext cx="240" cy="104"/>
            </a:xfrm>
            <a:custGeom>
              <a:avLst/>
              <a:gdLst>
                <a:gd name="T0" fmla="*/ 0 w 712"/>
                <a:gd name="T1" fmla="*/ 12 h 496"/>
                <a:gd name="T2" fmla="*/ 13 w 712"/>
                <a:gd name="T3" fmla="*/ 35 h 496"/>
                <a:gd name="T4" fmla="*/ 35 w 712"/>
                <a:gd name="T5" fmla="*/ 74 h 496"/>
                <a:gd name="T6" fmla="*/ 40 w 712"/>
                <a:gd name="T7" fmla="*/ 82 h 496"/>
                <a:gd name="T8" fmla="*/ 97 w 712"/>
                <a:gd name="T9" fmla="*/ 104 h 496"/>
                <a:gd name="T10" fmla="*/ 135 w 712"/>
                <a:gd name="T11" fmla="*/ 96 h 496"/>
                <a:gd name="T12" fmla="*/ 151 w 712"/>
                <a:gd name="T13" fmla="*/ 89 h 496"/>
                <a:gd name="T14" fmla="*/ 164 w 712"/>
                <a:gd name="T15" fmla="*/ 72 h 496"/>
                <a:gd name="T16" fmla="*/ 173 w 712"/>
                <a:gd name="T17" fmla="*/ 65 h 496"/>
                <a:gd name="T18" fmla="*/ 200 w 712"/>
                <a:gd name="T19" fmla="*/ 35 h 496"/>
                <a:gd name="T20" fmla="*/ 240 w 712"/>
                <a:gd name="T21" fmla="*/ 0 h 4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12"/>
                <a:gd name="T34" fmla="*/ 0 h 496"/>
                <a:gd name="T35" fmla="*/ 712 w 712"/>
                <a:gd name="T36" fmla="*/ 496 h 4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12" h="496">
                  <a:moveTo>
                    <a:pt x="0" y="56"/>
                  </a:moveTo>
                  <a:cubicBezTo>
                    <a:pt x="8" y="98"/>
                    <a:pt x="28" y="128"/>
                    <a:pt x="40" y="168"/>
                  </a:cubicBezTo>
                  <a:cubicBezTo>
                    <a:pt x="59" y="233"/>
                    <a:pt x="74" y="291"/>
                    <a:pt x="104" y="352"/>
                  </a:cubicBezTo>
                  <a:cubicBezTo>
                    <a:pt x="110" y="365"/>
                    <a:pt x="111" y="381"/>
                    <a:pt x="120" y="392"/>
                  </a:cubicBezTo>
                  <a:cubicBezTo>
                    <a:pt x="161" y="445"/>
                    <a:pt x="235" y="461"/>
                    <a:pt x="288" y="496"/>
                  </a:cubicBezTo>
                  <a:cubicBezTo>
                    <a:pt x="325" y="483"/>
                    <a:pt x="372" y="484"/>
                    <a:pt x="400" y="456"/>
                  </a:cubicBezTo>
                  <a:cubicBezTo>
                    <a:pt x="430" y="426"/>
                    <a:pt x="413" y="436"/>
                    <a:pt x="448" y="424"/>
                  </a:cubicBezTo>
                  <a:cubicBezTo>
                    <a:pt x="498" y="374"/>
                    <a:pt x="448" y="432"/>
                    <a:pt x="488" y="344"/>
                  </a:cubicBezTo>
                  <a:cubicBezTo>
                    <a:pt x="494" y="332"/>
                    <a:pt x="505" y="324"/>
                    <a:pt x="512" y="312"/>
                  </a:cubicBezTo>
                  <a:cubicBezTo>
                    <a:pt x="614" y="131"/>
                    <a:pt x="516" y="282"/>
                    <a:pt x="592" y="168"/>
                  </a:cubicBezTo>
                  <a:cubicBezTo>
                    <a:pt x="609" y="82"/>
                    <a:pt x="654" y="58"/>
                    <a:pt x="712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62" name="Freeform 260"/>
            <p:cNvSpPr>
              <a:spLocks/>
            </p:cNvSpPr>
            <p:nvPr/>
          </p:nvSpPr>
          <p:spPr bwMode="auto">
            <a:xfrm>
              <a:off x="4984" y="2624"/>
              <a:ext cx="240" cy="104"/>
            </a:xfrm>
            <a:custGeom>
              <a:avLst/>
              <a:gdLst>
                <a:gd name="T0" fmla="*/ 0 w 712"/>
                <a:gd name="T1" fmla="*/ 12 h 496"/>
                <a:gd name="T2" fmla="*/ 13 w 712"/>
                <a:gd name="T3" fmla="*/ 35 h 496"/>
                <a:gd name="T4" fmla="*/ 35 w 712"/>
                <a:gd name="T5" fmla="*/ 74 h 496"/>
                <a:gd name="T6" fmla="*/ 40 w 712"/>
                <a:gd name="T7" fmla="*/ 82 h 496"/>
                <a:gd name="T8" fmla="*/ 97 w 712"/>
                <a:gd name="T9" fmla="*/ 104 h 496"/>
                <a:gd name="T10" fmla="*/ 135 w 712"/>
                <a:gd name="T11" fmla="*/ 96 h 496"/>
                <a:gd name="T12" fmla="*/ 151 w 712"/>
                <a:gd name="T13" fmla="*/ 89 h 496"/>
                <a:gd name="T14" fmla="*/ 164 w 712"/>
                <a:gd name="T15" fmla="*/ 72 h 496"/>
                <a:gd name="T16" fmla="*/ 173 w 712"/>
                <a:gd name="T17" fmla="*/ 65 h 496"/>
                <a:gd name="T18" fmla="*/ 200 w 712"/>
                <a:gd name="T19" fmla="*/ 35 h 496"/>
                <a:gd name="T20" fmla="*/ 240 w 712"/>
                <a:gd name="T21" fmla="*/ 0 h 4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12"/>
                <a:gd name="T34" fmla="*/ 0 h 496"/>
                <a:gd name="T35" fmla="*/ 712 w 712"/>
                <a:gd name="T36" fmla="*/ 496 h 4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12" h="496">
                  <a:moveTo>
                    <a:pt x="0" y="56"/>
                  </a:moveTo>
                  <a:cubicBezTo>
                    <a:pt x="8" y="98"/>
                    <a:pt x="28" y="128"/>
                    <a:pt x="40" y="168"/>
                  </a:cubicBezTo>
                  <a:cubicBezTo>
                    <a:pt x="59" y="233"/>
                    <a:pt x="74" y="291"/>
                    <a:pt x="104" y="352"/>
                  </a:cubicBezTo>
                  <a:cubicBezTo>
                    <a:pt x="110" y="365"/>
                    <a:pt x="111" y="381"/>
                    <a:pt x="120" y="392"/>
                  </a:cubicBezTo>
                  <a:cubicBezTo>
                    <a:pt x="161" y="445"/>
                    <a:pt x="235" y="461"/>
                    <a:pt x="288" y="496"/>
                  </a:cubicBezTo>
                  <a:cubicBezTo>
                    <a:pt x="325" y="483"/>
                    <a:pt x="372" y="484"/>
                    <a:pt x="400" y="456"/>
                  </a:cubicBezTo>
                  <a:cubicBezTo>
                    <a:pt x="430" y="426"/>
                    <a:pt x="413" y="436"/>
                    <a:pt x="448" y="424"/>
                  </a:cubicBezTo>
                  <a:cubicBezTo>
                    <a:pt x="498" y="374"/>
                    <a:pt x="448" y="432"/>
                    <a:pt x="488" y="344"/>
                  </a:cubicBezTo>
                  <a:cubicBezTo>
                    <a:pt x="494" y="332"/>
                    <a:pt x="505" y="324"/>
                    <a:pt x="512" y="312"/>
                  </a:cubicBezTo>
                  <a:cubicBezTo>
                    <a:pt x="614" y="131"/>
                    <a:pt x="516" y="282"/>
                    <a:pt x="592" y="168"/>
                  </a:cubicBezTo>
                  <a:cubicBezTo>
                    <a:pt x="609" y="82"/>
                    <a:pt x="654" y="58"/>
                    <a:pt x="712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300" name="Group 261"/>
          <p:cNvGrpSpPr>
            <a:grpSpLocks/>
          </p:cNvGrpSpPr>
          <p:nvPr/>
        </p:nvGrpSpPr>
        <p:grpSpPr bwMode="auto">
          <a:xfrm>
            <a:off x="2159000" y="3505200"/>
            <a:ext cx="3517900" cy="990600"/>
            <a:chOff x="352" y="2208"/>
            <a:chExt cx="2216" cy="624"/>
          </a:xfrm>
        </p:grpSpPr>
        <p:sp>
          <p:nvSpPr>
            <p:cNvPr id="22843" name="Line 262"/>
            <p:cNvSpPr>
              <a:spLocks noChangeShapeType="1"/>
            </p:cNvSpPr>
            <p:nvPr/>
          </p:nvSpPr>
          <p:spPr bwMode="auto">
            <a:xfrm>
              <a:off x="2424" y="272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2301" name="Group 263"/>
            <p:cNvGrpSpPr>
              <a:grpSpLocks/>
            </p:cNvGrpSpPr>
            <p:nvPr/>
          </p:nvGrpSpPr>
          <p:grpSpPr bwMode="auto">
            <a:xfrm>
              <a:off x="352" y="2208"/>
              <a:ext cx="2216" cy="624"/>
              <a:chOff x="3640" y="2192"/>
              <a:chExt cx="2216" cy="624"/>
            </a:xfrm>
          </p:grpSpPr>
          <p:sp>
            <p:nvSpPr>
              <p:cNvPr id="22845" name="Rectangle 264"/>
              <p:cNvSpPr>
                <a:spLocks noChangeArrowheads="1"/>
              </p:cNvSpPr>
              <p:nvPr/>
            </p:nvSpPr>
            <p:spPr bwMode="auto">
              <a:xfrm>
                <a:off x="5552" y="2192"/>
                <a:ext cx="96" cy="62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846" name="Rectangle 265"/>
              <p:cNvSpPr>
                <a:spLocks noChangeArrowheads="1"/>
              </p:cNvSpPr>
              <p:nvPr/>
            </p:nvSpPr>
            <p:spPr bwMode="auto">
              <a:xfrm>
                <a:off x="3848" y="2192"/>
                <a:ext cx="96" cy="62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22302" name="Group 266"/>
              <p:cNvGrpSpPr>
                <a:grpSpLocks/>
              </p:cNvGrpSpPr>
              <p:nvPr/>
            </p:nvGrpSpPr>
            <p:grpSpPr bwMode="auto">
              <a:xfrm>
                <a:off x="5656" y="2560"/>
                <a:ext cx="200" cy="192"/>
                <a:chOff x="5032" y="1104"/>
                <a:chExt cx="200" cy="192"/>
              </a:xfrm>
            </p:grpSpPr>
            <p:sp>
              <p:nvSpPr>
                <p:cNvPr id="22855" name="Line 267"/>
                <p:cNvSpPr>
                  <a:spLocks noChangeShapeType="1"/>
                </p:cNvSpPr>
                <p:nvPr/>
              </p:nvSpPr>
              <p:spPr bwMode="auto">
                <a:xfrm>
                  <a:off x="5232" y="1248"/>
                  <a:ext cx="0" cy="4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2303" name="Group 268"/>
                <p:cNvGrpSpPr>
                  <a:grpSpLocks/>
                </p:cNvGrpSpPr>
                <p:nvPr/>
              </p:nvGrpSpPr>
              <p:grpSpPr bwMode="auto">
                <a:xfrm>
                  <a:off x="5032" y="1104"/>
                  <a:ext cx="200" cy="192"/>
                  <a:chOff x="5032" y="1104"/>
                  <a:chExt cx="200" cy="192"/>
                </a:xfrm>
              </p:grpSpPr>
              <p:sp>
                <p:nvSpPr>
                  <p:cNvPr id="22857" name="Line 269"/>
                  <p:cNvSpPr>
                    <a:spLocks noChangeShapeType="1"/>
                  </p:cNvSpPr>
                  <p:nvPr/>
                </p:nvSpPr>
                <p:spPr bwMode="auto">
                  <a:xfrm>
                    <a:off x="5088" y="1296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858" name="Rectangle 270"/>
                  <p:cNvSpPr>
                    <a:spLocks noChangeArrowheads="1"/>
                  </p:cNvSpPr>
                  <p:nvPr/>
                </p:nvSpPr>
                <p:spPr bwMode="auto">
                  <a:xfrm>
                    <a:off x="5032" y="1104"/>
                    <a:ext cx="48" cy="19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22304" name="Group 271"/>
              <p:cNvGrpSpPr>
                <a:grpSpLocks/>
              </p:cNvGrpSpPr>
              <p:nvPr/>
            </p:nvGrpSpPr>
            <p:grpSpPr bwMode="auto">
              <a:xfrm>
                <a:off x="3640" y="2568"/>
                <a:ext cx="200" cy="192"/>
                <a:chOff x="3016" y="1112"/>
                <a:chExt cx="200" cy="192"/>
              </a:xfrm>
            </p:grpSpPr>
            <p:sp>
              <p:nvSpPr>
                <p:cNvPr id="22849" name="Rectangle 272"/>
                <p:cNvSpPr>
                  <a:spLocks noChangeArrowheads="1"/>
                </p:cNvSpPr>
                <p:nvPr/>
              </p:nvSpPr>
              <p:spPr bwMode="auto">
                <a:xfrm>
                  <a:off x="3168" y="1112"/>
                  <a:ext cx="48" cy="192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22305" name="Group 273"/>
                <p:cNvGrpSpPr>
                  <a:grpSpLocks/>
                </p:cNvGrpSpPr>
                <p:nvPr/>
              </p:nvGrpSpPr>
              <p:grpSpPr bwMode="auto">
                <a:xfrm>
                  <a:off x="3016" y="1256"/>
                  <a:ext cx="152" cy="48"/>
                  <a:chOff x="3016" y="1256"/>
                  <a:chExt cx="152" cy="48"/>
                </a:xfrm>
              </p:grpSpPr>
              <p:grpSp>
                <p:nvGrpSpPr>
                  <p:cNvPr id="222306" name="Group 274"/>
                  <p:cNvGrpSpPr>
                    <a:grpSpLocks/>
                  </p:cNvGrpSpPr>
                  <p:nvPr/>
                </p:nvGrpSpPr>
                <p:grpSpPr bwMode="auto">
                  <a:xfrm>
                    <a:off x="3016" y="1264"/>
                    <a:ext cx="152" cy="40"/>
                    <a:chOff x="3016" y="1264"/>
                    <a:chExt cx="152" cy="40"/>
                  </a:xfrm>
                </p:grpSpPr>
                <p:sp>
                  <p:nvSpPr>
                    <p:cNvPr id="22853" name="Line 27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24" y="1264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854" name="Line 27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16" y="1304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2852" name="Line 277"/>
                  <p:cNvSpPr>
                    <a:spLocks noChangeShapeType="1"/>
                  </p:cNvSpPr>
                  <p:nvPr/>
                </p:nvSpPr>
                <p:spPr bwMode="auto">
                  <a:xfrm>
                    <a:off x="3016" y="1256"/>
                    <a:ext cx="0" cy="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222307" name="Group 278"/>
          <p:cNvGrpSpPr>
            <a:grpSpLocks/>
          </p:cNvGrpSpPr>
          <p:nvPr/>
        </p:nvGrpSpPr>
        <p:grpSpPr bwMode="auto">
          <a:xfrm>
            <a:off x="3060700" y="3263900"/>
            <a:ext cx="152400" cy="914400"/>
            <a:chOff x="4224" y="2064"/>
            <a:chExt cx="96" cy="576"/>
          </a:xfrm>
        </p:grpSpPr>
        <p:sp>
          <p:nvSpPr>
            <p:cNvPr id="22840" name="Line 279"/>
            <p:cNvSpPr>
              <a:spLocks noChangeShapeType="1"/>
            </p:cNvSpPr>
            <p:nvPr/>
          </p:nvSpPr>
          <p:spPr bwMode="auto">
            <a:xfrm>
              <a:off x="4224" y="2112"/>
              <a:ext cx="48" cy="52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41" name="Line 280"/>
            <p:cNvSpPr>
              <a:spLocks noChangeShapeType="1"/>
            </p:cNvSpPr>
            <p:nvPr/>
          </p:nvSpPr>
          <p:spPr bwMode="auto">
            <a:xfrm flipH="1">
              <a:off x="4320" y="2112"/>
              <a:ext cx="0" cy="52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42" name="Freeform 281"/>
            <p:cNvSpPr>
              <a:spLocks/>
            </p:cNvSpPr>
            <p:nvPr/>
          </p:nvSpPr>
          <p:spPr bwMode="auto">
            <a:xfrm>
              <a:off x="4224" y="2064"/>
              <a:ext cx="96" cy="48"/>
            </a:xfrm>
            <a:custGeom>
              <a:avLst/>
              <a:gdLst>
                <a:gd name="T0" fmla="*/ 0 w 96"/>
                <a:gd name="T1" fmla="*/ 48 h 48"/>
                <a:gd name="T2" fmla="*/ 48 w 96"/>
                <a:gd name="T3" fmla="*/ 0 h 48"/>
                <a:gd name="T4" fmla="*/ 96 w 96"/>
                <a:gd name="T5" fmla="*/ 48 h 48"/>
                <a:gd name="T6" fmla="*/ 0 60000 65536"/>
                <a:gd name="T7" fmla="*/ 0 60000 65536"/>
                <a:gd name="T8" fmla="*/ 0 60000 65536"/>
                <a:gd name="T9" fmla="*/ 0 w 96"/>
                <a:gd name="T10" fmla="*/ 0 h 48"/>
                <a:gd name="T11" fmla="*/ 96 w 96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48">
                  <a:moveTo>
                    <a:pt x="0" y="48"/>
                  </a:moveTo>
                  <a:cubicBezTo>
                    <a:pt x="16" y="24"/>
                    <a:pt x="32" y="0"/>
                    <a:pt x="48" y="0"/>
                  </a:cubicBezTo>
                  <a:cubicBezTo>
                    <a:pt x="64" y="0"/>
                    <a:pt x="80" y="24"/>
                    <a:pt x="96" y="48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308" name="Group 282"/>
          <p:cNvGrpSpPr>
            <a:grpSpLocks/>
          </p:cNvGrpSpPr>
          <p:nvPr/>
        </p:nvGrpSpPr>
        <p:grpSpPr bwMode="auto">
          <a:xfrm>
            <a:off x="2463800" y="3505200"/>
            <a:ext cx="2895600" cy="0"/>
            <a:chOff x="3264" y="2592"/>
            <a:chExt cx="1824" cy="0"/>
          </a:xfrm>
        </p:grpSpPr>
        <p:sp>
          <p:nvSpPr>
            <p:cNvPr id="22837" name="Line 283"/>
            <p:cNvSpPr>
              <a:spLocks noChangeShapeType="1"/>
            </p:cNvSpPr>
            <p:nvPr/>
          </p:nvSpPr>
          <p:spPr bwMode="auto">
            <a:xfrm flipV="1">
              <a:off x="3264" y="259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8" name="Line 284"/>
            <p:cNvSpPr>
              <a:spLocks noChangeShapeType="1"/>
            </p:cNvSpPr>
            <p:nvPr/>
          </p:nvSpPr>
          <p:spPr bwMode="auto">
            <a:xfrm flipV="1">
              <a:off x="3744" y="2592"/>
              <a:ext cx="10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9" name="Line 285"/>
            <p:cNvSpPr>
              <a:spLocks noChangeShapeType="1"/>
            </p:cNvSpPr>
            <p:nvPr/>
          </p:nvSpPr>
          <p:spPr bwMode="auto">
            <a:xfrm flipH="1">
              <a:off x="4896" y="259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309" name="Group 286"/>
          <p:cNvGrpSpPr>
            <a:grpSpLocks/>
          </p:cNvGrpSpPr>
          <p:nvPr/>
        </p:nvGrpSpPr>
        <p:grpSpPr bwMode="auto">
          <a:xfrm>
            <a:off x="1790700" y="3048000"/>
            <a:ext cx="1282700" cy="228600"/>
            <a:chOff x="3464" y="1920"/>
            <a:chExt cx="808" cy="144"/>
          </a:xfrm>
        </p:grpSpPr>
        <p:sp>
          <p:nvSpPr>
            <p:cNvPr id="22835" name="Rectangle 287"/>
            <p:cNvSpPr>
              <a:spLocks noChangeArrowheads="1"/>
            </p:cNvSpPr>
            <p:nvPr/>
          </p:nvSpPr>
          <p:spPr bwMode="auto">
            <a:xfrm>
              <a:off x="3464" y="1920"/>
              <a:ext cx="56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Riser pin</a:t>
              </a:r>
            </a:p>
          </p:txBody>
        </p:sp>
        <p:sp>
          <p:nvSpPr>
            <p:cNvPr id="22836" name="Line 288"/>
            <p:cNvSpPr>
              <a:spLocks noChangeShapeType="1"/>
            </p:cNvSpPr>
            <p:nvPr/>
          </p:nvSpPr>
          <p:spPr bwMode="auto">
            <a:xfrm>
              <a:off x="4128" y="2016"/>
              <a:ext cx="144" cy="4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311" name="Group 289"/>
          <p:cNvGrpSpPr>
            <a:grpSpLocks/>
          </p:cNvGrpSpPr>
          <p:nvPr/>
        </p:nvGrpSpPr>
        <p:grpSpPr bwMode="auto">
          <a:xfrm>
            <a:off x="3530600" y="2984500"/>
            <a:ext cx="1435100" cy="368300"/>
            <a:chOff x="1872" y="1928"/>
            <a:chExt cx="904" cy="232"/>
          </a:xfrm>
        </p:grpSpPr>
        <p:sp>
          <p:nvSpPr>
            <p:cNvPr id="22833" name="Rectangle 290"/>
            <p:cNvSpPr>
              <a:spLocks noChangeArrowheads="1"/>
            </p:cNvSpPr>
            <p:nvPr/>
          </p:nvSpPr>
          <p:spPr bwMode="auto">
            <a:xfrm>
              <a:off x="1872" y="1928"/>
              <a:ext cx="62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Sprue pin</a:t>
              </a:r>
            </a:p>
          </p:txBody>
        </p:sp>
        <p:sp>
          <p:nvSpPr>
            <p:cNvPr id="22834" name="Line 291"/>
            <p:cNvSpPr>
              <a:spLocks noChangeShapeType="1"/>
            </p:cNvSpPr>
            <p:nvPr/>
          </p:nvSpPr>
          <p:spPr bwMode="auto">
            <a:xfrm>
              <a:off x="2536" y="2064"/>
              <a:ext cx="240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312" name="Group 292"/>
          <p:cNvGrpSpPr>
            <a:grpSpLocks/>
          </p:cNvGrpSpPr>
          <p:nvPr/>
        </p:nvGrpSpPr>
        <p:grpSpPr bwMode="auto">
          <a:xfrm>
            <a:off x="5143500" y="3225800"/>
            <a:ext cx="609600" cy="495300"/>
            <a:chOff x="5520" y="1968"/>
            <a:chExt cx="384" cy="312"/>
          </a:xfrm>
        </p:grpSpPr>
        <p:sp>
          <p:nvSpPr>
            <p:cNvPr id="22831" name="Line 293"/>
            <p:cNvSpPr>
              <a:spLocks noChangeShapeType="1"/>
            </p:cNvSpPr>
            <p:nvPr/>
          </p:nvSpPr>
          <p:spPr bwMode="auto">
            <a:xfrm flipH="1">
              <a:off x="5664" y="2088"/>
              <a:ext cx="96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2" name="Rectangle 294"/>
            <p:cNvSpPr>
              <a:spLocks noChangeArrowheads="1"/>
            </p:cNvSpPr>
            <p:nvPr/>
          </p:nvSpPr>
          <p:spPr bwMode="auto">
            <a:xfrm>
              <a:off x="5520" y="1968"/>
              <a:ext cx="38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Cope</a:t>
              </a:r>
            </a:p>
          </p:txBody>
        </p:sp>
      </p:grpSp>
      <p:grpSp>
        <p:nvGrpSpPr>
          <p:cNvPr id="222313" name="Group 295"/>
          <p:cNvGrpSpPr>
            <a:grpSpLocks/>
          </p:cNvGrpSpPr>
          <p:nvPr/>
        </p:nvGrpSpPr>
        <p:grpSpPr bwMode="auto">
          <a:xfrm>
            <a:off x="1524000" y="4343400"/>
            <a:ext cx="4140200" cy="1524000"/>
            <a:chOff x="2672" y="3120"/>
            <a:chExt cx="2608" cy="960"/>
          </a:xfrm>
        </p:grpSpPr>
        <p:grpSp>
          <p:nvGrpSpPr>
            <p:cNvPr id="222314" name="Group 296"/>
            <p:cNvGrpSpPr>
              <a:grpSpLocks/>
            </p:cNvGrpSpPr>
            <p:nvPr/>
          </p:nvGrpSpPr>
          <p:grpSpPr bwMode="auto">
            <a:xfrm>
              <a:off x="3072" y="3120"/>
              <a:ext cx="2208" cy="960"/>
              <a:chOff x="3072" y="3120"/>
              <a:chExt cx="2208" cy="960"/>
            </a:xfrm>
          </p:grpSpPr>
          <p:grpSp>
            <p:nvGrpSpPr>
              <p:cNvPr id="222315" name="Group 297"/>
              <p:cNvGrpSpPr>
                <a:grpSpLocks/>
              </p:cNvGrpSpPr>
              <p:nvPr/>
            </p:nvGrpSpPr>
            <p:grpSpPr bwMode="auto">
              <a:xfrm>
                <a:off x="3336" y="3200"/>
                <a:ext cx="1648" cy="640"/>
                <a:chOff x="1360" y="2832"/>
                <a:chExt cx="1648" cy="640"/>
              </a:xfrm>
            </p:grpSpPr>
            <p:sp>
              <p:nvSpPr>
                <p:cNvPr id="22814" name="Rectangle 298" descr="Large confetti"/>
                <p:cNvSpPr>
                  <a:spLocks noChangeArrowheads="1"/>
                </p:cNvSpPr>
                <p:nvPr/>
              </p:nvSpPr>
              <p:spPr bwMode="auto">
                <a:xfrm>
                  <a:off x="2745" y="2848"/>
                  <a:ext cx="47" cy="64"/>
                </a:xfrm>
                <a:prstGeom prst="rect">
                  <a:avLst/>
                </a:prstGeom>
                <a:pattFill prst="lgConfetti">
                  <a:fgClr>
                    <a:srgbClr val="996633"/>
                  </a:fgClr>
                  <a:bgClr>
                    <a:schemeClr val="bg1"/>
                  </a:bgClr>
                </a:patt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l"/>
                  <a:endParaRPr lang="en-US">
                    <a:solidFill>
                      <a:srgbClr val="996633"/>
                    </a:solidFill>
                  </a:endParaRPr>
                </a:p>
              </p:txBody>
            </p:sp>
            <p:grpSp>
              <p:nvGrpSpPr>
                <p:cNvPr id="222316" name="Group 299"/>
                <p:cNvGrpSpPr>
                  <a:grpSpLocks/>
                </p:cNvGrpSpPr>
                <p:nvPr/>
              </p:nvGrpSpPr>
              <p:grpSpPr bwMode="auto">
                <a:xfrm>
                  <a:off x="1360" y="2832"/>
                  <a:ext cx="1648" cy="640"/>
                  <a:chOff x="1360" y="2824"/>
                  <a:chExt cx="1648" cy="640"/>
                </a:xfrm>
              </p:grpSpPr>
              <p:sp>
                <p:nvSpPr>
                  <p:cNvPr id="22816" name="Rectangle 300" descr="Large confetti"/>
                  <p:cNvSpPr>
                    <a:spLocks noChangeArrowheads="1"/>
                  </p:cNvSpPr>
                  <p:nvPr/>
                </p:nvSpPr>
                <p:spPr bwMode="auto">
                  <a:xfrm>
                    <a:off x="2872" y="2824"/>
                    <a:ext cx="72" cy="96"/>
                  </a:xfrm>
                  <a:prstGeom prst="rect">
                    <a:avLst/>
                  </a:prstGeom>
                  <a:pattFill prst="lgConfetti">
                    <a:fgClr>
                      <a:srgbClr val="996633"/>
                    </a:fgClr>
                    <a:bgClr>
                      <a:schemeClr val="bg1"/>
                    </a:bgClr>
                  </a:patt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l"/>
                    <a:endParaRPr lang="en-US">
                      <a:solidFill>
                        <a:srgbClr val="996633"/>
                      </a:solidFill>
                    </a:endParaRPr>
                  </a:p>
                </p:txBody>
              </p:sp>
              <p:grpSp>
                <p:nvGrpSpPr>
                  <p:cNvPr id="222317" name="Group 301"/>
                  <p:cNvGrpSpPr>
                    <a:grpSpLocks/>
                  </p:cNvGrpSpPr>
                  <p:nvPr/>
                </p:nvGrpSpPr>
                <p:grpSpPr bwMode="auto">
                  <a:xfrm>
                    <a:off x="1360" y="2840"/>
                    <a:ext cx="1648" cy="624"/>
                    <a:chOff x="1360" y="2840"/>
                    <a:chExt cx="1648" cy="624"/>
                  </a:xfrm>
                </p:grpSpPr>
                <p:sp>
                  <p:nvSpPr>
                    <p:cNvPr id="22818" name="Freeform 302" descr="Large confetti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760" y="2944"/>
                      <a:ext cx="240" cy="104"/>
                    </a:xfrm>
                    <a:custGeom>
                      <a:avLst/>
                      <a:gdLst>
                        <a:gd name="T0" fmla="*/ 0 w 712"/>
                        <a:gd name="T1" fmla="*/ 12 h 496"/>
                        <a:gd name="T2" fmla="*/ 13 w 712"/>
                        <a:gd name="T3" fmla="*/ 35 h 496"/>
                        <a:gd name="T4" fmla="*/ 35 w 712"/>
                        <a:gd name="T5" fmla="*/ 74 h 496"/>
                        <a:gd name="T6" fmla="*/ 40 w 712"/>
                        <a:gd name="T7" fmla="*/ 82 h 496"/>
                        <a:gd name="T8" fmla="*/ 97 w 712"/>
                        <a:gd name="T9" fmla="*/ 104 h 496"/>
                        <a:gd name="T10" fmla="*/ 135 w 712"/>
                        <a:gd name="T11" fmla="*/ 96 h 496"/>
                        <a:gd name="T12" fmla="*/ 151 w 712"/>
                        <a:gd name="T13" fmla="*/ 89 h 496"/>
                        <a:gd name="T14" fmla="*/ 164 w 712"/>
                        <a:gd name="T15" fmla="*/ 72 h 496"/>
                        <a:gd name="T16" fmla="*/ 173 w 712"/>
                        <a:gd name="T17" fmla="*/ 65 h 496"/>
                        <a:gd name="T18" fmla="*/ 200 w 712"/>
                        <a:gd name="T19" fmla="*/ 35 h 496"/>
                        <a:gd name="T20" fmla="*/ 240 w 712"/>
                        <a:gd name="T21" fmla="*/ 0 h 49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w 712"/>
                        <a:gd name="T34" fmla="*/ 0 h 496"/>
                        <a:gd name="T35" fmla="*/ 712 w 712"/>
                        <a:gd name="T36" fmla="*/ 496 h 496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T33" t="T34" r="T35" b="T36"/>
                      <a:pathLst>
                        <a:path w="712" h="496">
                          <a:moveTo>
                            <a:pt x="0" y="56"/>
                          </a:moveTo>
                          <a:cubicBezTo>
                            <a:pt x="8" y="98"/>
                            <a:pt x="28" y="128"/>
                            <a:pt x="40" y="168"/>
                          </a:cubicBezTo>
                          <a:cubicBezTo>
                            <a:pt x="59" y="233"/>
                            <a:pt x="74" y="291"/>
                            <a:pt x="104" y="352"/>
                          </a:cubicBezTo>
                          <a:cubicBezTo>
                            <a:pt x="110" y="365"/>
                            <a:pt x="111" y="381"/>
                            <a:pt x="120" y="392"/>
                          </a:cubicBezTo>
                          <a:cubicBezTo>
                            <a:pt x="161" y="445"/>
                            <a:pt x="235" y="461"/>
                            <a:pt x="288" y="496"/>
                          </a:cubicBezTo>
                          <a:cubicBezTo>
                            <a:pt x="325" y="483"/>
                            <a:pt x="372" y="484"/>
                            <a:pt x="400" y="456"/>
                          </a:cubicBezTo>
                          <a:cubicBezTo>
                            <a:pt x="430" y="426"/>
                            <a:pt x="413" y="436"/>
                            <a:pt x="448" y="424"/>
                          </a:cubicBezTo>
                          <a:cubicBezTo>
                            <a:pt x="498" y="374"/>
                            <a:pt x="448" y="432"/>
                            <a:pt x="488" y="344"/>
                          </a:cubicBezTo>
                          <a:cubicBezTo>
                            <a:pt x="494" y="332"/>
                            <a:pt x="505" y="324"/>
                            <a:pt x="512" y="312"/>
                          </a:cubicBezTo>
                          <a:cubicBezTo>
                            <a:pt x="614" y="131"/>
                            <a:pt x="516" y="282"/>
                            <a:pt x="592" y="168"/>
                          </a:cubicBezTo>
                          <a:cubicBezTo>
                            <a:pt x="609" y="82"/>
                            <a:pt x="654" y="58"/>
                            <a:pt x="712" y="0"/>
                          </a:cubicBezTo>
                        </a:path>
                      </a:pathLst>
                    </a:custGeom>
                    <a:pattFill prst="lgConfetti">
                      <a:fgClr>
                        <a:srgbClr val="996633"/>
                      </a:fgClr>
                      <a:bgClr>
                        <a:srgbClr val="FFFFFF"/>
                      </a:bgClr>
                    </a:patt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2318" name="Group 30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60" y="2840"/>
                      <a:ext cx="1648" cy="624"/>
                      <a:chOff x="1360" y="2840"/>
                      <a:chExt cx="1648" cy="624"/>
                    </a:xfrm>
                  </p:grpSpPr>
                  <p:sp>
                    <p:nvSpPr>
                      <p:cNvPr id="22820" name="Rectangle 304" descr="Large confetti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04" y="2872"/>
                        <a:ext cx="72" cy="96"/>
                      </a:xfrm>
                      <a:prstGeom prst="rect">
                        <a:avLst/>
                      </a:prstGeom>
                      <a:pattFill prst="lgConfetti">
                        <a:fgClr>
                          <a:srgbClr val="996633"/>
                        </a:fgClr>
                        <a:bgClr>
                          <a:schemeClr val="bg1"/>
                        </a:bgClr>
                      </a:patt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l"/>
                        <a:endParaRPr lang="en-US">
                          <a:solidFill>
                            <a:srgbClr val="996633"/>
                          </a:solidFill>
                        </a:endParaRPr>
                      </a:p>
                    </p:txBody>
                  </p:sp>
                  <p:grpSp>
                    <p:nvGrpSpPr>
                      <p:cNvPr id="222319" name="Group 30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360" y="2840"/>
                        <a:ext cx="1648" cy="624"/>
                        <a:chOff x="1360" y="2840"/>
                        <a:chExt cx="1648" cy="624"/>
                      </a:xfrm>
                    </p:grpSpPr>
                    <p:sp>
                      <p:nvSpPr>
                        <p:cNvPr id="22822" name="Rectangle 306" descr="Large confetti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296" y="3032"/>
                          <a:ext cx="496" cy="144"/>
                        </a:xfrm>
                        <a:prstGeom prst="rect">
                          <a:avLst/>
                        </a:prstGeom>
                        <a:pattFill prst="lgConfetti">
                          <a:fgClr>
                            <a:srgbClr val="996633"/>
                          </a:fgClr>
                          <a:bgClr>
                            <a:schemeClr val="bg1"/>
                          </a:bgClr>
                        </a:pattFill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l"/>
                          <a:endParaRPr lang="en-US">
                            <a:solidFill>
                              <a:srgbClr val="996633"/>
                            </a:solidFill>
                          </a:endParaRPr>
                        </a:p>
                      </p:txBody>
                    </p:sp>
                    <p:grpSp>
                      <p:nvGrpSpPr>
                        <p:cNvPr id="222320" name="Group 30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360" y="2840"/>
                          <a:ext cx="1648" cy="624"/>
                          <a:chOff x="1360" y="2840"/>
                          <a:chExt cx="1648" cy="624"/>
                        </a:xfrm>
                      </p:grpSpPr>
                      <p:sp>
                        <p:nvSpPr>
                          <p:cNvPr id="22824" name="Rectangle 308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84" y="3032"/>
                            <a:ext cx="496" cy="144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825" name="Rectangle 309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52" y="2984"/>
                            <a:ext cx="256" cy="192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826" name="Rectangle 310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92" y="3176"/>
                            <a:ext cx="912" cy="288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827" name="Rectangle 311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80" y="3176"/>
                            <a:ext cx="912" cy="288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828" name="Rectangle 312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60" y="2840"/>
                            <a:ext cx="304" cy="336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829" name="Rectangle 313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28" y="2904"/>
                            <a:ext cx="256" cy="80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830" name="Freeform 314" descr="Large confetti"/>
                          <p:cNvSpPr>
                            <a:spLocks/>
                          </p:cNvSpPr>
                          <p:nvPr/>
                        </p:nvSpPr>
                        <p:spPr bwMode="auto">
                          <a:xfrm rot="10800000">
                            <a:off x="2392" y="2936"/>
                            <a:ext cx="240" cy="104"/>
                          </a:xfrm>
                          <a:custGeom>
                            <a:avLst/>
                            <a:gdLst>
                              <a:gd name="T0" fmla="*/ 0 w 712"/>
                              <a:gd name="T1" fmla="*/ 12 h 496"/>
                              <a:gd name="T2" fmla="*/ 13 w 712"/>
                              <a:gd name="T3" fmla="*/ 35 h 496"/>
                              <a:gd name="T4" fmla="*/ 35 w 712"/>
                              <a:gd name="T5" fmla="*/ 74 h 496"/>
                              <a:gd name="T6" fmla="*/ 40 w 712"/>
                              <a:gd name="T7" fmla="*/ 82 h 496"/>
                              <a:gd name="T8" fmla="*/ 97 w 712"/>
                              <a:gd name="T9" fmla="*/ 104 h 496"/>
                              <a:gd name="T10" fmla="*/ 135 w 712"/>
                              <a:gd name="T11" fmla="*/ 96 h 496"/>
                              <a:gd name="T12" fmla="*/ 151 w 712"/>
                              <a:gd name="T13" fmla="*/ 89 h 496"/>
                              <a:gd name="T14" fmla="*/ 164 w 712"/>
                              <a:gd name="T15" fmla="*/ 72 h 496"/>
                              <a:gd name="T16" fmla="*/ 173 w 712"/>
                              <a:gd name="T17" fmla="*/ 65 h 496"/>
                              <a:gd name="T18" fmla="*/ 200 w 712"/>
                              <a:gd name="T19" fmla="*/ 35 h 496"/>
                              <a:gd name="T20" fmla="*/ 240 w 712"/>
                              <a:gd name="T21" fmla="*/ 0 h 496"/>
                              <a:gd name="T22" fmla="*/ 0 60000 65536"/>
                              <a:gd name="T23" fmla="*/ 0 60000 65536"/>
                              <a:gd name="T24" fmla="*/ 0 60000 65536"/>
                              <a:gd name="T25" fmla="*/ 0 60000 65536"/>
                              <a:gd name="T26" fmla="*/ 0 60000 65536"/>
                              <a:gd name="T27" fmla="*/ 0 60000 65536"/>
                              <a:gd name="T28" fmla="*/ 0 60000 65536"/>
                              <a:gd name="T29" fmla="*/ 0 60000 65536"/>
                              <a:gd name="T30" fmla="*/ 0 60000 65536"/>
                              <a:gd name="T31" fmla="*/ 0 60000 65536"/>
                              <a:gd name="T32" fmla="*/ 0 60000 65536"/>
                              <a:gd name="T33" fmla="*/ 0 w 712"/>
                              <a:gd name="T34" fmla="*/ 0 h 496"/>
                              <a:gd name="T35" fmla="*/ 712 w 712"/>
                              <a:gd name="T36" fmla="*/ 496 h 496"/>
                            </a:gdLst>
                            <a:ahLst/>
                            <a:cxnLst>
                              <a:cxn ang="T22">
                                <a:pos x="T0" y="T1"/>
                              </a:cxn>
                              <a:cxn ang="T23">
                                <a:pos x="T2" y="T3"/>
                              </a:cxn>
                              <a:cxn ang="T24">
                                <a:pos x="T4" y="T5"/>
                              </a:cxn>
                              <a:cxn ang="T25">
                                <a:pos x="T6" y="T7"/>
                              </a:cxn>
                              <a:cxn ang="T26">
                                <a:pos x="T8" y="T9"/>
                              </a:cxn>
                              <a:cxn ang="T27">
                                <a:pos x="T10" y="T11"/>
                              </a:cxn>
                              <a:cxn ang="T28">
                                <a:pos x="T12" y="T13"/>
                              </a:cxn>
                              <a:cxn ang="T29">
                                <a:pos x="T14" y="T15"/>
                              </a:cxn>
                              <a:cxn ang="T30">
                                <a:pos x="T16" y="T17"/>
                              </a:cxn>
                              <a:cxn ang="T31">
                                <a:pos x="T18" y="T19"/>
                              </a:cxn>
                              <a:cxn ang="T32">
                                <a:pos x="T20" y="T21"/>
                              </a:cxn>
                            </a:cxnLst>
                            <a:rect l="T33" t="T34" r="T35" b="T36"/>
                            <a:pathLst>
                              <a:path w="712" h="496">
                                <a:moveTo>
                                  <a:pt x="0" y="56"/>
                                </a:moveTo>
                                <a:cubicBezTo>
                                  <a:pt x="8" y="98"/>
                                  <a:pt x="28" y="128"/>
                                  <a:pt x="40" y="168"/>
                                </a:cubicBezTo>
                                <a:cubicBezTo>
                                  <a:pt x="59" y="233"/>
                                  <a:pt x="74" y="291"/>
                                  <a:pt x="104" y="352"/>
                                </a:cubicBezTo>
                                <a:cubicBezTo>
                                  <a:pt x="110" y="365"/>
                                  <a:pt x="111" y="381"/>
                                  <a:pt x="120" y="392"/>
                                </a:cubicBezTo>
                                <a:cubicBezTo>
                                  <a:pt x="161" y="445"/>
                                  <a:pt x="235" y="461"/>
                                  <a:pt x="288" y="496"/>
                                </a:cubicBezTo>
                                <a:cubicBezTo>
                                  <a:pt x="325" y="483"/>
                                  <a:pt x="372" y="484"/>
                                  <a:pt x="400" y="456"/>
                                </a:cubicBezTo>
                                <a:cubicBezTo>
                                  <a:pt x="430" y="426"/>
                                  <a:pt x="413" y="436"/>
                                  <a:pt x="448" y="424"/>
                                </a:cubicBezTo>
                                <a:cubicBezTo>
                                  <a:pt x="498" y="374"/>
                                  <a:pt x="448" y="432"/>
                                  <a:pt x="488" y="344"/>
                                </a:cubicBezTo>
                                <a:cubicBezTo>
                                  <a:pt x="494" y="332"/>
                                  <a:pt x="505" y="324"/>
                                  <a:pt x="512" y="312"/>
                                </a:cubicBezTo>
                                <a:cubicBezTo>
                                  <a:pt x="614" y="131"/>
                                  <a:pt x="516" y="282"/>
                                  <a:pt x="592" y="168"/>
                                </a:cubicBezTo>
                                <a:cubicBezTo>
                                  <a:pt x="609" y="82"/>
                                  <a:pt x="654" y="58"/>
                                  <a:pt x="712" y="0"/>
                                </a:cubicBezTo>
                              </a:path>
                            </a:pathLst>
                          </a:custGeom>
                          <a:pattFill prst="lgConfetti">
                            <a:fgClr>
                              <a:srgbClr val="996633"/>
                            </a:fgClr>
                            <a:bgClr>
                              <a:srgbClr val="FFFFFF"/>
                            </a:bgClr>
                          </a:pattFill>
                          <a:ln w="317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222321" name="Group 315"/>
              <p:cNvGrpSpPr>
                <a:grpSpLocks/>
              </p:cNvGrpSpPr>
              <p:nvPr/>
            </p:nvGrpSpPr>
            <p:grpSpPr bwMode="auto">
              <a:xfrm>
                <a:off x="3648" y="3216"/>
                <a:ext cx="1056" cy="336"/>
                <a:chOff x="4237" y="2832"/>
                <a:chExt cx="1056" cy="336"/>
              </a:xfrm>
            </p:grpSpPr>
            <p:sp>
              <p:nvSpPr>
                <p:cNvPr id="22803" name="Line 316" descr="Large confetti"/>
                <p:cNvSpPr>
                  <a:spLocks noChangeShapeType="1"/>
                </p:cNvSpPr>
                <p:nvPr/>
              </p:nvSpPr>
              <p:spPr bwMode="auto">
                <a:xfrm>
                  <a:off x="4566" y="3024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04" name="Line 317" descr="Large confetti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4656" y="302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05" name="Line 318" descr="Large confetti"/>
                <p:cNvSpPr>
                  <a:spLocks noChangeShapeType="1"/>
                </p:cNvSpPr>
                <p:nvPr/>
              </p:nvSpPr>
              <p:spPr bwMode="auto">
                <a:xfrm>
                  <a:off x="5192" y="3024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06" name="Line 319" descr="Large confetti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4848" y="302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07" name="Line 320" descr="Large confetti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4237" y="3024"/>
                  <a:ext cx="1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08" name="Line 321" descr="Large confetti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5293" y="2832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09" name="Line 322" descr="Large confetti"/>
                <p:cNvSpPr>
                  <a:spLocks noChangeShapeType="1"/>
                </p:cNvSpPr>
                <p:nvPr/>
              </p:nvSpPr>
              <p:spPr bwMode="auto">
                <a:xfrm rot="10800000">
                  <a:off x="4237" y="2832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10" name="Freeform 323" descr="Large confetti"/>
                <p:cNvSpPr>
                  <a:spLocks/>
                </p:cNvSpPr>
                <p:nvPr/>
              </p:nvSpPr>
              <p:spPr bwMode="auto">
                <a:xfrm rot="10800000">
                  <a:off x="4966" y="2920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pattFill prst="lgConfetti">
                  <a:fgClr>
                    <a:srgbClr val="996633"/>
                  </a:fgClr>
                  <a:bgClr>
                    <a:schemeClr val="bg1"/>
                  </a:bgClr>
                </a:patt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11" name="Freeform 324" descr="Large confetti"/>
                <p:cNvSpPr>
                  <a:spLocks/>
                </p:cNvSpPr>
                <p:nvPr/>
              </p:nvSpPr>
              <p:spPr bwMode="auto">
                <a:xfrm rot="10800000">
                  <a:off x="4334" y="2928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pattFill prst="lgConfetti">
                  <a:fgClr>
                    <a:srgbClr val="996633"/>
                  </a:fgClr>
                  <a:bgClr>
                    <a:schemeClr val="bg1"/>
                  </a:bgClr>
                </a:patt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12" name="Line 325" descr="Large confetti"/>
                <p:cNvSpPr>
                  <a:spLocks noChangeShapeType="1"/>
                </p:cNvSpPr>
                <p:nvPr/>
              </p:nvSpPr>
              <p:spPr bwMode="auto">
                <a:xfrm rot="10800000">
                  <a:off x="4669" y="316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13" name="Line 326" descr="Large confetti"/>
                <p:cNvSpPr>
                  <a:spLocks noChangeShapeType="1"/>
                </p:cNvSpPr>
                <p:nvPr/>
              </p:nvSpPr>
              <p:spPr bwMode="auto">
                <a:xfrm rot="10800000">
                  <a:off x="4861" y="3024"/>
                  <a:ext cx="1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2322" name="Group 327"/>
              <p:cNvGrpSpPr>
                <a:grpSpLocks/>
              </p:cNvGrpSpPr>
              <p:nvPr/>
            </p:nvGrpSpPr>
            <p:grpSpPr bwMode="auto">
              <a:xfrm>
                <a:off x="3072" y="3120"/>
                <a:ext cx="2208" cy="960"/>
                <a:chOff x="350" y="2744"/>
                <a:chExt cx="2208" cy="960"/>
              </a:xfrm>
            </p:grpSpPr>
            <p:sp>
              <p:nvSpPr>
                <p:cNvPr id="22781" name="Line 328"/>
                <p:cNvSpPr>
                  <a:spLocks noChangeShapeType="1"/>
                </p:cNvSpPr>
                <p:nvPr/>
              </p:nvSpPr>
              <p:spPr bwMode="auto">
                <a:xfrm rot="10800000">
                  <a:off x="2510" y="2744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2323" name="Group 329"/>
                <p:cNvGrpSpPr>
                  <a:grpSpLocks/>
                </p:cNvGrpSpPr>
                <p:nvPr/>
              </p:nvGrpSpPr>
              <p:grpSpPr bwMode="auto">
                <a:xfrm>
                  <a:off x="350" y="2744"/>
                  <a:ext cx="2199" cy="960"/>
                  <a:chOff x="3638" y="2736"/>
                  <a:chExt cx="2199" cy="960"/>
                </a:xfrm>
              </p:grpSpPr>
              <p:sp>
                <p:nvSpPr>
                  <p:cNvPr id="22783" name="Line 330"/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693" y="2920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22324" name="Group 331"/>
                  <p:cNvGrpSpPr>
                    <a:grpSpLocks/>
                  </p:cNvGrpSpPr>
                  <p:nvPr/>
                </p:nvGrpSpPr>
                <p:grpSpPr bwMode="auto">
                  <a:xfrm>
                    <a:off x="3638" y="2736"/>
                    <a:ext cx="2199" cy="960"/>
                    <a:chOff x="3638" y="2736"/>
                    <a:chExt cx="2199" cy="960"/>
                  </a:xfrm>
                </p:grpSpPr>
                <p:sp>
                  <p:nvSpPr>
                    <p:cNvPr id="22785" name="Line 332"/>
                    <p:cNvSpPr>
                      <a:spLocks noChangeShapeType="1"/>
                    </p:cNvSpPr>
                    <p:nvPr/>
                  </p:nvSpPr>
                  <p:spPr bwMode="auto">
                    <a:xfrm rot="10800000">
                      <a:off x="3686" y="2744"/>
                      <a:ext cx="0" cy="1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2325" name="Group 3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38" y="2736"/>
                      <a:ext cx="2199" cy="960"/>
                      <a:chOff x="3638" y="2736"/>
                      <a:chExt cx="2199" cy="960"/>
                    </a:xfrm>
                  </p:grpSpPr>
                  <p:grpSp>
                    <p:nvGrpSpPr>
                      <p:cNvPr id="222326" name="Group 334"/>
                      <p:cNvGrpSpPr>
                        <a:grpSpLocks/>
                      </p:cNvGrpSpPr>
                      <p:nvPr/>
                    </p:nvGrpSpPr>
                    <p:grpSpPr bwMode="auto">
                      <a:xfrm rot="10800000">
                        <a:off x="3638" y="2736"/>
                        <a:ext cx="144" cy="192"/>
                        <a:chOff x="2880" y="1536"/>
                        <a:chExt cx="144" cy="192"/>
                      </a:xfrm>
                    </p:grpSpPr>
                    <p:sp>
                      <p:nvSpPr>
                        <p:cNvPr id="22799" name="Line 33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80" y="1536"/>
                          <a:ext cx="144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800" name="Line 33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80" y="1568"/>
                          <a:ext cx="96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801" name="Line 33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008" y="1536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802" name="Line 33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76" y="1728"/>
                          <a:ext cx="48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22788" name="Rectangle 339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5550" y="2832"/>
                        <a:ext cx="96" cy="62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89" name="Rectangle 340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790" y="3456"/>
                        <a:ext cx="1920" cy="96"/>
                      </a:xfrm>
                      <a:prstGeom prst="rect">
                        <a:avLst/>
                      </a:prstGeom>
                      <a:solidFill>
                        <a:srgbClr val="996633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90" name="Rectangle 341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846" y="2832"/>
                        <a:ext cx="96" cy="62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91" name="Rectangle 342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790" y="2832"/>
                        <a:ext cx="48" cy="19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rot="10800000"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92" name="Rectangle 343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5655" y="2832"/>
                        <a:ext cx="48" cy="19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93" name="Rectangle 344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5256" y="3552"/>
                        <a:ext cx="240" cy="14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94" name="Rectangle 345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998" y="3552"/>
                        <a:ext cx="240" cy="14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795" name="Line 346"/>
                      <p:cNvSpPr>
                        <a:spLocks noChangeShapeType="1"/>
                      </p:cNvSpPr>
                      <p:nvPr/>
                    </p:nvSpPr>
                    <p:spPr bwMode="auto">
                      <a:xfrm rot="10800000" flipH="1">
                        <a:off x="5709" y="2888"/>
                        <a:ext cx="96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22327" name="Group 347"/>
                      <p:cNvGrpSpPr>
                        <a:grpSpLocks/>
                      </p:cNvGrpSpPr>
                      <p:nvPr/>
                    </p:nvGrpSpPr>
                    <p:grpSpPr bwMode="auto">
                      <a:xfrm rot="10800000">
                        <a:off x="5805" y="2736"/>
                        <a:ext cx="32" cy="192"/>
                        <a:chOff x="816" y="1632"/>
                        <a:chExt cx="32" cy="192"/>
                      </a:xfrm>
                    </p:grpSpPr>
                    <p:sp>
                      <p:nvSpPr>
                        <p:cNvPr id="22797" name="Line 34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816" y="1632"/>
                          <a:ext cx="0" cy="184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798" name="Line 34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48" y="1680"/>
                          <a:ext cx="0" cy="144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222328" name="Group 350"/>
            <p:cNvGrpSpPr>
              <a:grpSpLocks/>
            </p:cNvGrpSpPr>
            <p:nvPr/>
          </p:nvGrpSpPr>
          <p:grpSpPr bwMode="auto">
            <a:xfrm>
              <a:off x="2672" y="3216"/>
              <a:ext cx="2424" cy="448"/>
              <a:chOff x="3240" y="2816"/>
              <a:chExt cx="2424" cy="448"/>
            </a:xfrm>
          </p:grpSpPr>
          <p:sp>
            <p:nvSpPr>
              <p:cNvPr id="22775" name="Rectangle 351"/>
              <p:cNvSpPr>
                <a:spLocks noChangeArrowheads="1"/>
              </p:cNvSpPr>
              <p:nvPr/>
            </p:nvSpPr>
            <p:spPr bwMode="auto">
              <a:xfrm>
                <a:off x="3240" y="3072"/>
                <a:ext cx="584" cy="19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sz="1600" b="1"/>
                  <a:t>Parting</a:t>
                </a:r>
              </a:p>
              <a:p>
                <a:pPr algn="l"/>
                <a:r>
                  <a:rPr lang="en-US" sz="1600" b="1"/>
                  <a:t> line</a:t>
                </a:r>
              </a:p>
            </p:txBody>
          </p:sp>
          <p:sp>
            <p:nvSpPr>
              <p:cNvPr id="22776" name="Line 352"/>
              <p:cNvSpPr>
                <a:spLocks noChangeShapeType="1"/>
              </p:cNvSpPr>
              <p:nvPr/>
            </p:nvSpPr>
            <p:spPr bwMode="auto">
              <a:xfrm>
                <a:off x="3840" y="2816"/>
                <a:ext cx="18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7" name="Line 353"/>
              <p:cNvSpPr>
                <a:spLocks noChangeShapeType="1"/>
              </p:cNvSpPr>
              <p:nvPr/>
            </p:nvSpPr>
            <p:spPr bwMode="auto">
              <a:xfrm flipV="1">
                <a:off x="3792" y="2832"/>
                <a:ext cx="288" cy="28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22562" name="Rectangle 354" descr="Large confetti"/>
          <p:cNvSpPr>
            <a:spLocks noChangeArrowheads="1"/>
          </p:cNvSpPr>
          <p:nvPr/>
        </p:nvSpPr>
        <p:spPr bwMode="auto">
          <a:xfrm rot="10800000">
            <a:off x="4864100" y="4508500"/>
            <a:ext cx="304800" cy="2921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63" name="Rectangle 355"/>
          <p:cNvSpPr>
            <a:spLocks noChangeArrowheads="1"/>
          </p:cNvSpPr>
          <p:nvPr/>
        </p:nvSpPr>
        <p:spPr bwMode="auto">
          <a:xfrm>
            <a:off x="4978400" y="4521200"/>
            <a:ext cx="76200" cy="889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2329" name="Group 356"/>
          <p:cNvGrpSpPr>
            <a:grpSpLocks/>
          </p:cNvGrpSpPr>
          <p:nvPr/>
        </p:nvGrpSpPr>
        <p:grpSpPr bwMode="auto">
          <a:xfrm>
            <a:off x="4914900" y="3352800"/>
            <a:ext cx="139700" cy="1219200"/>
            <a:chOff x="2040" y="1968"/>
            <a:chExt cx="88" cy="768"/>
          </a:xfrm>
        </p:grpSpPr>
        <p:grpSp>
          <p:nvGrpSpPr>
            <p:cNvPr id="222330" name="Group 357"/>
            <p:cNvGrpSpPr>
              <a:grpSpLocks/>
            </p:cNvGrpSpPr>
            <p:nvPr/>
          </p:nvGrpSpPr>
          <p:grpSpPr bwMode="auto">
            <a:xfrm>
              <a:off x="2040" y="1968"/>
              <a:ext cx="88" cy="768"/>
              <a:chOff x="3888" y="2112"/>
              <a:chExt cx="96" cy="576"/>
            </a:xfrm>
          </p:grpSpPr>
          <p:sp>
            <p:nvSpPr>
              <p:cNvPr id="22770" name="Line 358"/>
              <p:cNvSpPr>
                <a:spLocks noChangeShapeType="1"/>
              </p:cNvSpPr>
              <p:nvPr/>
            </p:nvSpPr>
            <p:spPr bwMode="auto">
              <a:xfrm>
                <a:off x="3888" y="2160"/>
                <a:ext cx="48" cy="528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1" name="Line 359"/>
              <p:cNvSpPr>
                <a:spLocks noChangeShapeType="1"/>
              </p:cNvSpPr>
              <p:nvPr/>
            </p:nvSpPr>
            <p:spPr bwMode="auto">
              <a:xfrm flipH="1">
                <a:off x="3984" y="2160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2" name="Freeform 360"/>
              <p:cNvSpPr>
                <a:spLocks/>
              </p:cNvSpPr>
              <p:nvPr/>
            </p:nvSpPr>
            <p:spPr bwMode="auto">
              <a:xfrm>
                <a:off x="3888" y="2112"/>
                <a:ext cx="96" cy="48"/>
              </a:xfrm>
              <a:custGeom>
                <a:avLst/>
                <a:gdLst>
                  <a:gd name="T0" fmla="*/ 0 w 96"/>
                  <a:gd name="T1" fmla="*/ 48 h 48"/>
                  <a:gd name="T2" fmla="*/ 48 w 96"/>
                  <a:gd name="T3" fmla="*/ 0 h 48"/>
                  <a:gd name="T4" fmla="*/ 96 w 96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96"/>
                  <a:gd name="T10" fmla="*/ 0 h 48"/>
                  <a:gd name="T11" fmla="*/ 96 w 96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" h="48">
                    <a:moveTo>
                      <a:pt x="0" y="48"/>
                    </a:moveTo>
                    <a:cubicBezTo>
                      <a:pt x="16" y="24"/>
                      <a:pt x="32" y="0"/>
                      <a:pt x="48" y="0"/>
                    </a:cubicBezTo>
                    <a:cubicBezTo>
                      <a:pt x="64" y="0"/>
                      <a:pt x="80" y="24"/>
                      <a:pt x="96" y="48"/>
                    </a:cubicBezTo>
                  </a:path>
                </a:pathLst>
              </a:cu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769" name="Line 361"/>
            <p:cNvSpPr>
              <a:spLocks noChangeShapeType="1"/>
            </p:cNvSpPr>
            <p:nvPr/>
          </p:nvSpPr>
          <p:spPr bwMode="auto">
            <a:xfrm>
              <a:off x="2080" y="2736"/>
              <a:ext cx="48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570" name="Rectangle 362" descr="Large confetti"/>
          <p:cNvSpPr>
            <a:spLocks noChangeArrowheads="1"/>
          </p:cNvSpPr>
          <p:nvPr/>
        </p:nvSpPr>
        <p:spPr bwMode="auto">
          <a:xfrm rot="10800000">
            <a:off x="8331200" y="3898900"/>
            <a:ext cx="800100" cy="2794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1" name="Rectangle 363" descr="Large confetti"/>
          <p:cNvSpPr>
            <a:spLocks noChangeArrowheads="1"/>
          </p:cNvSpPr>
          <p:nvPr/>
        </p:nvSpPr>
        <p:spPr bwMode="auto">
          <a:xfrm rot="10800000">
            <a:off x="9283700" y="3594100"/>
            <a:ext cx="152400" cy="1524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2" name="Rectangle 364" descr="Large confetti"/>
          <p:cNvSpPr>
            <a:spLocks noChangeArrowheads="1"/>
          </p:cNvSpPr>
          <p:nvPr/>
        </p:nvSpPr>
        <p:spPr bwMode="auto">
          <a:xfrm rot="10800000">
            <a:off x="8902700" y="3568700"/>
            <a:ext cx="228600" cy="2286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3" name="Rectangle 365" descr="Large confetti"/>
          <p:cNvSpPr>
            <a:spLocks noChangeArrowheads="1"/>
          </p:cNvSpPr>
          <p:nvPr/>
        </p:nvSpPr>
        <p:spPr bwMode="auto">
          <a:xfrm rot="10800000">
            <a:off x="6845300" y="3517900"/>
            <a:ext cx="457200" cy="9906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4" name="Rectangle 366" descr="Large confetti"/>
          <p:cNvSpPr>
            <a:spLocks noChangeArrowheads="1"/>
          </p:cNvSpPr>
          <p:nvPr/>
        </p:nvSpPr>
        <p:spPr bwMode="auto">
          <a:xfrm rot="10800000">
            <a:off x="6845300" y="3810000"/>
            <a:ext cx="533400" cy="3175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5" name="Rectangle 367" descr="Large confetti"/>
          <p:cNvSpPr>
            <a:spLocks noChangeArrowheads="1"/>
          </p:cNvSpPr>
          <p:nvPr/>
        </p:nvSpPr>
        <p:spPr bwMode="auto">
          <a:xfrm rot="10800000">
            <a:off x="7454900" y="3898900"/>
            <a:ext cx="762000" cy="3048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6" name="Rectangle 368" descr="Large confetti"/>
          <p:cNvSpPr>
            <a:spLocks noChangeArrowheads="1"/>
          </p:cNvSpPr>
          <p:nvPr/>
        </p:nvSpPr>
        <p:spPr bwMode="auto">
          <a:xfrm rot="10800000">
            <a:off x="9232900" y="3670300"/>
            <a:ext cx="203200" cy="8382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7" name="Rectangle 369" descr="Large confetti"/>
          <p:cNvSpPr>
            <a:spLocks noChangeArrowheads="1"/>
          </p:cNvSpPr>
          <p:nvPr/>
        </p:nvSpPr>
        <p:spPr bwMode="auto">
          <a:xfrm rot="10800000">
            <a:off x="7454900" y="3517900"/>
            <a:ext cx="1447800" cy="3810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8" name="Rectangle 370" descr="Large confetti"/>
          <p:cNvSpPr>
            <a:spLocks noChangeArrowheads="1"/>
          </p:cNvSpPr>
          <p:nvPr/>
        </p:nvSpPr>
        <p:spPr bwMode="auto">
          <a:xfrm rot="10800000">
            <a:off x="9359900" y="3517900"/>
            <a:ext cx="76200" cy="762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79" name="Line 371"/>
          <p:cNvSpPr>
            <a:spLocks noChangeShapeType="1"/>
          </p:cNvSpPr>
          <p:nvPr/>
        </p:nvSpPr>
        <p:spPr bwMode="auto">
          <a:xfrm rot="10800000">
            <a:off x="6792913" y="4495800"/>
            <a:ext cx="2819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580" name="Rectangle 372" descr="Large confetti"/>
          <p:cNvSpPr>
            <a:spLocks noChangeArrowheads="1"/>
          </p:cNvSpPr>
          <p:nvPr/>
        </p:nvSpPr>
        <p:spPr bwMode="auto">
          <a:xfrm rot="10800000">
            <a:off x="8902700" y="3670300"/>
            <a:ext cx="228600" cy="2286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81" name="Rectangle 373" descr="Large confetti"/>
          <p:cNvSpPr>
            <a:spLocks noChangeArrowheads="1"/>
          </p:cNvSpPr>
          <p:nvPr/>
        </p:nvSpPr>
        <p:spPr bwMode="auto">
          <a:xfrm rot="10800000">
            <a:off x="8991600" y="4127500"/>
            <a:ext cx="152400" cy="3302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582" name="Rectangle 374"/>
          <p:cNvSpPr>
            <a:spLocks noChangeArrowheads="1"/>
          </p:cNvSpPr>
          <p:nvPr/>
        </p:nvSpPr>
        <p:spPr bwMode="auto">
          <a:xfrm>
            <a:off x="6858000" y="6337300"/>
            <a:ext cx="23622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u="sng" dirty="0"/>
              <a:t>COMPLETE MOLD</a:t>
            </a:r>
          </a:p>
        </p:txBody>
      </p:sp>
      <p:grpSp>
        <p:nvGrpSpPr>
          <p:cNvPr id="222331" name="Group 375"/>
          <p:cNvGrpSpPr>
            <a:grpSpLocks/>
          </p:cNvGrpSpPr>
          <p:nvPr/>
        </p:nvGrpSpPr>
        <p:grpSpPr bwMode="auto">
          <a:xfrm>
            <a:off x="6388100" y="3492500"/>
            <a:ext cx="3517900" cy="990600"/>
            <a:chOff x="808" y="1328"/>
            <a:chExt cx="2216" cy="624"/>
          </a:xfrm>
        </p:grpSpPr>
        <p:grpSp>
          <p:nvGrpSpPr>
            <p:cNvPr id="222332" name="Group 376"/>
            <p:cNvGrpSpPr>
              <a:grpSpLocks/>
            </p:cNvGrpSpPr>
            <p:nvPr/>
          </p:nvGrpSpPr>
          <p:grpSpPr bwMode="auto">
            <a:xfrm>
              <a:off x="2824" y="1696"/>
              <a:ext cx="200" cy="192"/>
              <a:chOff x="5032" y="1104"/>
              <a:chExt cx="200" cy="192"/>
            </a:xfrm>
          </p:grpSpPr>
          <p:sp>
            <p:nvSpPr>
              <p:cNvPr id="22764" name="Line 377"/>
              <p:cNvSpPr>
                <a:spLocks noChangeShapeType="1"/>
              </p:cNvSpPr>
              <p:nvPr/>
            </p:nvSpPr>
            <p:spPr bwMode="auto">
              <a:xfrm>
                <a:off x="5232" y="1248"/>
                <a:ext cx="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2333" name="Group 378"/>
              <p:cNvGrpSpPr>
                <a:grpSpLocks/>
              </p:cNvGrpSpPr>
              <p:nvPr/>
            </p:nvGrpSpPr>
            <p:grpSpPr bwMode="auto">
              <a:xfrm>
                <a:off x="5032" y="1104"/>
                <a:ext cx="200" cy="192"/>
                <a:chOff x="5032" y="1104"/>
                <a:chExt cx="200" cy="192"/>
              </a:xfrm>
            </p:grpSpPr>
            <p:sp>
              <p:nvSpPr>
                <p:cNvPr id="22766" name="Line 379"/>
                <p:cNvSpPr>
                  <a:spLocks noChangeShapeType="1"/>
                </p:cNvSpPr>
                <p:nvPr/>
              </p:nvSpPr>
              <p:spPr bwMode="auto">
                <a:xfrm>
                  <a:off x="5088" y="1296"/>
                  <a:ext cx="1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67" name="Rectangle 380"/>
                <p:cNvSpPr>
                  <a:spLocks noChangeArrowheads="1"/>
                </p:cNvSpPr>
                <p:nvPr/>
              </p:nvSpPr>
              <p:spPr bwMode="auto">
                <a:xfrm>
                  <a:off x="5032" y="1104"/>
                  <a:ext cx="48" cy="192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22334" name="Group 381"/>
            <p:cNvGrpSpPr>
              <a:grpSpLocks/>
            </p:cNvGrpSpPr>
            <p:nvPr/>
          </p:nvGrpSpPr>
          <p:grpSpPr bwMode="auto">
            <a:xfrm>
              <a:off x="808" y="1328"/>
              <a:ext cx="2216" cy="624"/>
              <a:chOff x="808" y="1328"/>
              <a:chExt cx="2216" cy="624"/>
            </a:xfrm>
          </p:grpSpPr>
          <p:sp>
            <p:nvSpPr>
              <p:cNvPr id="22754" name="Rectangle 382"/>
              <p:cNvSpPr>
                <a:spLocks noChangeArrowheads="1"/>
              </p:cNvSpPr>
              <p:nvPr/>
            </p:nvSpPr>
            <p:spPr bwMode="auto">
              <a:xfrm>
                <a:off x="2720" y="1328"/>
                <a:ext cx="96" cy="62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755" name="Rectangle 383"/>
              <p:cNvSpPr>
                <a:spLocks noChangeArrowheads="1"/>
              </p:cNvSpPr>
              <p:nvPr/>
            </p:nvSpPr>
            <p:spPr bwMode="auto">
              <a:xfrm>
                <a:off x="1016" y="1328"/>
                <a:ext cx="96" cy="624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756" name="Line 384"/>
              <p:cNvSpPr>
                <a:spLocks noChangeShapeType="1"/>
              </p:cNvSpPr>
              <p:nvPr/>
            </p:nvSpPr>
            <p:spPr bwMode="auto">
              <a:xfrm>
                <a:off x="2880" y="1848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2335" name="Group 385"/>
              <p:cNvGrpSpPr>
                <a:grpSpLocks/>
              </p:cNvGrpSpPr>
              <p:nvPr/>
            </p:nvGrpSpPr>
            <p:grpSpPr bwMode="auto">
              <a:xfrm>
                <a:off x="808" y="1704"/>
                <a:ext cx="200" cy="192"/>
                <a:chOff x="3016" y="1112"/>
                <a:chExt cx="200" cy="192"/>
              </a:xfrm>
            </p:grpSpPr>
            <p:sp>
              <p:nvSpPr>
                <p:cNvPr id="22758" name="Rectangle 386"/>
                <p:cNvSpPr>
                  <a:spLocks noChangeArrowheads="1"/>
                </p:cNvSpPr>
                <p:nvPr/>
              </p:nvSpPr>
              <p:spPr bwMode="auto">
                <a:xfrm>
                  <a:off x="3168" y="1112"/>
                  <a:ext cx="48" cy="192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2848" name="Group 387"/>
                <p:cNvGrpSpPr>
                  <a:grpSpLocks/>
                </p:cNvGrpSpPr>
                <p:nvPr/>
              </p:nvGrpSpPr>
              <p:grpSpPr bwMode="auto">
                <a:xfrm>
                  <a:off x="3016" y="1256"/>
                  <a:ext cx="152" cy="48"/>
                  <a:chOff x="3016" y="1256"/>
                  <a:chExt cx="152" cy="48"/>
                </a:xfrm>
              </p:grpSpPr>
              <p:grpSp>
                <p:nvGrpSpPr>
                  <p:cNvPr id="22850" name="Group 388"/>
                  <p:cNvGrpSpPr>
                    <a:grpSpLocks/>
                  </p:cNvGrpSpPr>
                  <p:nvPr/>
                </p:nvGrpSpPr>
                <p:grpSpPr bwMode="auto">
                  <a:xfrm>
                    <a:off x="3016" y="1264"/>
                    <a:ext cx="152" cy="40"/>
                    <a:chOff x="3016" y="1264"/>
                    <a:chExt cx="152" cy="40"/>
                  </a:xfrm>
                </p:grpSpPr>
                <p:sp>
                  <p:nvSpPr>
                    <p:cNvPr id="22762" name="Line 38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24" y="1264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763" name="Line 39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016" y="1304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2761" name="Line 391"/>
                  <p:cNvSpPr>
                    <a:spLocks noChangeShapeType="1"/>
                  </p:cNvSpPr>
                  <p:nvPr/>
                </p:nvSpPr>
                <p:spPr bwMode="auto">
                  <a:xfrm>
                    <a:off x="3016" y="1256"/>
                    <a:ext cx="0" cy="4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22851" name="Group 392"/>
          <p:cNvGrpSpPr>
            <a:grpSpLocks/>
          </p:cNvGrpSpPr>
          <p:nvPr/>
        </p:nvGrpSpPr>
        <p:grpSpPr bwMode="auto">
          <a:xfrm>
            <a:off x="7315200" y="3505200"/>
            <a:ext cx="139700" cy="698500"/>
            <a:chOff x="1392" y="1336"/>
            <a:chExt cx="88" cy="440"/>
          </a:xfrm>
        </p:grpSpPr>
        <p:sp>
          <p:nvSpPr>
            <p:cNvPr id="22750" name="Line 393"/>
            <p:cNvSpPr>
              <a:spLocks noChangeShapeType="1"/>
            </p:cNvSpPr>
            <p:nvPr/>
          </p:nvSpPr>
          <p:spPr bwMode="auto">
            <a:xfrm>
              <a:off x="1392" y="1336"/>
              <a:ext cx="44" cy="44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51" name="Line 394"/>
            <p:cNvSpPr>
              <a:spLocks noChangeShapeType="1"/>
            </p:cNvSpPr>
            <p:nvPr/>
          </p:nvSpPr>
          <p:spPr bwMode="auto">
            <a:xfrm flipH="1">
              <a:off x="1480" y="1336"/>
              <a:ext cx="0" cy="44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603" name="Line 395"/>
          <p:cNvSpPr>
            <a:spLocks noChangeShapeType="1"/>
          </p:cNvSpPr>
          <p:nvPr/>
        </p:nvSpPr>
        <p:spPr bwMode="auto">
          <a:xfrm>
            <a:off x="7924800" y="34671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604" name="Line 396"/>
          <p:cNvSpPr>
            <a:spLocks noChangeShapeType="1"/>
          </p:cNvSpPr>
          <p:nvPr/>
        </p:nvSpPr>
        <p:spPr bwMode="auto">
          <a:xfrm>
            <a:off x="8153400" y="35052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605" name="Line 397"/>
          <p:cNvSpPr>
            <a:spLocks noChangeShapeType="1"/>
          </p:cNvSpPr>
          <p:nvPr/>
        </p:nvSpPr>
        <p:spPr bwMode="auto">
          <a:xfrm>
            <a:off x="8267700" y="35052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606" name="Line 398"/>
          <p:cNvSpPr>
            <a:spLocks noChangeShapeType="1"/>
          </p:cNvSpPr>
          <p:nvPr/>
        </p:nvSpPr>
        <p:spPr bwMode="auto">
          <a:xfrm>
            <a:off x="8470900" y="34798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2856" name="Group 399"/>
          <p:cNvGrpSpPr>
            <a:grpSpLocks/>
          </p:cNvGrpSpPr>
          <p:nvPr/>
        </p:nvGrpSpPr>
        <p:grpSpPr bwMode="auto">
          <a:xfrm>
            <a:off x="7577138" y="3505200"/>
            <a:ext cx="296862" cy="520700"/>
            <a:chOff x="1557" y="1336"/>
            <a:chExt cx="187" cy="328"/>
          </a:xfrm>
        </p:grpSpPr>
        <p:grpSp>
          <p:nvGrpSpPr>
            <p:cNvPr id="22860" name="Group 400"/>
            <p:cNvGrpSpPr>
              <a:grpSpLocks/>
            </p:cNvGrpSpPr>
            <p:nvPr/>
          </p:nvGrpSpPr>
          <p:grpSpPr bwMode="auto">
            <a:xfrm>
              <a:off x="1584" y="1432"/>
              <a:ext cx="160" cy="232"/>
              <a:chOff x="2016" y="952"/>
              <a:chExt cx="160" cy="232"/>
            </a:xfrm>
          </p:grpSpPr>
          <p:sp>
            <p:nvSpPr>
              <p:cNvPr id="22743" name="Line 401"/>
              <p:cNvSpPr>
                <a:spLocks noChangeShapeType="1"/>
              </p:cNvSpPr>
              <p:nvPr/>
            </p:nvSpPr>
            <p:spPr bwMode="auto">
              <a:xfrm>
                <a:off x="2016" y="960"/>
                <a:ext cx="48" cy="0"/>
              </a:xfrm>
              <a:prstGeom prst="line">
                <a:avLst/>
              </a:prstGeom>
              <a:noFill/>
              <a:ln w="19050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870" name="Group 402"/>
              <p:cNvGrpSpPr>
                <a:grpSpLocks/>
              </p:cNvGrpSpPr>
              <p:nvPr/>
            </p:nvGrpSpPr>
            <p:grpSpPr bwMode="auto">
              <a:xfrm>
                <a:off x="2032" y="952"/>
                <a:ext cx="144" cy="232"/>
                <a:chOff x="2032" y="952"/>
                <a:chExt cx="144" cy="232"/>
              </a:xfrm>
            </p:grpSpPr>
            <p:sp>
              <p:nvSpPr>
                <p:cNvPr id="22745" name="Line 403"/>
                <p:cNvSpPr>
                  <a:spLocks noChangeShapeType="1"/>
                </p:cNvSpPr>
                <p:nvPr/>
              </p:nvSpPr>
              <p:spPr bwMode="auto">
                <a:xfrm>
                  <a:off x="2032" y="952"/>
                  <a:ext cx="0" cy="224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46" name="Line 404"/>
                <p:cNvSpPr>
                  <a:spLocks noChangeShapeType="1"/>
                </p:cNvSpPr>
                <p:nvPr/>
              </p:nvSpPr>
              <p:spPr bwMode="auto">
                <a:xfrm>
                  <a:off x="2056" y="96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47" name="Line 405"/>
                <p:cNvSpPr>
                  <a:spLocks noChangeShapeType="1"/>
                </p:cNvSpPr>
                <p:nvPr/>
              </p:nvSpPr>
              <p:spPr bwMode="auto">
                <a:xfrm>
                  <a:off x="2064" y="115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48" name="Line 406"/>
                <p:cNvSpPr>
                  <a:spLocks noChangeShapeType="1"/>
                </p:cNvSpPr>
                <p:nvPr/>
              </p:nvSpPr>
              <p:spPr bwMode="auto">
                <a:xfrm>
                  <a:off x="2032" y="1176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49" name="Line 407"/>
                <p:cNvSpPr>
                  <a:spLocks noChangeShapeType="1"/>
                </p:cNvSpPr>
                <p:nvPr/>
              </p:nvSpPr>
              <p:spPr bwMode="auto">
                <a:xfrm rot="5400000">
                  <a:off x="2144" y="1160"/>
                  <a:ext cx="48" cy="0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2742" name="Rectangle 408"/>
            <p:cNvSpPr>
              <a:spLocks noChangeArrowheads="1"/>
            </p:cNvSpPr>
            <p:nvPr/>
          </p:nvSpPr>
          <p:spPr bwMode="auto">
            <a:xfrm>
              <a:off x="1557" y="1336"/>
              <a:ext cx="35" cy="288"/>
            </a:xfrm>
            <a:prstGeom prst="rect">
              <a:avLst/>
            </a:prstGeom>
            <a:pattFill prst="dkDnDiag">
              <a:fgClr>
                <a:schemeClr val="accent1"/>
              </a:fgClr>
              <a:bgClr>
                <a:schemeClr val="bg1"/>
              </a:bgClr>
            </a:pattFill>
            <a:ln w="158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878" name="Group 409"/>
          <p:cNvGrpSpPr>
            <a:grpSpLocks/>
          </p:cNvGrpSpPr>
          <p:nvPr/>
        </p:nvGrpSpPr>
        <p:grpSpPr bwMode="auto">
          <a:xfrm>
            <a:off x="8991600" y="2946400"/>
            <a:ext cx="1498600" cy="596900"/>
            <a:chOff x="2416" y="984"/>
            <a:chExt cx="944" cy="376"/>
          </a:xfrm>
        </p:grpSpPr>
        <p:sp>
          <p:nvSpPr>
            <p:cNvPr id="22739" name="Rectangle 410"/>
            <p:cNvSpPr>
              <a:spLocks noChangeArrowheads="1"/>
            </p:cNvSpPr>
            <p:nvPr/>
          </p:nvSpPr>
          <p:spPr bwMode="auto">
            <a:xfrm>
              <a:off x="2448" y="984"/>
              <a:ext cx="912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Pouring basin</a:t>
              </a:r>
            </a:p>
          </p:txBody>
        </p:sp>
        <p:sp>
          <p:nvSpPr>
            <p:cNvPr id="22740" name="Line 411"/>
            <p:cNvSpPr>
              <a:spLocks noChangeShapeType="1"/>
            </p:cNvSpPr>
            <p:nvPr/>
          </p:nvSpPr>
          <p:spPr bwMode="auto">
            <a:xfrm flipH="1">
              <a:off x="2416" y="1120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92" name="Line 412"/>
          <p:cNvSpPr>
            <a:spLocks noChangeShapeType="1"/>
          </p:cNvSpPr>
          <p:nvPr/>
        </p:nvSpPr>
        <p:spPr bwMode="auto">
          <a:xfrm>
            <a:off x="7772400" y="31369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2881" name="Group 413"/>
          <p:cNvGrpSpPr>
            <a:grpSpLocks/>
          </p:cNvGrpSpPr>
          <p:nvPr/>
        </p:nvGrpSpPr>
        <p:grpSpPr bwMode="auto">
          <a:xfrm>
            <a:off x="5943600" y="2832100"/>
            <a:ext cx="1600200" cy="609600"/>
            <a:chOff x="528" y="912"/>
            <a:chExt cx="1008" cy="384"/>
          </a:xfrm>
        </p:grpSpPr>
        <p:sp>
          <p:nvSpPr>
            <p:cNvPr id="22737" name="Rectangle 414"/>
            <p:cNvSpPr>
              <a:spLocks noChangeArrowheads="1"/>
            </p:cNvSpPr>
            <p:nvPr/>
          </p:nvSpPr>
          <p:spPr bwMode="auto">
            <a:xfrm>
              <a:off x="528" y="912"/>
              <a:ext cx="52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Weight</a:t>
              </a:r>
            </a:p>
          </p:txBody>
        </p:sp>
        <p:sp>
          <p:nvSpPr>
            <p:cNvPr id="22738" name="Line 415"/>
            <p:cNvSpPr>
              <a:spLocks noChangeShapeType="1"/>
            </p:cNvSpPr>
            <p:nvPr/>
          </p:nvSpPr>
          <p:spPr bwMode="auto">
            <a:xfrm>
              <a:off x="1056" y="1056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896" name="Group 416"/>
          <p:cNvGrpSpPr>
            <a:grpSpLocks/>
          </p:cNvGrpSpPr>
          <p:nvPr/>
        </p:nvGrpSpPr>
        <p:grpSpPr bwMode="auto">
          <a:xfrm>
            <a:off x="5791200" y="3517900"/>
            <a:ext cx="1524000" cy="228600"/>
            <a:chOff x="432" y="1344"/>
            <a:chExt cx="960" cy="144"/>
          </a:xfrm>
        </p:grpSpPr>
        <p:sp>
          <p:nvSpPr>
            <p:cNvPr id="22735" name="Rectangle 417"/>
            <p:cNvSpPr>
              <a:spLocks noChangeArrowheads="1"/>
            </p:cNvSpPr>
            <p:nvPr/>
          </p:nvSpPr>
          <p:spPr bwMode="auto">
            <a:xfrm>
              <a:off x="432" y="1344"/>
              <a:ext cx="38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Riser</a:t>
              </a:r>
            </a:p>
          </p:txBody>
        </p:sp>
        <p:sp>
          <p:nvSpPr>
            <p:cNvPr id="22736" name="Line 418"/>
            <p:cNvSpPr>
              <a:spLocks noChangeShapeType="1"/>
            </p:cNvSpPr>
            <p:nvPr/>
          </p:nvSpPr>
          <p:spPr bwMode="auto">
            <a:xfrm>
              <a:off x="816" y="1440"/>
              <a:ext cx="57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898" name="Group 419"/>
          <p:cNvGrpSpPr>
            <a:grpSpLocks/>
          </p:cNvGrpSpPr>
          <p:nvPr/>
        </p:nvGrpSpPr>
        <p:grpSpPr bwMode="auto">
          <a:xfrm>
            <a:off x="8305800" y="2755900"/>
            <a:ext cx="609600" cy="990600"/>
            <a:chOff x="2016" y="864"/>
            <a:chExt cx="384" cy="624"/>
          </a:xfrm>
        </p:grpSpPr>
        <p:sp>
          <p:nvSpPr>
            <p:cNvPr id="22733" name="Rectangle 420"/>
            <p:cNvSpPr>
              <a:spLocks noChangeArrowheads="1"/>
            </p:cNvSpPr>
            <p:nvPr/>
          </p:nvSpPr>
          <p:spPr bwMode="auto">
            <a:xfrm>
              <a:off x="2016" y="864"/>
              <a:ext cx="38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Lifter</a:t>
              </a:r>
            </a:p>
          </p:txBody>
        </p:sp>
        <p:sp>
          <p:nvSpPr>
            <p:cNvPr id="22734" name="Line 421"/>
            <p:cNvSpPr>
              <a:spLocks noChangeShapeType="1"/>
            </p:cNvSpPr>
            <p:nvPr/>
          </p:nvSpPr>
          <p:spPr bwMode="auto">
            <a:xfrm>
              <a:off x="2112" y="1008"/>
              <a:ext cx="14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899" name="Group 422"/>
          <p:cNvGrpSpPr>
            <a:grpSpLocks/>
          </p:cNvGrpSpPr>
          <p:nvPr/>
        </p:nvGrpSpPr>
        <p:grpSpPr bwMode="auto">
          <a:xfrm>
            <a:off x="7391400" y="2451100"/>
            <a:ext cx="762000" cy="1219200"/>
            <a:chOff x="1440" y="672"/>
            <a:chExt cx="480" cy="768"/>
          </a:xfrm>
        </p:grpSpPr>
        <p:sp>
          <p:nvSpPr>
            <p:cNvPr id="22731" name="Rectangle 423"/>
            <p:cNvSpPr>
              <a:spLocks noChangeArrowheads="1"/>
            </p:cNvSpPr>
            <p:nvPr/>
          </p:nvSpPr>
          <p:spPr bwMode="auto">
            <a:xfrm>
              <a:off x="1440" y="672"/>
              <a:ext cx="38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Vents</a:t>
              </a:r>
            </a:p>
          </p:txBody>
        </p:sp>
        <p:sp>
          <p:nvSpPr>
            <p:cNvPr id="22732" name="Line 424"/>
            <p:cNvSpPr>
              <a:spLocks noChangeShapeType="1"/>
            </p:cNvSpPr>
            <p:nvPr/>
          </p:nvSpPr>
          <p:spPr bwMode="auto">
            <a:xfrm>
              <a:off x="1584" y="864"/>
              <a:ext cx="33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633" name="Freeform 425" descr="Large confetti"/>
          <p:cNvSpPr>
            <a:spLocks/>
          </p:cNvSpPr>
          <p:nvPr/>
        </p:nvSpPr>
        <p:spPr bwMode="auto">
          <a:xfrm>
            <a:off x="7480300" y="4165600"/>
            <a:ext cx="381000" cy="165100"/>
          </a:xfrm>
          <a:custGeom>
            <a:avLst/>
            <a:gdLst>
              <a:gd name="T0" fmla="*/ 0 w 712"/>
              <a:gd name="T1" fmla="*/ 18640 h 496"/>
              <a:gd name="T2" fmla="*/ 21404 w 712"/>
              <a:gd name="T3" fmla="*/ 55921 h 496"/>
              <a:gd name="T4" fmla="*/ 55652 w 712"/>
              <a:gd name="T5" fmla="*/ 117168 h 496"/>
              <a:gd name="T6" fmla="*/ 64213 w 712"/>
              <a:gd name="T7" fmla="*/ 130482 h 496"/>
              <a:gd name="T8" fmla="*/ 154112 w 712"/>
              <a:gd name="T9" fmla="*/ 165100 h 496"/>
              <a:gd name="T10" fmla="*/ 214045 w 712"/>
              <a:gd name="T11" fmla="*/ 151785 h 496"/>
              <a:gd name="T12" fmla="*/ 239730 w 712"/>
              <a:gd name="T13" fmla="*/ 141134 h 496"/>
              <a:gd name="T14" fmla="*/ 261135 w 712"/>
              <a:gd name="T15" fmla="*/ 114505 h 496"/>
              <a:gd name="T16" fmla="*/ 273978 w 712"/>
              <a:gd name="T17" fmla="*/ 103853 h 496"/>
              <a:gd name="T18" fmla="*/ 316787 w 712"/>
              <a:gd name="T19" fmla="*/ 55921 h 496"/>
              <a:gd name="T20" fmla="*/ 381000 w 712"/>
              <a:gd name="T21" fmla="*/ 0 h 4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12"/>
              <a:gd name="T34" fmla="*/ 0 h 496"/>
              <a:gd name="T35" fmla="*/ 712 w 712"/>
              <a:gd name="T36" fmla="*/ 496 h 4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12" h="496">
                <a:moveTo>
                  <a:pt x="0" y="56"/>
                </a:moveTo>
                <a:cubicBezTo>
                  <a:pt x="8" y="98"/>
                  <a:pt x="28" y="128"/>
                  <a:pt x="40" y="168"/>
                </a:cubicBezTo>
                <a:cubicBezTo>
                  <a:pt x="59" y="233"/>
                  <a:pt x="74" y="291"/>
                  <a:pt x="104" y="352"/>
                </a:cubicBezTo>
                <a:cubicBezTo>
                  <a:pt x="110" y="365"/>
                  <a:pt x="111" y="381"/>
                  <a:pt x="120" y="392"/>
                </a:cubicBezTo>
                <a:cubicBezTo>
                  <a:pt x="161" y="445"/>
                  <a:pt x="235" y="461"/>
                  <a:pt x="288" y="496"/>
                </a:cubicBezTo>
                <a:cubicBezTo>
                  <a:pt x="325" y="483"/>
                  <a:pt x="372" y="484"/>
                  <a:pt x="400" y="456"/>
                </a:cubicBezTo>
                <a:cubicBezTo>
                  <a:pt x="430" y="426"/>
                  <a:pt x="413" y="436"/>
                  <a:pt x="448" y="424"/>
                </a:cubicBezTo>
                <a:cubicBezTo>
                  <a:pt x="498" y="374"/>
                  <a:pt x="448" y="432"/>
                  <a:pt x="488" y="344"/>
                </a:cubicBezTo>
                <a:cubicBezTo>
                  <a:pt x="494" y="332"/>
                  <a:pt x="505" y="324"/>
                  <a:pt x="512" y="312"/>
                </a:cubicBezTo>
                <a:cubicBezTo>
                  <a:pt x="614" y="131"/>
                  <a:pt x="516" y="282"/>
                  <a:pt x="592" y="168"/>
                </a:cubicBezTo>
                <a:cubicBezTo>
                  <a:pt x="609" y="82"/>
                  <a:pt x="654" y="58"/>
                  <a:pt x="712" y="0"/>
                </a:cubicBezTo>
              </a:path>
            </a:pathLst>
          </a:custGeom>
          <a:pattFill prst="lgConfetti">
            <a:fgClr>
              <a:srgbClr val="996633"/>
            </a:fgClr>
            <a:bgClr>
              <a:srgbClr val="FFFFFF"/>
            </a:bgClr>
          </a:pattFill>
          <a:ln w="2857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2900" name="Group 426"/>
          <p:cNvGrpSpPr>
            <a:grpSpLocks/>
          </p:cNvGrpSpPr>
          <p:nvPr/>
        </p:nvGrpSpPr>
        <p:grpSpPr bwMode="auto">
          <a:xfrm>
            <a:off x="7315200" y="3962400"/>
            <a:ext cx="1676400" cy="508000"/>
            <a:chOff x="1408" y="1616"/>
            <a:chExt cx="1056" cy="320"/>
          </a:xfrm>
        </p:grpSpPr>
        <p:sp>
          <p:nvSpPr>
            <p:cNvPr id="22717" name="Line 427"/>
            <p:cNvSpPr>
              <a:spLocks noChangeShapeType="1"/>
            </p:cNvSpPr>
            <p:nvPr/>
          </p:nvSpPr>
          <p:spPr bwMode="auto">
            <a:xfrm flipV="1">
              <a:off x="1832" y="16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18" name="Line 428"/>
            <p:cNvSpPr>
              <a:spLocks noChangeShapeType="1"/>
            </p:cNvSpPr>
            <p:nvPr/>
          </p:nvSpPr>
          <p:spPr bwMode="auto">
            <a:xfrm flipV="1">
              <a:off x="2032" y="16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19" name="Line 429"/>
            <p:cNvSpPr>
              <a:spLocks noChangeShapeType="1"/>
            </p:cNvSpPr>
            <p:nvPr/>
          </p:nvSpPr>
          <p:spPr bwMode="auto">
            <a:xfrm>
              <a:off x="1840" y="16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908" name="Group 430"/>
            <p:cNvGrpSpPr>
              <a:grpSpLocks/>
            </p:cNvGrpSpPr>
            <p:nvPr/>
          </p:nvGrpSpPr>
          <p:grpSpPr bwMode="auto">
            <a:xfrm>
              <a:off x="1408" y="1712"/>
              <a:ext cx="1056" cy="224"/>
              <a:chOff x="1408" y="1728"/>
              <a:chExt cx="1056" cy="224"/>
            </a:xfrm>
          </p:grpSpPr>
          <p:sp>
            <p:nvSpPr>
              <p:cNvPr id="22721" name="Freeform 431"/>
              <p:cNvSpPr>
                <a:spLocks/>
              </p:cNvSpPr>
              <p:nvPr/>
            </p:nvSpPr>
            <p:spPr bwMode="auto">
              <a:xfrm>
                <a:off x="2152" y="1744"/>
                <a:ext cx="240" cy="104"/>
              </a:xfrm>
              <a:custGeom>
                <a:avLst/>
                <a:gdLst>
                  <a:gd name="T0" fmla="*/ 0 w 712"/>
                  <a:gd name="T1" fmla="*/ 12 h 496"/>
                  <a:gd name="T2" fmla="*/ 13 w 712"/>
                  <a:gd name="T3" fmla="*/ 35 h 496"/>
                  <a:gd name="T4" fmla="*/ 35 w 712"/>
                  <a:gd name="T5" fmla="*/ 74 h 496"/>
                  <a:gd name="T6" fmla="*/ 40 w 712"/>
                  <a:gd name="T7" fmla="*/ 82 h 496"/>
                  <a:gd name="T8" fmla="*/ 97 w 712"/>
                  <a:gd name="T9" fmla="*/ 104 h 496"/>
                  <a:gd name="T10" fmla="*/ 135 w 712"/>
                  <a:gd name="T11" fmla="*/ 96 h 496"/>
                  <a:gd name="T12" fmla="*/ 151 w 712"/>
                  <a:gd name="T13" fmla="*/ 89 h 496"/>
                  <a:gd name="T14" fmla="*/ 164 w 712"/>
                  <a:gd name="T15" fmla="*/ 72 h 496"/>
                  <a:gd name="T16" fmla="*/ 173 w 712"/>
                  <a:gd name="T17" fmla="*/ 65 h 496"/>
                  <a:gd name="T18" fmla="*/ 200 w 712"/>
                  <a:gd name="T19" fmla="*/ 35 h 496"/>
                  <a:gd name="T20" fmla="*/ 240 w 712"/>
                  <a:gd name="T21" fmla="*/ 0 h 49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12"/>
                  <a:gd name="T34" fmla="*/ 0 h 496"/>
                  <a:gd name="T35" fmla="*/ 712 w 712"/>
                  <a:gd name="T36" fmla="*/ 496 h 49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12" h="496">
                    <a:moveTo>
                      <a:pt x="0" y="56"/>
                    </a:moveTo>
                    <a:cubicBezTo>
                      <a:pt x="8" y="98"/>
                      <a:pt x="28" y="128"/>
                      <a:pt x="40" y="168"/>
                    </a:cubicBezTo>
                    <a:cubicBezTo>
                      <a:pt x="59" y="233"/>
                      <a:pt x="74" y="291"/>
                      <a:pt x="104" y="352"/>
                    </a:cubicBezTo>
                    <a:cubicBezTo>
                      <a:pt x="110" y="365"/>
                      <a:pt x="111" y="381"/>
                      <a:pt x="120" y="392"/>
                    </a:cubicBezTo>
                    <a:cubicBezTo>
                      <a:pt x="161" y="445"/>
                      <a:pt x="235" y="461"/>
                      <a:pt x="288" y="496"/>
                    </a:cubicBezTo>
                    <a:cubicBezTo>
                      <a:pt x="325" y="483"/>
                      <a:pt x="372" y="484"/>
                      <a:pt x="400" y="456"/>
                    </a:cubicBezTo>
                    <a:cubicBezTo>
                      <a:pt x="430" y="426"/>
                      <a:pt x="413" y="436"/>
                      <a:pt x="448" y="424"/>
                    </a:cubicBezTo>
                    <a:cubicBezTo>
                      <a:pt x="498" y="374"/>
                      <a:pt x="448" y="432"/>
                      <a:pt x="488" y="344"/>
                    </a:cubicBezTo>
                    <a:cubicBezTo>
                      <a:pt x="494" y="332"/>
                      <a:pt x="505" y="324"/>
                      <a:pt x="512" y="312"/>
                    </a:cubicBezTo>
                    <a:cubicBezTo>
                      <a:pt x="614" y="131"/>
                      <a:pt x="516" y="282"/>
                      <a:pt x="592" y="168"/>
                    </a:cubicBezTo>
                    <a:cubicBezTo>
                      <a:pt x="609" y="82"/>
                      <a:pt x="654" y="58"/>
                      <a:pt x="712" y="0"/>
                    </a:cubicBezTo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918" name="Group 432"/>
              <p:cNvGrpSpPr>
                <a:grpSpLocks/>
              </p:cNvGrpSpPr>
              <p:nvPr/>
            </p:nvGrpSpPr>
            <p:grpSpPr bwMode="auto">
              <a:xfrm>
                <a:off x="1408" y="1728"/>
                <a:ext cx="1056" cy="224"/>
                <a:chOff x="1408" y="1728"/>
                <a:chExt cx="1056" cy="224"/>
              </a:xfrm>
            </p:grpSpPr>
            <p:sp>
              <p:nvSpPr>
                <p:cNvPr id="22723" name="Line 433"/>
                <p:cNvSpPr>
                  <a:spLocks noChangeShapeType="1"/>
                </p:cNvSpPr>
                <p:nvPr/>
              </p:nvSpPr>
              <p:spPr bwMode="auto">
                <a:xfrm flipV="1">
                  <a:off x="1408" y="1760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24" name="Line 434"/>
                <p:cNvSpPr>
                  <a:spLocks noChangeShapeType="1"/>
                </p:cNvSpPr>
                <p:nvPr/>
              </p:nvSpPr>
              <p:spPr bwMode="auto">
                <a:xfrm>
                  <a:off x="2448" y="1744"/>
                  <a:ext cx="8" cy="20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25" name="Freeform 435"/>
                <p:cNvSpPr>
                  <a:spLocks/>
                </p:cNvSpPr>
                <p:nvPr/>
              </p:nvSpPr>
              <p:spPr bwMode="auto">
                <a:xfrm>
                  <a:off x="1496" y="1760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26" name="Line 436"/>
                <p:cNvSpPr>
                  <a:spLocks noChangeShapeType="1"/>
                </p:cNvSpPr>
                <p:nvPr/>
              </p:nvSpPr>
              <p:spPr bwMode="auto">
                <a:xfrm>
                  <a:off x="2024" y="1752"/>
                  <a:ext cx="1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27" name="Line 437"/>
                <p:cNvSpPr>
                  <a:spLocks noChangeShapeType="1"/>
                </p:cNvSpPr>
                <p:nvPr/>
              </p:nvSpPr>
              <p:spPr bwMode="auto">
                <a:xfrm>
                  <a:off x="2368" y="175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28" name="Line 438"/>
                <p:cNvSpPr>
                  <a:spLocks noChangeShapeType="1"/>
                </p:cNvSpPr>
                <p:nvPr/>
              </p:nvSpPr>
              <p:spPr bwMode="auto">
                <a:xfrm>
                  <a:off x="1736" y="175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29" name="Line 439"/>
                <p:cNvSpPr>
                  <a:spLocks noChangeShapeType="1"/>
                </p:cNvSpPr>
                <p:nvPr/>
              </p:nvSpPr>
              <p:spPr bwMode="auto">
                <a:xfrm>
                  <a:off x="1416" y="1776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30" name="Freeform 440"/>
                <p:cNvSpPr>
                  <a:spLocks/>
                </p:cNvSpPr>
                <p:nvPr/>
              </p:nvSpPr>
              <p:spPr bwMode="auto">
                <a:xfrm>
                  <a:off x="2152" y="1728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solidFill>
                  <a:schemeClr val="bg1"/>
                </a:solidFill>
                <a:ln w="2857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22649" name="Freeform 441" descr="Large confetti"/>
          <p:cNvSpPr>
            <a:spLocks/>
          </p:cNvSpPr>
          <p:nvPr/>
        </p:nvSpPr>
        <p:spPr bwMode="auto">
          <a:xfrm>
            <a:off x="8534400" y="4127500"/>
            <a:ext cx="317500" cy="165100"/>
          </a:xfrm>
          <a:custGeom>
            <a:avLst/>
            <a:gdLst>
              <a:gd name="T0" fmla="*/ 0 w 712"/>
              <a:gd name="T1" fmla="*/ 18640 h 496"/>
              <a:gd name="T2" fmla="*/ 17837 w 712"/>
              <a:gd name="T3" fmla="*/ 55921 h 496"/>
              <a:gd name="T4" fmla="*/ 46376 w 712"/>
              <a:gd name="T5" fmla="*/ 117168 h 496"/>
              <a:gd name="T6" fmla="*/ 53511 w 712"/>
              <a:gd name="T7" fmla="*/ 130482 h 496"/>
              <a:gd name="T8" fmla="*/ 128427 w 712"/>
              <a:gd name="T9" fmla="*/ 165100 h 496"/>
              <a:gd name="T10" fmla="*/ 178371 w 712"/>
              <a:gd name="T11" fmla="*/ 151785 h 496"/>
              <a:gd name="T12" fmla="*/ 199775 w 712"/>
              <a:gd name="T13" fmla="*/ 141134 h 496"/>
              <a:gd name="T14" fmla="*/ 217612 w 712"/>
              <a:gd name="T15" fmla="*/ 114505 h 496"/>
              <a:gd name="T16" fmla="*/ 228315 w 712"/>
              <a:gd name="T17" fmla="*/ 103853 h 496"/>
              <a:gd name="T18" fmla="*/ 263989 w 712"/>
              <a:gd name="T19" fmla="*/ 55921 h 496"/>
              <a:gd name="T20" fmla="*/ 317500 w 712"/>
              <a:gd name="T21" fmla="*/ 0 h 4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12"/>
              <a:gd name="T34" fmla="*/ 0 h 496"/>
              <a:gd name="T35" fmla="*/ 712 w 712"/>
              <a:gd name="T36" fmla="*/ 496 h 4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12" h="496">
                <a:moveTo>
                  <a:pt x="0" y="56"/>
                </a:moveTo>
                <a:cubicBezTo>
                  <a:pt x="8" y="98"/>
                  <a:pt x="28" y="128"/>
                  <a:pt x="40" y="168"/>
                </a:cubicBezTo>
                <a:cubicBezTo>
                  <a:pt x="59" y="233"/>
                  <a:pt x="74" y="291"/>
                  <a:pt x="104" y="352"/>
                </a:cubicBezTo>
                <a:cubicBezTo>
                  <a:pt x="110" y="365"/>
                  <a:pt x="111" y="381"/>
                  <a:pt x="120" y="392"/>
                </a:cubicBezTo>
                <a:cubicBezTo>
                  <a:pt x="161" y="445"/>
                  <a:pt x="235" y="461"/>
                  <a:pt x="288" y="496"/>
                </a:cubicBezTo>
                <a:cubicBezTo>
                  <a:pt x="325" y="483"/>
                  <a:pt x="372" y="484"/>
                  <a:pt x="400" y="456"/>
                </a:cubicBezTo>
                <a:cubicBezTo>
                  <a:pt x="430" y="426"/>
                  <a:pt x="413" y="436"/>
                  <a:pt x="448" y="424"/>
                </a:cubicBezTo>
                <a:cubicBezTo>
                  <a:pt x="498" y="374"/>
                  <a:pt x="448" y="432"/>
                  <a:pt x="488" y="344"/>
                </a:cubicBezTo>
                <a:cubicBezTo>
                  <a:pt x="494" y="332"/>
                  <a:pt x="505" y="324"/>
                  <a:pt x="512" y="312"/>
                </a:cubicBezTo>
                <a:cubicBezTo>
                  <a:pt x="614" y="131"/>
                  <a:pt x="516" y="282"/>
                  <a:pt x="592" y="168"/>
                </a:cubicBezTo>
                <a:cubicBezTo>
                  <a:pt x="609" y="82"/>
                  <a:pt x="654" y="58"/>
                  <a:pt x="712" y="0"/>
                </a:cubicBezTo>
              </a:path>
            </a:pathLst>
          </a:custGeom>
          <a:pattFill prst="lgConfetti">
            <a:fgClr>
              <a:srgbClr val="996633"/>
            </a:fgClr>
            <a:bgClr>
              <a:srgbClr val="FFFFFF"/>
            </a:bgClr>
          </a:pattFill>
          <a:ln w="2857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650" name="Freeform 442" descr="Large confetti"/>
          <p:cNvSpPr>
            <a:spLocks/>
          </p:cNvSpPr>
          <p:nvPr/>
        </p:nvSpPr>
        <p:spPr bwMode="auto">
          <a:xfrm>
            <a:off x="8686800" y="3505200"/>
            <a:ext cx="381000" cy="165100"/>
          </a:xfrm>
          <a:custGeom>
            <a:avLst/>
            <a:gdLst>
              <a:gd name="T0" fmla="*/ 0 w 712"/>
              <a:gd name="T1" fmla="*/ 18640 h 496"/>
              <a:gd name="T2" fmla="*/ 21404 w 712"/>
              <a:gd name="T3" fmla="*/ 55921 h 496"/>
              <a:gd name="T4" fmla="*/ 55652 w 712"/>
              <a:gd name="T5" fmla="*/ 117168 h 496"/>
              <a:gd name="T6" fmla="*/ 64213 w 712"/>
              <a:gd name="T7" fmla="*/ 130482 h 496"/>
              <a:gd name="T8" fmla="*/ 154112 w 712"/>
              <a:gd name="T9" fmla="*/ 165100 h 496"/>
              <a:gd name="T10" fmla="*/ 214045 w 712"/>
              <a:gd name="T11" fmla="*/ 151785 h 496"/>
              <a:gd name="T12" fmla="*/ 239730 w 712"/>
              <a:gd name="T13" fmla="*/ 141134 h 496"/>
              <a:gd name="T14" fmla="*/ 261135 w 712"/>
              <a:gd name="T15" fmla="*/ 114505 h 496"/>
              <a:gd name="T16" fmla="*/ 273978 w 712"/>
              <a:gd name="T17" fmla="*/ 103853 h 496"/>
              <a:gd name="T18" fmla="*/ 316787 w 712"/>
              <a:gd name="T19" fmla="*/ 55921 h 496"/>
              <a:gd name="T20" fmla="*/ 381000 w 712"/>
              <a:gd name="T21" fmla="*/ 0 h 4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12"/>
              <a:gd name="T34" fmla="*/ 0 h 496"/>
              <a:gd name="T35" fmla="*/ 712 w 712"/>
              <a:gd name="T36" fmla="*/ 496 h 4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12" h="496">
                <a:moveTo>
                  <a:pt x="0" y="56"/>
                </a:moveTo>
                <a:cubicBezTo>
                  <a:pt x="8" y="98"/>
                  <a:pt x="28" y="128"/>
                  <a:pt x="40" y="168"/>
                </a:cubicBezTo>
                <a:cubicBezTo>
                  <a:pt x="59" y="233"/>
                  <a:pt x="74" y="291"/>
                  <a:pt x="104" y="352"/>
                </a:cubicBezTo>
                <a:cubicBezTo>
                  <a:pt x="110" y="365"/>
                  <a:pt x="111" y="381"/>
                  <a:pt x="120" y="392"/>
                </a:cubicBezTo>
                <a:cubicBezTo>
                  <a:pt x="161" y="445"/>
                  <a:pt x="235" y="461"/>
                  <a:pt x="288" y="496"/>
                </a:cubicBezTo>
                <a:cubicBezTo>
                  <a:pt x="325" y="483"/>
                  <a:pt x="372" y="484"/>
                  <a:pt x="400" y="456"/>
                </a:cubicBezTo>
                <a:cubicBezTo>
                  <a:pt x="430" y="426"/>
                  <a:pt x="413" y="436"/>
                  <a:pt x="448" y="424"/>
                </a:cubicBezTo>
                <a:cubicBezTo>
                  <a:pt x="498" y="374"/>
                  <a:pt x="448" y="432"/>
                  <a:pt x="488" y="344"/>
                </a:cubicBezTo>
                <a:cubicBezTo>
                  <a:pt x="494" y="332"/>
                  <a:pt x="505" y="324"/>
                  <a:pt x="512" y="312"/>
                </a:cubicBezTo>
                <a:cubicBezTo>
                  <a:pt x="614" y="131"/>
                  <a:pt x="516" y="282"/>
                  <a:pt x="592" y="168"/>
                </a:cubicBezTo>
                <a:cubicBezTo>
                  <a:pt x="609" y="82"/>
                  <a:pt x="654" y="58"/>
                  <a:pt x="712" y="0"/>
                </a:cubicBezTo>
              </a:path>
            </a:pathLst>
          </a:custGeom>
          <a:pattFill prst="lgConfetti">
            <a:fgClr>
              <a:srgbClr val="996633"/>
            </a:fgClr>
            <a:bgClr>
              <a:srgbClr val="FFFFFF"/>
            </a:bgClr>
          </a:pattFill>
          <a:ln w="2857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651" name="Freeform 443" descr="Large confetti"/>
          <p:cNvSpPr>
            <a:spLocks/>
          </p:cNvSpPr>
          <p:nvPr/>
        </p:nvSpPr>
        <p:spPr bwMode="auto">
          <a:xfrm>
            <a:off x="7467600" y="4140200"/>
            <a:ext cx="381000" cy="165100"/>
          </a:xfrm>
          <a:custGeom>
            <a:avLst/>
            <a:gdLst>
              <a:gd name="T0" fmla="*/ 0 w 712"/>
              <a:gd name="T1" fmla="*/ 18640 h 496"/>
              <a:gd name="T2" fmla="*/ 21404 w 712"/>
              <a:gd name="T3" fmla="*/ 55921 h 496"/>
              <a:gd name="T4" fmla="*/ 55652 w 712"/>
              <a:gd name="T5" fmla="*/ 117168 h 496"/>
              <a:gd name="T6" fmla="*/ 64213 w 712"/>
              <a:gd name="T7" fmla="*/ 130482 h 496"/>
              <a:gd name="T8" fmla="*/ 154112 w 712"/>
              <a:gd name="T9" fmla="*/ 165100 h 496"/>
              <a:gd name="T10" fmla="*/ 214045 w 712"/>
              <a:gd name="T11" fmla="*/ 151785 h 496"/>
              <a:gd name="T12" fmla="*/ 239730 w 712"/>
              <a:gd name="T13" fmla="*/ 141134 h 496"/>
              <a:gd name="T14" fmla="*/ 261135 w 712"/>
              <a:gd name="T15" fmla="*/ 114505 h 496"/>
              <a:gd name="T16" fmla="*/ 273978 w 712"/>
              <a:gd name="T17" fmla="*/ 103853 h 496"/>
              <a:gd name="T18" fmla="*/ 316787 w 712"/>
              <a:gd name="T19" fmla="*/ 55921 h 496"/>
              <a:gd name="T20" fmla="*/ 381000 w 712"/>
              <a:gd name="T21" fmla="*/ 0 h 4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12"/>
              <a:gd name="T34" fmla="*/ 0 h 496"/>
              <a:gd name="T35" fmla="*/ 712 w 712"/>
              <a:gd name="T36" fmla="*/ 496 h 4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12" h="496">
                <a:moveTo>
                  <a:pt x="0" y="56"/>
                </a:moveTo>
                <a:cubicBezTo>
                  <a:pt x="8" y="98"/>
                  <a:pt x="28" y="128"/>
                  <a:pt x="40" y="168"/>
                </a:cubicBezTo>
                <a:cubicBezTo>
                  <a:pt x="59" y="233"/>
                  <a:pt x="74" y="291"/>
                  <a:pt x="104" y="352"/>
                </a:cubicBezTo>
                <a:cubicBezTo>
                  <a:pt x="110" y="365"/>
                  <a:pt x="111" y="381"/>
                  <a:pt x="120" y="392"/>
                </a:cubicBezTo>
                <a:cubicBezTo>
                  <a:pt x="161" y="445"/>
                  <a:pt x="235" y="461"/>
                  <a:pt x="288" y="496"/>
                </a:cubicBezTo>
                <a:cubicBezTo>
                  <a:pt x="325" y="483"/>
                  <a:pt x="372" y="484"/>
                  <a:pt x="400" y="456"/>
                </a:cubicBezTo>
                <a:cubicBezTo>
                  <a:pt x="430" y="426"/>
                  <a:pt x="413" y="436"/>
                  <a:pt x="448" y="424"/>
                </a:cubicBezTo>
                <a:cubicBezTo>
                  <a:pt x="498" y="374"/>
                  <a:pt x="448" y="432"/>
                  <a:pt x="488" y="344"/>
                </a:cubicBezTo>
                <a:cubicBezTo>
                  <a:pt x="494" y="332"/>
                  <a:pt x="505" y="324"/>
                  <a:pt x="512" y="312"/>
                </a:cubicBezTo>
                <a:cubicBezTo>
                  <a:pt x="614" y="131"/>
                  <a:pt x="516" y="282"/>
                  <a:pt x="592" y="168"/>
                </a:cubicBezTo>
                <a:cubicBezTo>
                  <a:pt x="609" y="82"/>
                  <a:pt x="654" y="58"/>
                  <a:pt x="712" y="0"/>
                </a:cubicBezTo>
              </a:path>
            </a:pathLst>
          </a:custGeom>
          <a:pattFill prst="lgConfetti">
            <a:fgClr>
              <a:srgbClr val="996633"/>
            </a:fgClr>
            <a:bgClr>
              <a:srgbClr val="FFFFFF"/>
            </a:bgClr>
          </a:pattFill>
          <a:ln w="2857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2919" name="Group 444"/>
          <p:cNvGrpSpPr>
            <a:grpSpLocks/>
          </p:cNvGrpSpPr>
          <p:nvPr/>
        </p:nvGrpSpPr>
        <p:grpSpPr bwMode="auto">
          <a:xfrm>
            <a:off x="5753100" y="4343400"/>
            <a:ext cx="4140200" cy="1524000"/>
            <a:chOff x="2672" y="3120"/>
            <a:chExt cx="2608" cy="960"/>
          </a:xfrm>
        </p:grpSpPr>
        <p:grpSp>
          <p:nvGrpSpPr>
            <p:cNvPr id="22920" name="Group 445"/>
            <p:cNvGrpSpPr>
              <a:grpSpLocks/>
            </p:cNvGrpSpPr>
            <p:nvPr/>
          </p:nvGrpSpPr>
          <p:grpSpPr bwMode="auto">
            <a:xfrm>
              <a:off x="3072" y="3120"/>
              <a:ext cx="2208" cy="960"/>
              <a:chOff x="3072" y="3120"/>
              <a:chExt cx="2208" cy="960"/>
            </a:xfrm>
          </p:grpSpPr>
          <p:grpSp>
            <p:nvGrpSpPr>
              <p:cNvPr id="22921" name="Group 446"/>
              <p:cNvGrpSpPr>
                <a:grpSpLocks/>
              </p:cNvGrpSpPr>
              <p:nvPr/>
            </p:nvGrpSpPr>
            <p:grpSpPr bwMode="auto">
              <a:xfrm>
                <a:off x="3336" y="3200"/>
                <a:ext cx="1648" cy="640"/>
                <a:chOff x="1360" y="2832"/>
                <a:chExt cx="1648" cy="640"/>
              </a:xfrm>
            </p:grpSpPr>
            <p:sp>
              <p:nvSpPr>
                <p:cNvPr id="22700" name="Rectangle 447" descr="Large confetti"/>
                <p:cNvSpPr>
                  <a:spLocks noChangeArrowheads="1"/>
                </p:cNvSpPr>
                <p:nvPr/>
              </p:nvSpPr>
              <p:spPr bwMode="auto">
                <a:xfrm>
                  <a:off x="2745" y="2848"/>
                  <a:ext cx="47" cy="64"/>
                </a:xfrm>
                <a:prstGeom prst="rect">
                  <a:avLst/>
                </a:prstGeom>
                <a:pattFill prst="lgConfetti">
                  <a:fgClr>
                    <a:srgbClr val="996633"/>
                  </a:fgClr>
                  <a:bgClr>
                    <a:schemeClr val="bg1"/>
                  </a:bgClr>
                </a:patt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l"/>
                  <a:endParaRPr lang="en-US">
                    <a:solidFill>
                      <a:srgbClr val="996633"/>
                    </a:solidFill>
                  </a:endParaRPr>
                </a:p>
              </p:txBody>
            </p:sp>
            <p:grpSp>
              <p:nvGrpSpPr>
                <p:cNvPr id="22922" name="Group 448"/>
                <p:cNvGrpSpPr>
                  <a:grpSpLocks/>
                </p:cNvGrpSpPr>
                <p:nvPr/>
              </p:nvGrpSpPr>
              <p:grpSpPr bwMode="auto">
                <a:xfrm>
                  <a:off x="1360" y="2832"/>
                  <a:ext cx="1648" cy="640"/>
                  <a:chOff x="1360" y="2824"/>
                  <a:chExt cx="1648" cy="640"/>
                </a:xfrm>
              </p:grpSpPr>
              <p:sp>
                <p:nvSpPr>
                  <p:cNvPr id="22702" name="Rectangle 449" descr="Large confetti"/>
                  <p:cNvSpPr>
                    <a:spLocks noChangeArrowheads="1"/>
                  </p:cNvSpPr>
                  <p:nvPr/>
                </p:nvSpPr>
                <p:spPr bwMode="auto">
                  <a:xfrm>
                    <a:off x="2872" y="2824"/>
                    <a:ext cx="72" cy="96"/>
                  </a:xfrm>
                  <a:prstGeom prst="rect">
                    <a:avLst/>
                  </a:prstGeom>
                  <a:pattFill prst="lgConfetti">
                    <a:fgClr>
                      <a:srgbClr val="996633"/>
                    </a:fgClr>
                    <a:bgClr>
                      <a:schemeClr val="bg1"/>
                    </a:bgClr>
                  </a:patt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l"/>
                    <a:endParaRPr lang="en-US">
                      <a:solidFill>
                        <a:srgbClr val="996633"/>
                      </a:solidFill>
                    </a:endParaRPr>
                  </a:p>
                </p:txBody>
              </p:sp>
              <p:grpSp>
                <p:nvGrpSpPr>
                  <p:cNvPr id="22926" name="Group 450"/>
                  <p:cNvGrpSpPr>
                    <a:grpSpLocks/>
                  </p:cNvGrpSpPr>
                  <p:nvPr/>
                </p:nvGrpSpPr>
                <p:grpSpPr bwMode="auto">
                  <a:xfrm>
                    <a:off x="1360" y="2840"/>
                    <a:ext cx="1648" cy="624"/>
                    <a:chOff x="1360" y="2840"/>
                    <a:chExt cx="1648" cy="624"/>
                  </a:xfrm>
                </p:grpSpPr>
                <p:sp>
                  <p:nvSpPr>
                    <p:cNvPr id="22704" name="Freeform 451" descr="Large confetti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760" y="2944"/>
                      <a:ext cx="240" cy="104"/>
                    </a:xfrm>
                    <a:custGeom>
                      <a:avLst/>
                      <a:gdLst>
                        <a:gd name="T0" fmla="*/ 0 w 712"/>
                        <a:gd name="T1" fmla="*/ 12 h 496"/>
                        <a:gd name="T2" fmla="*/ 13 w 712"/>
                        <a:gd name="T3" fmla="*/ 35 h 496"/>
                        <a:gd name="T4" fmla="*/ 35 w 712"/>
                        <a:gd name="T5" fmla="*/ 74 h 496"/>
                        <a:gd name="T6" fmla="*/ 40 w 712"/>
                        <a:gd name="T7" fmla="*/ 82 h 496"/>
                        <a:gd name="T8" fmla="*/ 97 w 712"/>
                        <a:gd name="T9" fmla="*/ 104 h 496"/>
                        <a:gd name="T10" fmla="*/ 135 w 712"/>
                        <a:gd name="T11" fmla="*/ 96 h 496"/>
                        <a:gd name="T12" fmla="*/ 151 w 712"/>
                        <a:gd name="T13" fmla="*/ 89 h 496"/>
                        <a:gd name="T14" fmla="*/ 164 w 712"/>
                        <a:gd name="T15" fmla="*/ 72 h 496"/>
                        <a:gd name="T16" fmla="*/ 173 w 712"/>
                        <a:gd name="T17" fmla="*/ 65 h 496"/>
                        <a:gd name="T18" fmla="*/ 200 w 712"/>
                        <a:gd name="T19" fmla="*/ 35 h 496"/>
                        <a:gd name="T20" fmla="*/ 240 w 712"/>
                        <a:gd name="T21" fmla="*/ 0 h 49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w 712"/>
                        <a:gd name="T34" fmla="*/ 0 h 496"/>
                        <a:gd name="T35" fmla="*/ 712 w 712"/>
                        <a:gd name="T36" fmla="*/ 496 h 496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T33" t="T34" r="T35" b="T36"/>
                      <a:pathLst>
                        <a:path w="712" h="496">
                          <a:moveTo>
                            <a:pt x="0" y="56"/>
                          </a:moveTo>
                          <a:cubicBezTo>
                            <a:pt x="8" y="98"/>
                            <a:pt x="28" y="128"/>
                            <a:pt x="40" y="168"/>
                          </a:cubicBezTo>
                          <a:cubicBezTo>
                            <a:pt x="59" y="233"/>
                            <a:pt x="74" y="291"/>
                            <a:pt x="104" y="352"/>
                          </a:cubicBezTo>
                          <a:cubicBezTo>
                            <a:pt x="110" y="365"/>
                            <a:pt x="111" y="381"/>
                            <a:pt x="120" y="392"/>
                          </a:cubicBezTo>
                          <a:cubicBezTo>
                            <a:pt x="161" y="445"/>
                            <a:pt x="235" y="461"/>
                            <a:pt x="288" y="496"/>
                          </a:cubicBezTo>
                          <a:cubicBezTo>
                            <a:pt x="325" y="483"/>
                            <a:pt x="372" y="484"/>
                            <a:pt x="400" y="456"/>
                          </a:cubicBezTo>
                          <a:cubicBezTo>
                            <a:pt x="430" y="426"/>
                            <a:pt x="413" y="436"/>
                            <a:pt x="448" y="424"/>
                          </a:cubicBezTo>
                          <a:cubicBezTo>
                            <a:pt x="498" y="374"/>
                            <a:pt x="448" y="432"/>
                            <a:pt x="488" y="344"/>
                          </a:cubicBezTo>
                          <a:cubicBezTo>
                            <a:pt x="494" y="332"/>
                            <a:pt x="505" y="324"/>
                            <a:pt x="512" y="312"/>
                          </a:cubicBezTo>
                          <a:cubicBezTo>
                            <a:pt x="614" y="131"/>
                            <a:pt x="516" y="282"/>
                            <a:pt x="592" y="168"/>
                          </a:cubicBezTo>
                          <a:cubicBezTo>
                            <a:pt x="609" y="82"/>
                            <a:pt x="654" y="58"/>
                            <a:pt x="712" y="0"/>
                          </a:cubicBezTo>
                        </a:path>
                      </a:pathLst>
                    </a:custGeom>
                    <a:pattFill prst="lgConfetti">
                      <a:fgClr>
                        <a:srgbClr val="996633"/>
                      </a:fgClr>
                      <a:bgClr>
                        <a:srgbClr val="FFFFFF"/>
                      </a:bgClr>
                    </a:patt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928" name="Group 45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60" y="2840"/>
                      <a:ext cx="1648" cy="624"/>
                      <a:chOff x="1360" y="2840"/>
                      <a:chExt cx="1648" cy="624"/>
                    </a:xfrm>
                  </p:grpSpPr>
                  <p:sp>
                    <p:nvSpPr>
                      <p:cNvPr id="22706" name="Rectangle 453" descr="Large confetti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04" y="2872"/>
                        <a:ext cx="72" cy="96"/>
                      </a:xfrm>
                      <a:prstGeom prst="rect">
                        <a:avLst/>
                      </a:prstGeom>
                      <a:pattFill prst="lgConfetti">
                        <a:fgClr>
                          <a:srgbClr val="996633"/>
                        </a:fgClr>
                        <a:bgClr>
                          <a:schemeClr val="bg1"/>
                        </a:bgClr>
                      </a:patt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l"/>
                        <a:endParaRPr lang="en-US">
                          <a:solidFill>
                            <a:srgbClr val="996633"/>
                          </a:solidFill>
                        </a:endParaRPr>
                      </a:p>
                    </p:txBody>
                  </p:sp>
                  <p:grpSp>
                    <p:nvGrpSpPr>
                      <p:cNvPr id="22929" name="Group 45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360" y="2840"/>
                        <a:ext cx="1648" cy="624"/>
                        <a:chOff x="1360" y="2840"/>
                        <a:chExt cx="1648" cy="624"/>
                      </a:xfrm>
                    </p:grpSpPr>
                    <p:sp>
                      <p:nvSpPr>
                        <p:cNvPr id="22708" name="Rectangle 455" descr="Large confetti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296" y="3032"/>
                          <a:ext cx="496" cy="144"/>
                        </a:xfrm>
                        <a:prstGeom prst="rect">
                          <a:avLst/>
                        </a:prstGeom>
                        <a:pattFill prst="lgConfetti">
                          <a:fgClr>
                            <a:srgbClr val="996633"/>
                          </a:fgClr>
                          <a:bgClr>
                            <a:schemeClr val="bg1"/>
                          </a:bgClr>
                        </a:pattFill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pPr algn="l"/>
                          <a:endParaRPr lang="en-US">
                            <a:solidFill>
                              <a:srgbClr val="996633"/>
                            </a:solidFill>
                          </a:endParaRPr>
                        </a:p>
                      </p:txBody>
                    </p:sp>
                    <p:grpSp>
                      <p:nvGrpSpPr>
                        <p:cNvPr id="22930" name="Group 45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360" y="2840"/>
                          <a:ext cx="1648" cy="624"/>
                          <a:chOff x="1360" y="2840"/>
                          <a:chExt cx="1648" cy="624"/>
                        </a:xfrm>
                      </p:grpSpPr>
                      <p:sp>
                        <p:nvSpPr>
                          <p:cNvPr id="22710" name="Rectangle 457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84" y="3032"/>
                            <a:ext cx="496" cy="144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711" name="Rectangle 458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52" y="2984"/>
                            <a:ext cx="256" cy="192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712" name="Rectangle 459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92" y="3176"/>
                            <a:ext cx="912" cy="288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713" name="Rectangle 460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080" y="3176"/>
                            <a:ext cx="912" cy="288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714" name="Rectangle 461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360" y="2840"/>
                            <a:ext cx="304" cy="336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715" name="Rectangle 462" descr="Large confetti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728" y="2904"/>
                            <a:ext cx="256" cy="80"/>
                          </a:xfrm>
                          <a:prstGeom prst="rect">
                            <a:avLst/>
                          </a:prstGeom>
                          <a:pattFill prst="lgConfetti">
                            <a:fgClr>
                              <a:srgbClr val="996633"/>
                            </a:fgClr>
                            <a:bgClr>
                              <a:schemeClr val="bg1"/>
                            </a:bgClr>
                          </a:patt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l"/>
                            <a:endParaRPr lang="en-US">
                              <a:solidFill>
                                <a:srgbClr val="996633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22716" name="Freeform 463" descr="Large confetti"/>
                          <p:cNvSpPr>
                            <a:spLocks/>
                          </p:cNvSpPr>
                          <p:nvPr/>
                        </p:nvSpPr>
                        <p:spPr bwMode="auto">
                          <a:xfrm rot="10800000">
                            <a:off x="2392" y="2936"/>
                            <a:ext cx="240" cy="104"/>
                          </a:xfrm>
                          <a:custGeom>
                            <a:avLst/>
                            <a:gdLst>
                              <a:gd name="T0" fmla="*/ 0 w 712"/>
                              <a:gd name="T1" fmla="*/ 12 h 496"/>
                              <a:gd name="T2" fmla="*/ 13 w 712"/>
                              <a:gd name="T3" fmla="*/ 35 h 496"/>
                              <a:gd name="T4" fmla="*/ 35 w 712"/>
                              <a:gd name="T5" fmla="*/ 74 h 496"/>
                              <a:gd name="T6" fmla="*/ 40 w 712"/>
                              <a:gd name="T7" fmla="*/ 82 h 496"/>
                              <a:gd name="T8" fmla="*/ 97 w 712"/>
                              <a:gd name="T9" fmla="*/ 104 h 496"/>
                              <a:gd name="T10" fmla="*/ 135 w 712"/>
                              <a:gd name="T11" fmla="*/ 96 h 496"/>
                              <a:gd name="T12" fmla="*/ 151 w 712"/>
                              <a:gd name="T13" fmla="*/ 89 h 496"/>
                              <a:gd name="T14" fmla="*/ 164 w 712"/>
                              <a:gd name="T15" fmla="*/ 72 h 496"/>
                              <a:gd name="T16" fmla="*/ 173 w 712"/>
                              <a:gd name="T17" fmla="*/ 65 h 496"/>
                              <a:gd name="T18" fmla="*/ 200 w 712"/>
                              <a:gd name="T19" fmla="*/ 35 h 496"/>
                              <a:gd name="T20" fmla="*/ 240 w 712"/>
                              <a:gd name="T21" fmla="*/ 0 h 496"/>
                              <a:gd name="T22" fmla="*/ 0 60000 65536"/>
                              <a:gd name="T23" fmla="*/ 0 60000 65536"/>
                              <a:gd name="T24" fmla="*/ 0 60000 65536"/>
                              <a:gd name="T25" fmla="*/ 0 60000 65536"/>
                              <a:gd name="T26" fmla="*/ 0 60000 65536"/>
                              <a:gd name="T27" fmla="*/ 0 60000 65536"/>
                              <a:gd name="T28" fmla="*/ 0 60000 65536"/>
                              <a:gd name="T29" fmla="*/ 0 60000 65536"/>
                              <a:gd name="T30" fmla="*/ 0 60000 65536"/>
                              <a:gd name="T31" fmla="*/ 0 60000 65536"/>
                              <a:gd name="T32" fmla="*/ 0 60000 65536"/>
                              <a:gd name="T33" fmla="*/ 0 w 712"/>
                              <a:gd name="T34" fmla="*/ 0 h 496"/>
                              <a:gd name="T35" fmla="*/ 712 w 712"/>
                              <a:gd name="T36" fmla="*/ 496 h 496"/>
                            </a:gdLst>
                            <a:ahLst/>
                            <a:cxnLst>
                              <a:cxn ang="T22">
                                <a:pos x="T0" y="T1"/>
                              </a:cxn>
                              <a:cxn ang="T23">
                                <a:pos x="T2" y="T3"/>
                              </a:cxn>
                              <a:cxn ang="T24">
                                <a:pos x="T4" y="T5"/>
                              </a:cxn>
                              <a:cxn ang="T25">
                                <a:pos x="T6" y="T7"/>
                              </a:cxn>
                              <a:cxn ang="T26">
                                <a:pos x="T8" y="T9"/>
                              </a:cxn>
                              <a:cxn ang="T27">
                                <a:pos x="T10" y="T11"/>
                              </a:cxn>
                              <a:cxn ang="T28">
                                <a:pos x="T12" y="T13"/>
                              </a:cxn>
                              <a:cxn ang="T29">
                                <a:pos x="T14" y="T15"/>
                              </a:cxn>
                              <a:cxn ang="T30">
                                <a:pos x="T16" y="T17"/>
                              </a:cxn>
                              <a:cxn ang="T31">
                                <a:pos x="T18" y="T19"/>
                              </a:cxn>
                              <a:cxn ang="T32">
                                <a:pos x="T20" y="T21"/>
                              </a:cxn>
                            </a:cxnLst>
                            <a:rect l="T33" t="T34" r="T35" b="T36"/>
                            <a:pathLst>
                              <a:path w="712" h="496">
                                <a:moveTo>
                                  <a:pt x="0" y="56"/>
                                </a:moveTo>
                                <a:cubicBezTo>
                                  <a:pt x="8" y="98"/>
                                  <a:pt x="28" y="128"/>
                                  <a:pt x="40" y="168"/>
                                </a:cubicBezTo>
                                <a:cubicBezTo>
                                  <a:pt x="59" y="233"/>
                                  <a:pt x="74" y="291"/>
                                  <a:pt x="104" y="352"/>
                                </a:cubicBezTo>
                                <a:cubicBezTo>
                                  <a:pt x="110" y="365"/>
                                  <a:pt x="111" y="381"/>
                                  <a:pt x="120" y="392"/>
                                </a:cubicBezTo>
                                <a:cubicBezTo>
                                  <a:pt x="161" y="445"/>
                                  <a:pt x="235" y="461"/>
                                  <a:pt x="288" y="496"/>
                                </a:cubicBezTo>
                                <a:cubicBezTo>
                                  <a:pt x="325" y="483"/>
                                  <a:pt x="372" y="484"/>
                                  <a:pt x="400" y="456"/>
                                </a:cubicBezTo>
                                <a:cubicBezTo>
                                  <a:pt x="430" y="426"/>
                                  <a:pt x="413" y="436"/>
                                  <a:pt x="448" y="424"/>
                                </a:cubicBezTo>
                                <a:cubicBezTo>
                                  <a:pt x="498" y="374"/>
                                  <a:pt x="448" y="432"/>
                                  <a:pt x="488" y="344"/>
                                </a:cubicBezTo>
                                <a:cubicBezTo>
                                  <a:pt x="494" y="332"/>
                                  <a:pt x="505" y="324"/>
                                  <a:pt x="512" y="312"/>
                                </a:cubicBezTo>
                                <a:cubicBezTo>
                                  <a:pt x="614" y="131"/>
                                  <a:pt x="516" y="282"/>
                                  <a:pt x="592" y="168"/>
                                </a:cubicBezTo>
                                <a:cubicBezTo>
                                  <a:pt x="609" y="82"/>
                                  <a:pt x="654" y="58"/>
                                  <a:pt x="712" y="0"/>
                                </a:cubicBezTo>
                              </a:path>
                            </a:pathLst>
                          </a:custGeom>
                          <a:pattFill prst="lgConfetti">
                            <a:fgClr>
                              <a:srgbClr val="996633"/>
                            </a:fgClr>
                            <a:bgClr>
                              <a:srgbClr val="FFFFFF"/>
                            </a:bgClr>
                          </a:pattFill>
                          <a:ln w="317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22938" name="Group 464"/>
              <p:cNvGrpSpPr>
                <a:grpSpLocks/>
              </p:cNvGrpSpPr>
              <p:nvPr/>
            </p:nvGrpSpPr>
            <p:grpSpPr bwMode="auto">
              <a:xfrm>
                <a:off x="3648" y="3216"/>
                <a:ext cx="1056" cy="336"/>
                <a:chOff x="4237" y="2832"/>
                <a:chExt cx="1056" cy="336"/>
              </a:xfrm>
            </p:grpSpPr>
            <p:sp>
              <p:nvSpPr>
                <p:cNvPr id="22689" name="Line 465" descr="Large confetti"/>
                <p:cNvSpPr>
                  <a:spLocks noChangeShapeType="1"/>
                </p:cNvSpPr>
                <p:nvPr/>
              </p:nvSpPr>
              <p:spPr bwMode="auto">
                <a:xfrm>
                  <a:off x="4566" y="3024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0" name="Line 466" descr="Large confetti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4656" y="302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1" name="Line 467" descr="Large confetti"/>
                <p:cNvSpPr>
                  <a:spLocks noChangeShapeType="1"/>
                </p:cNvSpPr>
                <p:nvPr/>
              </p:nvSpPr>
              <p:spPr bwMode="auto">
                <a:xfrm>
                  <a:off x="5192" y="3024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2" name="Line 468" descr="Large confetti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4848" y="302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3" name="Line 469" descr="Large confetti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4237" y="3024"/>
                  <a:ext cx="1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4" name="Line 470" descr="Large confetti"/>
                <p:cNvSpPr>
                  <a:spLocks noChangeShapeType="1"/>
                </p:cNvSpPr>
                <p:nvPr/>
              </p:nvSpPr>
              <p:spPr bwMode="auto">
                <a:xfrm rot="10800000" flipV="1">
                  <a:off x="5293" y="2832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5" name="Line 471" descr="Large confetti"/>
                <p:cNvSpPr>
                  <a:spLocks noChangeShapeType="1"/>
                </p:cNvSpPr>
                <p:nvPr/>
              </p:nvSpPr>
              <p:spPr bwMode="auto">
                <a:xfrm rot="10800000">
                  <a:off x="4237" y="2832"/>
                  <a:ext cx="0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6" name="Freeform 472" descr="Large confetti"/>
                <p:cNvSpPr>
                  <a:spLocks/>
                </p:cNvSpPr>
                <p:nvPr/>
              </p:nvSpPr>
              <p:spPr bwMode="auto">
                <a:xfrm rot="10800000">
                  <a:off x="4966" y="2920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pattFill prst="lgConfetti">
                  <a:fgClr>
                    <a:srgbClr val="996633"/>
                  </a:fgClr>
                  <a:bgClr>
                    <a:schemeClr val="bg1"/>
                  </a:bgClr>
                </a:patt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7" name="Freeform 473" descr="Large confetti"/>
                <p:cNvSpPr>
                  <a:spLocks/>
                </p:cNvSpPr>
                <p:nvPr/>
              </p:nvSpPr>
              <p:spPr bwMode="auto">
                <a:xfrm rot="10800000">
                  <a:off x="4334" y="2928"/>
                  <a:ext cx="240" cy="104"/>
                </a:xfrm>
                <a:custGeom>
                  <a:avLst/>
                  <a:gdLst>
                    <a:gd name="T0" fmla="*/ 0 w 712"/>
                    <a:gd name="T1" fmla="*/ 12 h 496"/>
                    <a:gd name="T2" fmla="*/ 13 w 712"/>
                    <a:gd name="T3" fmla="*/ 35 h 496"/>
                    <a:gd name="T4" fmla="*/ 35 w 712"/>
                    <a:gd name="T5" fmla="*/ 74 h 496"/>
                    <a:gd name="T6" fmla="*/ 40 w 712"/>
                    <a:gd name="T7" fmla="*/ 82 h 496"/>
                    <a:gd name="T8" fmla="*/ 97 w 712"/>
                    <a:gd name="T9" fmla="*/ 104 h 496"/>
                    <a:gd name="T10" fmla="*/ 135 w 712"/>
                    <a:gd name="T11" fmla="*/ 96 h 496"/>
                    <a:gd name="T12" fmla="*/ 151 w 712"/>
                    <a:gd name="T13" fmla="*/ 89 h 496"/>
                    <a:gd name="T14" fmla="*/ 164 w 712"/>
                    <a:gd name="T15" fmla="*/ 72 h 496"/>
                    <a:gd name="T16" fmla="*/ 173 w 712"/>
                    <a:gd name="T17" fmla="*/ 65 h 496"/>
                    <a:gd name="T18" fmla="*/ 200 w 712"/>
                    <a:gd name="T19" fmla="*/ 35 h 496"/>
                    <a:gd name="T20" fmla="*/ 240 w 712"/>
                    <a:gd name="T21" fmla="*/ 0 h 49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12"/>
                    <a:gd name="T34" fmla="*/ 0 h 496"/>
                    <a:gd name="T35" fmla="*/ 712 w 712"/>
                    <a:gd name="T36" fmla="*/ 496 h 49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12" h="496">
                      <a:moveTo>
                        <a:pt x="0" y="56"/>
                      </a:moveTo>
                      <a:cubicBezTo>
                        <a:pt x="8" y="98"/>
                        <a:pt x="28" y="128"/>
                        <a:pt x="40" y="168"/>
                      </a:cubicBezTo>
                      <a:cubicBezTo>
                        <a:pt x="59" y="233"/>
                        <a:pt x="74" y="291"/>
                        <a:pt x="104" y="352"/>
                      </a:cubicBezTo>
                      <a:cubicBezTo>
                        <a:pt x="110" y="365"/>
                        <a:pt x="111" y="381"/>
                        <a:pt x="120" y="392"/>
                      </a:cubicBezTo>
                      <a:cubicBezTo>
                        <a:pt x="161" y="445"/>
                        <a:pt x="235" y="461"/>
                        <a:pt x="288" y="496"/>
                      </a:cubicBezTo>
                      <a:cubicBezTo>
                        <a:pt x="325" y="483"/>
                        <a:pt x="372" y="484"/>
                        <a:pt x="400" y="456"/>
                      </a:cubicBezTo>
                      <a:cubicBezTo>
                        <a:pt x="430" y="426"/>
                        <a:pt x="413" y="436"/>
                        <a:pt x="448" y="424"/>
                      </a:cubicBezTo>
                      <a:cubicBezTo>
                        <a:pt x="498" y="374"/>
                        <a:pt x="448" y="432"/>
                        <a:pt x="488" y="344"/>
                      </a:cubicBezTo>
                      <a:cubicBezTo>
                        <a:pt x="494" y="332"/>
                        <a:pt x="505" y="324"/>
                        <a:pt x="512" y="312"/>
                      </a:cubicBezTo>
                      <a:cubicBezTo>
                        <a:pt x="614" y="131"/>
                        <a:pt x="516" y="282"/>
                        <a:pt x="592" y="168"/>
                      </a:cubicBezTo>
                      <a:cubicBezTo>
                        <a:pt x="609" y="82"/>
                        <a:pt x="654" y="58"/>
                        <a:pt x="712" y="0"/>
                      </a:cubicBezTo>
                    </a:path>
                  </a:pathLst>
                </a:custGeom>
                <a:pattFill prst="lgConfetti">
                  <a:fgClr>
                    <a:srgbClr val="996633"/>
                  </a:fgClr>
                  <a:bgClr>
                    <a:schemeClr val="bg1"/>
                  </a:bgClr>
                </a:patt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8" name="Line 474" descr="Large confetti"/>
                <p:cNvSpPr>
                  <a:spLocks noChangeShapeType="1"/>
                </p:cNvSpPr>
                <p:nvPr/>
              </p:nvSpPr>
              <p:spPr bwMode="auto">
                <a:xfrm rot="10800000">
                  <a:off x="4669" y="3168"/>
                  <a:ext cx="19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99" name="Line 475" descr="Large confetti"/>
                <p:cNvSpPr>
                  <a:spLocks noChangeShapeType="1"/>
                </p:cNvSpPr>
                <p:nvPr/>
              </p:nvSpPr>
              <p:spPr bwMode="auto">
                <a:xfrm rot="10800000">
                  <a:off x="4861" y="3024"/>
                  <a:ext cx="121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2400" name="Group 476"/>
              <p:cNvGrpSpPr>
                <a:grpSpLocks/>
              </p:cNvGrpSpPr>
              <p:nvPr/>
            </p:nvGrpSpPr>
            <p:grpSpPr bwMode="auto">
              <a:xfrm>
                <a:off x="3072" y="3120"/>
                <a:ext cx="2208" cy="960"/>
                <a:chOff x="350" y="2744"/>
                <a:chExt cx="2208" cy="960"/>
              </a:xfrm>
            </p:grpSpPr>
            <p:sp>
              <p:nvSpPr>
                <p:cNvPr id="22667" name="Line 477"/>
                <p:cNvSpPr>
                  <a:spLocks noChangeShapeType="1"/>
                </p:cNvSpPr>
                <p:nvPr/>
              </p:nvSpPr>
              <p:spPr bwMode="auto">
                <a:xfrm rot="10800000">
                  <a:off x="2510" y="2744"/>
                  <a:ext cx="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2401" name="Group 478"/>
                <p:cNvGrpSpPr>
                  <a:grpSpLocks/>
                </p:cNvGrpSpPr>
                <p:nvPr/>
              </p:nvGrpSpPr>
              <p:grpSpPr bwMode="auto">
                <a:xfrm>
                  <a:off x="350" y="2744"/>
                  <a:ext cx="2199" cy="960"/>
                  <a:chOff x="3638" y="2736"/>
                  <a:chExt cx="2199" cy="960"/>
                </a:xfrm>
              </p:grpSpPr>
              <p:sp>
                <p:nvSpPr>
                  <p:cNvPr id="22669" name="Line 479"/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693" y="2920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22402" name="Group 480"/>
                  <p:cNvGrpSpPr>
                    <a:grpSpLocks/>
                  </p:cNvGrpSpPr>
                  <p:nvPr/>
                </p:nvGrpSpPr>
                <p:grpSpPr bwMode="auto">
                  <a:xfrm>
                    <a:off x="3638" y="2736"/>
                    <a:ext cx="2199" cy="960"/>
                    <a:chOff x="3638" y="2736"/>
                    <a:chExt cx="2199" cy="960"/>
                  </a:xfrm>
                </p:grpSpPr>
                <p:sp>
                  <p:nvSpPr>
                    <p:cNvPr id="22671" name="Line 481"/>
                    <p:cNvSpPr>
                      <a:spLocks noChangeShapeType="1"/>
                    </p:cNvSpPr>
                    <p:nvPr/>
                  </p:nvSpPr>
                  <p:spPr bwMode="auto">
                    <a:xfrm rot="10800000">
                      <a:off x="3686" y="2744"/>
                      <a:ext cx="0" cy="1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22403" name="Group 4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38" y="2736"/>
                      <a:ext cx="2199" cy="960"/>
                      <a:chOff x="3638" y="2736"/>
                      <a:chExt cx="2199" cy="960"/>
                    </a:xfrm>
                  </p:grpSpPr>
                  <p:grpSp>
                    <p:nvGrpSpPr>
                      <p:cNvPr id="222404" name="Group 483"/>
                      <p:cNvGrpSpPr>
                        <a:grpSpLocks/>
                      </p:cNvGrpSpPr>
                      <p:nvPr/>
                    </p:nvGrpSpPr>
                    <p:grpSpPr bwMode="auto">
                      <a:xfrm rot="10800000">
                        <a:off x="3638" y="2736"/>
                        <a:ext cx="144" cy="192"/>
                        <a:chOff x="2880" y="1536"/>
                        <a:chExt cx="144" cy="192"/>
                      </a:xfrm>
                    </p:grpSpPr>
                    <p:sp>
                      <p:nvSpPr>
                        <p:cNvPr id="22685" name="Line 48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80" y="1536"/>
                          <a:ext cx="144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686" name="Line 48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80" y="1568"/>
                          <a:ext cx="96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687" name="Line 48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008" y="1536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688" name="Line 48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76" y="1728"/>
                          <a:ext cx="48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22674" name="Rectangle 488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5550" y="2832"/>
                        <a:ext cx="96" cy="62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75" name="Rectangle 489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790" y="3456"/>
                        <a:ext cx="1920" cy="96"/>
                      </a:xfrm>
                      <a:prstGeom prst="rect">
                        <a:avLst/>
                      </a:prstGeom>
                      <a:solidFill>
                        <a:srgbClr val="996633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76" name="Rectangle 490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846" y="2832"/>
                        <a:ext cx="96" cy="62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77" name="Rectangle 491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790" y="2832"/>
                        <a:ext cx="48" cy="19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rot="10800000"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78" name="Rectangle 492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5655" y="2832"/>
                        <a:ext cx="48" cy="19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79" name="Rectangle 493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5256" y="3552"/>
                        <a:ext cx="240" cy="14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80" name="Rectangle 494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998" y="3552"/>
                        <a:ext cx="240" cy="14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2681" name="Line 495"/>
                      <p:cNvSpPr>
                        <a:spLocks noChangeShapeType="1"/>
                      </p:cNvSpPr>
                      <p:nvPr/>
                    </p:nvSpPr>
                    <p:spPr bwMode="auto">
                      <a:xfrm rot="10800000" flipH="1">
                        <a:off x="5709" y="2888"/>
                        <a:ext cx="96" cy="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22405" name="Group 496"/>
                      <p:cNvGrpSpPr>
                        <a:grpSpLocks/>
                      </p:cNvGrpSpPr>
                      <p:nvPr/>
                    </p:nvGrpSpPr>
                    <p:grpSpPr bwMode="auto">
                      <a:xfrm rot="10800000">
                        <a:off x="5805" y="2736"/>
                        <a:ext cx="32" cy="192"/>
                        <a:chOff x="816" y="1632"/>
                        <a:chExt cx="32" cy="192"/>
                      </a:xfrm>
                    </p:grpSpPr>
                    <p:sp>
                      <p:nvSpPr>
                        <p:cNvPr id="22683" name="Line 49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816" y="1632"/>
                          <a:ext cx="0" cy="184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22684" name="Line 49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48" y="1680"/>
                          <a:ext cx="0" cy="144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222406" name="Group 499"/>
            <p:cNvGrpSpPr>
              <a:grpSpLocks/>
            </p:cNvGrpSpPr>
            <p:nvPr/>
          </p:nvGrpSpPr>
          <p:grpSpPr bwMode="auto">
            <a:xfrm>
              <a:off x="2672" y="3216"/>
              <a:ext cx="2424" cy="448"/>
              <a:chOff x="3240" y="2816"/>
              <a:chExt cx="2424" cy="448"/>
            </a:xfrm>
          </p:grpSpPr>
          <p:sp>
            <p:nvSpPr>
              <p:cNvPr id="22661" name="Rectangle 500"/>
              <p:cNvSpPr>
                <a:spLocks noChangeArrowheads="1"/>
              </p:cNvSpPr>
              <p:nvPr/>
            </p:nvSpPr>
            <p:spPr bwMode="auto">
              <a:xfrm>
                <a:off x="3240" y="3072"/>
                <a:ext cx="584" cy="19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l"/>
                <a:r>
                  <a:rPr lang="en-US" sz="1600" b="1"/>
                  <a:t>Parting</a:t>
                </a:r>
              </a:p>
              <a:p>
                <a:pPr algn="l"/>
                <a:r>
                  <a:rPr lang="en-US" sz="1600" b="1"/>
                  <a:t> line</a:t>
                </a:r>
              </a:p>
            </p:txBody>
          </p:sp>
          <p:sp>
            <p:nvSpPr>
              <p:cNvPr id="22662" name="Line 501"/>
              <p:cNvSpPr>
                <a:spLocks noChangeShapeType="1"/>
              </p:cNvSpPr>
              <p:nvPr/>
            </p:nvSpPr>
            <p:spPr bwMode="auto">
              <a:xfrm>
                <a:off x="3840" y="2816"/>
                <a:ext cx="18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3" name="Line 502"/>
              <p:cNvSpPr>
                <a:spLocks noChangeShapeType="1"/>
              </p:cNvSpPr>
              <p:nvPr/>
            </p:nvSpPr>
            <p:spPr bwMode="auto">
              <a:xfrm flipV="1">
                <a:off x="3792" y="2832"/>
                <a:ext cx="288" cy="28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22407" name="Group 503"/>
          <p:cNvGrpSpPr>
            <a:grpSpLocks/>
          </p:cNvGrpSpPr>
          <p:nvPr/>
        </p:nvGrpSpPr>
        <p:grpSpPr bwMode="auto">
          <a:xfrm>
            <a:off x="7988300" y="3886200"/>
            <a:ext cx="319088" cy="1358900"/>
            <a:chOff x="3495" y="1584"/>
            <a:chExt cx="201" cy="856"/>
          </a:xfrm>
        </p:grpSpPr>
        <p:grpSp>
          <p:nvGrpSpPr>
            <p:cNvPr id="222408" name="Group 504"/>
            <p:cNvGrpSpPr>
              <a:grpSpLocks/>
            </p:cNvGrpSpPr>
            <p:nvPr/>
          </p:nvGrpSpPr>
          <p:grpSpPr bwMode="auto">
            <a:xfrm>
              <a:off x="3504" y="2376"/>
              <a:ext cx="192" cy="64"/>
              <a:chOff x="1400" y="3424"/>
              <a:chExt cx="192" cy="64"/>
            </a:xfrm>
          </p:grpSpPr>
          <p:sp>
            <p:nvSpPr>
              <p:cNvPr id="22656" name="Freeform 505" descr="Denim"/>
              <p:cNvSpPr>
                <a:spLocks/>
              </p:cNvSpPr>
              <p:nvPr/>
            </p:nvSpPr>
            <p:spPr bwMode="auto">
              <a:xfrm>
                <a:off x="1400" y="3432"/>
                <a:ext cx="96" cy="48"/>
              </a:xfrm>
              <a:custGeom>
                <a:avLst/>
                <a:gdLst>
                  <a:gd name="T0" fmla="*/ 0 w 96"/>
                  <a:gd name="T1" fmla="*/ 0 h 48"/>
                  <a:gd name="T2" fmla="*/ 48 w 96"/>
                  <a:gd name="T3" fmla="*/ 48 h 48"/>
                  <a:gd name="T4" fmla="*/ 96 w 96"/>
                  <a:gd name="T5" fmla="*/ 0 h 48"/>
                  <a:gd name="T6" fmla="*/ 0 60000 65536"/>
                  <a:gd name="T7" fmla="*/ 0 60000 65536"/>
                  <a:gd name="T8" fmla="*/ 0 60000 65536"/>
                  <a:gd name="T9" fmla="*/ 0 w 96"/>
                  <a:gd name="T10" fmla="*/ 0 h 48"/>
                  <a:gd name="T11" fmla="*/ 96 w 96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" h="48">
                    <a:moveTo>
                      <a:pt x="0" y="0"/>
                    </a:moveTo>
                    <a:cubicBezTo>
                      <a:pt x="16" y="24"/>
                      <a:pt x="32" y="48"/>
                      <a:pt x="48" y="48"/>
                    </a:cubicBezTo>
                    <a:cubicBezTo>
                      <a:pt x="64" y="48"/>
                      <a:pt x="72" y="16"/>
                      <a:pt x="96" y="0"/>
                    </a:cubicBezTo>
                  </a:path>
                </a:pathLst>
              </a:custGeom>
              <a:blipFill dpi="0" rotWithShape="1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7" name="Freeform 506" descr="Denim"/>
              <p:cNvSpPr>
                <a:spLocks/>
              </p:cNvSpPr>
              <p:nvPr/>
            </p:nvSpPr>
            <p:spPr bwMode="auto">
              <a:xfrm>
                <a:off x="1496" y="3424"/>
                <a:ext cx="96" cy="48"/>
              </a:xfrm>
              <a:custGeom>
                <a:avLst/>
                <a:gdLst>
                  <a:gd name="T0" fmla="*/ 0 w 96"/>
                  <a:gd name="T1" fmla="*/ 0 h 48"/>
                  <a:gd name="T2" fmla="*/ 48 w 96"/>
                  <a:gd name="T3" fmla="*/ 48 h 48"/>
                  <a:gd name="T4" fmla="*/ 96 w 96"/>
                  <a:gd name="T5" fmla="*/ 0 h 48"/>
                  <a:gd name="T6" fmla="*/ 0 60000 65536"/>
                  <a:gd name="T7" fmla="*/ 0 60000 65536"/>
                  <a:gd name="T8" fmla="*/ 0 60000 65536"/>
                  <a:gd name="T9" fmla="*/ 0 w 96"/>
                  <a:gd name="T10" fmla="*/ 0 h 48"/>
                  <a:gd name="T11" fmla="*/ 96 w 96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" h="48">
                    <a:moveTo>
                      <a:pt x="0" y="0"/>
                    </a:moveTo>
                    <a:cubicBezTo>
                      <a:pt x="16" y="24"/>
                      <a:pt x="32" y="48"/>
                      <a:pt x="48" y="48"/>
                    </a:cubicBezTo>
                    <a:cubicBezTo>
                      <a:pt x="64" y="48"/>
                      <a:pt x="72" y="16"/>
                      <a:pt x="96" y="0"/>
                    </a:cubicBezTo>
                  </a:path>
                </a:pathLst>
              </a:custGeom>
              <a:blipFill dpi="0" rotWithShape="1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8" name="Freeform 507" descr="Denim"/>
              <p:cNvSpPr>
                <a:spLocks/>
              </p:cNvSpPr>
              <p:nvPr/>
            </p:nvSpPr>
            <p:spPr bwMode="auto">
              <a:xfrm rot="10800000">
                <a:off x="1448" y="3440"/>
                <a:ext cx="96" cy="48"/>
              </a:xfrm>
              <a:custGeom>
                <a:avLst/>
                <a:gdLst>
                  <a:gd name="T0" fmla="*/ 0 w 96"/>
                  <a:gd name="T1" fmla="*/ 0 h 48"/>
                  <a:gd name="T2" fmla="*/ 48 w 96"/>
                  <a:gd name="T3" fmla="*/ 48 h 48"/>
                  <a:gd name="T4" fmla="*/ 96 w 96"/>
                  <a:gd name="T5" fmla="*/ 0 h 48"/>
                  <a:gd name="T6" fmla="*/ 0 60000 65536"/>
                  <a:gd name="T7" fmla="*/ 0 60000 65536"/>
                  <a:gd name="T8" fmla="*/ 0 60000 65536"/>
                  <a:gd name="T9" fmla="*/ 0 w 96"/>
                  <a:gd name="T10" fmla="*/ 0 h 48"/>
                  <a:gd name="T11" fmla="*/ 96 w 96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" h="48">
                    <a:moveTo>
                      <a:pt x="0" y="0"/>
                    </a:moveTo>
                    <a:cubicBezTo>
                      <a:pt x="16" y="24"/>
                      <a:pt x="32" y="48"/>
                      <a:pt x="48" y="48"/>
                    </a:cubicBezTo>
                    <a:cubicBezTo>
                      <a:pt x="64" y="48"/>
                      <a:pt x="72" y="16"/>
                      <a:pt x="96" y="0"/>
                    </a:cubicBezTo>
                  </a:path>
                </a:pathLst>
              </a:custGeom>
              <a:blipFill dpi="0" rotWithShape="1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2411" name="Group 508"/>
            <p:cNvGrpSpPr>
              <a:grpSpLocks/>
            </p:cNvGrpSpPr>
            <p:nvPr/>
          </p:nvGrpSpPr>
          <p:grpSpPr bwMode="auto">
            <a:xfrm>
              <a:off x="3495" y="1584"/>
              <a:ext cx="201" cy="856"/>
              <a:chOff x="1391" y="2632"/>
              <a:chExt cx="201" cy="856"/>
            </a:xfrm>
          </p:grpSpPr>
          <p:sp>
            <p:nvSpPr>
              <p:cNvPr id="22641" name="Rectangle 509" descr="Denim"/>
              <p:cNvSpPr>
                <a:spLocks noChangeArrowheads="1"/>
              </p:cNvSpPr>
              <p:nvPr/>
            </p:nvSpPr>
            <p:spPr bwMode="auto">
              <a:xfrm>
                <a:off x="1392" y="2704"/>
                <a:ext cx="96" cy="720"/>
              </a:xfrm>
              <a:prstGeom prst="rect">
                <a:avLst/>
              </a:prstGeom>
              <a:blipFill dpi="0" rotWithShape="1">
                <a:blip r:embed="rId4"/>
                <a:srcRect/>
                <a:tile tx="0" ty="0" sx="100000" sy="100000" flip="none" algn="tl"/>
              </a:blipFill>
              <a:ln w="28575" algn="ctr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2" name="Rectangle 510" descr="Denim"/>
              <p:cNvSpPr>
                <a:spLocks noChangeArrowheads="1"/>
              </p:cNvSpPr>
              <p:nvPr/>
            </p:nvSpPr>
            <p:spPr bwMode="auto">
              <a:xfrm>
                <a:off x="1488" y="2704"/>
                <a:ext cx="96" cy="720"/>
              </a:xfrm>
              <a:prstGeom prst="rect">
                <a:avLst/>
              </a:prstGeom>
              <a:blipFill dpi="0" rotWithShape="1">
                <a:blip r:embed="rId4"/>
                <a:srcRect/>
                <a:tile tx="0" ty="0" sx="100000" sy="100000" flip="none" algn="tl"/>
              </a:blipFill>
              <a:ln w="28575" algn="ctr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22412" name="Group 511"/>
              <p:cNvGrpSpPr>
                <a:grpSpLocks/>
              </p:cNvGrpSpPr>
              <p:nvPr/>
            </p:nvGrpSpPr>
            <p:grpSpPr bwMode="auto">
              <a:xfrm>
                <a:off x="1392" y="3432"/>
                <a:ext cx="200" cy="56"/>
                <a:chOff x="1392" y="3432"/>
                <a:chExt cx="200" cy="56"/>
              </a:xfrm>
            </p:grpSpPr>
            <p:sp>
              <p:nvSpPr>
                <p:cNvPr id="22653" name="Line 512"/>
                <p:cNvSpPr>
                  <a:spLocks noChangeShapeType="1"/>
                </p:cNvSpPr>
                <p:nvPr/>
              </p:nvSpPr>
              <p:spPr bwMode="auto">
                <a:xfrm>
                  <a:off x="1440" y="3480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54" name="Line 513"/>
                <p:cNvSpPr>
                  <a:spLocks noChangeShapeType="1"/>
                </p:cNvSpPr>
                <p:nvPr/>
              </p:nvSpPr>
              <p:spPr bwMode="auto">
                <a:xfrm>
                  <a:off x="1392" y="344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55" name="Line 514"/>
                <p:cNvSpPr>
                  <a:spLocks noChangeShapeType="1"/>
                </p:cNvSpPr>
                <p:nvPr/>
              </p:nvSpPr>
              <p:spPr bwMode="auto">
                <a:xfrm flipH="1">
                  <a:off x="1544" y="343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2413" name="Group 515"/>
              <p:cNvGrpSpPr>
                <a:grpSpLocks/>
              </p:cNvGrpSpPr>
              <p:nvPr/>
            </p:nvGrpSpPr>
            <p:grpSpPr bwMode="auto">
              <a:xfrm>
                <a:off x="1391" y="2632"/>
                <a:ext cx="200" cy="72"/>
                <a:chOff x="1391" y="2448"/>
                <a:chExt cx="200" cy="72"/>
              </a:xfrm>
            </p:grpSpPr>
            <p:grpSp>
              <p:nvGrpSpPr>
                <p:cNvPr id="222414" name="Group 516"/>
                <p:cNvGrpSpPr>
                  <a:grpSpLocks/>
                </p:cNvGrpSpPr>
                <p:nvPr/>
              </p:nvGrpSpPr>
              <p:grpSpPr bwMode="auto">
                <a:xfrm rot="10800000">
                  <a:off x="1391" y="2456"/>
                  <a:ext cx="192" cy="64"/>
                  <a:chOff x="1400" y="3424"/>
                  <a:chExt cx="192" cy="64"/>
                </a:xfrm>
              </p:grpSpPr>
              <p:sp>
                <p:nvSpPr>
                  <p:cNvPr id="22650" name="Freeform 517" descr="Denim"/>
                  <p:cNvSpPr>
                    <a:spLocks/>
                  </p:cNvSpPr>
                  <p:nvPr/>
                </p:nvSpPr>
                <p:spPr bwMode="auto">
                  <a:xfrm>
                    <a:off x="1400" y="3432"/>
                    <a:ext cx="96" cy="48"/>
                  </a:xfrm>
                  <a:custGeom>
                    <a:avLst/>
                    <a:gdLst>
                      <a:gd name="T0" fmla="*/ 0 w 96"/>
                      <a:gd name="T1" fmla="*/ 0 h 48"/>
                      <a:gd name="T2" fmla="*/ 48 w 96"/>
                      <a:gd name="T3" fmla="*/ 48 h 48"/>
                      <a:gd name="T4" fmla="*/ 96 w 96"/>
                      <a:gd name="T5" fmla="*/ 0 h 48"/>
                      <a:gd name="T6" fmla="*/ 0 60000 65536"/>
                      <a:gd name="T7" fmla="*/ 0 60000 65536"/>
                      <a:gd name="T8" fmla="*/ 0 60000 65536"/>
                      <a:gd name="T9" fmla="*/ 0 w 96"/>
                      <a:gd name="T10" fmla="*/ 0 h 48"/>
                      <a:gd name="T11" fmla="*/ 96 w 96"/>
                      <a:gd name="T12" fmla="*/ 48 h 4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96" h="48">
                        <a:moveTo>
                          <a:pt x="0" y="0"/>
                        </a:moveTo>
                        <a:cubicBezTo>
                          <a:pt x="16" y="24"/>
                          <a:pt x="32" y="48"/>
                          <a:pt x="48" y="48"/>
                        </a:cubicBezTo>
                        <a:cubicBezTo>
                          <a:pt x="64" y="48"/>
                          <a:pt x="72" y="16"/>
                          <a:pt x="96" y="0"/>
                        </a:cubicBezTo>
                      </a:path>
                    </a:pathLst>
                  </a:cu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651" name="Freeform 518" descr="Denim"/>
                  <p:cNvSpPr>
                    <a:spLocks/>
                  </p:cNvSpPr>
                  <p:nvPr/>
                </p:nvSpPr>
                <p:spPr bwMode="auto">
                  <a:xfrm>
                    <a:off x="1496" y="3424"/>
                    <a:ext cx="96" cy="48"/>
                  </a:xfrm>
                  <a:custGeom>
                    <a:avLst/>
                    <a:gdLst>
                      <a:gd name="T0" fmla="*/ 0 w 96"/>
                      <a:gd name="T1" fmla="*/ 0 h 48"/>
                      <a:gd name="T2" fmla="*/ 48 w 96"/>
                      <a:gd name="T3" fmla="*/ 48 h 48"/>
                      <a:gd name="T4" fmla="*/ 96 w 96"/>
                      <a:gd name="T5" fmla="*/ 0 h 48"/>
                      <a:gd name="T6" fmla="*/ 0 60000 65536"/>
                      <a:gd name="T7" fmla="*/ 0 60000 65536"/>
                      <a:gd name="T8" fmla="*/ 0 60000 65536"/>
                      <a:gd name="T9" fmla="*/ 0 w 96"/>
                      <a:gd name="T10" fmla="*/ 0 h 48"/>
                      <a:gd name="T11" fmla="*/ 96 w 96"/>
                      <a:gd name="T12" fmla="*/ 48 h 4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96" h="48">
                        <a:moveTo>
                          <a:pt x="0" y="0"/>
                        </a:moveTo>
                        <a:cubicBezTo>
                          <a:pt x="16" y="24"/>
                          <a:pt x="32" y="48"/>
                          <a:pt x="48" y="48"/>
                        </a:cubicBezTo>
                        <a:cubicBezTo>
                          <a:pt x="64" y="48"/>
                          <a:pt x="72" y="16"/>
                          <a:pt x="96" y="0"/>
                        </a:cubicBezTo>
                      </a:path>
                    </a:pathLst>
                  </a:cu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652" name="Freeform 519" descr="Denim"/>
                  <p:cNvSpPr>
                    <a:spLocks/>
                  </p:cNvSpPr>
                  <p:nvPr/>
                </p:nvSpPr>
                <p:spPr bwMode="auto">
                  <a:xfrm rot="10800000">
                    <a:off x="1448" y="3440"/>
                    <a:ext cx="96" cy="48"/>
                  </a:xfrm>
                  <a:custGeom>
                    <a:avLst/>
                    <a:gdLst>
                      <a:gd name="T0" fmla="*/ 0 w 96"/>
                      <a:gd name="T1" fmla="*/ 0 h 48"/>
                      <a:gd name="T2" fmla="*/ 48 w 96"/>
                      <a:gd name="T3" fmla="*/ 48 h 48"/>
                      <a:gd name="T4" fmla="*/ 96 w 96"/>
                      <a:gd name="T5" fmla="*/ 0 h 48"/>
                      <a:gd name="T6" fmla="*/ 0 60000 65536"/>
                      <a:gd name="T7" fmla="*/ 0 60000 65536"/>
                      <a:gd name="T8" fmla="*/ 0 60000 65536"/>
                      <a:gd name="T9" fmla="*/ 0 w 96"/>
                      <a:gd name="T10" fmla="*/ 0 h 48"/>
                      <a:gd name="T11" fmla="*/ 96 w 96"/>
                      <a:gd name="T12" fmla="*/ 48 h 4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96" h="48">
                        <a:moveTo>
                          <a:pt x="0" y="0"/>
                        </a:moveTo>
                        <a:cubicBezTo>
                          <a:pt x="16" y="24"/>
                          <a:pt x="32" y="48"/>
                          <a:pt x="48" y="48"/>
                        </a:cubicBezTo>
                        <a:cubicBezTo>
                          <a:pt x="64" y="48"/>
                          <a:pt x="72" y="16"/>
                          <a:pt x="96" y="0"/>
                        </a:cubicBezTo>
                      </a:path>
                    </a:pathLst>
                  </a:cu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22415" name="Group 520"/>
                <p:cNvGrpSpPr>
                  <a:grpSpLocks/>
                </p:cNvGrpSpPr>
                <p:nvPr/>
              </p:nvGrpSpPr>
              <p:grpSpPr bwMode="auto">
                <a:xfrm rot="10800000">
                  <a:off x="1391" y="2448"/>
                  <a:ext cx="200" cy="56"/>
                  <a:chOff x="1392" y="3432"/>
                  <a:chExt cx="200" cy="56"/>
                </a:xfrm>
              </p:grpSpPr>
              <p:sp>
                <p:nvSpPr>
                  <p:cNvPr id="22647" name="Line 521"/>
                  <p:cNvSpPr>
                    <a:spLocks noChangeShapeType="1"/>
                  </p:cNvSpPr>
                  <p:nvPr/>
                </p:nvSpPr>
                <p:spPr bwMode="auto">
                  <a:xfrm>
                    <a:off x="1440" y="3480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648" name="Line 522"/>
                  <p:cNvSpPr>
                    <a:spLocks noChangeShapeType="1"/>
                  </p:cNvSpPr>
                  <p:nvPr/>
                </p:nvSpPr>
                <p:spPr bwMode="auto">
                  <a:xfrm>
                    <a:off x="1392" y="344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649" name="Line 5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44" y="343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222732" name="Rectangle 524" descr="Large confetti"/>
          <p:cNvSpPr>
            <a:spLocks noChangeArrowheads="1"/>
          </p:cNvSpPr>
          <p:nvPr/>
        </p:nvSpPr>
        <p:spPr bwMode="auto">
          <a:xfrm rot="10800000">
            <a:off x="9105900" y="4521200"/>
            <a:ext cx="304800" cy="2921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grpSp>
        <p:nvGrpSpPr>
          <p:cNvPr id="222416" name="Group 525"/>
          <p:cNvGrpSpPr>
            <a:grpSpLocks/>
          </p:cNvGrpSpPr>
          <p:nvPr/>
        </p:nvGrpSpPr>
        <p:grpSpPr bwMode="auto">
          <a:xfrm>
            <a:off x="7467600" y="5270500"/>
            <a:ext cx="609600" cy="736600"/>
            <a:chOff x="1488" y="2448"/>
            <a:chExt cx="384" cy="464"/>
          </a:xfrm>
        </p:grpSpPr>
        <p:sp>
          <p:nvSpPr>
            <p:cNvPr id="22637" name="Rectangle 526"/>
            <p:cNvSpPr>
              <a:spLocks noChangeArrowheads="1"/>
            </p:cNvSpPr>
            <p:nvPr/>
          </p:nvSpPr>
          <p:spPr bwMode="auto">
            <a:xfrm>
              <a:off x="1488" y="2768"/>
              <a:ext cx="336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Core</a:t>
              </a:r>
            </a:p>
          </p:txBody>
        </p:sp>
        <p:sp>
          <p:nvSpPr>
            <p:cNvPr id="22638" name="Line 527"/>
            <p:cNvSpPr>
              <a:spLocks noChangeShapeType="1"/>
            </p:cNvSpPr>
            <p:nvPr/>
          </p:nvSpPr>
          <p:spPr bwMode="auto">
            <a:xfrm flipV="1">
              <a:off x="1680" y="2448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736" name="Rectangle 528"/>
          <p:cNvSpPr>
            <a:spLocks noChangeArrowheads="1"/>
          </p:cNvSpPr>
          <p:nvPr/>
        </p:nvSpPr>
        <p:spPr bwMode="auto">
          <a:xfrm>
            <a:off x="8991600" y="4508500"/>
            <a:ext cx="228600" cy="76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2417" name="Group 529"/>
          <p:cNvGrpSpPr>
            <a:grpSpLocks/>
          </p:cNvGrpSpPr>
          <p:nvPr/>
        </p:nvGrpSpPr>
        <p:grpSpPr bwMode="auto">
          <a:xfrm>
            <a:off x="6692900" y="3327400"/>
            <a:ext cx="2895600" cy="165100"/>
            <a:chOff x="1000" y="1224"/>
            <a:chExt cx="1824" cy="104"/>
          </a:xfrm>
        </p:grpSpPr>
        <p:sp>
          <p:nvSpPr>
            <p:cNvPr id="22635" name="Rectangle 530"/>
            <p:cNvSpPr>
              <a:spLocks noChangeArrowheads="1"/>
            </p:cNvSpPr>
            <p:nvPr/>
          </p:nvSpPr>
          <p:spPr bwMode="auto">
            <a:xfrm rot="10800000">
              <a:off x="1000" y="1232"/>
              <a:ext cx="1824" cy="9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36" name="Rectangle 531" descr="Wide downward diagonal"/>
            <p:cNvSpPr>
              <a:spLocks noChangeArrowheads="1"/>
            </p:cNvSpPr>
            <p:nvPr/>
          </p:nvSpPr>
          <p:spPr bwMode="auto">
            <a:xfrm>
              <a:off x="1552" y="1224"/>
              <a:ext cx="768" cy="96"/>
            </a:xfrm>
            <a:prstGeom prst="rect">
              <a:avLst/>
            </a:prstGeom>
            <a:pattFill prst="wdDnDiag">
              <a:fgClr>
                <a:schemeClr val="accent2"/>
              </a:fgClr>
              <a:bgClr>
                <a:schemeClr val="bg1"/>
              </a:bgClr>
            </a:patt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2418" name="Group 532"/>
          <p:cNvGrpSpPr>
            <a:grpSpLocks/>
          </p:cNvGrpSpPr>
          <p:nvPr/>
        </p:nvGrpSpPr>
        <p:grpSpPr bwMode="auto">
          <a:xfrm>
            <a:off x="8509000" y="3492500"/>
            <a:ext cx="266700" cy="558800"/>
            <a:chOff x="2144" y="1328"/>
            <a:chExt cx="168" cy="352"/>
          </a:xfrm>
        </p:grpSpPr>
        <p:grpSp>
          <p:nvGrpSpPr>
            <p:cNvPr id="222419" name="Group 533"/>
            <p:cNvGrpSpPr>
              <a:grpSpLocks/>
            </p:cNvGrpSpPr>
            <p:nvPr/>
          </p:nvGrpSpPr>
          <p:grpSpPr bwMode="auto">
            <a:xfrm rot="10800000" flipV="1">
              <a:off x="2144" y="1440"/>
              <a:ext cx="144" cy="240"/>
              <a:chOff x="2016" y="952"/>
              <a:chExt cx="160" cy="232"/>
            </a:xfrm>
          </p:grpSpPr>
          <p:sp>
            <p:nvSpPr>
              <p:cNvPr id="22628" name="Line 534"/>
              <p:cNvSpPr>
                <a:spLocks noChangeShapeType="1"/>
              </p:cNvSpPr>
              <p:nvPr/>
            </p:nvSpPr>
            <p:spPr bwMode="auto">
              <a:xfrm>
                <a:off x="2016" y="960"/>
                <a:ext cx="48" cy="0"/>
              </a:xfrm>
              <a:prstGeom prst="line">
                <a:avLst/>
              </a:prstGeom>
              <a:noFill/>
              <a:ln w="19050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2420" name="Group 535"/>
              <p:cNvGrpSpPr>
                <a:grpSpLocks/>
              </p:cNvGrpSpPr>
              <p:nvPr/>
            </p:nvGrpSpPr>
            <p:grpSpPr bwMode="auto">
              <a:xfrm>
                <a:off x="2032" y="952"/>
                <a:ext cx="144" cy="232"/>
                <a:chOff x="2032" y="952"/>
                <a:chExt cx="144" cy="232"/>
              </a:xfrm>
            </p:grpSpPr>
            <p:sp>
              <p:nvSpPr>
                <p:cNvPr id="22630" name="Line 536"/>
                <p:cNvSpPr>
                  <a:spLocks noChangeShapeType="1"/>
                </p:cNvSpPr>
                <p:nvPr/>
              </p:nvSpPr>
              <p:spPr bwMode="auto">
                <a:xfrm>
                  <a:off x="2032" y="952"/>
                  <a:ext cx="0" cy="224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31" name="Line 537"/>
                <p:cNvSpPr>
                  <a:spLocks noChangeShapeType="1"/>
                </p:cNvSpPr>
                <p:nvPr/>
              </p:nvSpPr>
              <p:spPr bwMode="auto">
                <a:xfrm>
                  <a:off x="2056" y="96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32" name="Line 538"/>
                <p:cNvSpPr>
                  <a:spLocks noChangeShapeType="1"/>
                </p:cNvSpPr>
                <p:nvPr/>
              </p:nvSpPr>
              <p:spPr bwMode="auto">
                <a:xfrm>
                  <a:off x="2064" y="1152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33" name="Line 539"/>
                <p:cNvSpPr>
                  <a:spLocks noChangeShapeType="1"/>
                </p:cNvSpPr>
                <p:nvPr/>
              </p:nvSpPr>
              <p:spPr bwMode="auto">
                <a:xfrm>
                  <a:off x="2032" y="1176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34" name="Line 540"/>
                <p:cNvSpPr>
                  <a:spLocks noChangeShapeType="1"/>
                </p:cNvSpPr>
                <p:nvPr/>
              </p:nvSpPr>
              <p:spPr bwMode="auto">
                <a:xfrm rot="5400000">
                  <a:off x="2144" y="1160"/>
                  <a:ext cx="48" cy="0"/>
                </a:xfrm>
                <a:prstGeom prst="line">
                  <a:avLst/>
                </a:prstGeom>
                <a:noFill/>
                <a:ln w="19050">
                  <a:solidFill>
                    <a:srgbClr val="00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2627" name="Rectangle 541"/>
            <p:cNvSpPr>
              <a:spLocks noChangeArrowheads="1"/>
            </p:cNvSpPr>
            <p:nvPr/>
          </p:nvSpPr>
          <p:spPr bwMode="auto">
            <a:xfrm>
              <a:off x="2277" y="1328"/>
              <a:ext cx="35" cy="288"/>
            </a:xfrm>
            <a:prstGeom prst="rect">
              <a:avLst/>
            </a:prstGeom>
            <a:pattFill prst="dkDnDiag">
              <a:fgClr>
                <a:schemeClr val="accent1"/>
              </a:fgClr>
              <a:bgClr>
                <a:schemeClr val="bg1"/>
              </a:bgClr>
            </a:pattFill>
            <a:ln w="158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2750" name="Line 542"/>
          <p:cNvSpPr>
            <a:spLocks noChangeShapeType="1"/>
          </p:cNvSpPr>
          <p:nvPr/>
        </p:nvSpPr>
        <p:spPr bwMode="auto">
          <a:xfrm>
            <a:off x="8826500" y="34925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751" name="Rectangle 543" descr="Large confetti"/>
          <p:cNvSpPr>
            <a:spLocks noChangeArrowheads="1"/>
          </p:cNvSpPr>
          <p:nvPr/>
        </p:nvSpPr>
        <p:spPr bwMode="auto">
          <a:xfrm rot="10800000">
            <a:off x="8953500" y="3517900"/>
            <a:ext cx="342900" cy="152400"/>
          </a:xfrm>
          <a:prstGeom prst="rect">
            <a:avLst/>
          </a:prstGeom>
          <a:pattFill prst="lgConfetti">
            <a:fgClr>
              <a:srgbClr val="996633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algn="l"/>
            <a:endParaRPr lang="en-US">
              <a:solidFill>
                <a:srgbClr val="996633"/>
              </a:solidFill>
            </a:endParaRPr>
          </a:p>
        </p:txBody>
      </p:sp>
      <p:sp>
        <p:nvSpPr>
          <p:cNvPr id="222752" name="Freeform 544"/>
          <p:cNvSpPr>
            <a:spLocks/>
          </p:cNvSpPr>
          <p:nvPr/>
        </p:nvSpPr>
        <p:spPr bwMode="auto">
          <a:xfrm>
            <a:off x="8991600" y="4495800"/>
            <a:ext cx="228600" cy="152400"/>
          </a:xfrm>
          <a:custGeom>
            <a:avLst/>
            <a:gdLst>
              <a:gd name="T0" fmla="*/ 228600 w 144"/>
              <a:gd name="T1" fmla="*/ 0 h 76"/>
              <a:gd name="T2" fmla="*/ 190500 w 144"/>
              <a:gd name="T3" fmla="*/ 144379 h 76"/>
              <a:gd name="T4" fmla="*/ 0 w 144"/>
              <a:gd name="T5" fmla="*/ 48126 h 76"/>
              <a:gd name="T6" fmla="*/ 0 60000 65536"/>
              <a:gd name="T7" fmla="*/ 0 60000 65536"/>
              <a:gd name="T8" fmla="*/ 0 60000 65536"/>
              <a:gd name="T9" fmla="*/ 0 w 144"/>
              <a:gd name="T10" fmla="*/ 0 h 76"/>
              <a:gd name="T11" fmla="*/ 144 w 144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76">
                <a:moveTo>
                  <a:pt x="144" y="0"/>
                </a:moveTo>
                <a:cubicBezTo>
                  <a:pt x="140" y="12"/>
                  <a:pt x="144" y="68"/>
                  <a:pt x="120" y="72"/>
                </a:cubicBezTo>
                <a:cubicBezTo>
                  <a:pt x="96" y="76"/>
                  <a:pt x="25" y="34"/>
                  <a:pt x="0" y="24"/>
                </a:cubicBezTo>
              </a:path>
            </a:pathLst>
          </a:cu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2753" name="Rectangle 545"/>
          <p:cNvSpPr>
            <a:spLocks noChangeArrowheads="1"/>
          </p:cNvSpPr>
          <p:nvPr/>
        </p:nvSpPr>
        <p:spPr bwMode="auto">
          <a:xfrm>
            <a:off x="9080500" y="3492500"/>
            <a:ext cx="266700" cy="1778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2421" name="Group 546"/>
          <p:cNvGrpSpPr>
            <a:grpSpLocks/>
          </p:cNvGrpSpPr>
          <p:nvPr/>
        </p:nvGrpSpPr>
        <p:grpSpPr bwMode="auto">
          <a:xfrm>
            <a:off x="9004300" y="3463926"/>
            <a:ext cx="368300" cy="130175"/>
            <a:chOff x="3888" y="1400"/>
            <a:chExt cx="264" cy="82"/>
          </a:xfrm>
        </p:grpSpPr>
        <p:sp>
          <p:nvSpPr>
            <p:cNvPr id="22624" name="Freeform 547"/>
            <p:cNvSpPr>
              <a:spLocks/>
            </p:cNvSpPr>
            <p:nvPr/>
          </p:nvSpPr>
          <p:spPr bwMode="auto">
            <a:xfrm>
              <a:off x="4080" y="1416"/>
              <a:ext cx="72" cy="48"/>
            </a:xfrm>
            <a:custGeom>
              <a:avLst/>
              <a:gdLst>
                <a:gd name="T0" fmla="*/ 0 w 72"/>
                <a:gd name="T1" fmla="*/ 48 h 48"/>
                <a:gd name="T2" fmla="*/ 64 w 72"/>
                <a:gd name="T3" fmla="*/ 40 h 48"/>
                <a:gd name="T4" fmla="*/ 48 w 72"/>
                <a:gd name="T5" fmla="*/ 0 h 48"/>
                <a:gd name="T6" fmla="*/ 0 60000 65536"/>
                <a:gd name="T7" fmla="*/ 0 60000 65536"/>
                <a:gd name="T8" fmla="*/ 0 60000 65536"/>
                <a:gd name="T9" fmla="*/ 0 w 72"/>
                <a:gd name="T10" fmla="*/ 0 h 48"/>
                <a:gd name="T11" fmla="*/ 72 w 72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48">
                  <a:moveTo>
                    <a:pt x="0" y="48"/>
                  </a:moveTo>
                  <a:cubicBezTo>
                    <a:pt x="11" y="47"/>
                    <a:pt x="56" y="48"/>
                    <a:pt x="64" y="40"/>
                  </a:cubicBezTo>
                  <a:cubicBezTo>
                    <a:pt x="72" y="32"/>
                    <a:pt x="51" y="8"/>
                    <a:pt x="48" y="0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25" name="Freeform 548"/>
            <p:cNvSpPr>
              <a:spLocks/>
            </p:cNvSpPr>
            <p:nvPr/>
          </p:nvSpPr>
          <p:spPr bwMode="auto">
            <a:xfrm>
              <a:off x="3888" y="1400"/>
              <a:ext cx="72" cy="82"/>
            </a:xfrm>
            <a:custGeom>
              <a:avLst/>
              <a:gdLst>
                <a:gd name="T0" fmla="*/ 24 w 72"/>
                <a:gd name="T1" fmla="*/ 0 h 82"/>
                <a:gd name="T2" fmla="*/ 8 w 72"/>
                <a:gd name="T3" fmla="*/ 48 h 82"/>
                <a:gd name="T4" fmla="*/ 72 w 72"/>
                <a:gd name="T5" fmla="*/ 82 h 82"/>
                <a:gd name="T6" fmla="*/ 0 60000 65536"/>
                <a:gd name="T7" fmla="*/ 0 60000 65536"/>
                <a:gd name="T8" fmla="*/ 0 60000 65536"/>
                <a:gd name="T9" fmla="*/ 0 w 72"/>
                <a:gd name="T10" fmla="*/ 0 h 82"/>
                <a:gd name="T11" fmla="*/ 72 w 72"/>
                <a:gd name="T12" fmla="*/ 82 h 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82">
                  <a:moveTo>
                    <a:pt x="24" y="0"/>
                  </a:moveTo>
                  <a:cubicBezTo>
                    <a:pt x="21" y="8"/>
                    <a:pt x="0" y="34"/>
                    <a:pt x="8" y="48"/>
                  </a:cubicBezTo>
                  <a:cubicBezTo>
                    <a:pt x="16" y="62"/>
                    <a:pt x="59" y="75"/>
                    <a:pt x="72" y="82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422" name="Group 549"/>
          <p:cNvGrpSpPr>
            <a:grpSpLocks/>
          </p:cNvGrpSpPr>
          <p:nvPr/>
        </p:nvGrpSpPr>
        <p:grpSpPr bwMode="auto">
          <a:xfrm>
            <a:off x="9117014" y="3517901"/>
            <a:ext cx="179387" cy="982663"/>
            <a:chOff x="3519" y="1327"/>
            <a:chExt cx="113" cy="619"/>
          </a:xfrm>
        </p:grpSpPr>
        <p:sp>
          <p:nvSpPr>
            <p:cNvPr id="22622" name="Line 550"/>
            <p:cNvSpPr>
              <a:spLocks noChangeShapeType="1"/>
            </p:cNvSpPr>
            <p:nvPr/>
          </p:nvSpPr>
          <p:spPr bwMode="auto">
            <a:xfrm flipH="1">
              <a:off x="3584" y="1352"/>
              <a:ext cx="48" cy="587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23" name="Freeform 551"/>
            <p:cNvSpPr>
              <a:spLocks/>
            </p:cNvSpPr>
            <p:nvPr/>
          </p:nvSpPr>
          <p:spPr bwMode="auto">
            <a:xfrm>
              <a:off x="3519" y="1327"/>
              <a:ext cx="9" cy="619"/>
            </a:xfrm>
            <a:custGeom>
              <a:avLst/>
              <a:gdLst>
                <a:gd name="T0" fmla="*/ 1 w 9"/>
                <a:gd name="T1" fmla="*/ 65 h 619"/>
                <a:gd name="T2" fmla="*/ 1 w 9"/>
                <a:gd name="T3" fmla="*/ 65 h 619"/>
                <a:gd name="T4" fmla="*/ 9 w 9"/>
                <a:gd name="T5" fmla="*/ 72 h 619"/>
                <a:gd name="T6" fmla="*/ 9 w 9"/>
                <a:gd name="T7" fmla="*/ 496 h 619"/>
                <a:gd name="T8" fmla="*/ 9 w 9"/>
                <a:gd name="T9" fmla="*/ 602 h 619"/>
                <a:gd name="T10" fmla="*/ 9 w 9"/>
                <a:gd name="T11" fmla="*/ 601 h 6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619"/>
                <a:gd name="T20" fmla="*/ 9 w 9"/>
                <a:gd name="T21" fmla="*/ 619 h 6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619">
                  <a:moveTo>
                    <a:pt x="1" y="65"/>
                  </a:moveTo>
                  <a:cubicBezTo>
                    <a:pt x="1" y="65"/>
                    <a:pt x="0" y="64"/>
                    <a:pt x="1" y="65"/>
                  </a:cubicBezTo>
                  <a:cubicBezTo>
                    <a:pt x="2" y="66"/>
                    <a:pt x="8" y="0"/>
                    <a:pt x="9" y="72"/>
                  </a:cubicBezTo>
                  <a:lnTo>
                    <a:pt x="9" y="496"/>
                  </a:lnTo>
                  <a:lnTo>
                    <a:pt x="9" y="602"/>
                  </a:lnTo>
                  <a:cubicBezTo>
                    <a:pt x="9" y="619"/>
                    <a:pt x="9" y="601"/>
                    <a:pt x="9" y="601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423" name="Group 552"/>
          <p:cNvGrpSpPr>
            <a:grpSpLocks/>
          </p:cNvGrpSpPr>
          <p:nvPr/>
        </p:nvGrpSpPr>
        <p:grpSpPr bwMode="auto">
          <a:xfrm>
            <a:off x="9220200" y="4572000"/>
            <a:ext cx="1371600" cy="685800"/>
            <a:chOff x="2592" y="2016"/>
            <a:chExt cx="864" cy="432"/>
          </a:xfrm>
        </p:grpSpPr>
        <p:sp>
          <p:nvSpPr>
            <p:cNvPr id="22620" name="Rectangle 553"/>
            <p:cNvSpPr>
              <a:spLocks noChangeArrowheads="1"/>
            </p:cNvSpPr>
            <p:nvPr/>
          </p:nvSpPr>
          <p:spPr bwMode="auto">
            <a:xfrm>
              <a:off x="2928" y="2304"/>
              <a:ext cx="52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Runner</a:t>
              </a:r>
            </a:p>
          </p:txBody>
        </p:sp>
        <p:sp>
          <p:nvSpPr>
            <p:cNvPr id="22621" name="Line 554"/>
            <p:cNvSpPr>
              <a:spLocks noChangeShapeType="1"/>
            </p:cNvSpPr>
            <p:nvPr/>
          </p:nvSpPr>
          <p:spPr bwMode="auto">
            <a:xfrm flipH="1" flipV="1">
              <a:off x="2592" y="2016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2424" name="Group 555"/>
          <p:cNvGrpSpPr>
            <a:grpSpLocks/>
          </p:cNvGrpSpPr>
          <p:nvPr/>
        </p:nvGrpSpPr>
        <p:grpSpPr bwMode="auto">
          <a:xfrm>
            <a:off x="9067800" y="4584700"/>
            <a:ext cx="1219200" cy="1219200"/>
            <a:chOff x="2496" y="2016"/>
            <a:chExt cx="768" cy="768"/>
          </a:xfrm>
        </p:grpSpPr>
        <p:sp>
          <p:nvSpPr>
            <p:cNvPr id="22618" name="Rectangle 556"/>
            <p:cNvSpPr>
              <a:spLocks noChangeArrowheads="1"/>
            </p:cNvSpPr>
            <p:nvPr/>
          </p:nvSpPr>
          <p:spPr bwMode="auto">
            <a:xfrm>
              <a:off x="2928" y="2640"/>
              <a:ext cx="336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r>
                <a:rPr lang="en-US"/>
                <a:t>Gate</a:t>
              </a:r>
            </a:p>
          </p:txBody>
        </p:sp>
        <p:sp>
          <p:nvSpPr>
            <p:cNvPr id="22619" name="Line 557"/>
            <p:cNvSpPr>
              <a:spLocks noChangeShapeType="1"/>
            </p:cNvSpPr>
            <p:nvPr/>
          </p:nvSpPr>
          <p:spPr bwMode="auto">
            <a:xfrm flipH="1" flipV="1">
              <a:off x="2496" y="2016"/>
              <a:ext cx="528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2766" name="Line 558"/>
          <p:cNvSpPr>
            <a:spLocks noChangeShapeType="1"/>
          </p:cNvSpPr>
          <p:nvPr/>
        </p:nvSpPr>
        <p:spPr bwMode="auto">
          <a:xfrm>
            <a:off x="5803900" y="2286000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4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0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3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6"/>
                                            </p:cond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9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2"/>
                                            </p:cond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5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00"/>
                            </p:stCondLst>
                            <p:childTnLst>
                              <p:par>
                                <p:cTn id="4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8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8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8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2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8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4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6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2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5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7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9"/>
                                            </p:cond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1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3"/>
                                            </p:cond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5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pTgt spid="22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9"/>
                                            </p:cond>
                                          </p:stCondLst>
                                        </p:cTn>
                                        <p:tgtEl>
                                          <p:spTgt spid="22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1"/>
                                            </p:cond>
                                          </p:stCondLst>
                                        </p:cTn>
                                        <p:tgtEl>
                                          <p:spTgt spid="22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3"/>
                                            </p:cond>
                                          </p:stCondLst>
                                        </p:cTn>
                                        <p:tgtEl>
                                          <p:spTgt spid="22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5"/>
                                            </p:cond>
                                          </p:stCondLst>
                                        </p:cTn>
                                        <p:tgtEl>
                                          <p:spTgt spid="22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7"/>
                                            </p:cond>
                                          </p:stCondLst>
                                        </p:cTn>
                                        <p:tgtEl>
                                          <p:spTgt spid="22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9"/>
                                            </p:cond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1"/>
                                            </p:cond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3"/>
                                            </p:cond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5"/>
                                            </p:cond>
                                          </p:stCondLst>
                                        </p:cTn>
                                        <p:tgtEl>
                                          <p:spTgt spid="22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7"/>
                                            </p:cond>
                                          </p:stCondLst>
                                        </p:cTn>
                                        <p:tgtEl>
                                          <p:spTgt spid="22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9"/>
                                            </p:cond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1"/>
                                            </p:cond>
                                          </p:stCondLst>
                                        </p:cTn>
                                        <p:tgtEl>
                                          <p:spTgt spid="22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3"/>
                                            </p:cond>
                                          </p:stCondLst>
                                        </p:cTn>
                                        <p:tgtEl>
                                          <p:spTgt spid="22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38" dur="2000" fill="hold"/>
                                        <p:tgtEl>
                                          <p:spTgt spid="2222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2500"/>
                            </p:stCondLst>
                            <p:childTnLst>
                              <p:par>
                                <p:cTn id="2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3500"/>
                            </p:stCondLst>
                            <p:childTnLst>
                              <p:par>
                                <p:cTn id="2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4500"/>
                            </p:stCondLst>
                            <p:childTnLst>
                              <p:par>
                                <p:cTn id="2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500"/>
                            </p:stCondLst>
                            <p:childTnLst>
                              <p:par>
                                <p:cTn id="2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6500"/>
                            </p:stCondLst>
                            <p:childTnLst>
                              <p:par>
                                <p:cTn id="2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7500"/>
                            </p:stCondLst>
                            <p:childTnLst>
                              <p:par>
                                <p:cTn id="2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8500"/>
                            </p:stCondLst>
                            <p:childTnLst>
                              <p:par>
                                <p:cTn id="2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9500"/>
                            </p:stCondLst>
                            <p:childTnLst>
                              <p:par>
                                <p:cTn id="2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10500"/>
                            </p:stCondLst>
                            <p:childTnLst>
                              <p:par>
                                <p:cTn id="2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1500"/>
                            </p:stCondLst>
                            <p:childTnLst>
                              <p:par>
                                <p:cTn id="2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2500"/>
                            </p:stCondLst>
                            <p:childTnLst>
                              <p:par>
                                <p:cTn id="2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2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800"/>
                            </p:stCondLst>
                            <p:childTnLst>
                              <p:par>
                                <p:cTn id="304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1600"/>
                            </p:stCondLst>
                            <p:childTnLst>
                              <p:par>
                                <p:cTn id="307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2400"/>
                            </p:stCondLst>
                            <p:childTnLst>
                              <p:par>
                                <p:cTn id="310" presetID="1" presetClass="entr" presetSubtype="0" fill="hold" grpId="0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3200"/>
                            </p:stCondLst>
                            <p:childTnLst>
                              <p:par>
                                <p:cTn id="31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1000"/>
                            </p:stCondLst>
                            <p:childTnLst>
                              <p:par>
                                <p:cTn id="3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500"/>
                            </p:stCondLst>
                            <p:childTnLst>
                              <p:par>
                                <p:cTn id="3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4" grpId="0"/>
      <p:bldP spid="222262" grpId="0" animBg="1"/>
      <p:bldP spid="222262" grpId="1" animBg="1"/>
      <p:bldP spid="222263" grpId="0" animBg="1"/>
      <p:bldP spid="222263" grpId="1" animBg="1"/>
      <p:bldP spid="222264" grpId="0" animBg="1"/>
      <p:bldP spid="222264" grpId="1" animBg="1"/>
      <p:bldP spid="222265" grpId="0" animBg="1"/>
      <p:bldP spid="222265" grpId="1" animBg="1"/>
      <p:bldP spid="222266" grpId="0" animBg="1"/>
      <p:bldP spid="222266" grpId="1" animBg="1"/>
      <p:bldP spid="222267" grpId="0" animBg="1"/>
      <p:bldP spid="222267" grpId="1" animBg="1"/>
      <p:bldP spid="222268" grpId="0" animBg="1"/>
      <p:bldP spid="222268" grpId="1" animBg="1"/>
      <p:bldP spid="222296" grpId="0" animBg="1"/>
      <p:bldP spid="222296" grpId="1" animBg="1"/>
      <p:bldP spid="222297" grpId="0" animBg="1"/>
      <p:bldP spid="222297" grpId="1" animBg="1"/>
      <p:bldP spid="222310" grpId="0" animBg="1"/>
      <p:bldP spid="222310" grpId="1" animBg="1"/>
      <p:bldP spid="222409" grpId="0" animBg="1"/>
      <p:bldP spid="222410" grpId="0" animBg="1"/>
      <p:bldP spid="222562" grpId="0" animBg="1"/>
      <p:bldP spid="222563" grpId="0" animBg="1"/>
      <p:bldP spid="222570" grpId="0" animBg="1"/>
      <p:bldP spid="222571" grpId="0" animBg="1"/>
      <p:bldP spid="222572" grpId="0" animBg="1"/>
      <p:bldP spid="222573" grpId="0" animBg="1"/>
      <p:bldP spid="222574" grpId="0" animBg="1"/>
      <p:bldP spid="222575" grpId="0" animBg="1"/>
      <p:bldP spid="222576" grpId="0" animBg="1"/>
      <p:bldP spid="222577" grpId="0" animBg="1"/>
      <p:bldP spid="222578" grpId="0" animBg="1"/>
      <p:bldP spid="222579" grpId="0" animBg="1"/>
      <p:bldP spid="222580" grpId="0" animBg="1"/>
      <p:bldP spid="222581" grpId="0" animBg="1"/>
      <p:bldP spid="222603" grpId="0" animBg="1"/>
      <p:bldP spid="222604" grpId="0" animBg="1"/>
      <p:bldP spid="222605" grpId="0" animBg="1"/>
      <p:bldP spid="222606" grpId="0" animBg="1"/>
      <p:bldP spid="222633" grpId="0" animBg="1"/>
      <p:bldP spid="222649" grpId="0" animBg="1"/>
      <p:bldP spid="222650" grpId="0" animBg="1"/>
      <p:bldP spid="222651" grpId="0" animBg="1"/>
      <p:bldP spid="222732" grpId="0" animBg="1"/>
      <p:bldP spid="222736" grpId="0" animBg="1"/>
      <p:bldP spid="222750" grpId="0" animBg="1"/>
      <p:bldP spid="222751" grpId="0" animBg="1"/>
      <p:bldP spid="222751" grpId="1" animBg="1"/>
      <p:bldP spid="222752" grpId="0" animBg="1"/>
      <p:bldP spid="222753" grpId="0" animBg="1"/>
      <p:bldP spid="22276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emystifying Shrinkage Porosity in Ductile Iron Castings | International  Journal of Metalcasting">
            <a:extLst>
              <a:ext uri="{FF2B5EF4-FFF2-40B4-BE49-F238E27FC236}">
                <a16:creationId xmlns:a16="http://schemas.microsoft.com/office/drawing/2014/main" id="{E3A68918-F421-ADCA-78C2-CC6E2B05F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43000"/>
            <a:ext cx="8382000" cy="516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8CF04C-2445-D0FD-65CD-AFA7BDEE1339}"/>
              </a:ext>
            </a:extLst>
          </p:cNvPr>
          <p:cNvSpPr txBox="1"/>
          <p:nvPr/>
        </p:nvSpPr>
        <p:spPr>
          <a:xfrm>
            <a:off x="4800600" y="228600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Casting Defect</a:t>
            </a:r>
          </a:p>
        </p:txBody>
      </p:sp>
    </p:spTree>
    <p:extLst>
      <p:ext uri="{BB962C8B-B14F-4D97-AF65-F5344CB8AC3E}">
        <p14:creationId xmlns:p14="http://schemas.microsoft.com/office/powerpoint/2010/main" val="2010051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/>
          </a:p>
        </p:txBody>
      </p:sp>
      <p:sp>
        <p:nvSpPr>
          <p:cNvPr id="190466" name="Text Box 2"/>
          <p:cNvSpPr txBox="1">
            <a:spLocks noChangeArrowheads="1"/>
          </p:cNvSpPr>
          <p:nvPr/>
        </p:nvSpPr>
        <p:spPr bwMode="auto">
          <a:xfrm>
            <a:off x="1905000" y="206376"/>
            <a:ext cx="9067800" cy="5269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patterns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Single piece pattern 	2. Match plate pattern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Gated pattern		4. Split pattern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Cope &amp; Drag pattern 	6. Loose-piece pattern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Skeleton pattern</a:t>
            </a:r>
          </a:p>
        </p:txBody>
      </p:sp>
    </p:spTree>
    <p:extLst>
      <p:ext uri="{BB962C8B-B14F-4D97-AF65-F5344CB8AC3E}">
        <p14:creationId xmlns:p14="http://schemas.microsoft.com/office/powerpoint/2010/main" val="744046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4D85B1-AE8D-0C21-876B-9CCAF3D33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43000"/>
            <a:ext cx="3599520" cy="2895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4FCE5D-BF9B-8B8D-2787-52B47DB23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143000"/>
            <a:ext cx="3962400" cy="2913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6186FE-8235-4280-D7E3-DA8C7CDBE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453" y="1143000"/>
            <a:ext cx="3467100" cy="27913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5BDAD2-9050-3D69-E86E-EB88ADEBF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47" y="4138612"/>
            <a:ext cx="3650558" cy="27193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A0C169-2143-8C8C-927C-72813DE95E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7240" y="4113538"/>
            <a:ext cx="3599520" cy="27444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A4C905-3AC7-9467-AFB3-2C2B10C4CD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6078" y="4152059"/>
            <a:ext cx="3467100" cy="256583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A4182E-E72C-8BBE-13DB-ABEF6A30516E}"/>
              </a:ext>
            </a:extLst>
          </p:cNvPr>
          <p:cNvSpPr txBox="1"/>
          <p:nvPr/>
        </p:nvSpPr>
        <p:spPr>
          <a:xfrm>
            <a:off x="4045005" y="1221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Types of patterns</a:t>
            </a:r>
          </a:p>
        </p:txBody>
      </p:sp>
    </p:spTree>
    <p:extLst>
      <p:ext uri="{BB962C8B-B14F-4D97-AF65-F5344CB8AC3E}">
        <p14:creationId xmlns:p14="http://schemas.microsoft.com/office/powerpoint/2010/main" val="2394792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C514C2-B89A-D047-F9AC-812C254B5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685800"/>
            <a:ext cx="7315200" cy="59101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5B475C-B707-A86B-63F5-AD3DE222683F}"/>
              </a:ext>
            </a:extLst>
          </p:cNvPr>
          <p:cNvSpPr txBox="1"/>
          <p:nvPr/>
        </p:nvSpPr>
        <p:spPr>
          <a:xfrm>
            <a:off x="4343400" y="-22086"/>
            <a:ext cx="44231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/>
              <a:t>Match Plate Pattern</a:t>
            </a:r>
          </a:p>
        </p:txBody>
      </p:sp>
    </p:spTree>
    <p:extLst>
      <p:ext uri="{BB962C8B-B14F-4D97-AF65-F5344CB8AC3E}">
        <p14:creationId xmlns:p14="http://schemas.microsoft.com/office/powerpoint/2010/main" val="2086244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C33053F-6FF8-9261-1924-3C8D43466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819400"/>
            <a:ext cx="3100388" cy="19681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718F45-C7D6-D81B-4368-3F650F0FC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4" y="1143000"/>
            <a:ext cx="3602764" cy="29956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ADB853-866D-8DE9-389D-2F2B9CA80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990600"/>
            <a:ext cx="3602765" cy="24942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1CB894-998D-BB2D-A43C-93E41C280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456" y="1185862"/>
            <a:ext cx="3295650" cy="29098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3A11E4-557C-AFA5-70D9-868A60D98964}"/>
              </a:ext>
            </a:extLst>
          </p:cNvPr>
          <p:cNvSpPr txBox="1"/>
          <p:nvPr/>
        </p:nvSpPr>
        <p:spPr>
          <a:xfrm>
            <a:off x="3962400" y="762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Types of patterns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569928-A929-8CEF-8ED5-9D311EC47B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29" y="4285717"/>
            <a:ext cx="4343400" cy="248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629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9820" y="990600"/>
            <a:ext cx="10884648" cy="2289175"/>
            <a:chOff x="-42" y="81"/>
            <a:chExt cx="5232" cy="1442"/>
          </a:xfrm>
        </p:grpSpPr>
        <p:sp>
          <p:nvSpPr>
            <p:cNvPr id="196611" name="Text Box 3"/>
            <p:cNvSpPr txBox="1">
              <a:spLocks noChangeArrowheads="1"/>
            </p:cNvSpPr>
            <p:nvPr/>
          </p:nvSpPr>
          <p:spPr bwMode="auto">
            <a:xfrm>
              <a:off x="-42" y="379"/>
              <a:ext cx="5232" cy="11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Made from one piece &amp; does not contain loose pieces</a:t>
              </a:r>
            </a:p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Inexpensive &amp; are of simplest type</a:t>
              </a:r>
            </a:p>
          </p:txBody>
        </p:sp>
        <p:sp>
          <p:nvSpPr>
            <p:cNvPr id="196612" name="Rectangle 4"/>
            <p:cNvSpPr>
              <a:spLocks noChangeArrowheads="1"/>
            </p:cNvSpPr>
            <p:nvPr/>
          </p:nvSpPr>
          <p:spPr bwMode="auto">
            <a:xfrm>
              <a:off x="209" y="81"/>
              <a:ext cx="2298" cy="3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piece pattern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46327" y="2664617"/>
            <a:ext cx="10879111" cy="4089400"/>
            <a:chOff x="202" y="1883"/>
            <a:chExt cx="6137" cy="2576"/>
          </a:xfrm>
        </p:grpSpPr>
        <p:sp>
          <p:nvSpPr>
            <p:cNvPr id="196617" name="Rectangle 9"/>
            <p:cNvSpPr>
              <a:spLocks noChangeArrowheads="1"/>
            </p:cNvSpPr>
            <p:nvPr/>
          </p:nvSpPr>
          <p:spPr bwMode="auto">
            <a:xfrm>
              <a:off x="202" y="1883"/>
              <a:ext cx="1515" cy="3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Split pattern</a:t>
              </a:r>
            </a:p>
          </p:txBody>
        </p:sp>
        <p:sp>
          <p:nvSpPr>
            <p:cNvPr id="196618" name="Text Box 10"/>
            <p:cNvSpPr txBox="1">
              <a:spLocks noChangeArrowheads="1"/>
            </p:cNvSpPr>
            <p:nvPr/>
          </p:nvSpPr>
          <p:spPr bwMode="auto">
            <a:xfrm>
              <a:off x="288" y="2229"/>
              <a:ext cx="6051" cy="22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just">
                <a:spcBef>
                  <a:spcPct val="50000"/>
                </a:spcBef>
                <a:buFontTx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Most widely used pattern for intricate castings</a:t>
              </a:r>
            </a:p>
            <a:p>
              <a:pPr algn="just">
                <a:spcBef>
                  <a:spcPct val="50000"/>
                </a:spcBef>
                <a:buFontTx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Here the pattern is split into 2 parts so that one part is in</a:t>
              </a:r>
            </a:p>
            <a:p>
              <a:pPr algn="just"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the cope &amp; other is in the drag      </a:t>
              </a:r>
            </a:p>
            <a:p>
              <a:pPr algn="just">
                <a:spcBef>
                  <a:spcPct val="50000"/>
                </a:spcBef>
                <a:buFontTx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Two halves of the pattern is aligned properly by using </a:t>
              </a:r>
            </a:p>
            <a:p>
              <a:pPr algn="just"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dowel pins                  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E9E7E66-0D8F-5E38-AAC2-CEA3CEBC9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10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patterns</a:t>
            </a:r>
          </a:p>
        </p:txBody>
      </p:sp>
    </p:spTree>
    <p:extLst>
      <p:ext uri="{BB962C8B-B14F-4D97-AF65-F5344CB8AC3E}">
        <p14:creationId xmlns:p14="http://schemas.microsoft.com/office/powerpoint/2010/main" val="2037461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685800" y="573088"/>
            <a:ext cx="10744200" cy="3108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split patterns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cope &amp; drag halves of the pattern along with the gating                   </a:t>
            </a:r>
          </a:p>
          <a:p>
            <a:pPr algn="l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and riser systems prepared separately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But they are attached separately to the metal or wooden</a:t>
            </a:r>
          </a:p>
          <a:p>
            <a:pPr algn="l">
              <a:spcBef>
                <a:spcPct val="50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plate along with alignment pins</a:t>
            </a:r>
          </a:p>
        </p:txBody>
      </p:sp>
      <p:sp>
        <p:nvSpPr>
          <p:cNvPr id="198660" name="Rectangle 4"/>
          <p:cNvSpPr>
            <a:spLocks noChangeArrowheads="1"/>
          </p:cNvSpPr>
          <p:nvPr/>
        </p:nvSpPr>
        <p:spPr bwMode="auto">
          <a:xfrm>
            <a:off x="1132114" y="59284"/>
            <a:ext cx="3748142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Cope and Drag pattern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838200" y="3441700"/>
            <a:ext cx="10972800" cy="3092450"/>
            <a:chOff x="144" y="1152"/>
            <a:chExt cx="5376" cy="1948"/>
          </a:xfrm>
        </p:grpSpPr>
        <p:sp>
          <p:nvSpPr>
            <p:cNvPr id="198665" name="Rectangle 9"/>
            <p:cNvSpPr>
              <a:spLocks noChangeArrowheads="1"/>
            </p:cNvSpPr>
            <p:nvPr/>
          </p:nvSpPr>
          <p:spPr bwMode="auto">
            <a:xfrm>
              <a:off x="144" y="1152"/>
              <a:ext cx="1487" cy="3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6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Match plate pattern</a:t>
              </a:r>
            </a:p>
          </p:txBody>
        </p:sp>
        <p:sp>
          <p:nvSpPr>
            <p:cNvPr id="198666" name="Text Box 10"/>
            <p:cNvSpPr txBox="1">
              <a:spLocks noChangeArrowheads="1"/>
            </p:cNvSpPr>
            <p:nvPr/>
          </p:nvSpPr>
          <p:spPr bwMode="auto">
            <a:xfrm>
              <a:off x="288" y="1549"/>
              <a:ext cx="5232" cy="155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 extension of cope and drag pattern</a:t>
              </a:r>
            </a:p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Here the cope &amp; drag patterns along with the gating &amp;           </a:t>
              </a:r>
            </a:p>
            <a:p>
              <a:pPr algn="l">
                <a:spcBef>
                  <a:spcPct val="50000"/>
                </a:spcBef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risering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are mounted on a single matching or metal plate</a:t>
              </a:r>
            </a:p>
            <a:p>
              <a:pPr algn="l">
                <a:spcBef>
                  <a:spcPct val="50000"/>
                </a:spcBef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on either side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8845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z="1800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850" name="Text Box 2"/>
          <p:cNvSpPr txBox="1">
            <a:spLocks noChangeArrowheads="1"/>
          </p:cNvSpPr>
          <p:nvPr/>
        </p:nvSpPr>
        <p:spPr bwMode="auto">
          <a:xfrm>
            <a:off x="1999911" y="1824326"/>
            <a:ext cx="9296400" cy="18158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Used when contour of the part is such that withdrawing the pattern from the mold is not possible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Obstructing part is held as a loose piece </a:t>
            </a:r>
          </a:p>
        </p:txBody>
      </p:sp>
      <p:sp>
        <p:nvSpPr>
          <p:cNvPr id="206851" name="Rectangle 3"/>
          <p:cNvSpPr>
            <a:spLocks noChangeArrowheads="1"/>
          </p:cNvSpPr>
          <p:nvPr/>
        </p:nvSpPr>
        <p:spPr bwMode="auto">
          <a:xfrm>
            <a:off x="1955840" y="1184795"/>
            <a:ext cx="3605474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Loose piece pattern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73263" y="3612330"/>
            <a:ext cx="9609137" cy="2938463"/>
            <a:chOff x="283" y="1152"/>
            <a:chExt cx="5237" cy="1851"/>
          </a:xfrm>
        </p:grpSpPr>
        <p:sp>
          <p:nvSpPr>
            <p:cNvPr id="206853" name="Rectangle 5"/>
            <p:cNvSpPr>
              <a:spLocks noChangeArrowheads="1"/>
            </p:cNvSpPr>
            <p:nvPr/>
          </p:nvSpPr>
          <p:spPr bwMode="auto">
            <a:xfrm>
              <a:off x="283" y="1152"/>
              <a:ext cx="1684" cy="3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Skeleton pattern</a:t>
              </a:r>
            </a:p>
          </p:txBody>
        </p:sp>
        <p:sp>
          <p:nvSpPr>
            <p:cNvPr id="206854" name="Text Box 6"/>
            <p:cNvSpPr txBox="1">
              <a:spLocks noChangeArrowheads="1"/>
            </p:cNvSpPr>
            <p:nvPr/>
          </p:nvSpPr>
          <p:spPr bwMode="auto">
            <a:xfrm>
              <a:off x="288" y="1549"/>
              <a:ext cx="5232" cy="14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Made of strips of wood for preparing final pattern</a:t>
              </a:r>
            </a:p>
            <a:p>
              <a:pPr algn="l">
                <a:spcBef>
                  <a:spcPct val="50000"/>
                </a:spcBef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by pouring the sand around the pattern and packing 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936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/>
          </a:p>
        </p:txBody>
      </p:sp>
      <p:sp>
        <p:nvSpPr>
          <p:cNvPr id="202755" name="Text Box 3"/>
          <p:cNvSpPr txBox="1">
            <a:spLocks noChangeArrowheads="1"/>
          </p:cNvSpPr>
          <p:nvPr/>
        </p:nvSpPr>
        <p:spPr bwMode="auto">
          <a:xfrm>
            <a:off x="1828800" y="1905000"/>
            <a:ext cx="8305800" cy="427809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Usually made of metal which increases their strength and reduces tendency to warp 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Section  connecting different patterns serve as runner  and gates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 gated pattern can manufacture many castings at one time 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Used in mass production systems</a:t>
            </a:r>
          </a:p>
        </p:txBody>
      </p:sp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1981200" y="1219200"/>
            <a:ext cx="2408032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Gated pattern</a:t>
            </a:r>
          </a:p>
        </p:txBody>
      </p:sp>
    </p:spTree>
    <p:extLst>
      <p:ext uri="{BB962C8B-B14F-4D97-AF65-F5344CB8AC3E}">
        <p14:creationId xmlns:p14="http://schemas.microsoft.com/office/powerpoint/2010/main" val="2798972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eat Transfer Studies on Solidification of Casting Process | IntechOpen">
            <a:extLst>
              <a:ext uri="{FF2B5EF4-FFF2-40B4-BE49-F238E27FC236}">
                <a16:creationId xmlns:a16="http://schemas.microsoft.com/office/drawing/2014/main" id="{AC55C804-5E5A-CD89-2182-C43ADBAEE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174046"/>
            <a:ext cx="6815137" cy="569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ADD32E21-CE4B-0A5B-F725-9EDB44315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04800"/>
            <a:ext cx="523412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Molten Metal Cooling Curve</a:t>
            </a:r>
          </a:p>
        </p:txBody>
      </p:sp>
    </p:spTree>
    <p:extLst>
      <p:ext uri="{BB962C8B-B14F-4D97-AF65-F5344CB8AC3E}">
        <p14:creationId xmlns:p14="http://schemas.microsoft.com/office/powerpoint/2010/main" val="1824890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/>
          </a:p>
        </p:txBody>
      </p:sp>
      <p:sp>
        <p:nvSpPr>
          <p:cNvPr id="159746" name="Rectangle 2"/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609600" y="1006398"/>
            <a:ext cx="10591800" cy="58516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ct val="50000"/>
              </a:spcBef>
              <a:buFontTx/>
              <a:buAutoNum type="arabicPeriod"/>
            </a:pPr>
            <a:r>
              <a:rPr lang="en-US" sz="3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Shrinkage allowance	</a:t>
            </a:r>
          </a:p>
          <a:p>
            <a:pPr marL="342900" indent="-342900">
              <a:lnSpc>
                <a:spcPct val="200000"/>
              </a:lnSpc>
              <a:spcBef>
                <a:spcPct val="50000"/>
              </a:spcBef>
              <a:buFontTx/>
              <a:buAutoNum type="arabicPeriod"/>
            </a:pPr>
            <a:r>
              <a:rPr lang="en-US" sz="3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Draft or Taper allowance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Machining or Finishing allowance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Camber or distortion allowance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sz="3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Shake or Rapping allowance</a:t>
            </a:r>
          </a:p>
        </p:txBody>
      </p:sp>
    </p:spTree>
    <p:extLst>
      <p:ext uri="{BB962C8B-B14F-4D97-AF65-F5344CB8AC3E}">
        <p14:creationId xmlns:p14="http://schemas.microsoft.com/office/powerpoint/2010/main" val="566752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899" name="Text Box 3"/>
          <p:cNvSpPr txBox="1">
            <a:spLocks noChangeArrowheads="1"/>
          </p:cNvSpPr>
          <p:nvPr/>
        </p:nvSpPr>
        <p:spPr bwMode="auto">
          <a:xfrm>
            <a:off x="533400" y="1163775"/>
            <a:ext cx="6858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Shrinkage allowance                                                                        </a:t>
            </a:r>
          </a:p>
        </p:txBody>
      </p:sp>
      <p:sp>
        <p:nvSpPr>
          <p:cNvPr id="208900" name="Text Box 4"/>
          <p:cNvSpPr txBox="1">
            <a:spLocks noChangeArrowheads="1"/>
          </p:cNvSpPr>
          <p:nvPr/>
        </p:nvSpPr>
        <p:spPr bwMode="auto">
          <a:xfrm>
            <a:off x="533400" y="2057400"/>
            <a:ext cx="11125200" cy="41896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metals used in casting contract during cooling from pouring temperature to room temperature</a:t>
            </a:r>
          </a:p>
          <a:p>
            <a:pPr marL="342900" indent="-342900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to  compensate for solid contraction by providing adequate allowances in the pattern</a:t>
            </a:r>
          </a:p>
          <a:p>
            <a:pPr marL="342900" indent="-342900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of contraction varies with different metals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727E634-5AFA-43FD-D206-E12943BBD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</p:spTree>
    <p:extLst>
      <p:ext uri="{BB962C8B-B14F-4D97-AF65-F5344CB8AC3E}">
        <p14:creationId xmlns:p14="http://schemas.microsoft.com/office/powerpoint/2010/main" val="237064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3B0FF-3C93-B3D5-B1FD-45C980AD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20CD758-E44B-79BD-FB5F-7568B2B97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899" name="Text Box 3">
            <a:extLst>
              <a:ext uri="{FF2B5EF4-FFF2-40B4-BE49-F238E27FC236}">
                <a16:creationId xmlns:a16="http://schemas.microsoft.com/office/drawing/2014/main" id="{E679F20E-ECA0-E527-A789-0F600CDA2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936334"/>
            <a:ext cx="6858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Shrinkage allowance                                                                       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D6479A-CEDA-07AD-D17A-452BCA791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  <p:pic>
        <p:nvPicPr>
          <p:cNvPr id="3074" name="Picture 2" descr="Shrinkage Allowance | Advantages | FAQ | Contraction Allowance | Mechgrace">
            <a:extLst>
              <a:ext uri="{FF2B5EF4-FFF2-40B4-BE49-F238E27FC236}">
                <a16:creationId xmlns:a16="http://schemas.microsoft.com/office/drawing/2014/main" id="{B96997DA-BB37-29CF-E64B-DF1B87BB4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28543"/>
            <a:ext cx="8094133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9856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947" name="Text Box 3"/>
          <p:cNvSpPr txBox="1">
            <a:spLocks noChangeArrowheads="1"/>
          </p:cNvSpPr>
          <p:nvPr/>
        </p:nvSpPr>
        <p:spPr bwMode="auto">
          <a:xfrm>
            <a:off x="609600" y="1106090"/>
            <a:ext cx="4724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Machining Allowance                                                                        </a:t>
            </a:r>
          </a:p>
        </p:txBody>
      </p:sp>
      <p:sp>
        <p:nvSpPr>
          <p:cNvPr id="210948" name="Text Box 4"/>
          <p:cNvSpPr txBox="1">
            <a:spLocks noChangeArrowheads="1"/>
          </p:cNvSpPr>
          <p:nvPr/>
        </p:nvSpPr>
        <p:spPr bwMode="auto">
          <a:xfrm>
            <a:off x="587298" y="1718749"/>
            <a:ext cx="11277600" cy="4682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Given on the surface of the pattern by increasing the metal 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thickness there to compensate for loss of metal due to 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machining on these surfaces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Depends mainly upon method of machining to be employed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Given in addition to the shrinkage allowance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AEE8AC2-BCF2-31EC-8898-67BCB925F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</p:spTree>
    <p:extLst>
      <p:ext uri="{BB962C8B-B14F-4D97-AF65-F5344CB8AC3E}">
        <p14:creationId xmlns:p14="http://schemas.microsoft.com/office/powerpoint/2010/main" val="651952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629E-D74A-8E84-374C-2F0764C0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E36E69-0551-1729-F950-663C8A76B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7F58757-44CA-2E97-024D-B1F41ECCB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  <p:pic>
        <p:nvPicPr>
          <p:cNvPr id="1026" name="Picture 2" descr="Machining Design of Near Net-Shape Parts">
            <a:extLst>
              <a:ext uri="{FF2B5EF4-FFF2-40B4-BE49-F238E27FC236}">
                <a16:creationId xmlns:a16="http://schemas.microsoft.com/office/drawing/2014/main" id="{D2D34228-F378-8049-7EAF-686E2D431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91886"/>
            <a:ext cx="4933950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4C0FAF-63F0-087B-500F-0586DFD5BC84}"/>
              </a:ext>
            </a:extLst>
          </p:cNvPr>
          <p:cNvSpPr txBox="1"/>
          <p:nvPr/>
        </p:nvSpPr>
        <p:spPr>
          <a:xfrm>
            <a:off x="609600" y="64339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Machining Allowance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483CFB-34E9-5743-4AF0-366A4A304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233" y="1641827"/>
            <a:ext cx="6947086" cy="361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60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996" name="Text Box 4"/>
          <p:cNvSpPr txBox="1">
            <a:spLocks noChangeArrowheads="1"/>
          </p:cNvSpPr>
          <p:nvPr/>
        </p:nvSpPr>
        <p:spPr bwMode="auto">
          <a:xfrm>
            <a:off x="762000" y="1752600"/>
            <a:ext cx="10744200" cy="36971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slight taper on the vertical surfaces of the pattern     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parallel to the direction of withdrawal from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mould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Provided on both internal &amp; external surfaces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easy withdrawal of pattern from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mould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997" name="Text Box 5"/>
          <p:cNvSpPr txBox="1">
            <a:spLocks noChangeArrowheads="1"/>
          </p:cNvSpPr>
          <p:nvPr/>
        </p:nvSpPr>
        <p:spPr bwMode="auto">
          <a:xfrm>
            <a:off x="685800" y="1214437"/>
            <a:ext cx="64008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 Draft or Taper allowance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5D2030A-77A3-E1A0-9215-7148246E7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</p:spTree>
    <p:extLst>
      <p:ext uri="{BB962C8B-B14F-4D97-AF65-F5344CB8AC3E}">
        <p14:creationId xmlns:p14="http://schemas.microsoft.com/office/powerpoint/2010/main" val="2087685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636DD-B516-7F2F-FC90-98A50EF3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03149C-4AB2-91AB-3A92-2B27DFE8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997" name="Text Box 5">
            <a:extLst>
              <a:ext uri="{FF2B5EF4-FFF2-40B4-BE49-F238E27FC236}">
                <a16:creationId xmlns:a16="http://schemas.microsoft.com/office/drawing/2014/main" id="{35344C15-D47B-B40B-FA3D-AE1366C1F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138237"/>
            <a:ext cx="64008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Draft or Taper allowance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832A76C-6C50-6C3E-AFA7-2F992EB5A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  <p:pic>
        <p:nvPicPr>
          <p:cNvPr id="2050" name="Picture 2" descr="Types of Pattern Allowance and Its Reason- Shrinkage, Draft, Finishing,  Shake, Distortion, Mold wall movement">
            <a:extLst>
              <a:ext uri="{FF2B5EF4-FFF2-40B4-BE49-F238E27FC236}">
                <a16:creationId xmlns:a16="http://schemas.microsoft.com/office/drawing/2014/main" id="{FA075E39-411B-508B-1F70-5374C0C58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95816"/>
            <a:ext cx="6324600" cy="229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ifferent Types of Pattern Allowance in Casting - Mech4study">
            <a:extLst>
              <a:ext uri="{FF2B5EF4-FFF2-40B4-BE49-F238E27FC236}">
                <a16:creationId xmlns:a16="http://schemas.microsoft.com/office/drawing/2014/main" id="{6028BC18-862A-E85C-D391-137F7A662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36" y="3886200"/>
            <a:ext cx="6234077" cy="283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253F49-B1CA-59A1-A600-6F4E1DF2B2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590" y="2590800"/>
            <a:ext cx="5326409" cy="248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80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187" name="Text Box 3"/>
          <p:cNvSpPr txBox="1">
            <a:spLocks noChangeArrowheads="1"/>
          </p:cNvSpPr>
          <p:nvPr/>
        </p:nvSpPr>
        <p:spPr bwMode="auto">
          <a:xfrm>
            <a:off x="1066800" y="1676400"/>
            <a:ext cx="10287000" cy="36971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allowance to be provided in the pattern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When pattern is withdrawn from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mould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striking over   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it from side to side, size of the cavity increases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To compensate this rapping allowance is provided</a:t>
            </a:r>
          </a:p>
        </p:txBody>
      </p:sp>
      <p:sp>
        <p:nvSpPr>
          <p:cNvPr id="221188" name="Text Box 4"/>
          <p:cNvSpPr txBox="1">
            <a:spLocks noChangeArrowheads="1"/>
          </p:cNvSpPr>
          <p:nvPr/>
        </p:nvSpPr>
        <p:spPr bwMode="auto">
          <a:xfrm>
            <a:off x="990600" y="1067464"/>
            <a:ext cx="5105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 Rapping allowance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B6641DE-309B-4C6A-311F-935C82CFA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</p:spTree>
    <p:extLst>
      <p:ext uri="{BB962C8B-B14F-4D97-AF65-F5344CB8AC3E}">
        <p14:creationId xmlns:p14="http://schemas.microsoft.com/office/powerpoint/2010/main" val="331983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783C9-6FA4-68B9-84B7-9580DF4F6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C09BB22-0DA4-43F1-16E0-5B0AF4584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188" name="Text Box 4">
            <a:extLst>
              <a:ext uri="{FF2B5EF4-FFF2-40B4-BE49-F238E27FC236}">
                <a16:creationId xmlns:a16="http://schemas.microsoft.com/office/drawing/2014/main" id="{DFDDB373-6255-6915-5053-17C03243B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19200"/>
            <a:ext cx="5105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Rapping allowance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8E471A4-7885-A604-580B-3E00D832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  <p:pic>
        <p:nvPicPr>
          <p:cNvPr id="4098" name="Picture 2" descr="Rapping Allowance In Casting | Diagram ...">
            <a:extLst>
              <a:ext uri="{FF2B5EF4-FFF2-40B4-BE49-F238E27FC236}">
                <a16:creationId xmlns:a16="http://schemas.microsoft.com/office/drawing/2014/main" id="{EE109C0D-A538-B7C0-B30F-4277FE8C0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777081"/>
            <a:ext cx="8763000" cy="490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276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235" name="Text Box 3"/>
          <p:cNvSpPr txBox="1">
            <a:spLocks noChangeArrowheads="1"/>
          </p:cNvSpPr>
          <p:nvPr/>
        </p:nvSpPr>
        <p:spPr bwMode="auto">
          <a:xfrm>
            <a:off x="762000" y="1600201"/>
            <a:ext cx="11125200" cy="46820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Castings having irregular shape, will not have uniform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contraction during their cooling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Results in distortion of the castings   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Remedy: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opposite distortion is provided in the pattern </a:t>
            </a:r>
          </a:p>
        </p:txBody>
      </p:sp>
      <p:sp>
        <p:nvSpPr>
          <p:cNvPr id="223236" name="Text Box 4"/>
          <p:cNvSpPr txBox="1">
            <a:spLocks noChangeArrowheads="1"/>
          </p:cNvSpPr>
          <p:nvPr/>
        </p:nvSpPr>
        <p:spPr bwMode="auto">
          <a:xfrm>
            <a:off x="609600" y="1015426"/>
            <a:ext cx="5105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  Distortion allowance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CB6160B-90C6-0144-3FCB-D0ECAAFCD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</p:spTree>
    <p:extLst>
      <p:ext uri="{BB962C8B-B14F-4D97-AF65-F5344CB8AC3E}">
        <p14:creationId xmlns:p14="http://schemas.microsoft.com/office/powerpoint/2010/main" val="1462580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51A4-B0B5-0BB7-2FAC-B598AFB2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61CD8BD-ADD9-DB6F-6459-4890607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0960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C0304-0D27-496D-BE22-8732DF9F73B0}" type="slidenum">
              <a:rPr lang="en-US" smtClean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236" name="Text Box 4">
            <a:extLst>
              <a:ext uri="{FF2B5EF4-FFF2-40B4-BE49-F238E27FC236}">
                <a16:creationId xmlns:a16="http://schemas.microsoft.com/office/drawing/2014/main" id="{2D390E12-6179-12D7-3FB7-9DCCB5996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280" y="502842"/>
            <a:ext cx="5105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Distortion allowance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27D729B-BA5A-FCC7-99AA-081A3BDBB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52400"/>
            <a:ext cx="3124200" cy="4572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Allowances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CFD864-C5A6-A01F-0B87-03252D992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108074"/>
            <a:ext cx="8624888" cy="57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68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0054" y="6466738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BEFF1B-CCFF-F803-BCBB-BED3D2B36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2" y="152400"/>
            <a:ext cx="8105775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89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B1809B-9DF5-EB54-AC11-84309E14D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57187"/>
            <a:ext cx="6915150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519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9C71B7-07A3-8D10-D0A4-34EFEC4AC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09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849</Words>
  <Application>Microsoft Office PowerPoint</Application>
  <PresentationFormat>Widescreen</PresentationFormat>
  <Paragraphs>190</Paragraphs>
  <Slides>33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Arial</vt:lpstr>
      <vt:lpstr>Calibri</vt:lpstr>
      <vt:lpstr>Times New Roman</vt:lpstr>
      <vt:lpstr>Wingdings</vt:lpstr>
      <vt:lpstr>Office Theme</vt:lpstr>
      <vt:lpstr>CASTING: Pattern &amp; Allowances</vt:lpstr>
      <vt:lpstr>Casting</vt:lpstr>
      <vt:lpstr>Casting Process</vt:lpstr>
      <vt:lpstr>PowerPoint Presentation</vt:lpstr>
      <vt:lpstr>PowerPoint Presentation</vt:lpstr>
      <vt:lpstr>Pattern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 Metal Arc Welding  (GMAW / MIG) Submerged Welding</dc:title>
  <dc:creator>Dr. Ashok Kumar Sharma [MU - Jaipur]</dc:creator>
  <cp:lastModifiedBy>Agampreet Singh</cp:lastModifiedBy>
  <cp:revision>27</cp:revision>
  <dcterms:created xsi:type="dcterms:W3CDTF">2020-04-30T11:37:54Z</dcterms:created>
  <dcterms:modified xsi:type="dcterms:W3CDTF">2026-09-04T06:04:46Z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2020-04-30T00:00:00Z</vt:filetime>
  </property>
</Properties>
</file>