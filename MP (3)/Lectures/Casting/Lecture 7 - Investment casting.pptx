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11"/>
  </p:notesMasterIdLst>
  <p:sldIdLst>
    <p:sldId id="363" r:id="rId2"/>
    <p:sldId id="375" r:id="rId3"/>
    <p:sldId id="374" r:id="rId4"/>
    <p:sldId id="381" r:id="rId5"/>
    <p:sldId id="382" r:id="rId6"/>
    <p:sldId id="383" r:id="rId7"/>
    <p:sldId id="384" r:id="rId8"/>
    <p:sldId id="385" r:id="rId9"/>
    <p:sldId id="3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9252"/>
    <a:srgbClr val="FF66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6" autoAdjust="0"/>
    <p:restoredTop sz="88312" autoAdjust="0"/>
  </p:normalViewPr>
  <p:slideViewPr>
    <p:cSldViewPr snapToGrid="0" showGuides="1">
      <p:cViewPr varScale="1">
        <p:scale>
          <a:sx n="63" d="100"/>
          <a:sy n="63" d="100"/>
        </p:scale>
        <p:origin x="744" y="56"/>
      </p:cViewPr>
      <p:guideLst>
        <p:guide orient="horz" pos="2136"/>
        <p:guide pos="3840"/>
      </p:guideLst>
    </p:cSldViewPr>
  </p:slideViewPr>
  <p:notesTextViewPr>
    <p:cViewPr>
      <p:scale>
        <a:sx n="1" d="1"/>
        <a:sy n="1" d="1"/>
      </p:scale>
      <p:origin x="0" y="0"/>
    </p:cViewPr>
  </p:notesTextViewPr>
  <p:sorterViewPr>
    <p:cViewPr>
      <p:scale>
        <a:sx n="100" d="100"/>
        <a:sy n="100"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D159C-51B0-40A3-8694-41A37F70563A}"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4F81C-B500-4E97-922A-F612A414F54B}" type="slidenum">
              <a:rPr lang="en-US" smtClean="0"/>
              <a:t>‹#›</a:t>
            </a:fld>
            <a:endParaRPr lang="en-US"/>
          </a:p>
        </p:txBody>
      </p:sp>
    </p:spTree>
    <p:extLst>
      <p:ext uri="{BB962C8B-B14F-4D97-AF65-F5344CB8AC3E}">
        <p14:creationId xmlns:p14="http://schemas.microsoft.com/office/powerpoint/2010/main" val="150401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a:xfrm>
            <a:off x="838200"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a:xfrm>
            <a:off x="8610600" y="6485337"/>
            <a:ext cx="2743200" cy="365125"/>
          </a:xfrm>
        </p:spPr>
        <p:txBody>
          <a:bodyPr/>
          <a:lstStyle/>
          <a:p>
            <a:fld id="{790D40CC-89F5-074E-A99F-1FA92DFF8C6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91557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139" y="36884"/>
            <a:ext cx="10515600" cy="1325563"/>
          </a:xfrm>
        </p:spPr>
        <p:txBody>
          <a:bodyPr>
            <a:normAutofit/>
          </a:bodyPr>
          <a:lstStyle>
            <a:lvl1pPr>
              <a:defRPr sz="28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a:xfrm>
            <a:off x="756139" y="1391874"/>
            <a:ext cx="10515600" cy="4351338"/>
          </a:xfrm>
        </p:spPr>
        <p:txBody>
          <a:bodyPr/>
          <a:lstStyle>
            <a:lvl1pPr>
              <a:defRPr sz="2400">
                <a:latin typeface="Verdana" panose="020B0604030504040204" pitchFamily="34" charset="0"/>
                <a:ea typeface="Verdana" panose="020B0604030504040204" pitchFamily="34" charset="0"/>
                <a:cs typeface="Verdana" panose="020B0604030504040204" pitchFamily="34" charset="0"/>
              </a:defRPr>
            </a:lvl1pPr>
            <a:lvl2pPr marL="685783" indent="-228594">
              <a:buSzPct val="80000"/>
              <a:buFont typeface="Wingdings" pitchFamily="2" charset="2"/>
              <a:buChar char="§"/>
              <a:defRPr sz="2000">
                <a:latin typeface="Verdana" panose="020B0604030504040204" pitchFamily="34" charset="0"/>
                <a:ea typeface="Verdana" panose="020B0604030504040204" pitchFamily="34" charset="0"/>
                <a:cs typeface="Verdana" panose="020B0604030504040204" pitchFamily="34" charset="0"/>
              </a:defRPr>
            </a:lvl2pPr>
            <a:lvl3pPr marL="1142971" indent="-228594">
              <a:buSzPct val="70000"/>
              <a:buFont typeface="Courier New" panose="02070309020205020404" pitchFamily="49" charset="0"/>
              <a:buChar char="o"/>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marL="2057349" indent="-228594">
              <a:buSzPct val="60000"/>
              <a:buFont typeface="Wingdings" pitchFamily="2" charset="2"/>
              <a:buChar cha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hape 354">
            <a:extLst>
              <a:ext uri="{FF2B5EF4-FFF2-40B4-BE49-F238E27FC236}">
                <a16:creationId xmlns:a16="http://schemas.microsoft.com/office/drawing/2014/main" id="{6E1A2C32-3B4B-1241-8B0E-0DC4FD15B916}"/>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406ADC65-CA76-7742-A967-9DA419BE78F4}"/>
              </a:ext>
            </a:extLst>
          </p:cNvPr>
          <p:cNvPicPr>
            <a:picLocks noChangeAspect="1"/>
          </p:cNvPicPr>
          <p:nvPr userDrawn="1"/>
        </p:nvPicPr>
        <p:blipFill>
          <a:blip r:embed="rId2"/>
          <a:stretch>
            <a:fillRect/>
          </a:stretch>
        </p:blipFill>
        <p:spPr>
          <a:xfrm>
            <a:off x="11140521" y="2721"/>
            <a:ext cx="1051481" cy="1101818"/>
          </a:xfrm>
          <a:prstGeom prst="rect">
            <a:avLst/>
          </a:prstGeom>
        </p:spPr>
      </p:pic>
      <p:sp>
        <p:nvSpPr>
          <p:cNvPr id="4" name="Date Placeholder 3">
            <a:extLst>
              <a:ext uri="{FF2B5EF4-FFF2-40B4-BE49-F238E27FC236}">
                <a16:creationId xmlns:a16="http://schemas.microsoft.com/office/drawing/2014/main" id="{89872737-9D6D-8F41-A7B3-4325B7FD1CBB}"/>
              </a:ext>
            </a:extLst>
          </p:cNvPr>
          <p:cNvSpPr>
            <a:spLocks noGrp="1"/>
          </p:cNvSpPr>
          <p:nvPr>
            <p:ph type="dt" sz="half" idx="10"/>
          </p:nvPr>
        </p:nvSpPr>
        <p:spPr>
          <a:xfrm>
            <a:off x="756139"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0B97172E-E9C4-934E-9BB9-BE12C7546B04}"/>
              </a:ext>
            </a:extLst>
          </p:cNvPr>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a:extLst>
              <a:ext uri="{FF2B5EF4-FFF2-40B4-BE49-F238E27FC236}">
                <a16:creationId xmlns:a16="http://schemas.microsoft.com/office/drawing/2014/main" id="{505D8589-C750-3344-A735-35BA55FD8E63}"/>
              </a:ext>
            </a:extLst>
          </p:cNvPr>
          <p:cNvSpPr>
            <a:spLocks noGrp="1"/>
          </p:cNvSpPr>
          <p:nvPr>
            <p:ph type="sldNum" sz="quarter" idx="12"/>
          </p:nvPr>
        </p:nvSpPr>
        <p:spPr>
          <a:xfrm>
            <a:off x="8610600" y="6485337"/>
            <a:ext cx="2743200" cy="365125"/>
          </a:xfrm>
        </p:spPr>
        <p:txBody>
          <a:bodyPr/>
          <a:lstStyle>
            <a:lvl1pPr>
              <a:defRPr/>
            </a:lvl1pPr>
          </a:lstStyle>
          <a:p>
            <a:fld id="{B0224EE6-E032-0A4B-A8B2-3B3E72DB7979}"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9390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49" y="1709740"/>
            <a:ext cx="10515600" cy="2852737"/>
          </a:xfrm>
        </p:spPr>
        <p:txBody>
          <a:bodyPr anchor="b">
            <a:normAutofit/>
          </a:bodyPr>
          <a:lstStyle>
            <a:lvl1pPr>
              <a:defRPr sz="4000"/>
            </a:lvl1pPr>
          </a:lstStyle>
          <a:p>
            <a:r>
              <a:rPr lang="en-US"/>
              <a:t>Click to edit Master title style</a:t>
            </a:r>
            <a:endParaRPr lang="en-IN"/>
          </a:p>
        </p:txBody>
      </p:sp>
      <p:sp>
        <p:nvSpPr>
          <p:cNvPr id="3" name="Text Placeholder 2"/>
          <p:cNvSpPr>
            <a:spLocks noGrp="1"/>
          </p:cNvSpPr>
          <p:nvPr>
            <p:ph type="body" idx="1"/>
          </p:nvPr>
        </p:nvSpPr>
        <p:spPr>
          <a:xfrm>
            <a:off x="831849" y="458949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046445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415320"/>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0" y="141532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lvl1pPr>
              <a:defRPr/>
            </a:lvl1pPr>
          </a:lstStyle>
          <a:p>
            <a:fld id="{57322C6F-883B-EE4D-9D9D-117DC5B9C5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92410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25161"/>
            <a:ext cx="10515600" cy="1325563"/>
          </a:xfrm>
        </p:spPr>
        <p:txBody>
          <a:bodyPr/>
          <a:lstStyle/>
          <a:p>
            <a:r>
              <a:rPr lang="en-US" dirty="0"/>
              <a:t>Click to edit Master title style</a:t>
            </a:r>
            <a:endParaRPr lang="en-IN" dirty="0"/>
          </a:p>
        </p:txBody>
      </p:sp>
      <p:sp>
        <p:nvSpPr>
          <p:cNvPr id="3" name="Text Placeholder 2"/>
          <p:cNvSpPr>
            <a:spLocks noGrp="1"/>
          </p:cNvSpPr>
          <p:nvPr>
            <p:ph type="body" idx="1"/>
          </p:nvPr>
        </p:nvSpPr>
        <p:spPr>
          <a:xfrm>
            <a:off x="839789" y="1376365"/>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2002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3" y="1376365"/>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2002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9" name="Slide Number Placeholder 8"/>
          <p:cNvSpPr>
            <a:spLocks noGrp="1"/>
          </p:cNvSpPr>
          <p:nvPr>
            <p:ph type="sldNum" sz="quarter" idx="12"/>
          </p:nvPr>
        </p:nvSpPr>
        <p:spPr/>
        <p:txBody>
          <a:bodyPr/>
          <a:lstStyle/>
          <a:p>
            <a:fld id="{43DB6E5F-7FEB-0648-9FAC-2572B4429CC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7087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4" name="Footer Placeholder 3"/>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5" name="Slide Number Placeholder 4"/>
          <p:cNvSpPr>
            <a:spLocks noGrp="1"/>
          </p:cNvSpPr>
          <p:nvPr>
            <p:ph type="sldNum" sz="quarter" idx="12"/>
          </p:nvPr>
        </p:nvSpPr>
        <p:spPr/>
        <p:txBody>
          <a:bodyPr/>
          <a:lstStyle/>
          <a:p>
            <a:fld id="{2B1515BA-1963-5548-A509-B31D6408C04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06062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3" name="Footer Placeholder 2"/>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4" name="Slide Number Placeholder 3"/>
          <p:cNvSpPr>
            <a:spLocks noGrp="1"/>
          </p:cNvSpPr>
          <p:nvPr>
            <p:ph type="sldNum" sz="quarter" idx="12"/>
          </p:nvPr>
        </p:nvSpPr>
        <p:spPr/>
        <p:txBody>
          <a:bodyPr/>
          <a:lstStyle/>
          <a:p>
            <a:fld id="{DCF0632E-D997-4741-9C11-CB4FCA7051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73579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56491"/>
            <a:ext cx="3932237" cy="1600200"/>
          </a:xfrm>
        </p:spPr>
        <p:txBody>
          <a:bodyPr anchor="b">
            <a:normAutofit/>
          </a:bodyPr>
          <a:lstStyle>
            <a:lvl1pPr>
              <a:defRPr sz="2800"/>
            </a:lvl1pPr>
          </a:lstStyle>
          <a:p>
            <a:r>
              <a:rPr lang="en-US"/>
              <a:t>Click to edit Master title style</a:t>
            </a:r>
            <a:endParaRPr lang="en-IN"/>
          </a:p>
        </p:txBody>
      </p:sp>
      <p:sp>
        <p:nvSpPr>
          <p:cNvPr id="3" name="Content Placeholder 2"/>
          <p:cNvSpPr>
            <a:spLocks noGrp="1"/>
          </p:cNvSpPr>
          <p:nvPr>
            <p:ph idx="1"/>
          </p:nvPr>
        </p:nvSpPr>
        <p:spPr>
          <a:xfrm>
            <a:off x="5183188" y="1198442"/>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839788" y="2268414"/>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BF852CCF-9C18-EE4F-AF97-937D2292C2B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860694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21322"/>
            <a:ext cx="3932237" cy="1600200"/>
          </a:xfrm>
        </p:spPr>
        <p:txBody>
          <a:bodyPr anchor="b">
            <a:normAutofit/>
          </a:bodyPr>
          <a:lstStyle>
            <a:lvl1pPr>
              <a:defRPr sz="2800"/>
            </a:lvl1pPr>
          </a:lstStyle>
          <a:p>
            <a:r>
              <a:rPr lang="en-US"/>
              <a:t>Click to edit Master title style</a:t>
            </a:r>
            <a:endParaRPr lang="en-IN"/>
          </a:p>
        </p:txBody>
      </p:sp>
      <p:sp>
        <p:nvSpPr>
          <p:cNvPr id="3" name="Picture Placeholder 2"/>
          <p:cNvSpPr>
            <a:spLocks noGrp="1"/>
          </p:cNvSpPr>
          <p:nvPr>
            <p:ph type="pic" idx="1"/>
          </p:nvPr>
        </p:nvSpPr>
        <p:spPr>
          <a:xfrm>
            <a:off x="5183188" y="117499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p:cNvSpPr>
            <a:spLocks noGrp="1"/>
          </p:cNvSpPr>
          <p:nvPr>
            <p:ph type="body" sz="half" idx="2"/>
          </p:nvPr>
        </p:nvSpPr>
        <p:spPr>
          <a:xfrm>
            <a:off x="839788" y="2221522"/>
            <a:ext cx="3932237" cy="3811588"/>
          </a:xfrm>
        </p:spPr>
        <p:txBody>
          <a:bodyPr>
            <a:normAutofit/>
          </a:bodyPr>
          <a:lstStyle>
            <a:lvl1pPr marL="0" indent="0">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A9765D97-2825-F947-8A31-20AC4E20E391}"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28077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7127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E7CE808B-2600-D144-9BD3-F98DDA596C4E}"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84895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9" name="Shape 9"/>
          <p:cNvSpPr>
            <a:spLocks noGrp="1"/>
          </p:cNvSpPr>
          <p:nvPr>
            <p:ph type="title" hasCustomPrompt="1"/>
          </p:nvPr>
        </p:nvSpPr>
        <p:spPr>
          <a:xfrm>
            <a:off x="277158" y="0"/>
            <a:ext cx="11099439" cy="1555576"/>
          </a:xfrm>
          <a:prstGeom prst="rect">
            <a:avLst/>
          </a:prstGeom>
        </p:spPr>
        <p:txBody>
          <a:bodyPr anchor="ctr"/>
          <a:lstStyle>
            <a:lvl1pPr algn="l" defTabSz="457189">
              <a:defRPr sz="2400" b="1">
                <a:solidFill>
                  <a:schemeClr val="tx1"/>
                </a:solidFill>
                <a:uFill>
                  <a:solidFill>
                    <a:srgbClr val="3B7542"/>
                  </a:solidFill>
                </a:uFill>
              </a:defRPr>
            </a:lvl1pPr>
          </a:lstStyle>
          <a:p>
            <a:pPr lvl="0"/>
            <a:r>
              <a:t>Title Text</a:t>
            </a:r>
          </a:p>
        </p:txBody>
      </p:sp>
      <p:sp>
        <p:nvSpPr>
          <p:cNvPr id="6" name="Slide Number Placeholder 5"/>
          <p:cNvSpPr>
            <a:spLocks noGrp="1"/>
          </p:cNvSpPr>
          <p:nvPr>
            <p:ph type="sldNum" sz="quarter" idx="4"/>
          </p:nvPr>
        </p:nvSpPr>
        <p:spPr>
          <a:xfrm>
            <a:off x="8763000" y="6508784"/>
            <a:ext cx="2743200" cy="365125"/>
          </a:xfrm>
          <a:prstGeom prst="rect">
            <a:avLst/>
          </a:prstGeom>
        </p:spPr>
        <p:txBody>
          <a:bodyPr/>
          <a:lstStyle>
            <a:lvl1pPr>
              <a:defRPr lang="en-IN" smtClean="0"/>
            </a:lvl1pPr>
          </a:lstStyle>
          <a:p>
            <a:fld id="{63181617-AE52-40EF-9E8F-5C7C49F4989C}" type="slidenum">
              <a:rPr>
                <a:solidFill>
                  <a:prstClr val="black">
                    <a:tint val="75000"/>
                  </a:prstClr>
                </a:solidFill>
              </a:rPr>
              <a:pPr/>
              <a:t>‹#›</a:t>
            </a:fld>
            <a:endParaRPr dirty="0">
              <a:solidFill>
                <a:prstClr val="black">
                  <a:tint val="75000"/>
                </a:prstClr>
              </a:solidFill>
            </a:endParaRPr>
          </a:p>
        </p:txBody>
      </p:sp>
    </p:spTree>
    <p:extLst>
      <p:ext uri="{BB962C8B-B14F-4D97-AF65-F5344CB8AC3E}">
        <p14:creationId xmlns:p14="http://schemas.microsoft.com/office/powerpoint/2010/main" val="130295442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338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37894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485337"/>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3"/>
          </p:nvPr>
        </p:nvSpPr>
        <p:spPr>
          <a:xfrm>
            <a:off x="4038600" y="6485337"/>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solidFill>
                  <a:prstClr val="black">
                    <a:tint val="75000"/>
                  </a:prstClr>
                </a:solidFill>
              </a:rPr>
              <a:t>Manipal University Jaipur</a:t>
            </a:r>
          </a:p>
        </p:txBody>
      </p:sp>
      <p:sp>
        <p:nvSpPr>
          <p:cNvPr id="6" name="Slide Number Placeholder 5"/>
          <p:cNvSpPr>
            <a:spLocks noGrp="1"/>
          </p:cNvSpPr>
          <p:nvPr>
            <p:ph type="sldNum" sz="quarter" idx="4"/>
          </p:nvPr>
        </p:nvSpPr>
        <p:spPr>
          <a:xfrm>
            <a:off x="8610600" y="648533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72C30-510C-0841-ADD2-D25B2E586470}" type="slidenum">
              <a:rPr lang="en-IN" smtClean="0">
                <a:solidFill>
                  <a:prstClr val="black">
                    <a:tint val="75000"/>
                  </a:prstClr>
                </a:solidFill>
              </a:rPr>
              <a:pPr/>
              <a:t>‹#›</a:t>
            </a:fld>
            <a:endParaRPr lang="en-IN" dirty="0">
              <a:solidFill>
                <a:prstClr val="black">
                  <a:tint val="75000"/>
                </a:prstClr>
              </a:solidFill>
            </a:endParaRPr>
          </a:p>
        </p:txBody>
      </p:sp>
      <p:sp>
        <p:nvSpPr>
          <p:cNvPr id="7" name="Shape 354">
            <a:extLst>
              <a:ext uri="{FF2B5EF4-FFF2-40B4-BE49-F238E27FC236}">
                <a16:creationId xmlns:a16="http://schemas.microsoft.com/office/drawing/2014/main" id="{75073F86-4F3F-714F-AE37-E67FC08E3BE8}"/>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79FF0070-8C18-FB40-A7E0-7B6340E110C4}"/>
              </a:ext>
            </a:extLst>
          </p:cNvPr>
          <p:cNvPicPr>
            <a:picLocks noChangeAspect="1"/>
          </p:cNvPicPr>
          <p:nvPr userDrawn="1"/>
        </p:nvPicPr>
        <p:blipFill>
          <a:blip r:embed="rId14"/>
          <a:stretch>
            <a:fillRect/>
          </a:stretch>
        </p:blipFill>
        <p:spPr>
          <a:xfrm>
            <a:off x="11140521" y="2721"/>
            <a:ext cx="1051481" cy="1101818"/>
          </a:xfrm>
          <a:prstGeom prst="rect">
            <a:avLst/>
          </a:prstGeom>
        </p:spPr>
      </p:pic>
    </p:spTree>
    <p:extLst>
      <p:ext uri="{BB962C8B-B14F-4D97-AF65-F5344CB8AC3E}">
        <p14:creationId xmlns:p14="http://schemas.microsoft.com/office/powerpoint/2010/main" val="172244556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hf hdr="0" ftr="0" dt="0"/>
  <p:txStyles>
    <p:title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CE499A-E92C-4C67-A6C8-3D5FD0951DB6}"/>
              </a:ext>
            </a:extLst>
          </p:cNvPr>
          <p:cNvSpPr>
            <a:spLocks noGrp="1"/>
          </p:cNvSpPr>
          <p:nvPr>
            <p:ph idx="1"/>
          </p:nvPr>
        </p:nvSpPr>
        <p:spPr>
          <a:xfrm>
            <a:off x="4976031" y="963877"/>
            <a:ext cx="6377769" cy="4930246"/>
          </a:xfrm>
        </p:spPr>
        <p:txBody>
          <a:bodyPr anchor="ctr">
            <a:normAutofit/>
          </a:bodyPr>
          <a:lstStyle/>
          <a:p>
            <a:pPr marL="0" indent="0">
              <a:buNone/>
            </a:pPr>
            <a:r>
              <a:rPr lang="en-IN" sz="4000" dirty="0">
                <a:solidFill>
                  <a:schemeClr val="accent5">
                    <a:lumMod val="75000"/>
                  </a:schemeClr>
                </a:solidFill>
                <a:latin typeface="Times New Roman" panose="02020603050405020304" pitchFamily="18" charset="0"/>
                <a:cs typeface="Times New Roman" panose="02020603050405020304" pitchFamily="18" charset="0"/>
              </a:rPr>
              <a:t>Casting Methods: Investment Casting</a:t>
            </a:r>
          </a:p>
        </p:txBody>
      </p:sp>
      <p:sp>
        <p:nvSpPr>
          <p:cNvPr id="4" name="Slide Number Placeholder 3">
            <a:extLst>
              <a:ext uri="{FF2B5EF4-FFF2-40B4-BE49-F238E27FC236}">
                <a16:creationId xmlns:a16="http://schemas.microsoft.com/office/drawing/2014/main" id="{DC4B9D61-3A7F-46B9-A456-C27D28D1B910}"/>
              </a:ext>
            </a:extLst>
          </p:cNvPr>
          <p:cNvSpPr>
            <a:spLocks noGrp="1"/>
          </p:cNvSpPr>
          <p:nvPr>
            <p:ph type="sldNum" sz="quarter" idx="12"/>
          </p:nvPr>
        </p:nvSpPr>
        <p:spPr>
          <a:xfrm>
            <a:off x="10571516" y="6033479"/>
            <a:ext cx="782283" cy="365125"/>
          </a:xfrm>
        </p:spPr>
        <p:txBody>
          <a:bodyPr>
            <a:normAutofit/>
          </a:bodyPr>
          <a:lstStyle/>
          <a:p>
            <a:pPr>
              <a:spcAft>
                <a:spcPts val="600"/>
              </a:spcAft>
            </a:pPr>
            <a:fld id="{B0224EE6-E032-0A4B-A8B2-3B3E72DB7979}" type="slidenum">
              <a:rPr lang="en-IN" sz="1050">
                <a:solidFill>
                  <a:schemeClr val="tx1">
                    <a:alpha val="80000"/>
                  </a:schemeClr>
                </a:solidFill>
              </a:rPr>
              <a:pPr>
                <a:spcAft>
                  <a:spcPts val="600"/>
                </a:spcAft>
              </a:pPr>
              <a:t>1</a:t>
            </a:fld>
            <a:endParaRPr lang="en-IN" sz="1050">
              <a:solidFill>
                <a:schemeClr val="tx1">
                  <a:alpha val="80000"/>
                </a:schemeClr>
              </a:solidFill>
            </a:endParaRPr>
          </a:p>
        </p:txBody>
      </p:sp>
      <p:sp>
        <p:nvSpPr>
          <p:cNvPr id="6" name="Content Placeholder 2">
            <a:extLst>
              <a:ext uri="{FF2B5EF4-FFF2-40B4-BE49-F238E27FC236}">
                <a16:creationId xmlns:a16="http://schemas.microsoft.com/office/drawing/2014/main" id="{2B397B5D-885F-4C6F-9A9A-809C2D0C0290}"/>
              </a:ext>
            </a:extLst>
          </p:cNvPr>
          <p:cNvSpPr txBox="1">
            <a:spLocks/>
          </p:cNvSpPr>
          <p:nvPr/>
        </p:nvSpPr>
        <p:spPr>
          <a:xfrm>
            <a:off x="1028703" y="2165685"/>
            <a:ext cx="3108953" cy="2586789"/>
          </a:xfrm>
          <a:prstGeom prst="rect">
            <a:avLst/>
          </a:prstGeom>
        </p:spPr>
        <p:txBody>
          <a:bodyPr vert="horz" lIns="91440" tIns="45720" rIns="91440" bIns="45720" rtlCol="0" anchor="ctr">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SzPct val="80000"/>
              <a:buFont typeface="Wingdings" pitchFamily="2"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SzPct val="70000"/>
              <a:buFont typeface="Courier New" panose="02070309020205020404" pitchFamily="49" charset="0"/>
              <a:buChar char="o"/>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SzPct val="60000"/>
              <a:buFont typeface="Wingdings" pitchFamily="2"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400" dirty="0">
                <a:solidFill>
                  <a:schemeClr val="accent2">
                    <a:lumMod val="75000"/>
                  </a:schemeClr>
                </a:solidFill>
                <a:latin typeface="Times New Roman" panose="02020603050405020304" pitchFamily="18" charset="0"/>
                <a:cs typeface="Times New Roman" panose="02020603050405020304" pitchFamily="18" charset="0"/>
              </a:rPr>
              <a:t>L</a:t>
            </a:r>
            <a:r>
              <a:rPr lang="en-IN" sz="5400" dirty="0" err="1">
                <a:solidFill>
                  <a:schemeClr val="accent2">
                    <a:lumMod val="75000"/>
                  </a:schemeClr>
                </a:solidFill>
                <a:latin typeface="Times New Roman" panose="02020603050405020304" pitchFamily="18" charset="0"/>
                <a:cs typeface="Times New Roman" panose="02020603050405020304" pitchFamily="18" charset="0"/>
              </a:rPr>
              <a:t>ecture</a:t>
            </a:r>
            <a:r>
              <a:rPr lang="en-IN" sz="5400" dirty="0">
                <a:solidFill>
                  <a:schemeClr val="accent2">
                    <a:lumMod val="75000"/>
                  </a:schemeClr>
                </a:solidFill>
                <a:latin typeface="Times New Roman" panose="02020603050405020304" pitchFamily="18" charset="0"/>
                <a:cs typeface="Times New Roman" panose="02020603050405020304" pitchFamily="18" charset="0"/>
              </a:rPr>
              <a:t> 7</a:t>
            </a:r>
          </a:p>
        </p:txBody>
      </p:sp>
    </p:spTree>
    <p:extLst>
      <p:ext uri="{BB962C8B-B14F-4D97-AF65-F5344CB8AC3E}">
        <p14:creationId xmlns:p14="http://schemas.microsoft.com/office/powerpoint/2010/main" val="3563437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64598-667F-026D-1B64-793A764CE43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2D8AF4-C2FB-DC94-37D8-8347FAD01C1B}"/>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2</a:t>
            </a:fld>
            <a:endParaRPr lang="en-IN" dirty="0">
              <a:solidFill>
                <a:prstClr val="black">
                  <a:tint val="75000"/>
                </a:prstClr>
              </a:solidFill>
            </a:endParaRPr>
          </a:p>
        </p:txBody>
      </p:sp>
      <p:pic>
        <p:nvPicPr>
          <p:cNvPr id="8" name="Picture 7">
            <a:extLst>
              <a:ext uri="{FF2B5EF4-FFF2-40B4-BE49-F238E27FC236}">
                <a16:creationId xmlns:a16="http://schemas.microsoft.com/office/drawing/2014/main" id="{4E5B63B2-97CE-5055-3E3C-59C4A8279B81}"/>
              </a:ext>
            </a:extLst>
          </p:cNvPr>
          <p:cNvPicPr>
            <a:picLocks noChangeAspect="1"/>
          </p:cNvPicPr>
          <p:nvPr/>
        </p:nvPicPr>
        <p:blipFill>
          <a:blip r:embed="rId2"/>
          <a:srcRect l="18948" t="20296" r="24228" b="5434"/>
          <a:stretch>
            <a:fillRect/>
          </a:stretch>
        </p:blipFill>
        <p:spPr>
          <a:xfrm>
            <a:off x="2018878" y="1118938"/>
            <a:ext cx="7606824" cy="5592510"/>
          </a:xfrm>
          <a:prstGeom prst="rect">
            <a:avLst/>
          </a:prstGeom>
        </p:spPr>
      </p:pic>
      <p:sp>
        <p:nvSpPr>
          <p:cNvPr id="2" name="Title 1">
            <a:extLst>
              <a:ext uri="{FF2B5EF4-FFF2-40B4-BE49-F238E27FC236}">
                <a16:creationId xmlns:a16="http://schemas.microsoft.com/office/drawing/2014/main" id="{0AB9BBC9-2203-44CE-CEEA-A0B64F61A733}"/>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Investment casting</a:t>
            </a:r>
          </a:p>
        </p:txBody>
      </p:sp>
    </p:spTree>
    <p:extLst>
      <p:ext uri="{BB962C8B-B14F-4D97-AF65-F5344CB8AC3E}">
        <p14:creationId xmlns:p14="http://schemas.microsoft.com/office/powerpoint/2010/main" val="57780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5379A0-D4BC-446D-9ED0-A8CBF5FED4D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3</a:t>
            </a:fld>
            <a:endParaRPr lang="en-IN" dirty="0">
              <a:solidFill>
                <a:prstClr val="black">
                  <a:tint val="75000"/>
                </a:prstClr>
              </a:solidFill>
            </a:endParaRPr>
          </a:p>
        </p:txBody>
      </p:sp>
      <p:sp>
        <p:nvSpPr>
          <p:cNvPr id="12" name="Rectangle 11">
            <a:extLst>
              <a:ext uri="{FF2B5EF4-FFF2-40B4-BE49-F238E27FC236}">
                <a16:creationId xmlns:a16="http://schemas.microsoft.com/office/drawing/2014/main" id="{BD119457-757F-4635-BF26-63CF2C47A967}"/>
              </a:ext>
            </a:extLst>
          </p:cNvPr>
          <p:cNvSpPr/>
          <p:nvPr/>
        </p:nvSpPr>
        <p:spPr>
          <a:xfrm>
            <a:off x="756139" y="1523999"/>
            <a:ext cx="10515600" cy="1410643"/>
          </a:xfrm>
          <a:prstGeom prst="rect">
            <a:avLst/>
          </a:prstGeom>
        </p:spPr>
        <p:txBody>
          <a:bodyPr wrap="square">
            <a:spAutoFit/>
          </a:bodyPr>
          <a:lstStyle/>
          <a:p>
            <a:pPr marL="539115" indent="-457200" algn="just">
              <a:lnSpc>
                <a:spcPct val="100000"/>
              </a:lnSpc>
              <a:spcBef>
                <a:spcPts val="114"/>
              </a:spcBef>
              <a:buClr>
                <a:srgbClr val="0BD0D9"/>
              </a:buClr>
              <a:buSzPct val="93750"/>
              <a:buFont typeface="Arial" panose="020B0604020202020204" pitchFamily="34" charset="0"/>
              <a:buChar char="•"/>
              <a:tabLst>
                <a:tab pos="175895" algn="l"/>
              </a:tabLst>
            </a:pPr>
            <a:r>
              <a:rPr lang="en-US" sz="2800" b="1" dirty="0">
                <a:latin typeface="Times New Roman" panose="02020603050405020304" pitchFamily="18" charset="0"/>
                <a:cs typeface="Times New Roman" panose="02020603050405020304" pitchFamily="18" charset="0"/>
              </a:rPr>
              <a:t>Investment casting requires the use of a metal die, wax, ceramic slurry, furnace, molten metal, and any machines needed for sandblasting, cutting, or grinding. </a:t>
            </a:r>
            <a:endParaRPr lang="en-US" sz="2800" dirty="0">
              <a:latin typeface="Times New Roman" panose="02020603050405020304" pitchFamily="18" charset="0"/>
              <a:cs typeface="Times New Roman" panose="02020603050405020304" pitchFamily="18" charset="0"/>
            </a:endParaRPr>
          </a:p>
        </p:txBody>
      </p:sp>
      <p:sp>
        <p:nvSpPr>
          <p:cNvPr id="13" name="Title 1">
            <a:extLst>
              <a:ext uri="{FF2B5EF4-FFF2-40B4-BE49-F238E27FC236}">
                <a16:creationId xmlns:a16="http://schemas.microsoft.com/office/drawing/2014/main" id="{0EA9999F-945B-478C-88EF-115059D00ACB}"/>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Investment casting</a:t>
            </a:r>
          </a:p>
        </p:txBody>
      </p:sp>
      <p:sp>
        <p:nvSpPr>
          <p:cNvPr id="6" name="TextBox 5">
            <a:extLst>
              <a:ext uri="{FF2B5EF4-FFF2-40B4-BE49-F238E27FC236}">
                <a16:creationId xmlns:a16="http://schemas.microsoft.com/office/drawing/2014/main" id="{780372BD-263A-34F4-4FC7-612E6D9A172E}"/>
              </a:ext>
            </a:extLst>
          </p:cNvPr>
          <p:cNvSpPr txBox="1"/>
          <p:nvPr/>
        </p:nvSpPr>
        <p:spPr>
          <a:xfrm>
            <a:off x="756137" y="3519323"/>
            <a:ext cx="10515599" cy="2246769"/>
          </a:xfrm>
          <a:prstGeom prst="rect">
            <a:avLst/>
          </a:prstGeom>
          <a:noFill/>
        </p:spPr>
        <p:txBody>
          <a:bodyPr wrap="square">
            <a:spAutoFit/>
          </a:bodyPr>
          <a:lstStyle/>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Investment casting, also known as lost-wax casting, is a versatile manufacturing process used across numerous industries to create intricate, high-precision parts. It is particularly well-suited for applications requiring complex geometries, tight tolerances, and smooth surface finishes. </a:t>
            </a:r>
          </a:p>
        </p:txBody>
      </p:sp>
    </p:spTree>
    <p:extLst>
      <p:ext uri="{BB962C8B-B14F-4D97-AF65-F5344CB8AC3E}">
        <p14:creationId xmlns:p14="http://schemas.microsoft.com/office/powerpoint/2010/main" val="1049081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8B954F-E3B6-D5D1-0C12-93F39FC012F4}"/>
              </a:ext>
            </a:extLst>
          </p:cNvPr>
          <p:cNvSpPr>
            <a:spLocks noGrp="1"/>
          </p:cNvSpPr>
          <p:nvPr>
            <p:ph idx="1"/>
          </p:nvPr>
        </p:nvSpPr>
        <p:spPr>
          <a:xfrm>
            <a:off x="756139" y="1191126"/>
            <a:ext cx="10515600" cy="4552086"/>
          </a:xfrm>
        </p:spPr>
        <p:txBody>
          <a:bodyPr>
            <a:normAutofit/>
          </a:bodyPr>
          <a:lstStyle/>
          <a:p>
            <a:pPr marL="0" indent="0" algn="just">
              <a:lnSpc>
                <a:spcPct val="100000"/>
              </a:lnSpc>
              <a:spcBef>
                <a:spcPts val="114"/>
              </a:spcBef>
              <a:buClr>
                <a:srgbClr val="0BD0D9"/>
              </a:buClr>
              <a:buSzPct val="93750"/>
              <a:buNone/>
              <a:tabLst>
                <a:tab pos="175895" algn="l"/>
              </a:tabLst>
            </a:pPr>
            <a:r>
              <a:rPr lang="en-US" sz="2800" b="1" dirty="0">
                <a:latin typeface="Times New Roman" panose="02020603050405020304" pitchFamily="18" charset="0"/>
                <a:cs typeface="Times New Roman" panose="02020603050405020304" pitchFamily="18" charset="0"/>
              </a:rPr>
              <a:t>The process steps include the following:</a:t>
            </a:r>
          </a:p>
          <a:p>
            <a:pPr marL="0" indent="0" algn="just">
              <a:lnSpc>
                <a:spcPct val="100000"/>
              </a:lnSpc>
              <a:spcBef>
                <a:spcPts val="114"/>
              </a:spcBef>
              <a:buClr>
                <a:srgbClr val="0BD0D9"/>
              </a:buClr>
              <a:buSzPct val="93750"/>
              <a:buNone/>
              <a:tabLst>
                <a:tab pos="175895" algn="l"/>
              </a:tabLst>
            </a:pPr>
            <a:r>
              <a:rPr lang="en-US" sz="2800" dirty="0">
                <a:solidFill>
                  <a:schemeClr val="accent1">
                    <a:lumMod val="75000"/>
                  </a:schemeClr>
                </a:solidFill>
                <a:latin typeface="Times New Roman" panose="02020603050405020304" pitchFamily="18" charset="0"/>
                <a:cs typeface="Times New Roman" panose="02020603050405020304" pitchFamily="18" charset="0"/>
              </a:rPr>
              <a:t>Pattern creation:</a:t>
            </a:r>
            <a:r>
              <a:rPr lang="en-US" sz="2800" dirty="0">
                <a:latin typeface="Times New Roman" panose="02020603050405020304" pitchFamily="18" charset="0"/>
                <a:cs typeface="Times New Roman" panose="02020603050405020304" pitchFamily="18" charset="0"/>
              </a:rPr>
              <a:t> The wax patterns are typically injection molded into a metal die and are formed as one piece and some time special designs made. Cores may be used to form any internal features on the pattern.</a:t>
            </a:r>
          </a:p>
          <a:p>
            <a:pPr marL="0" indent="0" algn="just">
              <a:lnSpc>
                <a:spcPct val="100000"/>
              </a:lnSpc>
              <a:spcBef>
                <a:spcPts val="114"/>
              </a:spcBef>
              <a:buClr>
                <a:srgbClr val="0BD0D9"/>
              </a:buClr>
              <a:buSzPct val="93750"/>
              <a:buNone/>
              <a:tabLst>
                <a:tab pos="175895" algn="l"/>
              </a:tabLst>
            </a:pPr>
            <a:endParaRPr lang="en-US" sz="2800" dirty="0">
              <a:latin typeface="Times New Roman" panose="02020603050405020304" pitchFamily="18" charset="0"/>
              <a:cs typeface="Times New Roman" panose="02020603050405020304" pitchFamily="18" charset="0"/>
            </a:endParaRPr>
          </a:p>
          <a:p>
            <a:pPr marL="0" indent="0" algn="just">
              <a:lnSpc>
                <a:spcPct val="100000"/>
              </a:lnSpc>
              <a:spcBef>
                <a:spcPts val="114"/>
              </a:spcBef>
              <a:buClr>
                <a:srgbClr val="0BD0D9"/>
              </a:buClr>
              <a:buSzPct val="93750"/>
              <a:buNone/>
              <a:tabLst>
                <a:tab pos="175895" algn="l"/>
              </a:tabLst>
            </a:pPr>
            <a:r>
              <a:rPr lang="en-US" sz="2800" dirty="0">
                <a:solidFill>
                  <a:schemeClr val="accent1">
                    <a:lumMod val="75000"/>
                  </a:schemeClr>
                </a:solidFill>
                <a:latin typeface="Times New Roman" panose="02020603050405020304" pitchFamily="18" charset="0"/>
                <a:cs typeface="Times New Roman" panose="02020603050405020304" pitchFamily="18" charset="0"/>
              </a:rPr>
              <a:t>Mold creation: </a:t>
            </a:r>
            <a:r>
              <a:rPr lang="en-US" sz="2800" dirty="0">
                <a:latin typeface="Times New Roman" panose="02020603050405020304" pitchFamily="18" charset="0"/>
                <a:cs typeface="Times New Roman" panose="02020603050405020304" pitchFamily="18" charset="0"/>
              </a:rPr>
              <a:t>This "pattern tree" is dipped into a slurry of fine ceramic</a:t>
            </a:r>
          </a:p>
          <a:p>
            <a:pPr marL="0" indent="0" algn="just">
              <a:lnSpc>
                <a:spcPct val="100000"/>
              </a:lnSpc>
              <a:spcBef>
                <a:spcPts val="114"/>
              </a:spcBef>
              <a:buClr>
                <a:srgbClr val="0BD0D9"/>
              </a:buClr>
              <a:buSzPct val="93750"/>
              <a:buNone/>
              <a:tabLst>
                <a:tab pos="175895" algn="l"/>
              </a:tabLst>
            </a:pPr>
            <a:r>
              <a:rPr lang="en-US" sz="2800" dirty="0">
                <a:latin typeface="Times New Roman" panose="02020603050405020304" pitchFamily="18" charset="0"/>
                <a:cs typeface="Times New Roman" panose="02020603050405020304" pitchFamily="18" charset="0"/>
              </a:rPr>
              <a:t>particles, coated with more coarse particles, and then dried to form a ceramic shell around the patterns and gating system. This process is repeated until the shell is thick enough to withstand the pressure of molten metal it will encounter.</a:t>
            </a:r>
          </a:p>
          <a:p>
            <a:pPr marL="0" indent="0">
              <a:buNone/>
            </a:pPr>
            <a:endParaRPr lang="en-IN" dirty="0"/>
          </a:p>
        </p:txBody>
      </p:sp>
      <p:sp>
        <p:nvSpPr>
          <p:cNvPr id="4" name="Slide Number Placeholder 3">
            <a:extLst>
              <a:ext uri="{FF2B5EF4-FFF2-40B4-BE49-F238E27FC236}">
                <a16:creationId xmlns:a16="http://schemas.microsoft.com/office/drawing/2014/main" id="{908DD3D9-7707-A226-26EF-5BC08D5F84E9}"/>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4</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0D1C1DB9-CDED-F782-B530-2927EC26DB98}"/>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Investment casting: Process</a:t>
            </a:r>
          </a:p>
        </p:txBody>
      </p:sp>
    </p:spTree>
    <p:extLst>
      <p:ext uri="{BB962C8B-B14F-4D97-AF65-F5344CB8AC3E}">
        <p14:creationId xmlns:p14="http://schemas.microsoft.com/office/powerpoint/2010/main" val="2662789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1F2C1-079B-5346-86C5-4BABF140C6ED}"/>
              </a:ext>
            </a:extLst>
          </p:cNvPr>
          <p:cNvSpPr>
            <a:spLocks noGrp="1"/>
          </p:cNvSpPr>
          <p:nvPr>
            <p:ph idx="1"/>
          </p:nvPr>
        </p:nvSpPr>
        <p:spPr>
          <a:xfrm>
            <a:off x="577515" y="1167063"/>
            <a:ext cx="11044989" cy="4437606"/>
          </a:xfrm>
        </p:spPr>
        <p:txBody>
          <a:bodyPr>
            <a:noAutofit/>
          </a:bodyPr>
          <a:lstStyle/>
          <a:p>
            <a:pPr marL="0" indent="0" algn="just">
              <a:buNone/>
            </a:pPr>
            <a:r>
              <a:rPr lang="en-US" sz="2800" dirty="0">
                <a:solidFill>
                  <a:schemeClr val="accent1">
                    <a:lumMod val="75000"/>
                  </a:schemeClr>
                </a:solidFill>
                <a:latin typeface="Times New Roman" panose="02020603050405020304" pitchFamily="18" charset="0"/>
                <a:cs typeface="Times New Roman" panose="02020603050405020304" pitchFamily="18" charset="0"/>
              </a:rPr>
              <a:t>Lost wax: </a:t>
            </a:r>
            <a:r>
              <a:rPr lang="en-US" sz="2800" dirty="0">
                <a:latin typeface="Times New Roman" panose="02020603050405020304" pitchFamily="18" charset="0"/>
                <a:cs typeface="Times New Roman" panose="02020603050405020304" pitchFamily="18" charset="0"/>
              </a:rPr>
              <a:t>The shell is then placed into an oven and the wax is melted out leaving a hollow ceramic shell that acts as a one-piece mold, hence the name "lost wax" casting.</a:t>
            </a:r>
          </a:p>
          <a:p>
            <a:pPr marL="0" indent="0" algn="just">
              <a:buNone/>
            </a:pPr>
            <a:r>
              <a:rPr lang="en-US" sz="2800" dirty="0">
                <a:solidFill>
                  <a:schemeClr val="accent1">
                    <a:lumMod val="75000"/>
                  </a:schemeClr>
                </a:solidFill>
                <a:latin typeface="Times New Roman" panose="02020603050405020304" pitchFamily="18" charset="0"/>
                <a:cs typeface="Times New Roman" panose="02020603050405020304" pitchFamily="18" charset="0"/>
              </a:rPr>
              <a:t>Pouring:</a:t>
            </a:r>
            <a:r>
              <a:rPr lang="en-US" sz="2800" dirty="0">
                <a:latin typeface="Times New Roman" panose="02020603050405020304" pitchFamily="18" charset="0"/>
                <a:cs typeface="Times New Roman" panose="02020603050405020304" pitchFamily="18" charset="0"/>
              </a:rPr>
              <a:t> The mold is preheated in a furnace to approximately 1000°C (1832°F) and the molten metal is poured from a ladle into the gating system of the mold, filling the mold cavity..</a:t>
            </a:r>
          </a:p>
          <a:p>
            <a:pPr marL="0" indent="0" algn="just">
              <a:buNone/>
            </a:pPr>
            <a:r>
              <a:rPr lang="en-US" sz="2800" dirty="0">
                <a:solidFill>
                  <a:schemeClr val="accent1">
                    <a:lumMod val="75000"/>
                  </a:schemeClr>
                </a:solidFill>
                <a:latin typeface="Times New Roman" panose="02020603050405020304" pitchFamily="18" charset="0"/>
                <a:cs typeface="Times New Roman" panose="02020603050405020304" pitchFamily="18" charset="0"/>
              </a:rPr>
              <a:t>Cooling:</a:t>
            </a:r>
            <a:r>
              <a:rPr lang="en-US" sz="2800" dirty="0">
                <a:latin typeface="Times New Roman" panose="02020603050405020304" pitchFamily="18" charset="0"/>
                <a:cs typeface="Times New Roman" panose="02020603050405020304" pitchFamily="18" charset="0"/>
              </a:rPr>
              <a:t> After the mold has been filled, the molten metal is allowed to cool and solidify into the shape of the final casting. Cooling time depends on the thickness of the part, thickness of the mold, and the material used.</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35097FD-C696-648C-BCE1-FA5B012EB802}"/>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5</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468A99EA-2E86-A922-ABC6-393D91E77301}"/>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Investment casting: Process</a:t>
            </a:r>
          </a:p>
        </p:txBody>
      </p:sp>
    </p:spTree>
    <p:extLst>
      <p:ext uri="{BB962C8B-B14F-4D97-AF65-F5344CB8AC3E}">
        <p14:creationId xmlns:p14="http://schemas.microsoft.com/office/powerpoint/2010/main" val="3760346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368F84-BE09-6DAB-232A-91B1EF996189}"/>
              </a:ext>
            </a:extLst>
          </p:cNvPr>
          <p:cNvSpPr>
            <a:spLocks noGrp="1"/>
          </p:cNvSpPr>
          <p:nvPr>
            <p:ph idx="1"/>
          </p:nvPr>
        </p:nvSpPr>
        <p:spPr>
          <a:xfrm>
            <a:off x="756139" y="1179095"/>
            <a:ext cx="10515600" cy="4564117"/>
          </a:xfrm>
        </p:spPr>
        <p:txBody>
          <a:bodyPr>
            <a:normAutofit/>
          </a:bodyPr>
          <a:lstStyle/>
          <a:p>
            <a:pPr marL="0" indent="0" algn="just">
              <a:buNone/>
            </a:pPr>
            <a:r>
              <a:rPr lang="en-US" sz="2800" dirty="0">
                <a:solidFill>
                  <a:schemeClr val="accent1">
                    <a:lumMod val="75000"/>
                  </a:schemeClr>
                </a:solidFill>
                <a:latin typeface="Times New Roman" panose="02020603050405020304" pitchFamily="18" charset="0"/>
                <a:cs typeface="Times New Roman" panose="02020603050405020304" pitchFamily="18" charset="0"/>
              </a:rPr>
              <a:t>Casting removal:</a:t>
            </a:r>
            <a:r>
              <a:rPr lang="en-US" sz="2800" dirty="0">
                <a:latin typeface="Times New Roman" panose="02020603050405020304" pitchFamily="18" charset="0"/>
                <a:cs typeface="Times New Roman" panose="02020603050405020304" pitchFamily="18" charset="0"/>
              </a:rPr>
              <a:t> After the molten metal has cooled, the mold can be broken and the casting removed. The ceramic mold is typically broken using water jets, but several other methods also used. Once removed, the parts are separated from the gating system by either sawing, grinding or cold breaking (using liquid nitrogen).</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solidFill>
                  <a:schemeClr val="accent1">
                    <a:lumMod val="75000"/>
                  </a:schemeClr>
                </a:solidFill>
                <a:latin typeface="Times New Roman" panose="02020603050405020304" pitchFamily="18" charset="0"/>
                <a:cs typeface="Times New Roman" panose="02020603050405020304" pitchFamily="18" charset="0"/>
              </a:rPr>
              <a:t>Finishing:</a:t>
            </a:r>
            <a:r>
              <a:rPr lang="en-US" sz="2800" dirty="0">
                <a:latin typeface="Times New Roman" panose="02020603050405020304" pitchFamily="18" charset="0"/>
                <a:cs typeface="Times New Roman" panose="02020603050405020304" pitchFamily="18" charset="0"/>
              </a:rPr>
              <a:t> Often times, finishing operations such as grinding or sandblasting are used to smooth the part at the gates. Heat treatment is also sometimes used to harden the final part.</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D6BE05B-680C-1131-1811-376EAA63BD1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6</a:t>
            </a:fld>
            <a:endParaRPr lang="en-IN" dirty="0">
              <a:solidFill>
                <a:prstClr val="black">
                  <a:tint val="75000"/>
                </a:prstClr>
              </a:solidFill>
            </a:endParaRPr>
          </a:p>
        </p:txBody>
      </p:sp>
      <p:sp>
        <p:nvSpPr>
          <p:cNvPr id="12" name="Title 1">
            <a:extLst>
              <a:ext uri="{FF2B5EF4-FFF2-40B4-BE49-F238E27FC236}">
                <a16:creationId xmlns:a16="http://schemas.microsoft.com/office/drawing/2014/main" id="{D2EE3FFE-F85C-B548-77B3-80FE9DFD0645}"/>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Investment casting: Process</a:t>
            </a:r>
          </a:p>
        </p:txBody>
      </p:sp>
    </p:spTree>
    <p:extLst>
      <p:ext uri="{BB962C8B-B14F-4D97-AF65-F5344CB8AC3E}">
        <p14:creationId xmlns:p14="http://schemas.microsoft.com/office/powerpoint/2010/main" val="1132070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611FE7-003C-DCD3-3BC8-8B4623D0328C}"/>
              </a:ext>
            </a:extLst>
          </p:cNvPr>
          <p:cNvSpPr>
            <a:spLocks noGrp="1"/>
          </p:cNvSpPr>
          <p:nvPr>
            <p:ph idx="1"/>
          </p:nvPr>
        </p:nvSpPr>
        <p:spPr>
          <a:xfrm>
            <a:off x="756139" y="1130968"/>
            <a:ext cx="10515600" cy="4612244"/>
          </a:xfrm>
        </p:spPr>
        <p:txBody>
          <a:bodyPr/>
          <a:lstStyle/>
          <a:p>
            <a:pPr marL="0" indent="0">
              <a:buNone/>
            </a:pPr>
            <a:r>
              <a:rPr lang="en-IN" sz="2800" dirty="0">
                <a:solidFill>
                  <a:srgbClr val="0070C0"/>
                </a:solidFill>
                <a:latin typeface="Times New Roman" panose="02020603050405020304" pitchFamily="18" charset="0"/>
                <a:cs typeface="Times New Roman" panose="02020603050405020304" pitchFamily="18" charset="0"/>
              </a:rPr>
              <a:t>Thin-walled: </a:t>
            </a:r>
            <a:r>
              <a:rPr lang="en-IN" sz="2800" dirty="0">
                <a:latin typeface="Times New Roman" panose="02020603050405020304" pitchFamily="18" charset="0"/>
                <a:cs typeface="Times New Roman" panose="02020603050405020304" pitchFamily="18" charset="0"/>
              </a:rPr>
              <a:t>Complex shapes</a:t>
            </a:r>
          </a:p>
          <a:p>
            <a:pPr marL="0" indent="0">
              <a:buNone/>
            </a:pPr>
            <a:r>
              <a:rPr lang="en-IN" sz="2800" dirty="0">
                <a:solidFill>
                  <a:srgbClr val="0070C0"/>
                </a:solidFill>
                <a:latin typeface="Times New Roman" panose="02020603050405020304" pitchFamily="18" charset="0"/>
                <a:cs typeface="Times New Roman" panose="02020603050405020304" pitchFamily="18" charset="0"/>
              </a:rPr>
              <a:t>Solid: </a:t>
            </a:r>
            <a:r>
              <a:rPr lang="en-IN" sz="2800" dirty="0">
                <a:latin typeface="Times New Roman" panose="02020603050405020304" pitchFamily="18" charset="0"/>
                <a:cs typeface="Times New Roman" panose="02020603050405020304" pitchFamily="18" charset="0"/>
              </a:rPr>
              <a:t>Cylindrical</a:t>
            </a:r>
          </a:p>
          <a:p>
            <a:pPr marL="0" indent="0">
              <a:buNone/>
            </a:pPr>
            <a:r>
              <a:rPr lang="en-IN" sz="2800" dirty="0">
                <a:solidFill>
                  <a:srgbClr val="0070C0"/>
                </a:solidFill>
                <a:latin typeface="Times New Roman" panose="02020603050405020304" pitchFamily="18" charset="0"/>
                <a:cs typeface="Times New Roman" panose="02020603050405020304" pitchFamily="18" charset="0"/>
              </a:rPr>
              <a:t>Solid: </a:t>
            </a:r>
            <a:r>
              <a:rPr lang="en-IN" sz="2800" dirty="0">
                <a:latin typeface="Times New Roman" panose="02020603050405020304" pitchFamily="18" charset="0"/>
                <a:cs typeface="Times New Roman" panose="02020603050405020304" pitchFamily="18" charset="0"/>
              </a:rPr>
              <a:t>Cubic</a:t>
            </a:r>
          </a:p>
          <a:p>
            <a:pPr marL="0" indent="0">
              <a:buNone/>
            </a:pPr>
            <a:r>
              <a:rPr lang="en-IN" sz="2800" dirty="0">
                <a:solidFill>
                  <a:srgbClr val="0070C0"/>
                </a:solidFill>
                <a:latin typeface="Times New Roman" panose="02020603050405020304" pitchFamily="18" charset="0"/>
                <a:cs typeface="Times New Roman" panose="02020603050405020304" pitchFamily="18" charset="0"/>
              </a:rPr>
              <a:t>Solid: </a:t>
            </a:r>
            <a:r>
              <a:rPr lang="en-IN" sz="2800" dirty="0">
                <a:latin typeface="Times New Roman" panose="02020603050405020304" pitchFamily="18" charset="0"/>
                <a:cs typeface="Times New Roman" panose="02020603050405020304" pitchFamily="18" charset="0"/>
              </a:rPr>
              <a:t>Complex shapes</a:t>
            </a:r>
          </a:p>
          <a:p>
            <a:pPr marL="0" indent="0">
              <a:buNone/>
            </a:pPr>
            <a:r>
              <a:rPr lang="en-IN" sz="2800" dirty="0">
                <a:solidFill>
                  <a:srgbClr val="0070C0"/>
                </a:solidFill>
                <a:latin typeface="Times New Roman" panose="02020603050405020304" pitchFamily="18" charset="0"/>
                <a:cs typeface="Times New Roman" panose="02020603050405020304" pitchFamily="18" charset="0"/>
              </a:rPr>
              <a:t>Thin-walled: </a:t>
            </a:r>
            <a:r>
              <a:rPr lang="en-IN" sz="2800" dirty="0">
                <a:latin typeface="Times New Roman" panose="02020603050405020304" pitchFamily="18" charset="0"/>
                <a:cs typeface="Times New Roman" panose="02020603050405020304" pitchFamily="18" charset="0"/>
              </a:rPr>
              <a:t>Cylindrical</a:t>
            </a:r>
          </a:p>
          <a:p>
            <a:pPr marL="0" indent="0">
              <a:buNone/>
            </a:pPr>
            <a:r>
              <a:rPr lang="en-IN" sz="2800" dirty="0">
                <a:solidFill>
                  <a:srgbClr val="0070C0"/>
                </a:solidFill>
                <a:latin typeface="Times New Roman" panose="02020603050405020304" pitchFamily="18" charset="0"/>
                <a:cs typeface="Times New Roman" panose="02020603050405020304" pitchFamily="18" charset="0"/>
              </a:rPr>
              <a:t>Thin-walled: </a:t>
            </a:r>
            <a:r>
              <a:rPr lang="en-IN" sz="2800" dirty="0">
                <a:latin typeface="Times New Roman" panose="02020603050405020304" pitchFamily="18" charset="0"/>
                <a:cs typeface="Times New Roman" panose="02020603050405020304" pitchFamily="18" charset="0"/>
              </a:rPr>
              <a:t>Cubic</a:t>
            </a:r>
          </a:p>
          <a:p>
            <a:pPr marL="0" indent="0">
              <a:buNone/>
            </a:pPr>
            <a:endParaRPr lang="en-IN" dirty="0"/>
          </a:p>
        </p:txBody>
      </p:sp>
      <p:sp>
        <p:nvSpPr>
          <p:cNvPr id="4" name="Slide Number Placeholder 3">
            <a:extLst>
              <a:ext uri="{FF2B5EF4-FFF2-40B4-BE49-F238E27FC236}">
                <a16:creationId xmlns:a16="http://schemas.microsoft.com/office/drawing/2014/main" id="{0A9833B3-0FCC-B1FD-B750-58CF4695F9F5}"/>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7</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8EA7C7DF-5E00-D9C6-DE54-AAFF4A6E3C41}"/>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Investment casting: Shapes</a:t>
            </a:r>
          </a:p>
        </p:txBody>
      </p:sp>
    </p:spTree>
    <p:extLst>
      <p:ext uri="{BB962C8B-B14F-4D97-AF65-F5344CB8AC3E}">
        <p14:creationId xmlns:p14="http://schemas.microsoft.com/office/powerpoint/2010/main" val="2903553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C9463D-3723-757B-87C3-997593CB0E95}"/>
              </a:ext>
            </a:extLst>
          </p:cNvPr>
          <p:cNvSpPr>
            <a:spLocks noGrp="1"/>
          </p:cNvSpPr>
          <p:nvPr>
            <p:ph idx="1"/>
          </p:nvPr>
        </p:nvSpPr>
        <p:spPr>
          <a:xfrm>
            <a:off x="756139" y="1179095"/>
            <a:ext cx="10312914" cy="4564117"/>
          </a:xfrm>
        </p:spPr>
        <p:txBody>
          <a:bodyPr>
            <a:normAutofit/>
          </a:bodyPr>
          <a:lstStyle/>
          <a:p>
            <a:pPr marL="0" indent="0">
              <a:buNone/>
            </a:pPr>
            <a:r>
              <a:rPr lang="en-IN" sz="2800" dirty="0">
                <a:solidFill>
                  <a:srgbClr val="0070C0"/>
                </a:solidFill>
                <a:latin typeface="Times New Roman" panose="02020603050405020304" pitchFamily="18" charset="0"/>
                <a:cs typeface="Times New Roman" panose="02020603050405020304" pitchFamily="18" charset="0"/>
              </a:rPr>
              <a:t>Part size: </a:t>
            </a:r>
            <a:r>
              <a:rPr lang="en-IN" sz="2800" dirty="0">
                <a:latin typeface="Times New Roman" panose="02020603050405020304" pitchFamily="18" charset="0"/>
                <a:cs typeface="Times New Roman" panose="02020603050405020304" pitchFamily="18" charset="0"/>
              </a:rPr>
              <a:t>Weight: 0.02 oz - 500 lb</a:t>
            </a:r>
          </a:p>
          <a:p>
            <a:pPr marL="0" indent="0">
              <a:buNone/>
            </a:pPr>
            <a:r>
              <a:rPr lang="en-IN" sz="2800" dirty="0">
                <a:solidFill>
                  <a:srgbClr val="0070C0"/>
                </a:solidFill>
                <a:latin typeface="Times New Roman" panose="02020603050405020304" pitchFamily="18" charset="0"/>
                <a:cs typeface="Times New Roman" panose="02020603050405020304" pitchFamily="18" charset="0"/>
              </a:rPr>
              <a:t>Materials:</a:t>
            </a:r>
          </a:p>
          <a:p>
            <a:pPr marL="0" indent="0">
              <a:buNone/>
            </a:pPr>
            <a:r>
              <a:rPr lang="en-IN" sz="2800" dirty="0">
                <a:latin typeface="Times New Roman" panose="02020603050405020304" pitchFamily="18" charset="0"/>
                <a:cs typeface="Times New Roman" panose="02020603050405020304" pitchFamily="18" charset="0"/>
              </a:rPr>
              <a:t>Alloy Steel 		Carbon Steel</a:t>
            </a:r>
          </a:p>
          <a:p>
            <a:pPr marL="0" indent="0">
              <a:buNone/>
            </a:pPr>
            <a:r>
              <a:rPr lang="en-IN" sz="2800" dirty="0">
                <a:latin typeface="Times New Roman" panose="02020603050405020304" pitchFamily="18" charset="0"/>
                <a:cs typeface="Times New Roman" panose="02020603050405020304" pitchFamily="18" charset="0"/>
              </a:rPr>
              <a:t>Stainless Steel 	</a:t>
            </a:r>
            <a:r>
              <a:rPr lang="en-IN" sz="2800" dirty="0" err="1">
                <a:latin typeface="Times New Roman" panose="02020603050405020304" pitchFamily="18" charset="0"/>
                <a:cs typeface="Times New Roman" panose="02020603050405020304" pitchFamily="18" charset="0"/>
              </a:rPr>
              <a:t>Aluminum</a:t>
            </a:r>
            <a:endParaRPr lang="en-IN" sz="2800" dirty="0">
              <a:latin typeface="Times New Roman" panose="02020603050405020304" pitchFamily="18" charset="0"/>
              <a:cs typeface="Times New Roman" panose="02020603050405020304" pitchFamily="18" charset="0"/>
            </a:endParaRPr>
          </a:p>
          <a:p>
            <a:pPr marL="0" indent="0">
              <a:buNone/>
            </a:pPr>
            <a:r>
              <a:rPr lang="en-IN" sz="2800" dirty="0">
                <a:latin typeface="Times New Roman" panose="02020603050405020304" pitchFamily="18" charset="0"/>
                <a:cs typeface="Times New Roman" panose="02020603050405020304" pitchFamily="18" charset="0"/>
              </a:rPr>
              <a:t>Copper 		Nickel</a:t>
            </a:r>
          </a:p>
          <a:p>
            <a:pPr marL="0" indent="0">
              <a:buNone/>
            </a:pPr>
            <a:r>
              <a:rPr lang="en-IN" sz="2800" dirty="0">
                <a:latin typeface="Times New Roman" panose="02020603050405020304" pitchFamily="18" charset="0"/>
                <a:cs typeface="Times New Roman" panose="02020603050405020304" pitchFamily="18" charset="0"/>
              </a:rPr>
              <a:t>Cast Iron 		Lead</a:t>
            </a:r>
          </a:p>
          <a:p>
            <a:pPr marL="0" indent="0">
              <a:buNone/>
            </a:pPr>
            <a:r>
              <a:rPr lang="en-IN" sz="2800" dirty="0">
                <a:latin typeface="Times New Roman" panose="02020603050405020304" pitchFamily="18" charset="0"/>
                <a:cs typeface="Times New Roman" panose="02020603050405020304" pitchFamily="18" charset="0"/>
              </a:rPr>
              <a:t>Magnesium 		Tin</a:t>
            </a:r>
          </a:p>
          <a:p>
            <a:pPr marL="0" indent="0">
              <a:buNone/>
            </a:pPr>
            <a:r>
              <a:rPr lang="en-IN" sz="2800" dirty="0">
                <a:latin typeface="Times New Roman" panose="02020603050405020304" pitchFamily="18" charset="0"/>
                <a:cs typeface="Times New Roman" panose="02020603050405020304" pitchFamily="18" charset="0"/>
              </a:rPr>
              <a:t>Titanium 		Zinc</a:t>
            </a:r>
          </a:p>
          <a:p>
            <a:pPr marL="0" indent="0">
              <a:buNone/>
            </a:pPr>
            <a:endParaRPr lang="en-IN" dirty="0"/>
          </a:p>
        </p:txBody>
      </p:sp>
      <p:sp>
        <p:nvSpPr>
          <p:cNvPr id="4" name="Slide Number Placeholder 3">
            <a:extLst>
              <a:ext uri="{FF2B5EF4-FFF2-40B4-BE49-F238E27FC236}">
                <a16:creationId xmlns:a16="http://schemas.microsoft.com/office/drawing/2014/main" id="{7E7B5216-3C10-C763-4BDD-C8C5BF08B98F}"/>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8</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89A6ABB3-9C0D-9DAA-D2FD-60F3D879E197}"/>
              </a:ext>
            </a:extLst>
          </p:cNvPr>
          <p:cNvSpPr txBox="1">
            <a:spLocks/>
          </p:cNvSpPr>
          <p:nvPr/>
        </p:nvSpPr>
        <p:spPr>
          <a:xfrm>
            <a:off x="756138" y="158584"/>
            <a:ext cx="9238093"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Investment casting: Materials</a:t>
            </a:r>
          </a:p>
        </p:txBody>
      </p:sp>
    </p:spTree>
    <p:extLst>
      <p:ext uri="{BB962C8B-B14F-4D97-AF65-F5344CB8AC3E}">
        <p14:creationId xmlns:p14="http://schemas.microsoft.com/office/powerpoint/2010/main" val="4114352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ounded Rectangle 18">
            <a:extLst>
              <a:ext uri="{FF2B5EF4-FFF2-40B4-BE49-F238E27FC236}">
                <a16:creationId xmlns:a16="http://schemas.microsoft.com/office/drawing/2014/main" id="{283A93BD-A469-4D4C-8A1F-5668AE975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8565" y="503573"/>
            <a:ext cx="7134870" cy="3599401"/>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40 Perfect thank you messages (Appreciation sms)">
            <a:extLst>
              <a:ext uri="{FF2B5EF4-FFF2-40B4-BE49-F238E27FC236}">
                <a16:creationId xmlns:a16="http://schemas.microsoft.com/office/drawing/2014/main" id="{0EF917C7-33B0-4584-96EC-D99575EC62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169" r="2" b="2"/>
          <a:stretch/>
        </p:blipFill>
        <p:spPr bwMode="auto">
          <a:xfrm>
            <a:off x="2694432" y="666497"/>
            <a:ext cx="6803136" cy="3273552"/>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3D0FC1B-8562-4575-9EEC-3FE101CA93E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B0224EE6-E032-0A4B-A8B2-3B3E72DB7979}" type="slidenum">
              <a:rPr lang="en-US" smtClean="0">
                <a:solidFill>
                  <a:prstClr val="black">
                    <a:tint val="75000"/>
                  </a:prstClr>
                </a:solidFill>
                <a:latin typeface="Calibri" panose="020F0502020204030204"/>
              </a:rPr>
              <a:pPr>
                <a:spcAft>
                  <a:spcPts val="600"/>
                </a:spcAft>
                <a:defRPr/>
              </a:pPr>
              <a:t>9</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24617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8588</TotalTime>
  <Words>502</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Courier New</vt:lpstr>
      <vt:lpstr>Times New Roman</vt:lpstr>
      <vt:lpstr>Trebuchet MS</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Ravi Kant Gupta [MU - Jaipur]</dc:creator>
  <cp:lastModifiedBy>Dr. Vaibhav Srivastava [MU - Jaipur]</cp:lastModifiedBy>
  <cp:revision>263</cp:revision>
  <dcterms:created xsi:type="dcterms:W3CDTF">2018-05-04T09:20:58Z</dcterms:created>
  <dcterms:modified xsi:type="dcterms:W3CDTF">2026-08-13T07:29:42Z</dcterms:modified>
</cp:coreProperties>
</file>