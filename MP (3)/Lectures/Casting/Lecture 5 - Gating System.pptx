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62" r:id="rId12"/>
    <p:sldId id="363" r:id="rId13"/>
    <p:sldId id="366" r:id="rId14"/>
    <p:sldId id="364" r:id="rId15"/>
    <p:sldId id="321" r:id="rId16"/>
    <p:sldId id="361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2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860D2-00FC-4F1E-8FA4-8D375C9A45F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0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56491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8442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68414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3/14/18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Manipal University Jaipur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52CCF-9C18-EE4F-AF97-937D2292C2BD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43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oogle.com/search?sca_esv=446501d459bf113a&amp;sxsrf=AE3TifP52PGiTCPBu78utpHPAr3xGjIU1w%3A1754547893583&amp;q=Top+Gate&amp;sa=X&amp;ved=2ahUKEwjz08CfiPiOAxXdTmwGHffpMHAQxccNegQIHRAB&amp;mstk=AUtExfCppbNlXD_UaqAeIEchDWQyY7PnCV4hA4zwYgxLUIptKcKqz4flSXErQ-CpvoD_uGxrJqoi4_R_I_psWpkdq4xVM5xloKfP8VJhR3FXG2g_4AYCnQnNlpoTb3VNZutCQbiDb8jMy1OuZWVIEwSZ2dFIW4pOhksoAuiBlujK57jedoA&amp;csui=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oogle.com/search?sca_esv=446501d459bf113a&amp;sxsrf=AE3TifP52PGiTCPBu78utpHPAr3xGjIU1w%3A1754547893583&amp;q=Bottom+Gate&amp;sa=X&amp;ved=2ahUKEwjz08CfiPiOAxXdTmwGHffpMHAQxccNegQIfhAB&amp;mstk=AUtExfCppbNlXD_UaqAeIEchDWQyY7PnCV4hA4zwYgxLUIptKcKqz4flSXErQ-CpvoD_uGxrJqoi4_R_I_psWpkdq4xVM5xloKfP8VJhR3FXG2g_4AYCnQnNlpoTb3VNZutCQbiDb8jMy1OuZWVIEwSZ2dFIW4pOhksoAuiBlujK57jedoA&amp;csui=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oogle.com/search?sca_esv=446501d459bf113a&amp;sxsrf=AE3TifP52PGiTCPBu78utpHPAr3xGjIU1w%3A1754547893583&amp;q=Parting+Line+Gate&amp;sa=X&amp;ved=2ahUKEwjz08CfiPiOAxXdTmwGHffpMHAQxccNegQIdRAB&amp;mstk=AUtExfCppbNlXD_UaqAeIEchDWQyY7PnCV4hA4zwYgxLUIptKcKqz4flSXErQ-CpvoD_uGxrJqoi4_R_I_psWpkdq4xVM5xloKfP8VJhR3FXG2g_4AYCnQnNlpoTb3VNZutCQbiDb8jMy1OuZWVIEwSZ2dFIW4pOhksoAuiBlujK57jedoA&amp;csui=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www.google.com/search?sca_esv=446501d459bf113a&amp;sxsrf=AE3TifP52PGiTCPBu78utpHPAr3xGjIU1w%3A1754547893583&amp;q=Parting+Line+Gate&amp;sa=X&amp;ved=2ahUKEwjz08CfiPiOAxXdTmwGHffpMHAQxccNegQIdRAB&amp;mstk=AUtExfCppbNlXD_UaqAeIEchDWQyY7PnCV4hA4zwYgxLUIptKcKqz4flSXErQ-CpvoD_uGxrJqoi4_R_I_psWpkdq4xVM5xloKfP8VJhR3FXG2g_4AYCnQnNlpoTb3VNZutCQbiDb8jMy1OuZWVIEwSZ2dFIW4pOhksoAuiBlujK57jedoA&amp;csui=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20040"/>
            <a:ext cx="11549380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09891" y="2677122"/>
            <a:ext cx="9372217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>
              <a:lnSpc>
                <a:spcPts val="5190"/>
              </a:lnSpc>
              <a:spcBef>
                <a:spcPts val="750"/>
              </a:spcBef>
            </a:pPr>
            <a:r>
              <a:rPr lang="en-US" dirty="0">
                <a:solidFill>
                  <a:srgbClr val="3366CC"/>
                </a:solidFill>
              </a:rPr>
              <a:t>Gating System</a:t>
            </a:r>
            <a:endParaRPr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4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AFE203F-48CF-F96F-E8E1-55AC5690B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7600" y="228600"/>
            <a:ext cx="4572000" cy="533400"/>
          </a:xfrm>
          <a:noFill/>
        </p:spPr>
        <p:txBody>
          <a:bodyPr>
            <a:noAutofit/>
          </a:bodyPr>
          <a:lstStyle/>
          <a:p>
            <a:pPr algn="l" eaLnBrk="1" hangingPunct="1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Gating System parts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4BBC49-A308-FA6C-7007-AC803C3698DA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600"/>
            <a:ext cx="10439400" cy="472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90170" indent="-90170">
              <a:lnSpc>
                <a:spcPct val="115000"/>
              </a:lnSpc>
              <a:spcBef>
                <a:spcPts val="1200"/>
              </a:spcBef>
            </a:pPr>
            <a:endParaRPr lang="en-US" sz="3200" dirty="0">
              <a:solidFill>
                <a:schemeClr val="tx1"/>
              </a:solidFill>
              <a:ea typeface="Times New Roman"/>
              <a:cs typeface="Arial"/>
            </a:endParaRPr>
          </a:p>
        </p:txBody>
      </p:sp>
      <p:pic>
        <p:nvPicPr>
          <p:cNvPr id="2" name="Picture 1" descr="Gating system design">
            <a:extLst>
              <a:ext uri="{FF2B5EF4-FFF2-40B4-BE49-F238E27FC236}">
                <a16:creationId xmlns:a16="http://schemas.microsoft.com/office/drawing/2014/main" id="{E1B986BC-A740-CDB1-F872-9989DCBA1F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20" y="1298234"/>
            <a:ext cx="6624479" cy="441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Different Parts of Sand Mold- Features • Bernier Metals">
            <a:extLst>
              <a:ext uri="{FF2B5EF4-FFF2-40B4-BE49-F238E27FC236}">
                <a16:creationId xmlns:a16="http://schemas.microsoft.com/office/drawing/2014/main" id="{724FF8D8-BC3C-8660-70FF-A08A3AA5E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004" y="1600200"/>
            <a:ext cx="5726796" cy="3737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765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900BF6F-9873-7DAF-F65C-0F2F01D0ACB9}"/>
              </a:ext>
            </a:extLst>
          </p:cNvPr>
          <p:cNvSpPr txBox="1">
            <a:spLocks noChangeArrowheads="1"/>
          </p:cNvSpPr>
          <p:nvPr/>
        </p:nvSpPr>
        <p:spPr>
          <a:xfrm>
            <a:off x="3124200" y="304800"/>
            <a:ext cx="38862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Mold Collapsing</a:t>
            </a:r>
          </a:p>
        </p:txBody>
      </p:sp>
      <p:pic>
        <p:nvPicPr>
          <p:cNvPr id="2" name="Picture 1" descr="A person standing next to a pile of metal containers&#10;&#10;AI-generated content may be incorrect.">
            <a:extLst>
              <a:ext uri="{FF2B5EF4-FFF2-40B4-BE49-F238E27FC236}">
                <a16:creationId xmlns:a16="http://schemas.microsoft.com/office/drawing/2014/main" id="{E0E59387-18EB-E12C-39AE-F5DBD791E3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08" t="17727" r="30940" b="19241"/>
          <a:stretch>
            <a:fillRect/>
          </a:stretch>
        </p:blipFill>
        <p:spPr bwMode="auto">
          <a:xfrm>
            <a:off x="254079" y="1524000"/>
            <a:ext cx="5488621" cy="40163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5EEC91-17C0-A595-1CAC-68BAEAB4C05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7" t="6302" r="13952" b="8732"/>
          <a:stretch>
            <a:fillRect/>
          </a:stretch>
        </p:blipFill>
        <p:spPr bwMode="auto">
          <a:xfrm>
            <a:off x="5853195" y="1524000"/>
            <a:ext cx="5457594" cy="33156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000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A3E1861-0D0D-D386-1514-9AC9EA6DA51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04800"/>
            <a:ext cx="96774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Casting obtained after mold collapsing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EA852-0D6E-B4D8-D5CA-BD90C927C1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58" t="24166" r="55240" b="32506"/>
          <a:stretch>
            <a:fillRect/>
          </a:stretch>
        </p:blipFill>
        <p:spPr bwMode="auto">
          <a:xfrm>
            <a:off x="512886" y="1371600"/>
            <a:ext cx="5278314" cy="42176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34ECB-83E0-8F1C-0206-24A3288F10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98" t="23636" r="47928" b="31580"/>
          <a:stretch>
            <a:fillRect/>
          </a:stretch>
        </p:blipFill>
        <p:spPr bwMode="auto">
          <a:xfrm>
            <a:off x="5807235" y="1371600"/>
            <a:ext cx="5652142" cy="381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6F09875-503F-2A48-F751-18B62598DCE0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5867400"/>
            <a:ext cx="18288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2400" b="1" kern="0" dirty="0">
                <a:solidFill>
                  <a:schemeClr val="accent1">
                    <a:lumMod val="50000"/>
                  </a:schemeClr>
                </a:solidFill>
              </a:rPr>
              <a:t>Raw casting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167C7DF-E1B0-A117-1A43-DD3C615DB1E1}"/>
              </a:ext>
            </a:extLst>
          </p:cNvPr>
          <p:cNvSpPr txBox="1">
            <a:spLocks noChangeArrowheads="1"/>
          </p:cNvSpPr>
          <p:nvPr/>
        </p:nvSpPr>
        <p:spPr>
          <a:xfrm>
            <a:off x="7848600" y="5448300"/>
            <a:ext cx="2263294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2400" b="1" kern="0" dirty="0">
                <a:solidFill>
                  <a:schemeClr val="accent1">
                    <a:lumMod val="50000"/>
                  </a:schemeClr>
                </a:solidFill>
              </a:rPr>
              <a:t>Cleaned casting</a:t>
            </a:r>
          </a:p>
        </p:txBody>
      </p:sp>
    </p:spTree>
    <p:extLst>
      <p:ext uri="{BB962C8B-B14F-4D97-AF65-F5344CB8AC3E}">
        <p14:creationId xmlns:p14="http://schemas.microsoft.com/office/powerpoint/2010/main" val="76830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DCAC99C-1FA0-E68A-7332-0024133656E5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Green Sand Molding Steps</a:t>
            </a:r>
          </a:p>
        </p:txBody>
      </p:sp>
      <p:pic>
        <p:nvPicPr>
          <p:cNvPr id="2" name="Picture 1" descr="A machine with a pipe&#10;&#10;AI-generated content may be incorrect.">
            <a:extLst>
              <a:ext uri="{FF2B5EF4-FFF2-40B4-BE49-F238E27FC236}">
                <a16:creationId xmlns:a16="http://schemas.microsoft.com/office/drawing/2014/main" id="{6920AD23-3A81-534D-791D-F747FE6285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48" t="23244" r="37954" b="18193"/>
          <a:stretch>
            <a:fillRect/>
          </a:stretch>
        </p:blipFill>
        <p:spPr bwMode="auto">
          <a:xfrm>
            <a:off x="838200" y="1447800"/>
            <a:ext cx="5105400" cy="44734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A23505-48E7-0D97-461B-31DCA7F7BF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00" t="23378" r="46368" b="32900"/>
          <a:stretch>
            <a:fillRect/>
          </a:stretch>
        </p:blipFill>
        <p:spPr bwMode="auto">
          <a:xfrm>
            <a:off x="5981700" y="1447800"/>
            <a:ext cx="5585695" cy="29143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3559182-C6E7-536F-B478-28DB791013A7}"/>
              </a:ext>
            </a:extLst>
          </p:cNvPr>
          <p:cNvSpPr txBox="1">
            <a:spLocks noChangeArrowheads="1"/>
          </p:cNvSpPr>
          <p:nvPr/>
        </p:nvSpPr>
        <p:spPr>
          <a:xfrm>
            <a:off x="1230552" y="6096000"/>
            <a:ext cx="3951047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2400" b="1" kern="0" dirty="0">
                <a:solidFill>
                  <a:schemeClr val="accent1">
                    <a:lumMod val="50000"/>
                  </a:schemeClr>
                </a:solidFill>
              </a:rPr>
              <a:t>Casting with gates and riser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DF3E07E-DE18-42C5-B5E1-9598F957E7BE}"/>
              </a:ext>
            </a:extLst>
          </p:cNvPr>
          <p:cNvSpPr txBox="1">
            <a:spLocks noChangeArrowheads="1"/>
          </p:cNvSpPr>
          <p:nvPr/>
        </p:nvSpPr>
        <p:spPr>
          <a:xfrm>
            <a:off x="6324600" y="4876800"/>
            <a:ext cx="5333999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2400" b="1" kern="0" dirty="0">
                <a:solidFill>
                  <a:schemeClr val="accent1">
                    <a:lumMod val="50000"/>
                  </a:schemeClr>
                </a:solidFill>
              </a:rPr>
              <a:t>Removal of gates and riser from Casting</a:t>
            </a:r>
          </a:p>
        </p:txBody>
      </p:sp>
    </p:spTree>
    <p:extLst>
      <p:ext uri="{BB962C8B-B14F-4D97-AF65-F5344CB8AC3E}">
        <p14:creationId xmlns:p14="http://schemas.microsoft.com/office/powerpoint/2010/main" val="2294938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620840B-3505-33DB-FCEA-6FB60A5888E0}"/>
              </a:ext>
            </a:extLst>
          </p:cNvPr>
          <p:cNvSpPr txBox="1">
            <a:spLocks noChangeArrowheads="1"/>
          </p:cNvSpPr>
          <p:nvPr/>
        </p:nvSpPr>
        <p:spPr>
          <a:xfrm>
            <a:off x="4267200" y="152400"/>
            <a:ext cx="32004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Gating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705246-F437-51B0-8364-BD92372ED8DA}"/>
              </a:ext>
            </a:extLst>
          </p:cNvPr>
          <p:cNvSpPr/>
          <p:nvPr/>
        </p:nvSpPr>
        <p:spPr>
          <a:xfrm>
            <a:off x="685800" y="1295400"/>
            <a:ext cx="10820400" cy="4401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15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en-US" sz="2800" dirty="0">
                <a:latin typeface="Times New Roman" pitchFamily="18" charset="0"/>
                <a:ea typeface="Times New Roman"/>
                <a:cs typeface="Times New Roman" pitchFamily="18" charset="0"/>
              </a:rPr>
              <a:t>A gate is a specific part of the gating system, acting as the entry point for molten metal into the mold cavity. </a:t>
            </a:r>
          </a:p>
          <a:p>
            <a:pPr marL="457200" lvl="0" indent="-457200" algn="just">
              <a:lnSpc>
                <a:spcPct val="115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en-US" sz="2800" dirty="0">
                <a:latin typeface="Times New Roman" pitchFamily="18" charset="0"/>
                <a:ea typeface="Times New Roman"/>
                <a:cs typeface="Times New Roman" pitchFamily="18" charset="0"/>
              </a:rPr>
              <a:t>It's designed to control the flow rate and direction of the molten metal as it enters the mold. </a:t>
            </a:r>
          </a:p>
          <a:p>
            <a:pPr marL="457200" lvl="0" indent="-457200" algn="just">
              <a:lnSpc>
                <a:spcPct val="115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en-US" sz="2800" dirty="0">
                <a:latin typeface="Times New Roman" pitchFamily="18" charset="0"/>
                <a:ea typeface="Times New Roman"/>
                <a:cs typeface="Times New Roman" pitchFamily="18" charset="0"/>
              </a:rPr>
              <a:t>Gates can be designed in various shapes and sizes, depending on the casting process, material, and desired part characteristics. </a:t>
            </a:r>
          </a:p>
          <a:p>
            <a:pPr marL="457200" lvl="0" indent="-457200" algn="just">
              <a:lnSpc>
                <a:spcPct val="115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80340" algn="l"/>
              </a:tabLst>
            </a:pPr>
            <a:r>
              <a:rPr lang="en-US" sz="2800" dirty="0">
                <a:latin typeface="Times New Roman" pitchFamily="18" charset="0"/>
                <a:ea typeface="Times New Roman"/>
                <a:cs typeface="Times New Roman" pitchFamily="18" charset="0"/>
              </a:rPr>
              <a:t>The gate's design and placement are crucial for achieving a sound and defect-free casting. </a:t>
            </a:r>
          </a:p>
        </p:txBody>
      </p:sp>
    </p:spTree>
    <p:extLst>
      <p:ext uri="{BB962C8B-B14F-4D97-AF65-F5344CB8AC3E}">
        <p14:creationId xmlns:p14="http://schemas.microsoft.com/office/powerpoint/2010/main" val="97610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EC28A9-0EA9-B28A-93AA-E07891E92782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Requirements of Gating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452F0D-A110-4241-560D-6727D3CBEAEA}"/>
              </a:ext>
            </a:extLst>
          </p:cNvPr>
          <p:cNvSpPr/>
          <p:nvPr/>
        </p:nvSpPr>
        <p:spPr>
          <a:xfrm>
            <a:off x="685800" y="1295400"/>
            <a:ext cx="10820400" cy="4856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gating design should ensure proper distribution of molten metal without </a:t>
            </a:r>
            <a:r>
              <a:rPr lang="en-I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excessive temperature loss, turbulence, gas entrapping and slags.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Slow pouring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increase filling time that leads to premature solidification. Hence, super heating of metal is required, but this may cause solubility.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Faster pouring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molten metal cause erosion of the mould cavity.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gating design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and it depends on the </a:t>
            </a:r>
            <a:r>
              <a:rPr lang="en-I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metal and molten metal composition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aluminium can get oxidized easily.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180340" algn="l"/>
              </a:tabLst>
            </a:pPr>
            <a:endParaRPr lang="en-US" sz="2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07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C7BBA1-EE5F-23DC-430F-29B3D439070B}"/>
              </a:ext>
            </a:extLst>
          </p:cNvPr>
          <p:cNvSpPr txBox="1"/>
          <p:nvPr/>
        </p:nvSpPr>
        <p:spPr>
          <a:xfrm>
            <a:off x="381000" y="1143001"/>
            <a:ext cx="11430000" cy="5400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1000"/>
              </a:spcAft>
              <a:buSzPts val="1000"/>
              <a:tabLst>
                <a:tab pos="180340" algn="l"/>
              </a:tabLst>
            </a:pPr>
            <a:r>
              <a:rPr lang="en-US" dirty="0">
                <a:solidFill>
                  <a:schemeClr val="tx2"/>
                </a:solidFill>
              </a:rPr>
              <a:t>•	  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 flow: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regulate the rate at which molten metal enters the mold cavity, preventing turbulence and ensuring a smooth, consistent flow. 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  <a:buSzPts val="1000"/>
              <a:tabLst>
                <a:tab pos="180340" algn="l"/>
              </a:tabLst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Minimizing defects: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controlling the flow, gates help prevent issues like air entrapment, shrinkage, and porosity, which can lead to defects in the final casting. 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  <a:buSzPts val="1000"/>
              <a:tabLst>
                <a:tab pos="180340" algn="l"/>
              </a:tabLst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Directing metal flow: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can be strategically placed to guide the molten metal to specific areas of the mold, ensuring proper filling of complex shapes. 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  <a:buSzPts val="1000"/>
              <a:tabLst>
                <a:tab pos="180340" algn="l"/>
              </a:tabLst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control: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gates are designed to act as risers, providing a reservoir of molten metal to compensate for shrinkage during solidification.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7919FC-3A3E-4DFB-422B-7ED30D5D614F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Functions of gating system</a:t>
            </a:r>
          </a:p>
        </p:txBody>
      </p:sp>
    </p:spTree>
    <p:extLst>
      <p:ext uri="{BB962C8B-B14F-4D97-AF65-F5344CB8AC3E}">
        <p14:creationId xmlns:p14="http://schemas.microsoft.com/office/powerpoint/2010/main" val="267451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65E903-8B9F-F00B-70C1-4D2B48A2E860}"/>
              </a:ext>
            </a:extLst>
          </p:cNvPr>
          <p:cNvSpPr txBox="1"/>
          <p:nvPr/>
        </p:nvSpPr>
        <p:spPr>
          <a:xfrm>
            <a:off x="609600" y="1600200"/>
            <a:ext cx="1082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Aspiration effect: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entering of gases from baking of organic compounds present in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molten metal stream. This will produce porous castings. Pressure anywhere in the liquid stream should not become negative.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D8DF78D-ABF4-4D1C-618B-BEBAF4418434}"/>
              </a:ext>
            </a:extLst>
          </p:cNvPr>
          <p:cNvSpPr txBox="1">
            <a:spLocks noChangeArrowheads="1"/>
          </p:cNvSpPr>
          <p:nvPr/>
        </p:nvSpPr>
        <p:spPr>
          <a:xfrm>
            <a:off x="3886200" y="304800"/>
            <a:ext cx="37338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Aspiration effect</a:t>
            </a:r>
            <a:endParaRPr lang="en-US" sz="4000" b="1" kern="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2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4ADE9BA-3168-31B2-487B-1C91ECD5FB4E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Types of gate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ACCD1B-ABE2-8D92-A481-2EB16C58D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79285"/>
            <a:ext cx="10522102" cy="3662541"/>
          </a:xfrm>
        </p:spPr>
        <p:txBody>
          <a:bodyPr/>
          <a:lstStyle/>
          <a:p>
            <a:r>
              <a:rPr lang="en-I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 Gate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Molten metal enters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cavity from the top. This method is simple but can cause turbulence and erosion. 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848A3-FB11-0409-4AF6-C862A77997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921" t="42151" r="19861" b="23575"/>
          <a:stretch>
            <a:fillRect/>
          </a:stretch>
        </p:blipFill>
        <p:spPr bwMode="auto">
          <a:xfrm>
            <a:off x="4800600" y="2743200"/>
            <a:ext cx="2133600" cy="31118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6526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6BD7-FBE4-909D-93F8-4FEB6E637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06355C9-317E-25D0-8198-A1F60FDFCFA9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Types of gates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30D07F-F95F-690F-75DE-D66011EC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79285"/>
            <a:ext cx="10522102" cy="3139321"/>
          </a:xfrm>
        </p:spPr>
        <p:txBody>
          <a:bodyPr/>
          <a:lstStyle/>
          <a:p>
            <a:r>
              <a:rPr lang="en-I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Bottom Gate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Molten metal enters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cavity from the bottom. This can lead to temperature variations within the casting, with the bottom being hotter and the top cooler. 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803276-7D5D-58F7-6FEB-5759034887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60" t="42151" r="34116" b="23442"/>
          <a:stretch>
            <a:fillRect/>
          </a:stretch>
        </p:blipFill>
        <p:spPr bwMode="auto">
          <a:xfrm>
            <a:off x="4771380" y="2880547"/>
            <a:ext cx="2047886" cy="31392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4600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0B89-64C5-A16B-F67F-39F68172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CE19C04-96BE-206C-D01F-94D378B764C3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Types of gate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21547F-92F5-611C-6F9F-E44F67F14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79284"/>
            <a:ext cx="10522102" cy="3016210"/>
          </a:xfrm>
        </p:spPr>
        <p:txBody>
          <a:bodyPr/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Parting Line Gate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Molten metal enters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cavity at the parting line, where the two halves of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meet. It's a simple and cost-effective method, but can be prone to erosion and dross formation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A30F41-3176-AC79-8C1D-3986CD43B3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225" t="43070" r="47854" b="24360"/>
          <a:stretch>
            <a:fillRect/>
          </a:stretch>
        </p:blipFill>
        <p:spPr bwMode="auto">
          <a:xfrm>
            <a:off x="5055096" y="3564719"/>
            <a:ext cx="2081807" cy="29513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15236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4D3F-FDEE-187C-3C54-E6599661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A687127-AD4D-D7EB-9A0E-2DB5CAF4E903}"/>
              </a:ext>
            </a:extLst>
          </p:cNvPr>
          <p:cNvSpPr txBox="1">
            <a:spLocks noChangeArrowheads="1"/>
          </p:cNvSpPr>
          <p:nvPr/>
        </p:nvSpPr>
        <p:spPr>
          <a:xfrm>
            <a:off x="2362200" y="304800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Types of gate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1D5DB0-C992-08AF-9CA8-321D97EFD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143000"/>
            <a:ext cx="10522102" cy="3447098"/>
          </a:xfrm>
        </p:spPr>
        <p:txBody>
          <a:bodyPr/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 Gate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/>
            <a:r>
              <a:rPr lang="en-IN" sz="2800" dirty="0"/>
              <a:t>A step gate is used in the sand casting process for producing heavy casting of large size.</a:t>
            </a:r>
          </a:p>
          <a:p>
            <a:pPr fontAlgn="base"/>
            <a:r>
              <a:rPr lang="en-IN" sz="2800" dirty="0"/>
              <a:t>A step gate is used when the molten metal requirement is large and metal needs to fill the mould cavity in steps using the gate.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ate In Casting | In Gates | Types | Diagram | Gate Design | Gate Ratio |  Gate In Gating System | Mechgrace">
            <a:extLst>
              <a:ext uri="{FF2B5EF4-FFF2-40B4-BE49-F238E27FC236}">
                <a16:creationId xmlns:a16="http://schemas.microsoft.com/office/drawing/2014/main" id="{FA8D406F-3F02-C9C2-6533-8DFCF4713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6" t="8671" r="22248" b="10150"/>
          <a:stretch>
            <a:fillRect/>
          </a:stretch>
        </p:blipFill>
        <p:spPr bwMode="auto">
          <a:xfrm>
            <a:off x="3810000" y="3809999"/>
            <a:ext cx="4754958" cy="304800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93588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4EF2E-2D84-6548-B067-678971E7E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81755"/>
            <a:ext cx="10972799" cy="5447645"/>
          </a:xfrm>
        </p:spPr>
        <p:txBody>
          <a:bodyPr/>
          <a:lstStyle/>
          <a:p>
            <a:pPr algn="just"/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Pouring Basin: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funnel-shaped reservoir at the top of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(sprue hole) where molten metal is initially poured from crucible. </a:t>
            </a:r>
          </a:p>
          <a:p>
            <a:pPr algn="just"/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Sprue: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vertical channel that connects the pouring basin to the runner system and control the flow rate of the metal. </a:t>
            </a:r>
          </a:p>
          <a:p>
            <a:pPr algn="just"/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Sprue Well: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reservoir at the bottom of the sprue, which regulates the flow of metal into the runner and reduces turbulence. </a:t>
            </a:r>
          </a:p>
          <a:p>
            <a:pPr algn="just"/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Runner: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horizontal channel(s) that distribute the molten metal from the sprue to the gates. </a:t>
            </a:r>
          </a:p>
          <a:p>
            <a:pPr algn="just"/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Runner Extension: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elongated part of runner, used to feed multiple gates or collection place for impurities. </a:t>
            </a:r>
          </a:p>
          <a:p>
            <a:pPr algn="just"/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In-gate (or Gate):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opening through which molten metal enters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cavity. </a:t>
            </a:r>
          </a:p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6D30E40-FBDD-C2DF-7091-2F8E353E1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7600" y="228600"/>
            <a:ext cx="4572000" cy="533400"/>
          </a:xfrm>
          <a:noFill/>
        </p:spPr>
        <p:txBody>
          <a:bodyPr>
            <a:noAutofit/>
          </a:bodyPr>
          <a:lstStyle/>
          <a:p>
            <a:pPr algn="l" eaLnBrk="1" hangingPunct="1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Gating System parts</a:t>
            </a:r>
          </a:p>
        </p:txBody>
      </p:sp>
    </p:spTree>
    <p:extLst>
      <p:ext uri="{BB962C8B-B14F-4D97-AF65-F5344CB8AC3E}">
        <p14:creationId xmlns:p14="http://schemas.microsoft.com/office/powerpoint/2010/main" val="3279662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402F-9732-ACDC-663A-5C800828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191ED0D-434B-DD15-F13B-F9A42CFFF764}"/>
              </a:ext>
            </a:extLst>
          </p:cNvPr>
          <p:cNvSpPr txBox="1">
            <a:spLocks noChangeArrowheads="1"/>
          </p:cNvSpPr>
          <p:nvPr/>
        </p:nvSpPr>
        <p:spPr>
          <a:xfrm>
            <a:off x="5410200" y="396063"/>
            <a:ext cx="13716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Riser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94172F-6B82-7B29-C2C6-E1A21C90A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74564"/>
            <a:ext cx="10522102" cy="5170646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 reservoir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holds extra molten metal, which ensures flow of metal into the mold cavity during casting material shrinks.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the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part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mold to solidify, which ensures the continuous feeding of metal until the complete casting is solidified.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compensation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molten metal, without which shrinkage would create voids or porosity within the casting.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defects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preventing shrinkage cavities and maintaining the desired shape and dimensions. </a:t>
            </a:r>
          </a:p>
        </p:txBody>
      </p:sp>
    </p:spTree>
    <p:extLst>
      <p:ext uri="{BB962C8B-B14F-4D97-AF65-F5344CB8AC3E}">
        <p14:creationId xmlns:p14="http://schemas.microsoft.com/office/powerpoint/2010/main" val="2140019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0 Perfect thank you messages (Appreciation sms)">
            <a:extLst>
              <a:ext uri="{FF2B5EF4-FFF2-40B4-BE49-F238E27FC236}">
                <a16:creationId xmlns:a16="http://schemas.microsoft.com/office/drawing/2014/main" id="{0EF917C7-33B0-4584-96EC-D99575EC62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183188" y="1944520"/>
            <a:ext cx="6172200" cy="3381469"/>
          </a:xfrm>
          <a:prstGeom prst="rect">
            <a:avLst/>
          </a:prstGeom>
          <a:solidFill>
            <a:srgbClr val="FFFFFF"/>
          </a:solidFill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FC1B-8562-4575-9EEC-3FE101CA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3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0224EE6-E032-0A4B-A8B2-3B3E72DB79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17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752</Words>
  <Application>Microsoft Office PowerPoint</Application>
  <PresentationFormat>Widescreen</PresentationFormat>
  <Paragraphs>67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Symbol</vt:lpstr>
      <vt:lpstr>Times New Roman</vt:lpstr>
      <vt:lpstr>Office Theme</vt:lpstr>
      <vt:lpstr>Gating System</vt:lpstr>
      <vt:lpstr>Gating System parts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Gating System parts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Dr. Vaibhav Srivastava [MU - Jaipur]</cp:lastModifiedBy>
  <cp:revision>44</cp:revision>
  <dcterms:created xsi:type="dcterms:W3CDTF">2020-04-30T11:37:54Z</dcterms:created>
  <dcterms:modified xsi:type="dcterms:W3CDTF">2026-08-06T08:20:02Z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