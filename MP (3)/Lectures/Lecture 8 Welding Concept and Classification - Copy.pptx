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19"/>
  </p:notesMasterIdLst>
  <p:sldIdLst>
    <p:sldId id="363" r:id="rId2"/>
    <p:sldId id="342" r:id="rId3"/>
    <p:sldId id="343" r:id="rId4"/>
    <p:sldId id="346" r:id="rId5"/>
    <p:sldId id="347" r:id="rId6"/>
    <p:sldId id="344" r:id="rId7"/>
    <p:sldId id="362" r:id="rId8"/>
    <p:sldId id="349" r:id="rId9"/>
    <p:sldId id="365" r:id="rId10"/>
    <p:sldId id="366" r:id="rId11"/>
    <p:sldId id="350" r:id="rId12"/>
    <p:sldId id="351" r:id="rId13"/>
    <p:sldId id="353" r:id="rId14"/>
    <p:sldId id="355" r:id="rId15"/>
    <p:sldId id="357" r:id="rId16"/>
    <p:sldId id="348" r:id="rId17"/>
    <p:sldId id="36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9252"/>
    <a:srgbClr val="FF66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88312" autoAdjust="0"/>
  </p:normalViewPr>
  <p:slideViewPr>
    <p:cSldViewPr snapToGrid="0" showGuides="1">
      <p:cViewPr varScale="1">
        <p:scale>
          <a:sx n="30" d="100"/>
          <a:sy n="30" d="100"/>
        </p:scale>
        <p:origin x="900" y="36"/>
      </p:cViewPr>
      <p:guideLst>
        <p:guide orient="horz" pos="2136"/>
        <p:guide pos="3840"/>
      </p:guideLst>
    </p:cSldViewPr>
  </p:slideViewPr>
  <p:notesTextViewPr>
    <p:cViewPr>
      <p:scale>
        <a:sx n="1" d="1"/>
        <a:sy n="1" d="1"/>
      </p:scale>
      <p:origin x="0" y="0"/>
    </p:cViewPr>
  </p:notesTextViewPr>
  <p:sorterViewPr>
    <p:cViewPr>
      <p:scale>
        <a:sx n="100" d="100"/>
        <a:sy n="100"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D159C-51B0-40A3-8694-41A37F70563A}" type="datetimeFigureOut">
              <a:rPr lang="en-US" smtClean="0"/>
              <a:t>8/10/2025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34F81C-B500-4E97-922A-F612A414F54B}" type="slidenum">
              <a:rPr lang="en-US" smtClean="0"/>
              <a:t>‹#›</a:t>
            </a:fld>
            <a:endParaRPr lang="en-US"/>
          </a:p>
        </p:txBody>
      </p:sp>
    </p:spTree>
    <p:extLst>
      <p:ext uri="{BB962C8B-B14F-4D97-AF65-F5344CB8AC3E}">
        <p14:creationId xmlns:p14="http://schemas.microsoft.com/office/powerpoint/2010/main" val="150401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a:xfrm>
            <a:off x="838200"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a:xfrm>
            <a:off x="8610600" y="6485337"/>
            <a:ext cx="2743200" cy="365125"/>
          </a:xfrm>
        </p:spPr>
        <p:txBody>
          <a:bodyPr/>
          <a:lstStyle/>
          <a:p>
            <a:fld id="{790D40CC-89F5-074E-A99F-1FA92DFF8C6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91557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139" y="36884"/>
            <a:ext cx="10515600" cy="1325563"/>
          </a:xfrm>
        </p:spPr>
        <p:txBody>
          <a:bodyPr>
            <a:normAutofit/>
          </a:bodyPr>
          <a:lstStyle>
            <a:lvl1pPr>
              <a:defRPr sz="28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IN" dirty="0"/>
          </a:p>
        </p:txBody>
      </p:sp>
      <p:sp>
        <p:nvSpPr>
          <p:cNvPr id="3" name="Content Placeholder 2"/>
          <p:cNvSpPr>
            <a:spLocks noGrp="1"/>
          </p:cNvSpPr>
          <p:nvPr>
            <p:ph idx="1"/>
          </p:nvPr>
        </p:nvSpPr>
        <p:spPr>
          <a:xfrm>
            <a:off x="756139" y="1391874"/>
            <a:ext cx="10515600" cy="4351338"/>
          </a:xfrm>
        </p:spPr>
        <p:txBody>
          <a:bodyPr/>
          <a:lstStyle>
            <a:lvl1pPr>
              <a:defRPr sz="2400">
                <a:latin typeface="Verdana" panose="020B0604030504040204" pitchFamily="34" charset="0"/>
                <a:ea typeface="Verdana" panose="020B0604030504040204" pitchFamily="34" charset="0"/>
                <a:cs typeface="Verdana" panose="020B0604030504040204" pitchFamily="34" charset="0"/>
              </a:defRPr>
            </a:lvl1pPr>
            <a:lvl2pPr marL="685783" indent="-228594">
              <a:buSzPct val="80000"/>
              <a:buFont typeface="Wingdings" pitchFamily="2" charset="2"/>
              <a:buChar char="§"/>
              <a:defRPr sz="2000">
                <a:latin typeface="Verdana" panose="020B0604030504040204" pitchFamily="34" charset="0"/>
                <a:ea typeface="Verdana" panose="020B0604030504040204" pitchFamily="34" charset="0"/>
                <a:cs typeface="Verdana" panose="020B0604030504040204" pitchFamily="34" charset="0"/>
              </a:defRPr>
            </a:lvl2pPr>
            <a:lvl3pPr marL="1142971" indent="-228594">
              <a:buSzPct val="70000"/>
              <a:buFont typeface="Courier New" panose="02070309020205020404" pitchFamily="49" charset="0"/>
              <a:buChar char="o"/>
              <a:defRPr sz="1800">
                <a:latin typeface="Verdana" panose="020B0604030504040204" pitchFamily="34" charset="0"/>
                <a:ea typeface="Verdana" panose="020B0604030504040204" pitchFamily="34" charset="0"/>
                <a:cs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defRPr>
            </a:lvl4pPr>
            <a:lvl5pPr marL="2057349" indent="-228594">
              <a:buSzPct val="60000"/>
              <a:buFont typeface="Wingdings" pitchFamily="2" charset="2"/>
              <a:buChar cha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hape 354">
            <a:extLst>
              <a:ext uri="{FF2B5EF4-FFF2-40B4-BE49-F238E27FC236}">
                <a16:creationId xmlns:a16="http://schemas.microsoft.com/office/drawing/2014/main" id="{6E1A2C32-3B4B-1241-8B0E-0DC4FD15B916}"/>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406ADC65-CA76-7742-A967-9DA419BE78F4}"/>
              </a:ext>
            </a:extLst>
          </p:cNvPr>
          <p:cNvPicPr>
            <a:picLocks noChangeAspect="1"/>
          </p:cNvPicPr>
          <p:nvPr userDrawn="1"/>
        </p:nvPicPr>
        <p:blipFill>
          <a:blip r:embed="rId2"/>
          <a:stretch>
            <a:fillRect/>
          </a:stretch>
        </p:blipFill>
        <p:spPr>
          <a:xfrm>
            <a:off x="11140521" y="2721"/>
            <a:ext cx="1051481" cy="1101818"/>
          </a:xfrm>
          <a:prstGeom prst="rect">
            <a:avLst/>
          </a:prstGeom>
        </p:spPr>
      </p:pic>
      <p:sp>
        <p:nvSpPr>
          <p:cNvPr id="4" name="Date Placeholder 3">
            <a:extLst>
              <a:ext uri="{FF2B5EF4-FFF2-40B4-BE49-F238E27FC236}">
                <a16:creationId xmlns:a16="http://schemas.microsoft.com/office/drawing/2014/main" id="{89872737-9D6D-8F41-A7B3-4325B7FD1CBB}"/>
              </a:ext>
            </a:extLst>
          </p:cNvPr>
          <p:cNvSpPr>
            <a:spLocks noGrp="1"/>
          </p:cNvSpPr>
          <p:nvPr>
            <p:ph type="dt" sz="half" idx="10"/>
          </p:nvPr>
        </p:nvSpPr>
        <p:spPr>
          <a:xfrm>
            <a:off x="756139"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0B97172E-E9C4-934E-9BB9-BE12C7546B04}"/>
              </a:ext>
            </a:extLst>
          </p:cNvPr>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a:extLst>
              <a:ext uri="{FF2B5EF4-FFF2-40B4-BE49-F238E27FC236}">
                <a16:creationId xmlns:a16="http://schemas.microsoft.com/office/drawing/2014/main" id="{505D8589-C750-3344-A735-35BA55FD8E63}"/>
              </a:ext>
            </a:extLst>
          </p:cNvPr>
          <p:cNvSpPr>
            <a:spLocks noGrp="1"/>
          </p:cNvSpPr>
          <p:nvPr>
            <p:ph type="sldNum" sz="quarter" idx="12"/>
          </p:nvPr>
        </p:nvSpPr>
        <p:spPr>
          <a:xfrm>
            <a:off x="8610600" y="6485337"/>
            <a:ext cx="2743200" cy="365125"/>
          </a:xfrm>
        </p:spPr>
        <p:txBody>
          <a:bodyPr/>
          <a:lstStyle>
            <a:lvl1pPr>
              <a:defRPr/>
            </a:lvl1pPr>
          </a:lstStyle>
          <a:p>
            <a:fld id="{B0224EE6-E032-0A4B-A8B2-3B3E72DB7979}"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9390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49" y="1709740"/>
            <a:ext cx="10515600" cy="2852737"/>
          </a:xfrm>
        </p:spPr>
        <p:txBody>
          <a:bodyPr anchor="b">
            <a:normAutofit/>
          </a:bodyPr>
          <a:lstStyle>
            <a:lvl1pPr>
              <a:defRPr sz="4000"/>
            </a:lvl1pPr>
          </a:lstStyle>
          <a:p>
            <a:r>
              <a:rPr lang="en-US"/>
              <a:t>Click to edit Master title style</a:t>
            </a:r>
            <a:endParaRPr lang="en-IN"/>
          </a:p>
        </p:txBody>
      </p:sp>
      <p:sp>
        <p:nvSpPr>
          <p:cNvPr id="3" name="Text Placeholder 2"/>
          <p:cNvSpPr>
            <a:spLocks noGrp="1"/>
          </p:cNvSpPr>
          <p:nvPr>
            <p:ph type="body" idx="1"/>
          </p:nvPr>
        </p:nvSpPr>
        <p:spPr>
          <a:xfrm>
            <a:off x="831849" y="4589497"/>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046445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415320"/>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0" y="141532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lvl1pPr>
              <a:defRPr/>
            </a:lvl1pPr>
          </a:lstStyle>
          <a:p>
            <a:fld id="{57322C6F-883B-EE4D-9D9D-117DC5B9C5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92410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25161"/>
            <a:ext cx="10515600" cy="1325563"/>
          </a:xfrm>
        </p:spPr>
        <p:txBody>
          <a:bodyPr/>
          <a:lstStyle/>
          <a:p>
            <a:r>
              <a:rPr lang="en-US" dirty="0"/>
              <a:t>Click to edit Master title style</a:t>
            </a:r>
            <a:endParaRPr lang="en-IN" dirty="0"/>
          </a:p>
        </p:txBody>
      </p:sp>
      <p:sp>
        <p:nvSpPr>
          <p:cNvPr id="3" name="Text Placeholder 2"/>
          <p:cNvSpPr>
            <a:spLocks noGrp="1"/>
          </p:cNvSpPr>
          <p:nvPr>
            <p:ph type="body" idx="1"/>
          </p:nvPr>
        </p:nvSpPr>
        <p:spPr>
          <a:xfrm>
            <a:off x="839789" y="1376365"/>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2002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3" y="1376365"/>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2002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8" name="Footer Placeholder 7"/>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9" name="Slide Number Placeholder 8"/>
          <p:cNvSpPr>
            <a:spLocks noGrp="1"/>
          </p:cNvSpPr>
          <p:nvPr>
            <p:ph type="sldNum" sz="quarter" idx="12"/>
          </p:nvPr>
        </p:nvSpPr>
        <p:spPr/>
        <p:txBody>
          <a:bodyPr/>
          <a:lstStyle/>
          <a:p>
            <a:fld id="{43DB6E5F-7FEB-0648-9FAC-2572B4429CC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67087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4" name="Footer Placeholder 3"/>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5" name="Slide Number Placeholder 4"/>
          <p:cNvSpPr>
            <a:spLocks noGrp="1"/>
          </p:cNvSpPr>
          <p:nvPr>
            <p:ph type="sldNum" sz="quarter" idx="12"/>
          </p:nvPr>
        </p:nvSpPr>
        <p:spPr/>
        <p:txBody>
          <a:bodyPr/>
          <a:lstStyle/>
          <a:p>
            <a:fld id="{2B1515BA-1963-5548-A509-B31D6408C04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06062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3" name="Footer Placeholder 2"/>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4" name="Slide Number Placeholder 3"/>
          <p:cNvSpPr>
            <a:spLocks noGrp="1"/>
          </p:cNvSpPr>
          <p:nvPr>
            <p:ph type="sldNum" sz="quarter" idx="12"/>
          </p:nvPr>
        </p:nvSpPr>
        <p:spPr/>
        <p:txBody>
          <a:bodyPr/>
          <a:lstStyle/>
          <a:p>
            <a:fld id="{DCF0632E-D997-4741-9C11-CB4FCA7051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73579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56491"/>
            <a:ext cx="3932237" cy="1600200"/>
          </a:xfrm>
        </p:spPr>
        <p:txBody>
          <a:bodyPr anchor="b">
            <a:normAutofit/>
          </a:bodyPr>
          <a:lstStyle>
            <a:lvl1pPr>
              <a:defRPr sz="2800"/>
            </a:lvl1pPr>
          </a:lstStyle>
          <a:p>
            <a:r>
              <a:rPr lang="en-US"/>
              <a:t>Click to edit Master title style</a:t>
            </a:r>
            <a:endParaRPr lang="en-IN"/>
          </a:p>
        </p:txBody>
      </p:sp>
      <p:sp>
        <p:nvSpPr>
          <p:cNvPr id="3" name="Content Placeholder 2"/>
          <p:cNvSpPr>
            <a:spLocks noGrp="1"/>
          </p:cNvSpPr>
          <p:nvPr>
            <p:ph idx="1"/>
          </p:nvPr>
        </p:nvSpPr>
        <p:spPr>
          <a:xfrm>
            <a:off x="5183188" y="1198442"/>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p:nvPr>
        </p:nvSpPr>
        <p:spPr>
          <a:xfrm>
            <a:off x="839788" y="2268414"/>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BF852CCF-9C18-EE4F-AF97-937D2292C2B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860694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21322"/>
            <a:ext cx="3932237" cy="1600200"/>
          </a:xfrm>
        </p:spPr>
        <p:txBody>
          <a:bodyPr anchor="b">
            <a:normAutofit/>
          </a:bodyPr>
          <a:lstStyle>
            <a:lvl1pPr>
              <a:defRPr sz="2800"/>
            </a:lvl1pPr>
          </a:lstStyle>
          <a:p>
            <a:r>
              <a:rPr lang="en-US"/>
              <a:t>Click to edit Master title style</a:t>
            </a:r>
            <a:endParaRPr lang="en-IN"/>
          </a:p>
        </p:txBody>
      </p:sp>
      <p:sp>
        <p:nvSpPr>
          <p:cNvPr id="3" name="Picture Placeholder 2"/>
          <p:cNvSpPr>
            <a:spLocks noGrp="1"/>
          </p:cNvSpPr>
          <p:nvPr>
            <p:ph type="pic" idx="1"/>
          </p:nvPr>
        </p:nvSpPr>
        <p:spPr>
          <a:xfrm>
            <a:off x="5183188" y="117499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p:cNvSpPr>
            <a:spLocks noGrp="1"/>
          </p:cNvSpPr>
          <p:nvPr>
            <p:ph type="body" sz="half" idx="2"/>
          </p:nvPr>
        </p:nvSpPr>
        <p:spPr>
          <a:xfrm>
            <a:off x="839788" y="2221522"/>
            <a:ext cx="3932237" cy="3811588"/>
          </a:xfrm>
        </p:spPr>
        <p:txBody>
          <a:bodyPr>
            <a:normAutofit/>
          </a:bodyPr>
          <a:lstStyle>
            <a:lvl1pPr marL="0" indent="0">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A9765D97-2825-F947-8A31-20AC4E20E391}"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28077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71273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E7CE808B-2600-D144-9BD3-F98DDA596C4E}"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84895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9" name="Shape 9"/>
          <p:cNvSpPr>
            <a:spLocks noGrp="1"/>
          </p:cNvSpPr>
          <p:nvPr>
            <p:ph type="title" hasCustomPrompt="1"/>
          </p:nvPr>
        </p:nvSpPr>
        <p:spPr>
          <a:xfrm>
            <a:off x="277158" y="0"/>
            <a:ext cx="11099439" cy="1555576"/>
          </a:xfrm>
          <a:prstGeom prst="rect">
            <a:avLst/>
          </a:prstGeom>
        </p:spPr>
        <p:txBody>
          <a:bodyPr anchor="ctr"/>
          <a:lstStyle>
            <a:lvl1pPr algn="l" defTabSz="457189">
              <a:defRPr sz="2400" b="1">
                <a:solidFill>
                  <a:schemeClr val="tx1"/>
                </a:solidFill>
                <a:uFill>
                  <a:solidFill>
                    <a:srgbClr val="3B7542"/>
                  </a:solidFill>
                </a:uFill>
              </a:defRPr>
            </a:lvl1pPr>
          </a:lstStyle>
          <a:p>
            <a:pPr lvl="0"/>
            <a:r>
              <a:t>Title Text</a:t>
            </a:r>
          </a:p>
        </p:txBody>
      </p:sp>
      <p:sp>
        <p:nvSpPr>
          <p:cNvPr id="6" name="Slide Number Placeholder 5"/>
          <p:cNvSpPr>
            <a:spLocks noGrp="1"/>
          </p:cNvSpPr>
          <p:nvPr>
            <p:ph type="sldNum" sz="quarter" idx="4"/>
          </p:nvPr>
        </p:nvSpPr>
        <p:spPr>
          <a:xfrm>
            <a:off x="8763000" y="6508784"/>
            <a:ext cx="2743200" cy="365125"/>
          </a:xfrm>
          <a:prstGeom prst="rect">
            <a:avLst/>
          </a:prstGeom>
        </p:spPr>
        <p:txBody>
          <a:bodyPr/>
          <a:lstStyle>
            <a:lvl1pPr>
              <a:defRPr lang="en-IN" smtClean="0"/>
            </a:lvl1pPr>
          </a:lstStyle>
          <a:p>
            <a:fld id="{63181617-AE52-40EF-9E8F-5C7C49F4989C}" type="slidenum">
              <a:rPr>
                <a:solidFill>
                  <a:prstClr val="black">
                    <a:tint val="75000"/>
                  </a:prstClr>
                </a:solidFill>
              </a:rPr>
              <a:pPr/>
              <a:t>‹#›</a:t>
            </a:fld>
            <a:endParaRPr dirty="0">
              <a:solidFill>
                <a:prstClr val="black">
                  <a:tint val="75000"/>
                </a:prstClr>
              </a:solidFill>
            </a:endParaRPr>
          </a:p>
        </p:txBody>
      </p:sp>
    </p:spTree>
    <p:extLst>
      <p:ext uri="{BB962C8B-B14F-4D97-AF65-F5344CB8AC3E}">
        <p14:creationId xmlns:p14="http://schemas.microsoft.com/office/powerpoint/2010/main" val="130295442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338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37894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485337"/>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3"/>
          </p:nvPr>
        </p:nvSpPr>
        <p:spPr>
          <a:xfrm>
            <a:off x="4038600" y="6485337"/>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solidFill>
                  <a:prstClr val="black">
                    <a:tint val="75000"/>
                  </a:prstClr>
                </a:solidFill>
              </a:rPr>
              <a:t>Manipal University Jaipur</a:t>
            </a:r>
          </a:p>
        </p:txBody>
      </p:sp>
      <p:sp>
        <p:nvSpPr>
          <p:cNvPr id="6" name="Slide Number Placeholder 5"/>
          <p:cNvSpPr>
            <a:spLocks noGrp="1"/>
          </p:cNvSpPr>
          <p:nvPr>
            <p:ph type="sldNum" sz="quarter" idx="4"/>
          </p:nvPr>
        </p:nvSpPr>
        <p:spPr>
          <a:xfrm>
            <a:off x="8610600" y="648533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72C30-510C-0841-ADD2-D25B2E586470}" type="slidenum">
              <a:rPr lang="en-IN" smtClean="0">
                <a:solidFill>
                  <a:prstClr val="black">
                    <a:tint val="75000"/>
                  </a:prstClr>
                </a:solidFill>
              </a:rPr>
              <a:pPr/>
              <a:t>‹#›</a:t>
            </a:fld>
            <a:endParaRPr lang="en-IN" dirty="0">
              <a:solidFill>
                <a:prstClr val="black">
                  <a:tint val="75000"/>
                </a:prstClr>
              </a:solidFill>
            </a:endParaRPr>
          </a:p>
        </p:txBody>
      </p:sp>
      <p:sp>
        <p:nvSpPr>
          <p:cNvPr id="7" name="Shape 354">
            <a:extLst>
              <a:ext uri="{FF2B5EF4-FFF2-40B4-BE49-F238E27FC236}">
                <a16:creationId xmlns:a16="http://schemas.microsoft.com/office/drawing/2014/main" id="{75073F86-4F3F-714F-AE37-E67FC08E3BE8}"/>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79FF0070-8C18-FB40-A7E0-7B6340E110C4}"/>
              </a:ext>
            </a:extLst>
          </p:cNvPr>
          <p:cNvPicPr>
            <a:picLocks noChangeAspect="1"/>
          </p:cNvPicPr>
          <p:nvPr userDrawn="1"/>
        </p:nvPicPr>
        <p:blipFill>
          <a:blip r:embed="rId14"/>
          <a:stretch>
            <a:fillRect/>
          </a:stretch>
        </p:blipFill>
        <p:spPr>
          <a:xfrm>
            <a:off x="11140521" y="2721"/>
            <a:ext cx="1051481" cy="1101818"/>
          </a:xfrm>
          <a:prstGeom prst="rect">
            <a:avLst/>
          </a:prstGeom>
        </p:spPr>
      </p:pic>
    </p:spTree>
    <p:extLst>
      <p:ext uri="{BB962C8B-B14F-4D97-AF65-F5344CB8AC3E}">
        <p14:creationId xmlns:p14="http://schemas.microsoft.com/office/powerpoint/2010/main" val="1722445568"/>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hf hdr="0" ftr="0" dt="0"/>
  <p:txStyles>
    <p:title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fractory.com/heat-affected-zone-causes-effects-reducti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ACE499A-E92C-4C67-A6C8-3D5FD0951DB6}"/>
              </a:ext>
            </a:extLst>
          </p:cNvPr>
          <p:cNvSpPr>
            <a:spLocks noGrp="1"/>
          </p:cNvSpPr>
          <p:nvPr>
            <p:ph idx="1"/>
          </p:nvPr>
        </p:nvSpPr>
        <p:spPr>
          <a:xfrm>
            <a:off x="4976031" y="963877"/>
            <a:ext cx="6377769" cy="4930246"/>
          </a:xfrm>
        </p:spPr>
        <p:txBody>
          <a:bodyPr anchor="ctr">
            <a:normAutofit/>
          </a:bodyPr>
          <a:lstStyle/>
          <a:p>
            <a:pPr marL="0" indent="0">
              <a:buNone/>
            </a:pPr>
            <a:r>
              <a:rPr lang="en-IN" sz="4000" dirty="0">
                <a:solidFill>
                  <a:schemeClr val="accent5">
                    <a:lumMod val="75000"/>
                  </a:schemeClr>
                </a:solidFill>
                <a:latin typeface="Times New Roman" panose="02020603050405020304" pitchFamily="18" charset="0"/>
                <a:cs typeface="Times New Roman" panose="02020603050405020304" pitchFamily="18" charset="0"/>
              </a:rPr>
              <a:t>Welding: Concept and Classification</a:t>
            </a:r>
          </a:p>
        </p:txBody>
      </p:sp>
      <p:sp>
        <p:nvSpPr>
          <p:cNvPr id="4" name="Slide Number Placeholder 3">
            <a:extLst>
              <a:ext uri="{FF2B5EF4-FFF2-40B4-BE49-F238E27FC236}">
                <a16:creationId xmlns:a16="http://schemas.microsoft.com/office/drawing/2014/main" id="{DC4B9D61-3A7F-46B9-A456-C27D28D1B910}"/>
              </a:ext>
            </a:extLst>
          </p:cNvPr>
          <p:cNvSpPr>
            <a:spLocks noGrp="1"/>
          </p:cNvSpPr>
          <p:nvPr>
            <p:ph type="sldNum" sz="quarter" idx="12"/>
          </p:nvPr>
        </p:nvSpPr>
        <p:spPr>
          <a:xfrm>
            <a:off x="10571516" y="6033479"/>
            <a:ext cx="782283" cy="365125"/>
          </a:xfrm>
        </p:spPr>
        <p:txBody>
          <a:bodyPr>
            <a:normAutofit/>
          </a:bodyPr>
          <a:lstStyle/>
          <a:p>
            <a:pPr>
              <a:spcAft>
                <a:spcPts val="600"/>
              </a:spcAft>
            </a:pPr>
            <a:fld id="{B0224EE6-E032-0A4B-A8B2-3B3E72DB7979}" type="slidenum">
              <a:rPr lang="en-IN" sz="1050">
                <a:solidFill>
                  <a:schemeClr val="tx1">
                    <a:alpha val="80000"/>
                  </a:schemeClr>
                </a:solidFill>
              </a:rPr>
              <a:pPr>
                <a:spcAft>
                  <a:spcPts val="600"/>
                </a:spcAft>
              </a:pPr>
              <a:t>1</a:t>
            </a:fld>
            <a:endParaRPr lang="en-IN" sz="1050">
              <a:solidFill>
                <a:schemeClr val="tx1">
                  <a:alpha val="80000"/>
                </a:schemeClr>
              </a:solidFill>
            </a:endParaRPr>
          </a:p>
        </p:txBody>
      </p:sp>
      <p:sp>
        <p:nvSpPr>
          <p:cNvPr id="6" name="Content Placeholder 2">
            <a:extLst>
              <a:ext uri="{FF2B5EF4-FFF2-40B4-BE49-F238E27FC236}">
                <a16:creationId xmlns:a16="http://schemas.microsoft.com/office/drawing/2014/main" id="{DA23AF3D-3A27-4083-A739-C0B32C8A633D}"/>
              </a:ext>
            </a:extLst>
          </p:cNvPr>
          <p:cNvSpPr txBox="1">
            <a:spLocks/>
          </p:cNvSpPr>
          <p:nvPr/>
        </p:nvSpPr>
        <p:spPr>
          <a:xfrm>
            <a:off x="1028703" y="2165685"/>
            <a:ext cx="2821401" cy="2586789"/>
          </a:xfrm>
          <a:prstGeom prst="rect">
            <a:avLst/>
          </a:prstGeom>
        </p:spPr>
        <p:txBody>
          <a:bodyPr vert="horz" lIns="91440" tIns="45720" rIns="91440" bIns="45720" rtlCol="0" anchor="ctr">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SzPct val="80000"/>
              <a:buFont typeface="Wingdings" pitchFamily="2"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SzPct val="70000"/>
              <a:buFont typeface="Courier New" panose="02070309020205020404" pitchFamily="49" charset="0"/>
              <a:buChar char="o"/>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SzPct val="60000"/>
              <a:buFont typeface="Wingdings" pitchFamily="2"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5400" dirty="0">
                <a:solidFill>
                  <a:schemeClr val="accent2">
                    <a:lumMod val="75000"/>
                  </a:schemeClr>
                </a:solidFill>
                <a:latin typeface="Times New Roman" panose="02020603050405020304" pitchFamily="18" charset="0"/>
                <a:cs typeface="Times New Roman" panose="02020603050405020304" pitchFamily="18" charset="0"/>
              </a:rPr>
              <a:t>L</a:t>
            </a:r>
            <a:r>
              <a:rPr lang="en-IN" sz="5400" dirty="0" err="1">
                <a:solidFill>
                  <a:schemeClr val="accent2">
                    <a:lumMod val="75000"/>
                  </a:schemeClr>
                </a:solidFill>
                <a:latin typeface="Times New Roman" panose="02020603050405020304" pitchFamily="18" charset="0"/>
                <a:cs typeface="Times New Roman" panose="02020603050405020304" pitchFamily="18" charset="0"/>
              </a:rPr>
              <a:t>ecture</a:t>
            </a:r>
            <a:r>
              <a:rPr lang="en-IN" sz="5400" dirty="0">
                <a:solidFill>
                  <a:schemeClr val="accent2">
                    <a:lumMod val="75000"/>
                  </a:schemeClr>
                </a:solidFill>
                <a:latin typeface="Times New Roman" panose="02020603050405020304" pitchFamily="18" charset="0"/>
                <a:cs typeface="Times New Roman" panose="02020603050405020304" pitchFamily="18" charset="0"/>
              </a:rPr>
              <a:t> 8</a:t>
            </a:r>
          </a:p>
        </p:txBody>
      </p:sp>
    </p:spTree>
    <p:extLst>
      <p:ext uri="{BB962C8B-B14F-4D97-AF65-F5344CB8AC3E}">
        <p14:creationId xmlns:p14="http://schemas.microsoft.com/office/powerpoint/2010/main" val="3563437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6FC502-E2CD-477E-B8CB-2A8A08A3592B}"/>
              </a:ext>
            </a:extLst>
          </p:cNvPr>
          <p:cNvSpPr>
            <a:spLocks noGrp="1"/>
          </p:cNvSpPr>
          <p:nvPr>
            <p:ph idx="1"/>
          </p:nvPr>
        </p:nvSpPr>
        <p:spPr>
          <a:xfrm>
            <a:off x="756139" y="1253331"/>
            <a:ext cx="10515600" cy="4351338"/>
          </a:xfrm>
        </p:spPr>
        <p:txBody>
          <a:bodyPr>
            <a:normAutofit/>
          </a:bodyPr>
          <a:lstStyle/>
          <a:p>
            <a:pPr algn="just"/>
            <a:r>
              <a:rPr lang="en-IN" sz="2800" b="1" i="1" dirty="0">
                <a:latin typeface="Times New Roman" panose="02020603050405020304" pitchFamily="18" charset="0"/>
                <a:cs typeface="Times New Roman" panose="02020603050405020304" pitchFamily="18" charset="0"/>
              </a:rPr>
              <a:t>Welding </a:t>
            </a:r>
            <a:r>
              <a:rPr lang="en-IN" sz="2800" dirty="0">
                <a:latin typeface="Times New Roman" panose="02020603050405020304" pitchFamily="18" charset="0"/>
                <a:cs typeface="Times New Roman" panose="02020603050405020304" pitchFamily="18" charset="0"/>
              </a:rPr>
              <a:t>is a materials joining process in which two or more parts are coalesced at their contacting surfaces by suitable application of heat and /or pressure. </a:t>
            </a:r>
          </a:p>
          <a:p>
            <a:pPr algn="just"/>
            <a:r>
              <a:rPr lang="en-IN" sz="2800" dirty="0">
                <a:latin typeface="Times New Roman" panose="02020603050405020304" pitchFamily="18" charset="0"/>
                <a:cs typeface="Times New Roman" panose="02020603050405020304" pitchFamily="18" charset="0"/>
              </a:rPr>
              <a:t>Some welding processes are accomplished only by heat, no pressure is required; some processes require both heat and pressure; remaining only pressure, with no external heat. </a:t>
            </a:r>
          </a:p>
          <a:p>
            <a:pPr algn="just"/>
            <a:r>
              <a:rPr lang="en-IN" sz="2800" dirty="0">
                <a:latin typeface="Times New Roman" panose="02020603050405020304" pitchFamily="18" charset="0"/>
                <a:cs typeface="Times New Roman" panose="02020603050405020304" pitchFamily="18" charset="0"/>
              </a:rPr>
              <a:t>Some welding processes require filler material to facilitate coalescence. </a:t>
            </a:r>
          </a:p>
          <a:p>
            <a:pPr algn="just"/>
            <a:r>
              <a:rPr lang="en-IN" sz="2800" dirty="0">
                <a:latin typeface="Times New Roman" panose="02020603050405020304" pitchFamily="18" charset="0"/>
                <a:cs typeface="Times New Roman" panose="02020603050405020304" pitchFamily="18" charset="0"/>
              </a:rPr>
              <a:t>The assembly of joined parts by welding is called a </a:t>
            </a:r>
            <a:r>
              <a:rPr lang="en-IN" sz="2800" b="1" i="1" dirty="0">
                <a:latin typeface="Times New Roman" panose="02020603050405020304" pitchFamily="18" charset="0"/>
                <a:cs typeface="Times New Roman" panose="02020603050405020304" pitchFamily="18" charset="0"/>
              </a:rPr>
              <a:t>weldment. </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7CE42B-1C7F-4728-A611-F546AA81E273}"/>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2</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5DE359A5-EF11-438E-9F5E-DC6C83DB0B21}"/>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a:solidFill>
                  <a:schemeClr val="accent5">
                    <a:lumMod val="75000"/>
                  </a:schemeClr>
                </a:solidFill>
                <a:latin typeface="Times New Roman" panose="02020603050405020304" pitchFamily="18" charset="0"/>
                <a:cs typeface="Times New Roman" panose="02020603050405020304" pitchFamily="18" charset="0"/>
              </a:rPr>
              <a:t>Introduction to Welding</a:t>
            </a:r>
            <a:endParaRPr lang="en-IN" sz="3200" dirty="0">
              <a:solidFill>
                <a:schemeClr val="accent5">
                  <a:lumMod val="75000"/>
                </a:schemeClr>
              </a:solidFill>
            </a:endParaRPr>
          </a:p>
        </p:txBody>
      </p:sp>
    </p:spTree>
    <p:extLst>
      <p:ext uri="{BB962C8B-B14F-4D97-AF65-F5344CB8AC3E}">
        <p14:creationId xmlns:p14="http://schemas.microsoft.com/office/powerpoint/2010/main" val="834861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E4806-CAC5-4538-805F-FD7C9291FE37}"/>
              </a:ext>
            </a:extLst>
          </p:cNvPr>
          <p:cNvSpPr>
            <a:spLocks noGrp="1"/>
          </p:cNvSpPr>
          <p:nvPr>
            <p:ph type="title"/>
          </p:nvPr>
        </p:nvSpPr>
        <p:spPr>
          <a:xfrm>
            <a:off x="756139" y="158584"/>
            <a:ext cx="7280956" cy="780734"/>
          </a:xfrm>
        </p:spPr>
        <p:txBody>
          <a:bodyPr>
            <a:normAutofit/>
          </a:body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Classification of Metal joining Processes</a:t>
            </a:r>
            <a:endParaRPr lang="en-IN" sz="3200" dirty="0">
              <a:solidFill>
                <a:schemeClr val="accent5">
                  <a:lumMod val="75000"/>
                </a:schemeClr>
              </a:solidFill>
            </a:endParaRPr>
          </a:p>
        </p:txBody>
      </p:sp>
      <p:sp>
        <p:nvSpPr>
          <p:cNvPr id="3" name="Content Placeholder 2">
            <a:extLst>
              <a:ext uri="{FF2B5EF4-FFF2-40B4-BE49-F238E27FC236}">
                <a16:creationId xmlns:a16="http://schemas.microsoft.com/office/drawing/2014/main" id="{F4AC1C11-1DF3-428E-8B0A-7E0957B70167}"/>
              </a:ext>
            </a:extLst>
          </p:cNvPr>
          <p:cNvSpPr>
            <a:spLocks noGrp="1"/>
          </p:cNvSpPr>
          <p:nvPr>
            <p:ph idx="1"/>
          </p:nvPr>
        </p:nvSpPr>
        <p:spPr>
          <a:xfrm>
            <a:off x="756139" y="1212562"/>
            <a:ext cx="10515600" cy="5053262"/>
          </a:xfrm>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IN" sz="2000" b="1" dirty="0">
                <a:latin typeface="Times New Roman" panose="02020603050405020304" pitchFamily="18" charset="0"/>
                <a:cs typeface="Times New Roman" panose="02020603050405020304" pitchFamily="18" charset="0"/>
              </a:rPr>
              <a:t>                                     Classification of Metal Joining Processes [1]                          </a:t>
            </a:r>
            <a:r>
              <a:rPr lang="en-IN" sz="2000" b="1" dirty="0" err="1">
                <a:latin typeface="Times New Roman" panose="02020603050405020304" pitchFamily="18" charset="0"/>
                <a:cs typeface="Times New Roman" panose="02020603050405020304" pitchFamily="18" charset="0"/>
              </a:rPr>
              <a:t>Contd</a:t>
            </a:r>
            <a:r>
              <a:rPr lang="en-IN" sz="2000" b="1"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CC07F608-68D0-4939-B06E-DE515313233C}"/>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3</a:t>
            </a:fld>
            <a:endParaRPr lang="en-IN" dirty="0">
              <a:solidFill>
                <a:prstClr val="black">
                  <a:tint val="75000"/>
                </a:prstClr>
              </a:solidFill>
            </a:endParaRPr>
          </a:p>
        </p:txBody>
      </p:sp>
      <p:pic>
        <p:nvPicPr>
          <p:cNvPr id="37" name="Picture 36">
            <a:extLst>
              <a:ext uri="{FF2B5EF4-FFF2-40B4-BE49-F238E27FC236}">
                <a16:creationId xmlns:a16="http://schemas.microsoft.com/office/drawing/2014/main" id="{BFC8ECE3-432C-4F34-B710-479CCBB463E8}"/>
              </a:ext>
            </a:extLst>
          </p:cNvPr>
          <p:cNvPicPr>
            <a:picLocks noChangeAspect="1"/>
          </p:cNvPicPr>
          <p:nvPr/>
        </p:nvPicPr>
        <p:blipFill>
          <a:blip r:embed="rId2"/>
          <a:stretch>
            <a:fillRect/>
          </a:stretch>
        </p:blipFill>
        <p:spPr>
          <a:xfrm>
            <a:off x="1658507" y="1174873"/>
            <a:ext cx="8710863" cy="4599450"/>
          </a:xfrm>
          <a:prstGeom prst="rect">
            <a:avLst/>
          </a:prstGeom>
        </p:spPr>
      </p:pic>
      <p:cxnSp>
        <p:nvCxnSpPr>
          <p:cNvPr id="6" name="Straight Connector 5">
            <a:extLst>
              <a:ext uri="{FF2B5EF4-FFF2-40B4-BE49-F238E27FC236}">
                <a16:creationId xmlns:a16="http://schemas.microsoft.com/office/drawing/2014/main" id="{4DE3A1D0-D6EE-419A-9CD3-FFDD1626FD59}"/>
              </a:ext>
            </a:extLst>
          </p:cNvPr>
          <p:cNvCxnSpPr/>
          <p:nvPr/>
        </p:nvCxnSpPr>
        <p:spPr>
          <a:xfrm>
            <a:off x="3336758" y="1604211"/>
            <a:ext cx="373781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B1E8DA4D-A8B3-436C-A7D4-6F51F3C32312}"/>
              </a:ext>
            </a:extLst>
          </p:cNvPr>
          <p:cNvCxnSpPr/>
          <p:nvPr/>
        </p:nvCxnSpPr>
        <p:spPr>
          <a:xfrm>
            <a:off x="2662989" y="2277979"/>
            <a:ext cx="22298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FF1CF2-892D-4B8F-8529-4AB99E65E32F}"/>
              </a:ext>
            </a:extLst>
          </p:cNvPr>
          <p:cNvCxnSpPr/>
          <p:nvPr/>
        </p:nvCxnSpPr>
        <p:spPr>
          <a:xfrm>
            <a:off x="2614863" y="3288632"/>
            <a:ext cx="36415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25DCF46-EC5E-4832-B3EA-EA3F33335824}"/>
              </a:ext>
            </a:extLst>
          </p:cNvPr>
          <p:cNvCxnSpPr/>
          <p:nvPr/>
        </p:nvCxnSpPr>
        <p:spPr>
          <a:xfrm>
            <a:off x="3336758" y="2085474"/>
            <a:ext cx="0" cy="192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B1B44E7-8DDF-4A33-9474-EC7CC58F43D9}"/>
              </a:ext>
            </a:extLst>
          </p:cNvPr>
          <p:cNvCxnSpPr/>
          <p:nvPr/>
        </p:nvCxnSpPr>
        <p:spPr>
          <a:xfrm>
            <a:off x="2662989" y="2277979"/>
            <a:ext cx="0" cy="144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EC04879-FB34-4349-AA37-2A0695ABCD5A}"/>
              </a:ext>
            </a:extLst>
          </p:cNvPr>
          <p:cNvCxnSpPr/>
          <p:nvPr/>
        </p:nvCxnSpPr>
        <p:spPr>
          <a:xfrm>
            <a:off x="4892842" y="2277979"/>
            <a:ext cx="0" cy="224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BE13452-6D31-44BC-9916-0B2228B8DFA8}"/>
              </a:ext>
            </a:extLst>
          </p:cNvPr>
          <p:cNvCxnSpPr/>
          <p:nvPr/>
        </p:nvCxnSpPr>
        <p:spPr>
          <a:xfrm>
            <a:off x="4892842" y="3048000"/>
            <a:ext cx="0" cy="2406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F9344A9-1D02-44D2-A293-CE46440126A0}"/>
              </a:ext>
            </a:extLst>
          </p:cNvPr>
          <p:cNvCxnSpPr/>
          <p:nvPr/>
        </p:nvCxnSpPr>
        <p:spPr>
          <a:xfrm>
            <a:off x="3336758" y="4411579"/>
            <a:ext cx="0" cy="144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3C823CB-7C92-4A5A-8770-A253CE4C1F15}"/>
              </a:ext>
            </a:extLst>
          </p:cNvPr>
          <p:cNvCxnSpPr/>
          <p:nvPr/>
        </p:nvCxnSpPr>
        <p:spPr>
          <a:xfrm>
            <a:off x="3545305" y="4588042"/>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261B86F-09D5-4BEC-9E83-509F4A4E4233}"/>
              </a:ext>
            </a:extLst>
          </p:cNvPr>
          <p:cNvCxnSpPr/>
          <p:nvPr/>
        </p:nvCxnSpPr>
        <p:spPr>
          <a:xfrm>
            <a:off x="5983705" y="4555958"/>
            <a:ext cx="0" cy="176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C77CF6C-94D9-4212-9AD3-9DC36942F108}"/>
              </a:ext>
            </a:extLst>
          </p:cNvPr>
          <p:cNvCxnSpPr/>
          <p:nvPr/>
        </p:nvCxnSpPr>
        <p:spPr>
          <a:xfrm>
            <a:off x="3457072" y="4515854"/>
            <a:ext cx="0" cy="176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16E3F4F-656E-47CC-9A97-2D1C6A7872A0}"/>
              </a:ext>
            </a:extLst>
          </p:cNvPr>
          <p:cNvCxnSpPr/>
          <p:nvPr/>
        </p:nvCxnSpPr>
        <p:spPr>
          <a:xfrm>
            <a:off x="3336758" y="3801979"/>
            <a:ext cx="0" cy="272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0429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E4806-CAC5-4538-805F-FD7C9291FE37}"/>
              </a:ext>
            </a:extLst>
          </p:cNvPr>
          <p:cNvSpPr>
            <a:spLocks noGrp="1"/>
          </p:cNvSpPr>
          <p:nvPr>
            <p:ph type="title"/>
          </p:nvPr>
        </p:nvSpPr>
        <p:spPr>
          <a:xfrm>
            <a:off x="756139" y="158584"/>
            <a:ext cx="7280956" cy="780734"/>
          </a:xfrm>
        </p:spPr>
        <p:txBody>
          <a:bodyPr>
            <a:normAutofit/>
          </a:body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Classification of Metal joining Processes</a:t>
            </a:r>
            <a:endParaRPr lang="en-IN" sz="3200" dirty="0">
              <a:solidFill>
                <a:schemeClr val="accent5">
                  <a:lumMod val="75000"/>
                </a:schemeClr>
              </a:solidFill>
            </a:endParaRPr>
          </a:p>
        </p:txBody>
      </p:sp>
      <p:sp>
        <p:nvSpPr>
          <p:cNvPr id="3" name="Content Placeholder 2">
            <a:extLst>
              <a:ext uri="{FF2B5EF4-FFF2-40B4-BE49-F238E27FC236}">
                <a16:creationId xmlns:a16="http://schemas.microsoft.com/office/drawing/2014/main" id="{F4AC1C11-1DF3-428E-8B0A-7E0957B70167}"/>
              </a:ext>
            </a:extLst>
          </p:cNvPr>
          <p:cNvSpPr>
            <a:spLocks noGrp="1"/>
          </p:cNvSpPr>
          <p:nvPr>
            <p:ph idx="1"/>
          </p:nvPr>
        </p:nvSpPr>
        <p:spPr>
          <a:xfrm>
            <a:off x="756139" y="1212562"/>
            <a:ext cx="10515600" cy="5053262"/>
          </a:xfrm>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IN" sz="2000" b="1" dirty="0">
                <a:latin typeface="Times New Roman" panose="02020603050405020304" pitchFamily="18" charset="0"/>
                <a:cs typeface="Times New Roman" panose="02020603050405020304" pitchFamily="18" charset="0"/>
              </a:rPr>
              <a:t>                                     Classification of Metal Joining Processes [1]                          </a:t>
            </a:r>
            <a:r>
              <a:rPr lang="en-IN" sz="2000" b="1" dirty="0" err="1">
                <a:latin typeface="Times New Roman" panose="02020603050405020304" pitchFamily="18" charset="0"/>
                <a:cs typeface="Times New Roman" panose="02020603050405020304" pitchFamily="18" charset="0"/>
              </a:rPr>
              <a:t>Contd</a:t>
            </a:r>
            <a:r>
              <a:rPr lang="en-IN" sz="2000" b="1"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CC07F608-68D0-4939-B06E-DE515313233C}"/>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4</a:t>
            </a:fld>
            <a:endParaRPr lang="en-IN" dirty="0">
              <a:solidFill>
                <a:prstClr val="black">
                  <a:tint val="75000"/>
                </a:prstClr>
              </a:solidFill>
            </a:endParaRPr>
          </a:p>
        </p:txBody>
      </p:sp>
      <p:pic>
        <p:nvPicPr>
          <p:cNvPr id="6" name="Picture 5">
            <a:extLst>
              <a:ext uri="{FF2B5EF4-FFF2-40B4-BE49-F238E27FC236}">
                <a16:creationId xmlns:a16="http://schemas.microsoft.com/office/drawing/2014/main" id="{17196EF6-13E0-4A76-90BF-965D47392FF9}"/>
              </a:ext>
            </a:extLst>
          </p:cNvPr>
          <p:cNvPicPr>
            <a:picLocks noChangeAspect="1"/>
          </p:cNvPicPr>
          <p:nvPr/>
        </p:nvPicPr>
        <p:blipFill>
          <a:blip r:embed="rId2"/>
          <a:stretch>
            <a:fillRect/>
          </a:stretch>
        </p:blipFill>
        <p:spPr>
          <a:xfrm>
            <a:off x="1074821" y="1212562"/>
            <a:ext cx="9801725" cy="4592974"/>
          </a:xfrm>
          <a:prstGeom prst="rect">
            <a:avLst/>
          </a:prstGeom>
        </p:spPr>
      </p:pic>
      <p:cxnSp>
        <p:nvCxnSpPr>
          <p:cNvPr id="8" name="Straight Arrow Connector 7">
            <a:extLst>
              <a:ext uri="{FF2B5EF4-FFF2-40B4-BE49-F238E27FC236}">
                <a16:creationId xmlns:a16="http://schemas.microsoft.com/office/drawing/2014/main" id="{8C55ADDE-6D1F-4469-916B-D7F14D84240A}"/>
              </a:ext>
            </a:extLst>
          </p:cNvPr>
          <p:cNvCxnSpPr/>
          <p:nvPr/>
        </p:nvCxnSpPr>
        <p:spPr>
          <a:xfrm>
            <a:off x="1780674" y="4411579"/>
            <a:ext cx="0" cy="112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E20A1FF-2C0D-42C7-B725-37C366ED0FCE}"/>
              </a:ext>
            </a:extLst>
          </p:cNvPr>
          <p:cNvCxnSpPr/>
          <p:nvPr/>
        </p:nvCxnSpPr>
        <p:spPr>
          <a:xfrm>
            <a:off x="3384884" y="4411579"/>
            <a:ext cx="0" cy="112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82CE8F9-C9D5-49CC-AE15-7B9A8FF7C159}"/>
              </a:ext>
            </a:extLst>
          </p:cNvPr>
          <p:cNvCxnSpPr/>
          <p:nvPr/>
        </p:nvCxnSpPr>
        <p:spPr>
          <a:xfrm>
            <a:off x="4924926" y="4411579"/>
            <a:ext cx="0" cy="112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822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E4806-CAC5-4538-805F-FD7C9291FE37}"/>
              </a:ext>
            </a:extLst>
          </p:cNvPr>
          <p:cNvSpPr>
            <a:spLocks noGrp="1"/>
          </p:cNvSpPr>
          <p:nvPr>
            <p:ph type="title"/>
          </p:nvPr>
        </p:nvSpPr>
        <p:spPr>
          <a:xfrm>
            <a:off x="756139" y="158584"/>
            <a:ext cx="7280956" cy="780734"/>
          </a:xfrm>
        </p:spPr>
        <p:txBody>
          <a:bodyPr>
            <a:normAutofit/>
          </a:body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Classification of Metal joining Processes</a:t>
            </a:r>
            <a:endParaRPr lang="en-IN" sz="3200" dirty="0">
              <a:solidFill>
                <a:schemeClr val="accent5">
                  <a:lumMod val="75000"/>
                </a:schemeClr>
              </a:solidFill>
            </a:endParaRPr>
          </a:p>
        </p:txBody>
      </p:sp>
      <p:sp>
        <p:nvSpPr>
          <p:cNvPr id="3" name="Content Placeholder 2">
            <a:extLst>
              <a:ext uri="{FF2B5EF4-FFF2-40B4-BE49-F238E27FC236}">
                <a16:creationId xmlns:a16="http://schemas.microsoft.com/office/drawing/2014/main" id="{F4AC1C11-1DF3-428E-8B0A-7E0957B70167}"/>
              </a:ext>
            </a:extLst>
          </p:cNvPr>
          <p:cNvSpPr>
            <a:spLocks noGrp="1"/>
          </p:cNvSpPr>
          <p:nvPr>
            <p:ph idx="1"/>
          </p:nvPr>
        </p:nvSpPr>
        <p:spPr>
          <a:xfrm>
            <a:off x="756139" y="1212562"/>
            <a:ext cx="10515600" cy="5053262"/>
          </a:xfrm>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IN" sz="2000" b="1" dirty="0">
                <a:latin typeface="Times New Roman" panose="02020603050405020304" pitchFamily="18" charset="0"/>
                <a:cs typeface="Times New Roman" panose="02020603050405020304" pitchFamily="18" charset="0"/>
              </a:rPr>
              <a:t>                                     Classification of Metal Joining Processes [1]                          </a:t>
            </a:r>
            <a:r>
              <a:rPr lang="en-IN" sz="2000" b="1" dirty="0" err="1">
                <a:latin typeface="Times New Roman" panose="02020603050405020304" pitchFamily="18" charset="0"/>
                <a:cs typeface="Times New Roman" panose="02020603050405020304" pitchFamily="18" charset="0"/>
              </a:rPr>
              <a:t>Contd</a:t>
            </a:r>
            <a:r>
              <a:rPr lang="en-IN" sz="2000" b="1"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CC07F608-68D0-4939-B06E-DE515313233C}"/>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5</a:t>
            </a:fld>
            <a:endParaRPr lang="en-IN" dirty="0">
              <a:solidFill>
                <a:prstClr val="black">
                  <a:tint val="75000"/>
                </a:prstClr>
              </a:solidFill>
            </a:endParaRPr>
          </a:p>
        </p:txBody>
      </p:sp>
      <p:grpSp>
        <p:nvGrpSpPr>
          <p:cNvPr id="6" name="Group 5">
            <a:extLst>
              <a:ext uri="{FF2B5EF4-FFF2-40B4-BE49-F238E27FC236}">
                <a16:creationId xmlns:a16="http://schemas.microsoft.com/office/drawing/2014/main" id="{5661BBA1-442B-4AE5-803A-3FA9E7F68FD5}"/>
              </a:ext>
            </a:extLst>
          </p:cNvPr>
          <p:cNvGrpSpPr/>
          <p:nvPr/>
        </p:nvGrpSpPr>
        <p:grpSpPr>
          <a:xfrm>
            <a:off x="1780674" y="1700463"/>
            <a:ext cx="7668125" cy="3080083"/>
            <a:chOff x="0" y="0"/>
            <a:chExt cx="4211173" cy="1503338"/>
          </a:xfrm>
        </p:grpSpPr>
        <p:sp>
          <p:nvSpPr>
            <p:cNvPr id="7" name="Text Box 2">
              <a:extLst>
                <a:ext uri="{FF2B5EF4-FFF2-40B4-BE49-F238E27FC236}">
                  <a16:creationId xmlns:a16="http://schemas.microsoft.com/office/drawing/2014/main" id="{1FD2D607-2D93-4E17-8C8A-77A1B9DE7F6C}"/>
                </a:ext>
              </a:extLst>
            </p:cNvPr>
            <p:cNvSpPr txBox="1">
              <a:spLocks noChangeArrowheads="1"/>
            </p:cNvSpPr>
            <p:nvPr/>
          </p:nvSpPr>
          <p:spPr bwMode="auto">
            <a:xfrm>
              <a:off x="1354015" y="334108"/>
              <a:ext cx="1573530" cy="33401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7000"/>
                </a:lnSpc>
                <a:spcAft>
                  <a:spcPts val="800"/>
                </a:spcAft>
              </a:pPr>
              <a:r>
                <a:rPr lang="en-IN" sz="2400" b="1">
                  <a:effectLst/>
                  <a:latin typeface="Times New Roman" panose="02020603050405020304" pitchFamily="18" charset="0"/>
                  <a:ea typeface="Calibri" panose="020F0502020204030204" pitchFamily="34" charset="0"/>
                  <a:cs typeface="Times New Roman" panose="02020603050405020304" pitchFamily="18" charset="0"/>
                </a:rPr>
                <a:t>Cold Welding</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 Box 2">
              <a:extLst>
                <a:ext uri="{FF2B5EF4-FFF2-40B4-BE49-F238E27FC236}">
                  <a16:creationId xmlns:a16="http://schemas.microsoft.com/office/drawing/2014/main" id="{61556BED-5BDD-46BA-9490-4A9E5EA579CD}"/>
                </a:ext>
              </a:extLst>
            </p:cNvPr>
            <p:cNvSpPr txBox="1">
              <a:spLocks noChangeArrowheads="1"/>
            </p:cNvSpPr>
            <p:nvPr/>
          </p:nvSpPr>
          <p:spPr bwMode="auto">
            <a:xfrm>
              <a:off x="0" y="888023"/>
              <a:ext cx="949325" cy="61531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Pressure Welding</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
              <a:extLst>
                <a:ext uri="{FF2B5EF4-FFF2-40B4-BE49-F238E27FC236}">
                  <a16:creationId xmlns:a16="http://schemas.microsoft.com/office/drawing/2014/main" id="{407B4BE2-24C3-45E5-9698-7DC9B563F699}"/>
                </a:ext>
              </a:extLst>
            </p:cNvPr>
            <p:cNvSpPr txBox="1">
              <a:spLocks noChangeArrowheads="1"/>
            </p:cNvSpPr>
            <p:nvPr/>
          </p:nvSpPr>
          <p:spPr bwMode="auto">
            <a:xfrm>
              <a:off x="1565030" y="870439"/>
              <a:ext cx="1028700" cy="6324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Ultrasonic Welding</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2">
              <a:extLst>
                <a:ext uri="{FF2B5EF4-FFF2-40B4-BE49-F238E27FC236}">
                  <a16:creationId xmlns:a16="http://schemas.microsoft.com/office/drawing/2014/main" id="{39658D86-2B0F-4C13-834A-586E37819FA3}"/>
                </a:ext>
              </a:extLst>
            </p:cNvPr>
            <p:cNvSpPr txBox="1">
              <a:spLocks noChangeArrowheads="1"/>
            </p:cNvSpPr>
            <p:nvPr/>
          </p:nvSpPr>
          <p:spPr bwMode="auto">
            <a:xfrm>
              <a:off x="3270738" y="923192"/>
              <a:ext cx="940435" cy="56261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Explosive Welding</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id="{73827B89-9BBB-4B69-A02E-9773EF90EDA0}"/>
                </a:ext>
              </a:extLst>
            </p:cNvPr>
            <p:cNvCxnSpPr/>
            <p:nvPr/>
          </p:nvCxnSpPr>
          <p:spPr>
            <a:xfrm flipH="1">
              <a:off x="952500" y="677008"/>
              <a:ext cx="413482" cy="211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B6F3CFF-A63B-460A-AA07-01944D18C1FA}"/>
                </a:ext>
              </a:extLst>
            </p:cNvPr>
            <p:cNvCxnSpPr/>
            <p:nvPr/>
          </p:nvCxnSpPr>
          <p:spPr>
            <a:xfrm>
              <a:off x="2927838" y="677008"/>
              <a:ext cx="360778" cy="237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AC511C8-9C53-4A56-B9FF-5AAF7DA65FF2}"/>
                </a:ext>
              </a:extLst>
            </p:cNvPr>
            <p:cNvCxnSpPr/>
            <p:nvPr/>
          </p:nvCxnSpPr>
          <p:spPr>
            <a:xfrm flipH="1">
              <a:off x="2089638" y="0"/>
              <a:ext cx="2991" cy="34290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cxnSp>
        <p:nvCxnSpPr>
          <p:cNvPr id="14" name="Straight Arrow Connector 13">
            <a:extLst>
              <a:ext uri="{FF2B5EF4-FFF2-40B4-BE49-F238E27FC236}">
                <a16:creationId xmlns:a16="http://schemas.microsoft.com/office/drawing/2014/main" id="{D4366436-6068-42A0-8065-E225FC65E759}"/>
              </a:ext>
            </a:extLst>
          </p:cNvPr>
          <p:cNvCxnSpPr>
            <a:stCxn id="7" idx="2"/>
          </p:cNvCxnSpPr>
          <p:nvPr/>
        </p:nvCxnSpPr>
        <p:spPr>
          <a:xfrm>
            <a:off x="5678821" y="3069322"/>
            <a:ext cx="48211" cy="414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8483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8F7902-98E0-4839-BAEA-87ED8318A2D9}"/>
              </a:ext>
            </a:extLst>
          </p:cNvPr>
          <p:cNvSpPr>
            <a:spLocks noGrp="1"/>
          </p:cNvSpPr>
          <p:nvPr>
            <p:ph idx="1"/>
          </p:nvPr>
        </p:nvSpPr>
        <p:spPr/>
        <p:txBody>
          <a:bodyPr>
            <a:normAutofit/>
          </a:bodyPr>
          <a:lstStyle/>
          <a:p>
            <a:r>
              <a:rPr lang="en-IN" sz="2800" dirty="0">
                <a:latin typeface="Times New Roman" panose="02020603050405020304" pitchFamily="18" charset="0"/>
                <a:cs typeface="Times New Roman" panose="02020603050405020304" pitchFamily="18" charset="0"/>
              </a:rPr>
              <a:t>Chemical energy: Gas welding, explosive welding, </a:t>
            </a:r>
            <a:r>
              <a:rPr lang="en-IN" sz="2800" dirty="0" err="1">
                <a:latin typeface="Times New Roman" panose="02020603050405020304" pitchFamily="18" charset="0"/>
                <a:cs typeface="Times New Roman" panose="02020603050405020304" pitchFamily="18" charset="0"/>
              </a:rPr>
              <a:t>Thermit</a:t>
            </a:r>
            <a:r>
              <a:rPr lang="en-IN" sz="2800" dirty="0">
                <a:latin typeface="Times New Roman" panose="02020603050405020304" pitchFamily="18" charset="0"/>
                <a:cs typeface="Times New Roman" panose="02020603050405020304" pitchFamily="18" charset="0"/>
              </a:rPr>
              <a:t> welding </a:t>
            </a:r>
          </a:p>
          <a:p>
            <a:pPr marL="0" indent="0">
              <a:buNone/>
            </a:pP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Mechanical energy: Friction welding, Ultrasonic welding </a:t>
            </a: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Electrical energy: Arc welding, Resistance welding </a:t>
            </a:r>
          </a:p>
          <a:p>
            <a:pPr marL="0" indent="0">
              <a:buNone/>
            </a:pP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Radiation energy: Laser beam welding, Electron beam welding</a:t>
            </a:r>
          </a:p>
          <a:p>
            <a:pPr marL="0" indent="0">
              <a:buNone/>
            </a:pPr>
            <a:endParaRPr lang="en-IN" dirty="0"/>
          </a:p>
        </p:txBody>
      </p:sp>
      <p:sp>
        <p:nvSpPr>
          <p:cNvPr id="4" name="Slide Number Placeholder 3">
            <a:extLst>
              <a:ext uri="{FF2B5EF4-FFF2-40B4-BE49-F238E27FC236}">
                <a16:creationId xmlns:a16="http://schemas.microsoft.com/office/drawing/2014/main" id="{9B7C9F2F-6573-4A75-B6ED-CE5029716C1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6</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44C860E3-8072-4C2F-851A-8A3434EF9957}"/>
              </a:ext>
            </a:extLst>
          </p:cNvPr>
          <p:cNvSpPr>
            <a:spLocks noGrp="1"/>
          </p:cNvSpPr>
          <p:nvPr>
            <p:ph type="title"/>
          </p:nvPr>
        </p:nvSpPr>
        <p:spPr>
          <a:xfrm>
            <a:off x="756139" y="158584"/>
            <a:ext cx="7280956" cy="780734"/>
          </a:xfrm>
        </p:spPr>
        <p:txBody>
          <a:bodyPr>
            <a:normAutofit/>
          </a:body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Sources of Energy in Welding Processes</a:t>
            </a:r>
            <a:endParaRPr lang="en-IN" sz="3200" dirty="0">
              <a:solidFill>
                <a:schemeClr val="accent5">
                  <a:lumMod val="75000"/>
                </a:schemeClr>
              </a:solidFill>
            </a:endParaRPr>
          </a:p>
        </p:txBody>
      </p:sp>
    </p:spTree>
    <p:extLst>
      <p:ext uri="{BB962C8B-B14F-4D97-AF65-F5344CB8AC3E}">
        <p14:creationId xmlns:p14="http://schemas.microsoft.com/office/powerpoint/2010/main" val="1717619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C622369-7F2B-4203-BA6B-3845D360FB7A}"/>
              </a:ext>
            </a:extLst>
          </p:cNvPr>
          <p:cNvPicPr>
            <a:picLocks noGrp="1" noChangeAspect="1"/>
          </p:cNvPicPr>
          <p:nvPr>
            <p:ph idx="1"/>
          </p:nvPr>
        </p:nvPicPr>
        <p:blipFill>
          <a:blip r:embed="rId2"/>
          <a:stretch>
            <a:fillRect/>
          </a:stretch>
        </p:blipFill>
        <p:spPr>
          <a:xfrm>
            <a:off x="659888" y="2005263"/>
            <a:ext cx="6992198" cy="3064042"/>
          </a:xfrm>
          <a:prstGeom prst="rect">
            <a:avLst/>
          </a:prstGeom>
        </p:spPr>
      </p:pic>
      <p:sp>
        <p:nvSpPr>
          <p:cNvPr id="4" name="Slide Number Placeholder 3">
            <a:extLst>
              <a:ext uri="{FF2B5EF4-FFF2-40B4-BE49-F238E27FC236}">
                <a16:creationId xmlns:a16="http://schemas.microsoft.com/office/drawing/2014/main" id="{7A51AE28-DA28-4E5C-B3A2-610EEC11524E}"/>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7</a:t>
            </a:fld>
            <a:endParaRPr lang="en-IN" dirty="0">
              <a:solidFill>
                <a:prstClr val="black">
                  <a:tint val="75000"/>
                </a:prstClr>
              </a:solidFill>
            </a:endParaRPr>
          </a:p>
        </p:txBody>
      </p:sp>
      <p:pic>
        <p:nvPicPr>
          <p:cNvPr id="6" name="Picture 5">
            <a:extLst>
              <a:ext uri="{FF2B5EF4-FFF2-40B4-BE49-F238E27FC236}">
                <a16:creationId xmlns:a16="http://schemas.microsoft.com/office/drawing/2014/main" id="{DC9EFA60-FDD0-4A34-ADDB-6ABE2C264A3D}"/>
              </a:ext>
            </a:extLst>
          </p:cNvPr>
          <p:cNvPicPr>
            <a:picLocks noChangeAspect="1"/>
          </p:cNvPicPr>
          <p:nvPr/>
        </p:nvPicPr>
        <p:blipFill rotWithShape="1">
          <a:blip r:embed="rId3"/>
          <a:srcRect l="21316" t="4817" r="22369" b="6795"/>
          <a:stretch/>
        </p:blipFill>
        <p:spPr>
          <a:xfrm>
            <a:off x="7716255" y="1844842"/>
            <a:ext cx="3433010" cy="3224463"/>
          </a:xfrm>
          <a:prstGeom prst="rect">
            <a:avLst/>
          </a:prstGeom>
        </p:spPr>
      </p:pic>
      <p:sp>
        <p:nvSpPr>
          <p:cNvPr id="7" name="Title 1">
            <a:extLst>
              <a:ext uri="{FF2B5EF4-FFF2-40B4-BE49-F238E27FC236}">
                <a16:creationId xmlns:a16="http://schemas.microsoft.com/office/drawing/2014/main" id="{795C2376-72FA-4B0D-B524-C477753E7A89}"/>
              </a:ext>
            </a:extLst>
          </p:cNvPr>
          <p:cNvSpPr>
            <a:spLocks noGrp="1"/>
          </p:cNvSpPr>
          <p:nvPr>
            <p:ph type="title"/>
          </p:nvPr>
        </p:nvSpPr>
        <p:spPr>
          <a:xfrm>
            <a:off x="3978442" y="5432062"/>
            <a:ext cx="4235116" cy="780734"/>
          </a:xfrm>
        </p:spPr>
        <p:txBody>
          <a:bodyPr>
            <a:normAutofit/>
          </a:bodyPr>
          <a:lstStyle/>
          <a:p>
            <a:pPr algn="r"/>
            <a:r>
              <a:rPr lang="en-IN" sz="2400" b="0" dirty="0">
                <a:latin typeface="Times New Roman" panose="02020603050405020304" pitchFamily="18" charset="0"/>
                <a:cs typeface="Times New Roman" panose="02020603050405020304" pitchFamily="18" charset="0"/>
              </a:rPr>
              <a:t>Zones at the weld area [2]</a:t>
            </a:r>
            <a:endParaRPr lang="en-IN" sz="2400" b="0" dirty="0"/>
          </a:p>
        </p:txBody>
      </p:sp>
      <p:sp>
        <p:nvSpPr>
          <p:cNvPr id="8" name="Title 1">
            <a:extLst>
              <a:ext uri="{FF2B5EF4-FFF2-40B4-BE49-F238E27FC236}">
                <a16:creationId xmlns:a16="http://schemas.microsoft.com/office/drawing/2014/main" id="{0A53584C-9220-4EFD-8891-CC99B25D4A1E}"/>
              </a:ext>
            </a:extLst>
          </p:cNvPr>
          <p:cNvSpPr txBox="1">
            <a:spLocks/>
          </p:cNvSpPr>
          <p:nvPr/>
        </p:nvSpPr>
        <p:spPr>
          <a:xfrm>
            <a:off x="908539" y="3109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a:solidFill>
                  <a:schemeClr val="accent5">
                    <a:lumMod val="75000"/>
                  </a:schemeClr>
                </a:solidFill>
                <a:latin typeface="Times New Roman" panose="02020603050405020304" pitchFamily="18" charset="0"/>
                <a:cs typeface="Times New Roman" panose="02020603050405020304" pitchFamily="18" charset="0"/>
              </a:rPr>
              <a:t>Zones at The Weld Area</a:t>
            </a:r>
            <a:endParaRPr lang="en-IN" sz="3200" dirty="0">
              <a:solidFill>
                <a:schemeClr val="accent5">
                  <a:lumMod val="75000"/>
                </a:schemeClr>
              </a:solidFill>
            </a:endParaRPr>
          </a:p>
        </p:txBody>
      </p:sp>
    </p:spTree>
    <p:extLst>
      <p:ext uri="{BB962C8B-B14F-4D97-AF65-F5344CB8AC3E}">
        <p14:creationId xmlns:p14="http://schemas.microsoft.com/office/powerpoint/2010/main" val="556937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E5391B-E08F-4EFD-B5B4-EC6AE5207CD2}"/>
              </a:ext>
            </a:extLst>
          </p:cNvPr>
          <p:cNvSpPr>
            <a:spLocks noGrp="1"/>
          </p:cNvSpPr>
          <p:nvPr>
            <p:ph idx="1"/>
          </p:nvPr>
        </p:nvSpPr>
        <p:spPr>
          <a:xfrm>
            <a:off x="545433" y="1253331"/>
            <a:ext cx="10651956" cy="5003090"/>
          </a:xfrm>
        </p:spPr>
        <p:txBody>
          <a:bodyPr>
            <a:noAutofit/>
          </a:bodyPr>
          <a:lstStyle/>
          <a:p>
            <a:pPr algn="just"/>
            <a:r>
              <a:rPr lang="en-IN" sz="2800" b="1" dirty="0">
                <a:latin typeface="Times New Roman" panose="02020603050405020304" pitchFamily="18" charset="0"/>
                <a:cs typeface="Times New Roman" panose="02020603050405020304" pitchFamily="18" charset="0"/>
              </a:rPr>
              <a:t>The fusion zone </a:t>
            </a:r>
            <a:r>
              <a:rPr lang="en-IN" sz="2800" dirty="0">
                <a:latin typeface="Times New Roman" panose="02020603050405020304" pitchFamily="18" charset="0"/>
                <a:cs typeface="Times New Roman" panose="02020603050405020304" pitchFamily="18" charset="0"/>
              </a:rPr>
              <a:t>consists of a mixture of filler metal and base metal that have completely melted. This zone is characterized by a high degree of homogeneity among the component metals that have been melted during welding. </a:t>
            </a:r>
          </a:p>
          <a:p>
            <a:pPr algn="just"/>
            <a:r>
              <a:rPr lang="en-IN" sz="2800" b="1" dirty="0">
                <a:latin typeface="Times New Roman" panose="02020603050405020304" pitchFamily="18" charset="0"/>
                <a:cs typeface="Times New Roman" panose="02020603050405020304" pitchFamily="18" charset="0"/>
              </a:rPr>
              <a:t>The weld interface zone is</a:t>
            </a:r>
            <a:r>
              <a:rPr lang="en-IN" sz="2800" dirty="0">
                <a:latin typeface="Times New Roman" panose="02020603050405020304" pitchFamily="18" charset="0"/>
                <a:cs typeface="Times New Roman" panose="02020603050405020304" pitchFamily="18" charset="0"/>
              </a:rPr>
              <a:t> a narrow boundary that separates the fusion zone from the heat-affected zone. The interface consists of a thin band of base metal that was melted or partially melted (localized melting within the grains) during the welding process but then immediately solidified before any mixing with the metal in the fusion zone</a:t>
            </a:r>
          </a:p>
          <a:p>
            <a:pPr algn="just"/>
            <a:r>
              <a:rPr lang="en-IN" sz="2800" b="1" dirty="0">
                <a:latin typeface="Times New Roman" panose="02020603050405020304" pitchFamily="18" charset="0"/>
                <a:cs typeface="Times New Roman" panose="02020603050405020304" pitchFamily="18" charset="0"/>
              </a:rPr>
              <a:t>The heat-affected zone (HAZ). </a:t>
            </a:r>
            <a:r>
              <a:rPr lang="en-IN" sz="2800" dirty="0">
                <a:latin typeface="Times New Roman" panose="02020603050405020304" pitchFamily="18" charset="0"/>
                <a:cs typeface="Times New Roman" panose="02020603050405020304" pitchFamily="18" charset="0"/>
              </a:rPr>
              <a:t>The metal in this zone has experienced temperatures that are below its melting point, yet high enough to cause microstructural changes in the solid metal. </a:t>
            </a:r>
          </a:p>
        </p:txBody>
      </p:sp>
      <p:sp>
        <p:nvSpPr>
          <p:cNvPr id="4" name="Slide Number Placeholder 3">
            <a:extLst>
              <a:ext uri="{FF2B5EF4-FFF2-40B4-BE49-F238E27FC236}">
                <a16:creationId xmlns:a16="http://schemas.microsoft.com/office/drawing/2014/main" id="{E1DAC029-D698-4E5D-BC92-0E5000C02391}"/>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8</a:t>
            </a:fld>
            <a:endParaRPr lang="en-IN" dirty="0">
              <a:solidFill>
                <a:prstClr val="black">
                  <a:tint val="75000"/>
                </a:prstClr>
              </a:solidFill>
            </a:endParaRPr>
          </a:p>
        </p:txBody>
      </p:sp>
      <p:sp>
        <p:nvSpPr>
          <p:cNvPr id="11" name="Title 1">
            <a:extLst>
              <a:ext uri="{FF2B5EF4-FFF2-40B4-BE49-F238E27FC236}">
                <a16:creationId xmlns:a16="http://schemas.microsoft.com/office/drawing/2014/main" id="{9572CB14-84ED-4A8B-B219-C37CAC10516C}"/>
              </a:ext>
            </a:extLst>
          </p:cNvPr>
          <p:cNvSpPr>
            <a:spLocks noGrp="1"/>
          </p:cNvSpPr>
          <p:nvPr>
            <p:ph type="title"/>
          </p:nvPr>
        </p:nvSpPr>
        <p:spPr>
          <a:xfrm>
            <a:off x="756139" y="158584"/>
            <a:ext cx="7280956" cy="780734"/>
          </a:xfrm>
        </p:spPr>
        <p:txBody>
          <a:bodyPr>
            <a:normAutofit/>
          </a:body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Zones at the Weld Area</a:t>
            </a:r>
            <a:endParaRPr lang="en-IN" sz="3200" dirty="0">
              <a:solidFill>
                <a:schemeClr val="accent5">
                  <a:lumMod val="75000"/>
                </a:schemeClr>
              </a:solidFill>
            </a:endParaRPr>
          </a:p>
        </p:txBody>
      </p:sp>
    </p:spTree>
    <p:extLst>
      <p:ext uri="{BB962C8B-B14F-4D97-AF65-F5344CB8AC3E}">
        <p14:creationId xmlns:p14="http://schemas.microsoft.com/office/powerpoint/2010/main" val="1595517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E603E5F-F210-F0ED-520F-01B9F9BFE487}"/>
              </a:ext>
            </a:extLst>
          </p:cNvPr>
          <p:cNvPicPr>
            <a:picLocks noGrp="1" noChangeAspect="1"/>
          </p:cNvPicPr>
          <p:nvPr>
            <p:ph idx="1"/>
          </p:nvPr>
        </p:nvPicPr>
        <p:blipFill>
          <a:blip r:embed="rId2"/>
          <a:srcRect l="12080" t="14734" r="21352" b="21946"/>
          <a:stretch>
            <a:fillRect/>
          </a:stretch>
        </p:blipFill>
        <p:spPr>
          <a:xfrm>
            <a:off x="1648326" y="1267278"/>
            <a:ext cx="8686800" cy="4647845"/>
          </a:xfrm>
          <a:prstGeom prst="rect">
            <a:avLst/>
          </a:prstGeom>
        </p:spPr>
      </p:pic>
      <p:sp>
        <p:nvSpPr>
          <p:cNvPr id="4" name="Slide Number Placeholder 3">
            <a:extLst>
              <a:ext uri="{FF2B5EF4-FFF2-40B4-BE49-F238E27FC236}">
                <a16:creationId xmlns:a16="http://schemas.microsoft.com/office/drawing/2014/main" id="{5367A5CD-5117-6FB0-457F-ABE2AA67B7AF}"/>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9</a:t>
            </a:fld>
            <a:endParaRPr lang="en-IN" dirty="0">
              <a:solidFill>
                <a:prstClr val="black">
                  <a:tint val="75000"/>
                </a:prstClr>
              </a:solidFill>
            </a:endParaRPr>
          </a:p>
        </p:txBody>
      </p:sp>
      <p:sp>
        <p:nvSpPr>
          <p:cNvPr id="7" name="Title 1">
            <a:extLst>
              <a:ext uri="{FF2B5EF4-FFF2-40B4-BE49-F238E27FC236}">
                <a16:creationId xmlns:a16="http://schemas.microsoft.com/office/drawing/2014/main" id="{34D30FAA-062E-A7A7-BBA8-48BC8FB85D81}"/>
              </a:ext>
            </a:extLst>
          </p:cNvPr>
          <p:cNvSpPr>
            <a:spLocks noGrp="1"/>
          </p:cNvSpPr>
          <p:nvPr>
            <p:ph type="title"/>
          </p:nvPr>
        </p:nvSpPr>
        <p:spPr>
          <a:xfrm>
            <a:off x="756139" y="158584"/>
            <a:ext cx="7280956" cy="780734"/>
          </a:xfrm>
        </p:spPr>
        <p:txBody>
          <a:bodyPr>
            <a:normAutofit/>
          </a:body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Types of  Welding Joints</a:t>
            </a:r>
            <a:endParaRPr lang="en-IN" sz="3200" dirty="0">
              <a:solidFill>
                <a:schemeClr val="accent5">
                  <a:lumMod val="75000"/>
                </a:schemeClr>
              </a:solidFill>
            </a:endParaRPr>
          </a:p>
        </p:txBody>
      </p:sp>
    </p:spTree>
    <p:extLst>
      <p:ext uri="{BB962C8B-B14F-4D97-AF65-F5344CB8AC3E}">
        <p14:creationId xmlns:p14="http://schemas.microsoft.com/office/powerpoint/2010/main" val="1899957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7CDF8-5C6B-0AD1-B0FC-ADA3D137A6A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D52531-E7DD-F390-08A8-D41654C6B161}"/>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10</a:t>
            </a:fld>
            <a:endParaRPr lang="en-IN" dirty="0">
              <a:solidFill>
                <a:prstClr val="black">
                  <a:tint val="75000"/>
                </a:prstClr>
              </a:solidFill>
            </a:endParaRPr>
          </a:p>
        </p:txBody>
      </p:sp>
      <p:sp>
        <p:nvSpPr>
          <p:cNvPr id="7" name="Title 1">
            <a:extLst>
              <a:ext uri="{FF2B5EF4-FFF2-40B4-BE49-F238E27FC236}">
                <a16:creationId xmlns:a16="http://schemas.microsoft.com/office/drawing/2014/main" id="{7D68A985-2510-9501-B14D-F23B45CEE6F8}"/>
              </a:ext>
            </a:extLst>
          </p:cNvPr>
          <p:cNvSpPr>
            <a:spLocks noGrp="1"/>
          </p:cNvSpPr>
          <p:nvPr>
            <p:ph type="title"/>
          </p:nvPr>
        </p:nvSpPr>
        <p:spPr>
          <a:xfrm>
            <a:off x="756139" y="158584"/>
            <a:ext cx="7280956" cy="780734"/>
          </a:xfrm>
        </p:spPr>
        <p:txBody>
          <a:bodyPr>
            <a:normAutofit/>
          </a:body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Types of Welding Joints</a:t>
            </a:r>
            <a:endParaRPr lang="en-IN" sz="3200" dirty="0">
              <a:solidFill>
                <a:schemeClr val="accent5">
                  <a:lumMod val="75000"/>
                </a:schemeClr>
              </a:solidFill>
            </a:endParaRPr>
          </a:p>
        </p:txBody>
      </p:sp>
      <p:pic>
        <p:nvPicPr>
          <p:cNvPr id="8" name="Content Placeholder 7">
            <a:extLst>
              <a:ext uri="{FF2B5EF4-FFF2-40B4-BE49-F238E27FC236}">
                <a16:creationId xmlns:a16="http://schemas.microsoft.com/office/drawing/2014/main" id="{3D8B1AE5-A38C-3536-80F2-51BAC25F105B}"/>
              </a:ext>
            </a:extLst>
          </p:cNvPr>
          <p:cNvPicPr>
            <a:picLocks noGrp="1" noChangeAspect="1"/>
          </p:cNvPicPr>
          <p:nvPr>
            <p:ph idx="1"/>
          </p:nvPr>
        </p:nvPicPr>
        <p:blipFill>
          <a:blip r:embed="rId2"/>
          <a:srcRect l="6015" t="13403" r="2841" b="26095"/>
          <a:stretch>
            <a:fillRect/>
          </a:stretch>
        </p:blipFill>
        <p:spPr>
          <a:xfrm>
            <a:off x="453906" y="1343767"/>
            <a:ext cx="10579052" cy="3950129"/>
          </a:xfrm>
          <a:prstGeom prst="rect">
            <a:avLst/>
          </a:prstGeom>
        </p:spPr>
      </p:pic>
    </p:spTree>
    <p:extLst>
      <p:ext uri="{BB962C8B-B14F-4D97-AF65-F5344CB8AC3E}">
        <p14:creationId xmlns:p14="http://schemas.microsoft.com/office/powerpoint/2010/main" val="2210245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697F0-07A3-4338-BB07-55763625E0AD}"/>
              </a:ext>
            </a:extLst>
          </p:cNvPr>
          <p:cNvSpPr>
            <a:spLocks noGrp="1"/>
          </p:cNvSpPr>
          <p:nvPr>
            <p:ph type="title"/>
          </p:nvPr>
        </p:nvSpPr>
        <p:spPr>
          <a:xfrm>
            <a:off x="838200" y="1203159"/>
            <a:ext cx="10515600" cy="4828673"/>
          </a:xfrm>
        </p:spPr>
        <p:txBody>
          <a:bodyPr>
            <a:normAutofit/>
          </a:bodyPr>
          <a:lstStyle/>
          <a:p>
            <a:r>
              <a:rPr lang="en-IN" dirty="0">
                <a:latin typeface="Times New Roman" panose="02020603050405020304" pitchFamily="18" charset="0"/>
                <a:cs typeface="Times New Roman" panose="02020603050405020304" pitchFamily="18" charset="0"/>
              </a:rPr>
              <a:t>Common welding defects are: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br>
              <a:rPr lang="en-IN" b="0" dirty="0">
                <a:latin typeface="Times New Roman" panose="02020603050405020304" pitchFamily="18" charset="0"/>
                <a:cs typeface="Times New Roman" panose="02020603050405020304" pitchFamily="18" charset="0"/>
              </a:rPr>
            </a:br>
            <a:r>
              <a:rPr lang="en-IN" b="0" dirty="0">
                <a:latin typeface="Times New Roman" panose="02020603050405020304" pitchFamily="18" charset="0"/>
                <a:cs typeface="Times New Roman" panose="02020603050405020304" pitchFamily="18" charset="0"/>
              </a:rPr>
              <a:t>	Slag Inclusion</a:t>
            </a:r>
            <a:br>
              <a:rPr lang="en-IN" b="0" dirty="0">
                <a:latin typeface="Times New Roman" panose="02020603050405020304" pitchFamily="18" charset="0"/>
                <a:cs typeface="Times New Roman" panose="02020603050405020304" pitchFamily="18" charset="0"/>
              </a:rPr>
            </a:br>
            <a:r>
              <a:rPr lang="en-IN" b="0" dirty="0">
                <a:latin typeface="Times New Roman" panose="02020603050405020304" pitchFamily="18" charset="0"/>
                <a:cs typeface="Times New Roman" panose="02020603050405020304" pitchFamily="18" charset="0"/>
              </a:rPr>
              <a:t>	Undercut</a:t>
            </a:r>
            <a:br>
              <a:rPr lang="en-IN" b="0" dirty="0">
                <a:latin typeface="Times New Roman" panose="02020603050405020304" pitchFamily="18" charset="0"/>
                <a:cs typeface="Times New Roman" panose="02020603050405020304" pitchFamily="18" charset="0"/>
              </a:rPr>
            </a:br>
            <a:r>
              <a:rPr lang="en-IN" b="0" dirty="0">
                <a:latin typeface="Times New Roman" panose="02020603050405020304" pitchFamily="18" charset="0"/>
                <a:cs typeface="Times New Roman" panose="02020603050405020304" pitchFamily="18" charset="0"/>
              </a:rPr>
              <a:t>	Porosity</a:t>
            </a:r>
            <a:br>
              <a:rPr lang="en-IN" b="0" dirty="0">
                <a:latin typeface="Times New Roman" panose="02020603050405020304" pitchFamily="18" charset="0"/>
                <a:cs typeface="Times New Roman" panose="02020603050405020304" pitchFamily="18" charset="0"/>
              </a:rPr>
            </a:br>
            <a:r>
              <a:rPr lang="en-IN" b="0" dirty="0">
                <a:latin typeface="Times New Roman" panose="02020603050405020304" pitchFamily="18" charset="0"/>
                <a:cs typeface="Times New Roman" panose="02020603050405020304" pitchFamily="18" charset="0"/>
              </a:rPr>
              <a:t>	Incomplete fusion</a:t>
            </a:r>
            <a:br>
              <a:rPr lang="en-IN" b="0" dirty="0">
                <a:latin typeface="Times New Roman" panose="02020603050405020304" pitchFamily="18" charset="0"/>
                <a:cs typeface="Times New Roman" panose="02020603050405020304" pitchFamily="18" charset="0"/>
              </a:rPr>
            </a:br>
            <a:r>
              <a:rPr lang="en-IN" b="0" dirty="0">
                <a:latin typeface="Times New Roman" panose="02020603050405020304" pitchFamily="18" charset="0"/>
                <a:cs typeface="Times New Roman" panose="02020603050405020304" pitchFamily="18" charset="0"/>
              </a:rPr>
              <a:t>	Weld overlap</a:t>
            </a:r>
            <a:br>
              <a:rPr lang="en-IN" b="0" dirty="0">
                <a:latin typeface="Times New Roman" panose="02020603050405020304" pitchFamily="18" charset="0"/>
                <a:cs typeface="Times New Roman" panose="02020603050405020304" pitchFamily="18" charset="0"/>
              </a:rPr>
            </a:br>
            <a:r>
              <a:rPr lang="en-IN" b="0" dirty="0">
                <a:latin typeface="Times New Roman" panose="02020603050405020304" pitchFamily="18" charset="0"/>
                <a:cs typeface="Times New Roman" panose="02020603050405020304" pitchFamily="18" charset="0"/>
              </a:rPr>
              <a:t>	Underfill</a:t>
            </a:r>
            <a:br>
              <a:rPr lang="en-IN" b="0" dirty="0">
                <a:latin typeface="Times New Roman" panose="02020603050405020304" pitchFamily="18" charset="0"/>
                <a:cs typeface="Times New Roman" panose="02020603050405020304" pitchFamily="18" charset="0"/>
              </a:rPr>
            </a:br>
            <a:r>
              <a:rPr lang="en-IN" b="0" dirty="0">
                <a:latin typeface="Times New Roman" panose="02020603050405020304" pitchFamily="18" charset="0"/>
                <a:cs typeface="Times New Roman" panose="02020603050405020304" pitchFamily="18" charset="0"/>
              </a:rPr>
              <a:t>	Weld Spatter</a:t>
            </a:r>
            <a:br>
              <a:rPr lang="en-IN" b="0" dirty="0">
                <a:latin typeface="Times New Roman" panose="02020603050405020304" pitchFamily="18" charset="0"/>
                <a:cs typeface="Times New Roman" panose="02020603050405020304" pitchFamily="18" charset="0"/>
              </a:rPr>
            </a:br>
            <a:r>
              <a:rPr lang="en-IN" b="0" dirty="0">
                <a:latin typeface="Times New Roman" panose="02020603050405020304" pitchFamily="18" charset="0"/>
                <a:cs typeface="Times New Roman" panose="02020603050405020304" pitchFamily="18" charset="0"/>
              </a:rPr>
              <a:t>	Incomplete weld penetration</a:t>
            </a:r>
            <a:br>
              <a:rPr lang="en-IN" dirty="0"/>
            </a:br>
            <a:endParaRPr lang="en-IN" b="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543416D-5F74-4FDE-AD87-E3ACB6E8248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11</a:t>
            </a:fld>
            <a:endParaRPr lang="en-IN" dirty="0">
              <a:solidFill>
                <a:prstClr val="black">
                  <a:tint val="75000"/>
                </a:prstClr>
              </a:solidFill>
            </a:endParaRPr>
          </a:p>
        </p:txBody>
      </p:sp>
      <p:sp>
        <p:nvSpPr>
          <p:cNvPr id="9" name="Title 1">
            <a:extLst>
              <a:ext uri="{FF2B5EF4-FFF2-40B4-BE49-F238E27FC236}">
                <a16:creationId xmlns:a16="http://schemas.microsoft.com/office/drawing/2014/main" id="{C3FD94DF-3118-4700-855A-C6738BBB567C}"/>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Welding Defects</a:t>
            </a:r>
            <a:endParaRPr lang="en-IN" sz="3200" dirty="0">
              <a:solidFill>
                <a:schemeClr val="accent5">
                  <a:lumMod val="75000"/>
                </a:schemeClr>
              </a:solidFill>
            </a:endParaRPr>
          </a:p>
        </p:txBody>
      </p:sp>
    </p:spTree>
    <p:extLst>
      <p:ext uri="{BB962C8B-B14F-4D97-AF65-F5344CB8AC3E}">
        <p14:creationId xmlns:p14="http://schemas.microsoft.com/office/powerpoint/2010/main" val="813579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1B650-B17B-4823-AC3D-08571F2611B2}"/>
              </a:ext>
            </a:extLst>
          </p:cNvPr>
          <p:cNvSpPr>
            <a:spLocks noGrp="1"/>
          </p:cNvSpPr>
          <p:nvPr>
            <p:ph type="title"/>
          </p:nvPr>
        </p:nvSpPr>
        <p:spPr>
          <a:xfrm>
            <a:off x="611759" y="1219201"/>
            <a:ext cx="5197336" cy="5149516"/>
          </a:xfrm>
        </p:spPr>
        <p:txBody>
          <a:bodyPr>
            <a:normAutofit/>
          </a:bodyPr>
          <a:lstStyle/>
          <a:p>
            <a:r>
              <a:rPr lang="en-IN" sz="2400" dirty="0">
                <a:latin typeface="Times New Roman" panose="02020603050405020304" pitchFamily="18" charset="0"/>
                <a:cs typeface="Times New Roman" panose="02020603050405020304" pitchFamily="18" charset="0"/>
              </a:rPr>
              <a:t>Slag Inclusion</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Causes: Insufficient Current, Slow Travel Speed</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Elimination: Proper Current, Appropriate Travel Speed</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Repair: Removed by Grinding</a:t>
            </a:r>
          </a:p>
        </p:txBody>
      </p:sp>
      <p:pic>
        <p:nvPicPr>
          <p:cNvPr id="6" name="Content Placeholder 5">
            <a:extLst>
              <a:ext uri="{FF2B5EF4-FFF2-40B4-BE49-F238E27FC236}">
                <a16:creationId xmlns:a16="http://schemas.microsoft.com/office/drawing/2014/main" id="{E55C1972-E964-486E-AA48-A6FA739FC126}"/>
              </a:ext>
            </a:extLst>
          </p:cNvPr>
          <p:cNvPicPr>
            <a:picLocks noGrp="1" noChangeAspect="1"/>
          </p:cNvPicPr>
          <p:nvPr>
            <p:ph idx="1"/>
          </p:nvPr>
        </p:nvPicPr>
        <p:blipFill rotWithShape="1">
          <a:blip r:embed="rId2"/>
          <a:srcRect l="13227" t="58048" r="18406" b="4067"/>
          <a:stretch/>
        </p:blipFill>
        <p:spPr>
          <a:xfrm>
            <a:off x="756139" y="2145457"/>
            <a:ext cx="3962400" cy="1648502"/>
          </a:xfrm>
          <a:prstGeom prst="rect">
            <a:avLst/>
          </a:prstGeom>
        </p:spPr>
      </p:pic>
      <p:sp>
        <p:nvSpPr>
          <p:cNvPr id="4" name="Slide Number Placeholder 3">
            <a:extLst>
              <a:ext uri="{FF2B5EF4-FFF2-40B4-BE49-F238E27FC236}">
                <a16:creationId xmlns:a16="http://schemas.microsoft.com/office/drawing/2014/main" id="{01C9C10A-45C6-4B8E-A17A-A4FB4EF38B91}"/>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12</a:t>
            </a:fld>
            <a:endParaRPr lang="en-IN" dirty="0">
              <a:solidFill>
                <a:prstClr val="black">
                  <a:tint val="75000"/>
                </a:prstClr>
              </a:solidFill>
            </a:endParaRPr>
          </a:p>
        </p:txBody>
      </p:sp>
      <p:pic>
        <p:nvPicPr>
          <p:cNvPr id="7" name="Picture 6">
            <a:extLst>
              <a:ext uri="{FF2B5EF4-FFF2-40B4-BE49-F238E27FC236}">
                <a16:creationId xmlns:a16="http://schemas.microsoft.com/office/drawing/2014/main" id="{50C7D69D-A405-421F-A7E8-90E8D7D0A202}"/>
              </a:ext>
            </a:extLst>
          </p:cNvPr>
          <p:cNvPicPr>
            <a:picLocks noChangeAspect="1"/>
          </p:cNvPicPr>
          <p:nvPr/>
        </p:nvPicPr>
        <p:blipFill rotWithShape="1">
          <a:blip r:embed="rId3"/>
          <a:srcRect l="2962" t="64917" r="51833" b="2524"/>
          <a:stretch/>
        </p:blipFill>
        <p:spPr>
          <a:xfrm>
            <a:off x="6302542" y="2145457"/>
            <a:ext cx="2620879" cy="1417243"/>
          </a:xfrm>
          <a:prstGeom prst="rect">
            <a:avLst/>
          </a:prstGeom>
        </p:spPr>
      </p:pic>
      <p:sp>
        <p:nvSpPr>
          <p:cNvPr id="8" name="Title 1">
            <a:extLst>
              <a:ext uri="{FF2B5EF4-FFF2-40B4-BE49-F238E27FC236}">
                <a16:creationId xmlns:a16="http://schemas.microsoft.com/office/drawing/2014/main" id="{0B8FBDDE-1AFA-45A3-821B-58860F069F43}"/>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Welding Defects</a:t>
            </a:r>
            <a:endParaRPr lang="en-IN" sz="3200" dirty="0">
              <a:solidFill>
                <a:schemeClr val="accent5">
                  <a:lumMod val="75000"/>
                </a:schemeClr>
              </a:solidFill>
            </a:endParaRPr>
          </a:p>
        </p:txBody>
      </p:sp>
      <p:sp>
        <p:nvSpPr>
          <p:cNvPr id="9" name="Title 1">
            <a:extLst>
              <a:ext uri="{FF2B5EF4-FFF2-40B4-BE49-F238E27FC236}">
                <a16:creationId xmlns:a16="http://schemas.microsoft.com/office/drawing/2014/main" id="{5A89ECA6-2701-48B0-9E8D-DB9193343783}"/>
              </a:ext>
            </a:extLst>
          </p:cNvPr>
          <p:cNvSpPr txBox="1">
            <a:spLocks/>
          </p:cNvSpPr>
          <p:nvPr/>
        </p:nvSpPr>
        <p:spPr>
          <a:xfrm>
            <a:off x="6156464" y="1128485"/>
            <a:ext cx="5197336" cy="5149516"/>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2400" dirty="0">
                <a:latin typeface="Times New Roman" panose="02020603050405020304" pitchFamily="18" charset="0"/>
                <a:cs typeface="Times New Roman" panose="02020603050405020304" pitchFamily="18" charset="0"/>
              </a:rPr>
              <a:t>Undercut</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Causes: High current, Improper electrode angle, Long arc length</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Elimination: Appropriate current, Training to operator</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Repair: Use smaller electrode</a:t>
            </a:r>
          </a:p>
        </p:txBody>
      </p:sp>
      <p:cxnSp>
        <p:nvCxnSpPr>
          <p:cNvPr id="5" name="Straight Arrow Connector 4">
            <a:extLst>
              <a:ext uri="{FF2B5EF4-FFF2-40B4-BE49-F238E27FC236}">
                <a16:creationId xmlns:a16="http://schemas.microsoft.com/office/drawing/2014/main" id="{2E5FE827-7523-4D85-AB62-7B9A81C639E3}"/>
              </a:ext>
            </a:extLst>
          </p:cNvPr>
          <p:cNvCxnSpPr/>
          <p:nvPr/>
        </p:nvCxnSpPr>
        <p:spPr>
          <a:xfrm flipH="1">
            <a:off x="2665149" y="1844842"/>
            <a:ext cx="1473714" cy="1009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72E125F-F311-4726-A90B-E6303C3B4DF7}"/>
              </a:ext>
            </a:extLst>
          </p:cNvPr>
          <p:cNvCxnSpPr/>
          <p:nvPr/>
        </p:nvCxnSpPr>
        <p:spPr>
          <a:xfrm>
            <a:off x="6962274" y="1844842"/>
            <a:ext cx="1507958" cy="1009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0257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AD65206-FE91-4926-9DDD-5507C134F411}"/>
              </a:ext>
            </a:extLst>
          </p:cNvPr>
          <p:cNvPicPr>
            <a:picLocks noGrp="1" noChangeAspect="1"/>
          </p:cNvPicPr>
          <p:nvPr>
            <p:ph idx="1"/>
          </p:nvPr>
        </p:nvPicPr>
        <p:blipFill rotWithShape="1">
          <a:blip r:embed="rId2"/>
          <a:srcRect l="2986" t="34608" r="55219" b="22257"/>
          <a:stretch/>
        </p:blipFill>
        <p:spPr>
          <a:xfrm>
            <a:off x="611759" y="1917033"/>
            <a:ext cx="2422358" cy="1876926"/>
          </a:xfrm>
          <a:prstGeom prst="rect">
            <a:avLst/>
          </a:prstGeom>
        </p:spPr>
      </p:pic>
      <p:sp>
        <p:nvSpPr>
          <p:cNvPr id="4" name="Slide Number Placeholder 3">
            <a:extLst>
              <a:ext uri="{FF2B5EF4-FFF2-40B4-BE49-F238E27FC236}">
                <a16:creationId xmlns:a16="http://schemas.microsoft.com/office/drawing/2014/main" id="{8B7A2AB2-075D-4155-A109-F0991ECEFDF9}"/>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13</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A3B8591C-62BF-4BD9-97A7-32763AADDEFB}"/>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Welding Defects</a:t>
            </a:r>
            <a:endParaRPr lang="en-IN" sz="3200" dirty="0">
              <a:solidFill>
                <a:schemeClr val="accent5">
                  <a:lumMod val="75000"/>
                </a:schemeClr>
              </a:solidFill>
            </a:endParaRPr>
          </a:p>
        </p:txBody>
      </p:sp>
      <p:sp>
        <p:nvSpPr>
          <p:cNvPr id="7" name="Title 1">
            <a:extLst>
              <a:ext uri="{FF2B5EF4-FFF2-40B4-BE49-F238E27FC236}">
                <a16:creationId xmlns:a16="http://schemas.microsoft.com/office/drawing/2014/main" id="{24F04BB7-8039-411F-81D5-8C36CC27F31A}"/>
              </a:ext>
            </a:extLst>
          </p:cNvPr>
          <p:cNvSpPr>
            <a:spLocks noGrp="1"/>
          </p:cNvSpPr>
          <p:nvPr>
            <p:ph type="title"/>
          </p:nvPr>
        </p:nvSpPr>
        <p:spPr>
          <a:xfrm>
            <a:off x="611759" y="1219201"/>
            <a:ext cx="5197336" cy="5149516"/>
          </a:xfrm>
        </p:spPr>
        <p:txBody>
          <a:bodyPr>
            <a:normAutofit/>
          </a:bodyPr>
          <a:lstStyle/>
          <a:p>
            <a:r>
              <a:rPr lang="en-IN" sz="2400" dirty="0">
                <a:latin typeface="Times New Roman" panose="02020603050405020304" pitchFamily="18" charset="0"/>
                <a:cs typeface="Times New Roman" panose="02020603050405020304" pitchFamily="18" charset="0"/>
              </a:rPr>
              <a:t>Porosity</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Causes: Release of trapped gases</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Elimination: Cleaning of the surface and ends</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Repair: Removed by Grinding</a:t>
            </a:r>
          </a:p>
        </p:txBody>
      </p:sp>
      <p:sp>
        <p:nvSpPr>
          <p:cNvPr id="8" name="Title 1">
            <a:extLst>
              <a:ext uri="{FF2B5EF4-FFF2-40B4-BE49-F238E27FC236}">
                <a16:creationId xmlns:a16="http://schemas.microsoft.com/office/drawing/2014/main" id="{4DA7B9A0-744C-4D72-B4BA-72EF98363F55}"/>
              </a:ext>
            </a:extLst>
          </p:cNvPr>
          <p:cNvSpPr txBox="1">
            <a:spLocks/>
          </p:cNvSpPr>
          <p:nvPr/>
        </p:nvSpPr>
        <p:spPr>
          <a:xfrm>
            <a:off x="6156464" y="1219201"/>
            <a:ext cx="5197336" cy="5149516"/>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2400" dirty="0">
                <a:latin typeface="Times New Roman" panose="02020603050405020304" pitchFamily="18" charset="0"/>
                <a:cs typeface="Times New Roman" panose="02020603050405020304" pitchFamily="18" charset="0"/>
              </a:rPr>
              <a:t>Incomplete fusion</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Causes: Low current, Fast travel speed, Short arc gap</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Elimination: Appropriate current &amp; travel speed.</a:t>
            </a: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Repair: Remove and reweld</a:t>
            </a:r>
          </a:p>
        </p:txBody>
      </p:sp>
      <p:cxnSp>
        <p:nvCxnSpPr>
          <p:cNvPr id="9" name="Straight Arrow Connector 8">
            <a:extLst>
              <a:ext uri="{FF2B5EF4-FFF2-40B4-BE49-F238E27FC236}">
                <a16:creationId xmlns:a16="http://schemas.microsoft.com/office/drawing/2014/main" id="{F975C0F4-5DAC-4A71-9D3C-A8AA7BBFC2C3}"/>
              </a:ext>
            </a:extLst>
          </p:cNvPr>
          <p:cNvCxnSpPr>
            <a:cxnSpLocks/>
          </p:cNvCxnSpPr>
          <p:nvPr/>
        </p:nvCxnSpPr>
        <p:spPr>
          <a:xfrm>
            <a:off x="1315453" y="1757465"/>
            <a:ext cx="1058779" cy="1098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Content Placeholder 4">
            <a:extLst>
              <a:ext uri="{FF2B5EF4-FFF2-40B4-BE49-F238E27FC236}">
                <a16:creationId xmlns:a16="http://schemas.microsoft.com/office/drawing/2014/main" id="{1986BE30-7440-4CCD-B2E8-5E3A8953CB05}"/>
              </a:ext>
            </a:extLst>
          </p:cNvPr>
          <p:cNvPicPr>
            <a:picLocks noChangeAspect="1"/>
          </p:cNvPicPr>
          <p:nvPr/>
        </p:nvPicPr>
        <p:blipFill rotWithShape="1">
          <a:blip r:embed="rId3"/>
          <a:srcRect l="3187" t="75422" r="49482" b="4137"/>
          <a:stretch/>
        </p:blipFill>
        <p:spPr>
          <a:xfrm>
            <a:off x="6181148" y="1966010"/>
            <a:ext cx="2743200" cy="889486"/>
          </a:xfrm>
          <a:prstGeom prst="rect">
            <a:avLst/>
          </a:prstGeom>
        </p:spPr>
      </p:pic>
      <p:cxnSp>
        <p:nvCxnSpPr>
          <p:cNvPr id="13" name="Straight Arrow Connector 12">
            <a:extLst>
              <a:ext uri="{FF2B5EF4-FFF2-40B4-BE49-F238E27FC236}">
                <a16:creationId xmlns:a16="http://schemas.microsoft.com/office/drawing/2014/main" id="{1B6BA1D5-BCC2-4F34-8EAA-45FDF1899C1A}"/>
              </a:ext>
            </a:extLst>
          </p:cNvPr>
          <p:cNvCxnSpPr/>
          <p:nvPr/>
        </p:nvCxnSpPr>
        <p:spPr>
          <a:xfrm flipH="1">
            <a:off x="7170821" y="1757465"/>
            <a:ext cx="1556084" cy="79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399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071DE56-CA44-48BA-948F-2E706544E609}"/>
              </a:ext>
            </a:extLst>
          </p:cNvPr>
          <p:cNvPicPr>
            <a:picLocks noGrp="1" noChangeAspect="1"/>
          </p:cNvPicPr>
          <p:nvPr>
            <p:ph idx="1"/>
          </p:nvPr>
        </p:nvPicPr>
        <p:blipFill rotWithShape="1">
          <a:blip r:embed="rId2"/>
          <a:srcRect l="2214" t="68651" r="50454" b="4436"/>
          <a:stretch/>
        </p:blipFill>
        <p:spPr>
          <a:xfrm>
            <a:off x="756139" y="2101515"/>
            <a:ext cx="2743200" cy="1171074"/>
          </a:xfrm>
          <a:prstGeom prst="rect">
            <a:avLst/>
          </a:prstGeom>
        </p:spPr>
      </p:pic>
      <p:sp>
        <p:nvSpPr>
          <p:cNvPr id="4" name="Slide Number Placeholder 3">
            <a:extLst>
              <a:ext uri="{FF2B5EF4-FFF2-40B4-BE49-F238E27FC236}">
                <a16:creationId xmlns:a16="http://schemas.microsoft.com/office/drawing/2014/main" id="{628AD628-34D0-4062-BCD5-6DCACC44F1EB}"/>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14</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6D8C6C35-8E9F-4360-B304-9469EE581C7C}"/>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Welding Defects</a:t>
            </a:r>
            <a:endParaRPr lang="en-IN" sz="3200" dirty="0">
              <a:solidFill>
                <a:schemeClr val="accent5">
                  <a:lumMod val="75000"/>
                </a:schemeClr>
              </a:solidFill>
            </a:endParaRPr>
          </a:p>
        </p:txBody>
      </p:sp>
      <p:sp>
        <p:nvSpPr>
          <p:cNvPr id="8" name="Title 1">
            <a:extLst>
              <a:ext uri="{FF2B5EF4-FFF2-40B4-BE49-F238E27FC236}">
                <a16:creationId xmlns:a16="http://schemas.microsoft.com/office/drawing/2014/main" id="{7CA9B44C-21EC-4BE4-800C-FEA006A331A8}"/>
              </a:ext>
            </a:extLst>
          </p:cNvPr>
          <p:cNvSpPr>
            <a:spLocks noGrp="1"/>
          </p:cNvSpPr>
          <p:nvPr>
            <p:ph type="title"/>
          </p:nvPr>
        </p:nvSpPr>
        <p:spPr>
          <a:xfrm>
            <a:off x="611759" y="1219201"/>
            <a:ext cx="5197336" cy="5149516"/>
          </a:xfrm>
        </p:spPr>
        <p:txBody>
          <a:bodyPr>
            <a:normAutofit/>
          </a:bodyPr>
          <a:lstStyle/>
          <a:p>
            <a:r>
              <a:rPr lang="en-IN" sz="2400" dirty="0">
                <a:latin typeface="Times New Roman" panose="02020603050405020304" pitchFamily="18" charset="0"/>
                <a:cs typeface="Times New Roman" panose="02020603050405020304" pitchFamily="18" charset="0"/>
              </a:rPr>
              <a:t>Weld overlap</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Causes: Untrained operator, Steep electrode angle, Faster travel speed</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Elimination: Appropriate welding technique</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Repair: Removed by Grinding</a:t>
            </a:r>
          </a:p>
        </p:txBody>
      </p:sp>
      <p:cxnSp>
        <p:nvCxnSpPr>
          <p:cNvPr id="9" name="Straight Arrow Connector 8">
            <a:extLst>
              <a:ext uri="{FF2B5EF4-FFF2-40B4-BE49-F238E27FC236}">
                <a16:creationId xmlns:a16="http://schemas.microsoft.com/office/drawing/2014/main" id="{108DF2BE-399B-4164-8EDF-F5D3F74A0011}"/>
              </a:ext>
            </a:extLst>
          </p:cNvPr>
          <p:cNvCxnSpPr/>
          <p:nvPr/>
        </p:nvCxnSpPr>
        <p:spPr>
          <a:xfrm flipH="1">
            <a:off x="1796716" y="1620253"/>
            <a:ext cx="1106905" cy="770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FFB3466E-E6E2-483F-B2F0-807862859DA0}"/>
              </a:ext>
            </a:extLst>
          </p:cNvPr>
          <p:cNvSpPr txBox="1">
            <a:spLocks/>
          </p:cNvSpPr>
          <p:nvPr/>
        </p:nvSpPr>
        <p:spPr>
          <a:xfrm>
            <a:off x="6156464" y="1219201"/>
            <a:ext cx="5197336" cy="5149516"/>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2400" dirty="0">
                <a:latin typeface="Times New Roman" panose="02020603050405020304" pitchFamily="18" charset="0"/>
                <a:cs typeface="Times New Roman" panose="02020603050405020304" pitchFamily="18" charset="0"/>
              </a:rPr>
              <a:t>Underfill</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Causes: Faster travel speed, improper welding technique</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Elimination: Use stripper beads before cover pass</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Repair: Clean and fill by welding</a:t>
            </a:r>
          </a:p>
        </p:txBody>
      </p:sp>
      <p:pic>
        <p:nvPicPr>
          <p:cNvPr id="11" name="Content Placeholder 4">
            <a:extLst>
              <a:ext uri="{FF2B5EF4-FFF2-40B4-BE49-F238E27FC236}">
                <a16:creationId xmlns:a16="http://schemas.microsoft.com/office/drawing/2014/main" id="{192C2116-E317-4241-9ACF-0DCC03E4072D}"/>
              </a:ext>
            </a:extLst>
          </p:cNvPr>
          <p:cNvPicPr>
            <a:picLocks noChangeAspect="1"/>
          </p:cNvPicPr>
          <p:nvPr/>
        </p:nvPicPr>
        <p:blipFill rotWithShape="1">
          <a:blip r:embed="rId3"/>
          <a:srcRect l="47272" t="68847" r="5396"/>
          <a:stretch/>
        </p:blipFill>
        <p:spPr>
          <a:xfrm>
            <a:off x="6218473" y="2005263"/>
            <a:ext cx="2743200" cy="1355557"/>
          </a:xfrm>
          <a:prstGeom prst="rect">
            <a:avLst/>
          </a:prstGeom>
        </p:spPr>
      </p:pic>
      <p:cxnSp>
        <p:nvCxnSpPr>
          <p:cNvPr id="13" name="Straight Arrow Connector 12">
            <a:extLst>
              <a:ext uri="{FF2B5EF4-FFF2-40B4-BE49-F238E27FC236}">
                <a16:creationId xmlns:a16="http://schemas.microsoft.com/office/drawing/2014/main" id="{40598136-49D9-444D-8FC4-8A29A727EE35}"/>
              </a:ext>
            </a:extLst>
          </p:cNvPr>
          <p:cNvCxnSpPr/>
          <p:nvPr/>
        </p:nvCxnSpPr>
        <p:spPr>
          <a:xfrm flipH="1">
            <a:off x="7315200" y="1620253"/>
            <a:ext cx="1295400" cy="10667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6064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EBF8359-3300-460F-BF60-603495B61F0D}"/>
              </a:ext>
            </a:extLst>
          </p:cNvPr>
          <p:cNvPicPr>
            <a:picLocks noGrp="1" noChangeAspect="1"/>
          </p:cNvPicPr>
          <p:nvPr>
            <p:ph idx="1"/>
          </p:nvPr>
        </p:nvPicPr>
        <p:blipFill rotWithShape="1">
          <a:blip r:embed="rId2"/>
          <a:srcRect l="3262" t="60507" r="57156" b="6313"/>
          <a:stretch/>
        </p:blipFill>
        <p:spPr>
          <a:xfrm>
            <a:off x="720044" y="1812758"/>
            <a:ext cx="2294021" cy="1443789"/>
          </a:xfrm>
          <a:prstGeom prst="rect">
            <a:avLst/>
          </a:prstGeom>
        </p:spPr>
      </p:pic>
      <p:sp>
        <p:nvSpPr>
          <p:cNvPr id="4" name="Slide Number Placeholder 3">
            <a:extLst>
              <a:ext uri="{FF2B5EF4-FFF2-40B4-BE49-F238E27FC236}">
                <a16:creationId xmlns:a16="http://schemas.microsoft.com/office/drawing/2014/main" id="{64993329-0BAE-4DBE-B768-CA8B67592DDA}"/>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15</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F4733BFD-D429-4A9A-91E7-05446290A9EE}"/>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Welding Defects</a:t>
            </a:r>
            <a:endParaRPr lang="en-IN" sz="3200" dirty="0">
              <a:solidFill>
                <a:schemeClr val="accent5">
                  <a:lumMod val="75000"/>
                </a:schemeClr>
              </a:solidFill>
            </a:endParaRPr>
          </a:p>
        </p:txBody>
      </p:sp>
      <p:sp>
        <p:nvSpPr>
          <p:cNvPr id="8" name="Title 1">
            <a:extLst>
              <a:ext uri="{FF2B5EF4-FFF2-40B4-BE49-F238E27FC236}">
                <a16:creationId xmlns:a16="http://schemas.microsoft.com/office/drawing/2014/main" id="{381BF603-33FC-4512-A0A8-DC4274C9E44B}"/>
              </a:ext>
            </a:extLst>
          </p:cNvPr>
          <p:cNvSpPr>
            <a:spLocks noGrp="1"/>
          </p:cNvSpPr>
          <p:nvPr>
            <p:ph type="title"/>
          </p:nvPr>
        </p:nvSpPr>
        <p:spPr>
          <a:xfrm>
            <a:off x="611759" y="1219201"/>
            <a:ext cx="5197336" cy="5149516"/>
          </a:xfrm>
        </p:spPr>
        <p:txBody>
          <a:bodyPr>
            <a:normAutofit/>
          </a:bodyPr>
          <a:lstStyle/>
          <a:p>
            <a:r>
              <a:rPr lang="en-IN" sz="2400" dirty="0">
                <a:latin typeface="Times New Roman" panose="02020603050405020304" pitchFamily="18" charset="0"/>
                <a:cs typeface="Times New Roman" panose="02020603050405020304" pitchFamily="18" charset="0"/>
              </a:rPr>
              <a:t>Weld spatter</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Causes: High arc current, Magnetic arc blow</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Elimination: Reduce arc current, shorten arc length</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Repair: Removed by Grinding</a:t>
            </a:r>
          </a:p>
        </p:txBody>
      </p:sp>
      <p:cxnSp>
        <p:nvCxnSpPr>
          <p:cNvPr id="9" name="Straight Arrow Connector 8">
            <a:extLst>
              <a:ext uri="{FF2B5EF4-FFF2-40B4-BE49-F238E27FC236}">
                <a16:creationId xmlns:a16="http://schemas.microsoft.com/office/drawing/2014/main" id="{3EFEDB8A-6E22-423C-95FA-C38869A9CA41}"/>
              </a:ext>
            </a:extLst>
          </p:cNvPr>
          <p:cNvCxnSpPr/>
          <p:nvPr/>
        </p:nvCxnSpPr>
        <p:spPr>
          <a:xfrm>
            <a:off x="1620253" y="1700463"/>
            <a:ext cx="176463" cy="1443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FFDADFD1-EF18-4038-806E-B6215D977EAA}"/>
              </a:ext>
            </a:extLst>
          </p:cNvPr>
          <p:cNvSpPr txBox="1">
            <a:spLocks/>
          </p:cNvSpPr>
          <p:nvPr/>
        </p:nvSpPr>
        <p:spPr>
          <a:xfrm>
            <a:off x="6096000" y="1223527"/>
            <a:ext cx="5197336" cy="5149516"/>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2400" dirty="0">
                <a:latin typeface="Times New Roman" panose="02020603050405020304" pitchFamily="18" charset="0"/>
                <a:cs typeface="Times New Roman" panose="02020603050405020304" pitchFamily="18" charset="0"/>
              </a:rPr>
              <a:t>Incomplete weld penetration</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Causes: Low current, fast travel speed, short arc length</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Elimination: appropriate current, travel speed and electrode</a:t>
            </a:r>
            <a:br>
              <a:rPr lang="en-IN" sz="2400" b="0" dirty="0">
                <a:latin typeface="Times New Roman" panose="02020603050405020304" pitchFamily="18" charset="0"/>
                <a:cs typeface="Times New Roman" panose="02020603050405020304" pitchFamily="18" charset="0"/>
              </a:rPr>
            </a:br>
            <a:br>
              <a:rPr lang="en-IN" sz="2400" b="0" dirty="0">
                <a:latin typeface="Times New Roman" panose="02020603050405020304" pitchFamily="18" charset="0"/>
                <a:cs typeface="Times New Roman" panose="02020603050405020304" pitchFamily="18" charset="0"/>
              </a:rPr>
            </a:br>
            <a:r>
              <a:rPr lang="en-IN" sz="2400" b="0" dirty="0">
                <a:latin typeface="Times New Roman" panose="02020603050405020304" pitchFamily="18" charset="0"/>
                <a:cs typeface="Times New Roman" panose="02020603050405020304" pitchFamily="18" charset="0"/>
              </a:rPr>
              <a:t>Repair: Clean and reweld</a:t>
            </a:r>
          </a:p>
        </p:txBody>
      </p:sp>
      <p:pic>
        <p:nvPicPr>
          <p:cNvPr id="11" name="Content Placeholder 4">
            <a:extLst>
              <a:ext uri="{FF2B5EF4-FFF2-40B4-BE49-F238E27FC236}">
                <a16:creationId xmlns:a16="http://schemas.microsoft.com/office/drawing/2014/main" id="{8A3ACA1B-8A85-4DEC-ACDA-2F60F9AD1B7E}"/>
              </a:ext>
            </a:extLst>
          </p:cNvPr>
          <p:cNvPicPr>
            <a:picLocks noChangeAspect="1"/>
          </p:cNvPicPr>
          <p:nvPr/>
        </p:nvPicPr>
        <p:blipFill rotWithShape="1">
          <a:blip r:embed="rId3"/>
          <a:srcRect l="3816" t="73271" r="56602" b="2765"/>
          <a:stretch/>
        </p:blipFill>
        <p:spPr>
          <a:xfrm>
            <a:off x="6220327" y="1957136"/>
            <a:ext cx="2294021" cy="1042737"/>
          </a:xfrm>
          <a:prstGeom prst="rect">
            <a:avLst/>
          </a:prstGeom>
        </p:spPr>
      </p:pic>
      <p:cxnSp>
        <p:nvCxnSpPr>
          <p:cNvPr id="13" name="Straight Arrow Connector 12">
            <a:extLst>
              <a:ext uri="{FF2B5EF4-FFF2-40B4-BE49-F238E27FC236}">
                <a16:creationId xmlns:a16="http://schemas.microsoft.com/office/drawing/2014/main" id="{9200D719-FFAF-4CD5-8889-E1539D0BF862}"/>
              </a:ext>
            </a:extLst>
          </p:cNvPr>
          <p:cNvCxnSpPr/>
          <p:nvPr/>
        </p:nvCxnSpPr>
        <p:spPr>
          <a:xfrm>
            <a:off x="6817589" y="1812758"/>
            <a:ext cx="818453"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5649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3CD162-89D3-4118-8E15-95B0579A1BF5}"/>
              </a:ext>
            </a:extLst>
          </p:cNvPr>
          <p:cNvSpPr>
            <a:spLocks noGrp="1"/>
          </p:cNvSpPr>
          <p:nvPr>
            <p:ph idx="1"/>
          </p:nvPr>
        </p:nvSpPr>
        <p:spPr/>
        <p:txBody>
          <a:bodyPr/>
          <a:lstStyle/>
          <a:p>
            <a:pPr marL="0" indent="0" algn="just">
              <a:buNone/>
            </a:pPr>
            <a:r>
              <a:rPr lang="en-IN" dirty="0"/>
              <a:t>[1]  </a:t>
            </a:r>
            <a:r>
              <a:rPr lang="en-IN" dirty="0">
                <a:latin typeface="Times New Roman" panose="02020603050405020304" pitchFamily="18" charset="0"/>
                <a:cs typeface="Times New Roman" panose="02020603050405020304" pitchFamily="18" charset="0"/>
              </a:rPr>
              <a:t>Ghosh, A. &amp; Mallik, A.K.; Joining processes, Manufacturing Science, Latest edition.</a:t>
            </a:r>
          </a:p>
          <a:p>
            <a:pPr marL="0" indent="0" algn="just">
              <a:buNone/>
            </a:pPr>
            <a:r>
              <a:rPr lang="en-IN" dirty="0">
                <a:latin typeface="Times New Roman" panose="02020603050405020304" pitchFamily="18" charset="0"/>
                <a:cs typeface="Times New Roman" panose="02020603050405020304" pitchFamily="18" charset="0"/>
              </a:rPr>
              <a:t>[2] </a:t>
            </a:r>
            <a:r>
              <a:rPr lang="en-IN" dirty="0">
                <a:latin typeface="Times New Roman" panose="02020603050405020304" pitchFamily="18" charset="0"/>
                <a:cs typeface="Times New Roman" panose="02020603050405020304" pitchFamily="18" charset="0"/>
                <a:hlinkClick r:id="rId2"/>
              </a:rPr>
              <a:t>https://fractory.com/heat-affected-zone-causes-effects-reduction/</a:t>
            </a: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[3] </a:t>
            </a:r>
            <a:r>
              <a:rPr lang="en-IN" dirty="0" err="1">
                <a:latin typeface="Times New Roman" panose="02020603050405020304" pitchFamily="18" charset="0"/>
                <a:cs typeface="Times New Roman" panose="02020603050405020304" pitchFamily="18" charset="0"/>
              </a:rPr>
              <a:t>Kalpakjian</a:t>
            </a:r>
            <a:r>
              <a:rPr lang="en-IN" dirty="0">
                <a:latin typeface="Times New Roman" panose="02020603050405020304" pitchFamily="18" charset="0"/>
                <a:cs typeface="Times New Roman" panose="02020603050405020304" pitchFamily="18" charset="0"/>
              </a:rPr>
              <a:t>, S &amp; Schmid, S,; Manufacturing Processes for Engineering Materials, Latest edition.</a:t>
            </a: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E70B8BA-ACC6-4CB0-8092-33C45C7F645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16</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EFBC4899-305C-4740-BC11-9191A55B3B7A}"/>
              </a:ext>
            </a:extLst>
          </p:cNvPr>
          <p:cNvSpPr>
            <a:spLocks noGrp="1"/>
          </p:cNvSpPr>
          <p:nvPr>
            <p:ph type="title"/>
          </p:nvPr>
        </p:nvSpPr>
        <p:spPr>
          <a:xfrm>
            <a:off x="756139" y="158584"/>
            <a:ext cx="7280956" cy="780734"/>
          </a:xfrm>
        </p:spPr>
        <p:txBody>
          <a:bodyPr>
            <a:normAutofit/>
          </a:body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References / Further Readings</a:t>
            </a:r>
            <a:endParaRPr lang="en-IN" sz="3200" dirty="0">
              <a:solidFill>
                <a:schemeClr val="accent5">
                  <a:lumMod val="75000"/>
                </a:schemeClr>
              </a:solidFill>
            </a:endParaRPr>
          </a:p>
        </p:txBody>
      </p:sp>
    </p:spTree>
    <p:extLst>
      <p:ext uri="{BB962C8B-B14F-4D97-AF65-F5344CB8AC3E}">
        <p14:creationId xmlns:p14="http://schemas.microsoft.com/office/powerpoint/2010/main" val="3090043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ounded Rectangle 18">
            <a:extLst>
              <a:ext uri="{FF2B5EF4-FFF2-40B4-BE49-F238E27FC236}">
                <a16:creationId xmlns:a16="http://schemas.microsoft.com/office/drawing/2014/main" id="{283A93BD-A469-4D4C-8A1F-5668AE975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8565" y="503573"/>
            <a:ext cx="7134870" cy="3599401"/>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40 Perfect thank you messages (Appreciation sms)">
            <a:extLst>
              <a:ext uri="{FF2B5EF4-FFF2-40B4-BE49-F238E27FC236}">
                <a16:creationId xmlns:a16="http://schemas.microsoft.com/office/drawing/2014/main" id="{0EF917C7-33B0-4584-96EC-D99575EC62A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169" r="2" b="2"/>
          <a:stretch/>
        </p:blipFill>
        <p:spPr bwMode="auto">
          <a:xfrm>
            <a:off x="2694432" y="666497"/>
            <a:ext cx="6803136" cy="3273552"/>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3D0FC1B-8562-4575-9EEC-3FE101CA93E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B0224EE6-E032-0A4B-A8B2-3B3E72DB7979}" type="slidenum">
              <a:rPr lang="en-US" smtClean="0">
                <a:solidFill>
                  <a:prstClr val="black">
                    <a:tint val="75000"/>
                  </a:prstClr>
                </a:solidFill>
                <a:latin typeface="Calibri" panose="020F0502020204030204"/>
              </a:rPr>
              <a:pPr>
                <a:spcAft>
                  <a:spcPts val="600"/>
                </a:spcAft>
                <a:defRPr/>
              </a:pPr>
              <a:t>17</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246172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6400</TotalTime>
  <Words>765</Words>
  <Application>Microsoft Office PowerPoint</Application>
  <PresentationFormat>Widescreen</PresentationFormat>
  <Paragraphs>98</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Courier New</vt:lpstr>
      <vt:lpstr>Times New Roman</vt:lpstr>
      <vt:lpstr>Trebuchet MS</vt:lpstr>
      <vt:lpstr>Verdana</vt:lpstr>
      <vt:lpstr>Wingdings</vt:lpstr>
      <vt:lpstr>Office Theme</vt:lpstr>
      <vt:lpstr>PowerPoint Presentation</vt:lpstr>
      <vt:lpstr>PowerPoint Presentation</vt:lpstr>
      <vt:lpstr>Classification of Metal joining Processes</vt:lpstr>
      <vt:lpstr>Classification of Metal joining Processes</vt:lpstr>
      <vt:lpstr>Classification of Metal joining Processes</vt:lpstr>
      <vt:lpstr>Sources of Energy in Welding Processes</vt:lpstr>
      <vt:lpstr>Zones at the weld area [2]</vt:lpstr>
      <vt:lpstr>Zones at the Weld Area</vt:lpstr>
      <vt:lpstr>Types of  Welding Joints</vt:lpstr>
      <vt:lpstr>Types of Welding Joints</vt:lpstr>
      <vt:lpstr>Common welding defects are:    Slag Inclusion  Undercut  Porosity  Incomplete fusion  Weld overlap  Underfill  Weld Spatter  Incomplete weld penetration </vt:lpstr>
      <vt:lpstr>Slag Inclusion        Causes: Insufficient Current, Slow Travel Speed  Elimination: Proper Current, Appropriate Travel Speed  Repair: Removed by Grinding</vt:lpstr>
      <vt:lpstr>Porosity        Causes: Release of trapped gases  Elimination: Cleaning of the surface and ends  Repair: Removed by Grinding</vt:lpstr>
      <vt:lpstr>Weld overlap        Causes: Untrained operator, Steep electrode angle, Faster travel speed  Elimination: Appropriate welding technique  Repair: Removed by Grinding</vt:lpstr>
      <vt:lpstr>Weld spatter        Causes: High arc current, Magnetic arc blow  Elimination: Reduce arc current, shorten arc length  Repair: Removed by Grinding</vt:lpstr>
      <vt:lpstr>References / Further Readings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Ravi Kant Gupta [MU - Jaipur]</dc:creator>
  <cp:lastModifiedBy>Dr. Ashok Kumar Sharma [MU - Jaipur]</cp:lastModifiedBy>
  <cp:revision>244</cp:revision>
  <dcterms:created xsi:type="dcterms:W3CDTF">2018-05-04T09:20:58Z</dcterms:created>
  <dcterms:modified xsi:type="dcterms:W3CDTF">2025-08-10T17:46:18Z</dcterms:modified>
</cp:coreProperties>
</file>