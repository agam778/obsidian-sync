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8" r:id="rId1"/>
  </p:sldMasterIdLst>
  <p:notesMasterIdLst>
    <p:notesMasterId r:id="rId17"/>
  </p:notesMasterIdLst>
  <p:sldIdLst>
    <p:sldId id="363" r:id="rId2"/>
    <p:sldId id="342" r:id="rId3"/>
    <p:sldId id="370" r:id="rId4"/>
    <p:sldId id="368" r:id="rId5"/>
    <p:sldId id="369" r:id="rId6"/>
    <p:sldId id="364" r:id="rId7"/>
    <p:sldId id="372" r:id="rId8"/>
    <p:sldId id="373" r:id="rId9"/>
    <p:sldId id="374" r:id="rId10"/>
    <p:sldId id="375" r:id="rId11"/>
    <p:sldId id="376" r:id="rId12"/>
    <p:sldId id="377" r:id="rId13"/>
    <p:sldId id="378" r:id="rId14"/>
    <p:sldId id="348" r:id="rId15"/>
    <p:sldId id="36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9252"/>
    <a:srgbClr val="FF66C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06" autoAdjust="0"/>
    <p:restoredTop sz="88312" autoAdjust="0"/>
  </p:normalViewPr>
  <p:slideViewPr>
    <p:cSldViewPr snapToGrid="0" showGuides="1">
      <p:cViewPr varScale="1">
        <p:scale>
          <a:sx n="53" d="100"/>
          <a:sy n="53" d="100"/>
        </p:scale>
        <p:origin x="1120" y="52"/>
      </p:cViewPr>
      <p:guideLst>
        <p:guide orient="horz" pos="2136"/>
        <p:guide pos="3840"/>
      </p:guideLst>
    </p:cSldViewPr>
  </p:slideViewPr>
  <p:notesTextViewPr>
    <p:cViewPr>
      <p:scale>
        <a:sx n="1" d="1"/>
        <a:sy n="1" d="1"/>
      </p:scale>
      <p:origin x="0" y="0"/>
    </p:cViewPr>
  </p:notesTextViewPr>
  <p:sorterViewPr>
    <p:cViewPr>
      <p:scale>
        <a:sx n="100" d="100"/>
        <a:sy n="100" d="100"/>
      </p:scale>
      <p:origin x="0" y="-22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4D159C-51B0-40A3-8694-41A37F70563A}" type="datetimeFigureOut">
              <a:rPr lang="en-US" smtClean="0"/>
              <a:t>8/9/2025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34F81C-B500-4E97-922A-F612A414F54B}" type="slidenum">
              <a:rPr lang="en-US" smtClean="0"/>
              <a:t>‹#›</a:t>
            </a:fld>
            <a:endParaRPr lang="en-US"/>
          </a:p>
        </p:txBody>
      </p:sp>
    </p:spTree>
    <p:extLst>
      <p:ext uri="{BB962C8B-B14F-4D97-AF65-F5344CB8AC3E}">
        <p14:creationId xmlns:p14="http://schemas.microsoft.com/office/powerpoint/2010/main" val="1504011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4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endParaRPr lang="en-IN" dirty="0"/>
          </a:p>
        </p:txBody>
      </p:sp>
      <p:sp>
        <p:nvSpPr>
          <p:cNvPr id="4" name="Date Placeholder 3"/>
          <p:cNvSpPr>
            <a:spLocks noGrp="1"/>
          </p:cNvSpPr>
          <p:nvPr>
            <p:ph type="dt" sz="half" idx="10"/>
          </p:nvPr>
        </p:nvSpPr>
        <p:spPr>
          <a:xfrm>
            <a:off x="838200" y="6485337"/>
            <a:ext cx="2743200" cy="365125"/>
          </a:xfrm>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a:xfrm>
            <a:off x="4038600" y="6485337"/>
            <a:ext cx="4114800" cy="365125"/>
          </a:xfrm>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a:xfrm>
            <a:off x="8610600" y="6485337"/>
            <a:ext cx="2743200" cy="365125"/>
          </a:xfrm>
        </p:spPr>
        <p:txBody>
          <a:bodyPr/>
          <a:lstStyle/>
          <a:p>
            <a:fld id="{790D40CC-89F5-074E-A99F-1FA92DFF8C6C}"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391557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56139" y="36884"/>
            <a:ext cx="10515600" cy="1325563"/>
          </a:xfrm>
        </p:spPr>
        <p:txBody>
          <a:bodyPr>
            <a:normAutofit/>
          </a:bodyPr>
          <a:lstStyle>
            <a:lvl1pPr>
              <a:defRPr sz="2800">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 Master title style</a:t>
            </a:r>
            <a:endParaRPr lang="en-IN" dirty="0"/>
          </a:p>
        </p:txBody>
      </p:sp>
      <p:sp>
        <p:nvSpPr>
          <p:cNvPr id="3" name="Content Placeholder 2"/>
          <p:cNvSpPr>
            <a:spLocks noGrp="1"/>
          </p:cNvSpPr>
          <p:nvPr>
            <p:ph idx="1"/>
          </p:nvPr>
        </p:nvSpPr>
        <p:spPr>
          <a:xfrm>
            <a:off x="756139" y="1391874"/>
            <a:ext cx="10515600" cy="4351338"/>
          </a:xfrm>
        </p:spPr>
        <p:txBody>
          <a:bodyPr/>
          <a:lstStyle>
            <a:lvl1pPr>
              <a:defRPr sz="2400">
                <a:latin typeface="Verdana" panose="020B0604030504040204" pitchFamily="34" charset="0"/>
                <a:ea typeface="Verdana" panose="020B0604030504040204" pitchFamily="34" charset="0"/>
                <a:cs typeface="Verdana" panose="020B0604030504040204" pitchFamily="34" charset="0"/>
              </a:defRPr>
            </a:lvl1pPr>
            <a:lvl2pPr marL="685783" indent="-228594">
              <a:buSzPct val="80000"/>
              <a:buFont typeface="Wingdings" pitchFamily="2" charset="2"/>
              <a:buChar char="§"/>
              <a:defRPr sz="2000">
                <a:latin typeface="Verdana" panose="020B0604030504040204" pitchFamily="34" charset="0"/>
                <a:ea typeface="Verdana" panose="020B0604030504040204" pitchFamily="34" charset="0"/>
                <a:cs typeface="Verdana" panose="020B0604030504040204" pitchFamily="34" charset="0"/>
              </a:defRPr>
            </a:lvl2pPr>
            <a:lvl3pPr marL="1142971" indent="-228594">
              <a:buSzPct val="70000"/>
              <a:buFont typeface="Courier New" panose="02070309020205020404" pitchFamily="49" charset="0"/>
              <a:buChar char="o"/>
              <a:defRPr sz="1800">
                <a:latin typeface="Verdana" panose="020B0604030504040204" pitchFamily="34" charset="0"/>
                <a:ea typeface="Verdana" panose="020B0604030504040204" pitchFamily="34" charset="0"/>
                <a:cs typeface="Verdana" panose="020B0604030504040204" pitchFamily="34" charset="0"/>
              </a:defRPr>
            </a:lvl3pPr>
            <a:lvl4pPr>
              <a:defRPr sz="1600">
                <a:latin typeface="Verdana" panose="020B0604030504040204" pitchFamily="34" charset="0"/>
                <a:ea typeface="Verdana" panose="020B0604030504040204" pitchFamily="34" charset="0"/>
                <a:cs typeface="Verdana" panose="020B0604030504040204" pitchFamily="34" charset="0"/>
              </a:defRPr>
            </a:lvl4pPr>
            <a:lvl5pPr marL="2057349" indent="-228594">
              <a:buSzPct val="60000"/>
              <a:buFont typeface="Wingdings" pitchFamily="2" charset="2"/>
              <a:buChar char="§"/>
              <a:defRPr sz="1600">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Shape 354">
            <a:extLst>
              <a:ext uri="{FF2B5EF4-FFF2-40B4-BE49-F238E27FC236}">
                <a16:creationId xmlns:a16="http://schemas.microsoft.com/office/drawing/2014/main" id="{6E1A2C32-3B4B-1241-8B0E-0DC4FD15B916}"/>
              </a:ext>
            </a:extLst>
          </p:cNvPr>
          <p:cNvSpPr>
            <a:spLocks noChangeArrowheads="1"/>
          </p:cNvSpPr>
          <p:nvPr userDrawn="1"/>
        </p:nvSpPr>
        <p:spPr bwMode="auto">
          <a:xfrm>
            <a:off x="0" y="1058504"/>
            <a:ext cx="9840384" cy="46037"/>
          </a:xfrm>
          <a:prstGeom prst="rect">
            <a:avLst/>
          </a:prstGeom>
          <a:solidFill>
            <a:srgbClr val="E46C0A"/>
          </a:solidFill>
          <a:ln w="9525">
            <a:solidFill>
              <a:srgbClr val="FF6600"/>
            </a:solidFill>
            <a:round/>
            <a:headEnd/>
            <a:tailEnd/>
          </a:ln>
          <a:effectLst>
            <a:outerShdw blurRad="38100" dist="23000" dir="5400000" rotWithShape="0">
              <a:srgbClr val="808080">
                <a:alpha val="34999"/>
              </a:srgbClr>
            </a:outerShdw>
          </a:effectLst>
        </p:spPr>
        <p:txBody>
          <a:bodyPr lIns="0" tIns="0" rIns="0" bIns="0" anchor="ctr"/>
          <a:lstStyle>
            <a:lvl1pPr>
              <a:defRPr sz="1200">
                <a:solidFill>
                  <a:schemeClr val="tx1"/>
                </a:solidFill>
                <a:latin typeface="Helvetica" charset="0"/>
                <a:ea typeface="MS PGothic" pitchFamily="34" charset="-128"/>
                <a:sym typeface="Helvetica" charset="0"/>
              </a:defRPr>
            </a:lvl1pPr>
            <a:lvl2pPr>
              <a:defRPr sz="1200">
                <a:solidFill>
                  <a:schemeClr val="tx1"/>
                </a:solidFill>
                <a:latin typeface="Helvetica" charset="0"/>
                <a:ea typeface="MS PGothic" pitchFamily="34" charset="-128"/>
                <a:sym typeface="Helvetica" charset="0"/>
              </a:defRPr>
            </a:lvl2pPr>
            <a:lvl3pPr>
              <a:defRPr sz="1200">
                <a:solidFill>
                  <a:schemeClr val="tx1"/>
                </a:solidFill>
                <a:latin typeface="Helvetica" charset="0"/>
                <a:ea typeface="MS PGothic" pitchFamily="34" charset="-128"/>
                <a:sym typeface="Helvetica" charset="0"/>
              </a:defRPr>
            </a:lvl3pPr>
            <a:lvl4pPr>
              <a:defRPr sz="1200">
                <a:solidFill>
                  <a:schemeClr val="tx1"/>
                </a:solidFill>
                <a:latin typeface="Helvetica" charset="0"/>
                <a:ea typeface="MS PGothic" pitchFamily="34" charset="-128"/>
                <a:sym typeface="Helvetica" charset="0"/>
              </a:defRPr>
            </a:lvl4pPr>
            <a:lvl5pPr>
              <a:defRPr sz="1200">
                <a:solidFill>
                  <a:schemeClr val="tx1"/>
                </a:solidFill>
                <a:latin typeface="Helvetica" charset="0"/>
                <a:ea typeface="MS PGothic" pitchFamily="34" charset="-128"/>
                <a:sym typeface="Helvetica" charset="0"/>
              </a:defRPr>
            </a:lvl5pPr>
            <a:lvl6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6pPr>
            <a:lvl7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7pPr>
            <a:lvl8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8pPr>
            <a:lvl9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9pPr>
          </a:lstStyle>
          <a:p>
            <a:pPr algn="ctr" fontAlgn="base">
              <a:spcBef>
                <a:spcPct val="0"/>
              </a:spcBef>
              <a:spcAft>
                <a:spcPct val="0"/>
              </a:spcAft>
            </a:pPr>
            <a:endParaRPr lang="en-US" altLang="en-US" sz="1800" dirty="0">
              <a:solidFill>
                <a:srgbClr val="FFFFFF"/>
              </a:solidFill>
              <a:latin typeface="Trebuchet MS" pitchFamily="34" charset="0"/>
              <a:ea typeface="Calibri" pitchFamily="34" charset="0"/>
              <a:cs typeface="Trebuchet MS" pitchFamily="34" charset="0"/>
              <a:sym typeface="Calibri" pitchFamily="34" charset="0"/>
            </a:endParaRPr>
          </a:p>
        </p:txBody>
      </p:sp>
      <p:pic>
        <p:nvPicPr>
          <p:cNvPr id="8" name="Picture 7">
            <a:extLst>
              <a:ext uri="{FF2B5EF4-FFF2-40B4-BE49-F238E27FC236}">
                <a16:creationId xmlns:a16="http://schemas.microsoft.com/office/drawing/2014/main" id="{406ADC65-CA76-7742-A967-9DA419BE78F4}"/>
              </a:ext>
            </a:extLst>
          </p:cNvPr>
          <p:cNvPicPr>
            <a:picLocks noChangeAspect="1"/>
          </p:cNvPicPr>
          <p:nvPr userDrawn="1"/>
        </p:nvPicPr>
        <p:blipFill>
          <a:blip r:embed="rId2"/>
          <a:stretch>
            <a:fillRect/>
          </a:stretch>
        </p:blipFill>
        <p:spPr>
          <a:xfrm>
            <a:off x="11140521" y="2721"/>
            <a:ext cx="1051481" cy="1101818"/>
          </a:xfrm>
          <a:prstGeom prst="rect">
            <a:avLst/>
          </a:prstGeom>
        </p:spPr>
      </p:pic>
      <p:sp>
        <p:nvSpPr>
          <p:cNvPr id="4" name="Date Placeholder 3">
            <a:extLst>
              <a:ext uri="{FF2B5EF4-FFF2-40B4-BE49-F238E27FC236}">
                <a16:creationId xmlns:a16="http://schemas.microsoft.com/office/drawing/2014/main" id="{89872737-9D6D-8F41-A7B3-4325B7FD1CBB}"/>
              </a:ext>
            </a:extLst>
          </p:cNvPr>
          <p:cNvSpPr>
            <a:spLocks noGrp="1"/>
          </p:cNvSpPr>
          <p:nvPr>
            <p:ph type="dt" sz="half" idx="10"/>
          </p:nvPr>
        </p:nvSpPr>
        <p:spPr>
          <a:xfrm>
            <a:off x="756139" y="6485337"/>
            <a:ext cx="2743200" cy="365125"/>
          </a:xfrm>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a:extLst>
              <a:ext uri="{FF2B5EF4-FFF2-40B4-BE49-F238E27FC236}">
                <a16:creationId xmlns:a16="http://schemas.microsoft.com/office/drawing/2014/main" id="{0B97172E-E9C4-934E-9BB9-BE12C7546B04}"/>
              </a:ext>
            </a:extLst>
          </p:cNvPr>
          <p:cNvSpPr>
            <a:spLocks noGrp="1"/>
          </p:cNvSpPr>
          <p:nvPr>
            <p:ph type="ftr" sz="quarter" idx="11"/>
          </p:nvPr>
        </p:nvSpPr>
        <p:spPr>
          <a:xfrm>
            <a:off x="4038600" y="6485337"/>
            <a:ext cx="4114800" cy="365125"/>
          </a:xfrm>
        </p:spPr>
        <p:txBody>
          <a:bodyPr/>
          <a:lstStyle/>
          <a:p>
            <a:r>
              <a:rPr lang="en-IN" dirty="0">
                <a:solidFill>
                  <a:prstClr val="black">
                    <a:tint val="75000"/>
                  </a:prstClr>
                </a:solidFill>
              </a:rPr>
              <a:t>Manipal University Jaipur</a:t>
            </a:r>
          </a:p>
        </p:txBody>
      </p:sp>
      <p:sp>
        <p:nvSpPr>
          <p:cNvPr id="6" name="Slide Number Placeholder 5">
            <a:extLst>
              <a:ext uri="{FF2B5EF4-FFF2-40B4-BE49-F238E27FC236}">
                <a16:creationId xmlns:a16="http://schemas.microsoft.com/office/drawing/2014/main" id="{505D8589-C750-3344-A735-35BA55FD8E63}"/>
              </a:ext>
            </a:extLst>
          </p:cNvPr>
          <p:cNvSpPr>
            <a:spLocks noGrp="1"/>
          </p:cNvSpPr>
          <p:nvPr>
            <p:ph type="sldNum" sz="quarter" idx="12"/>
          </p:nvPr>
        </p:nvSpPr>
        <p:spPr>
          <a:xfrm>
            <a:off x="8610600" y="6485337"/>
            <a:ext cx="2743200" cy="365125"/>
          </a:xfrm>
        </p:spPr>
        <p:txBody>
          <a:bodyPr/>
          <a:lstStyle>
            <a:lvl1pPr>
              <a:defRPr/>
            </a:lvl1pPr>
          </a:lstStyle>
          <a:p>
            <a:fld id="{B0224EE6-E032-0A4B-A8B2-3B3E72DB7979}"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4193904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49" y="1709740"/>
            <a:ext cx="10515600" cy="2852737"/>
          </a:xfrm>
        </p:spPr>
        <p:txBody>
          <a:bodyPr anchor="b">
            <a:normAutofit/>
          </a:bodyPr>
          <a:lstStyle>
            <a:lvl1pPr>
              <a:defRPr sz="4000"/>
            </a:lvl1pPr>
          </a:lstStyle>
          <a:p>
            <a:r>
              <a:rPr lang="en-US"/>
              <a:t>Click to edit Master title style</a:t>
            </a:r>
            <a:endParaRPr lang="en-IN"/>
          </a:p>
        </p:txBody>
      </p:sp>
      <p:sp>
        <p:nvSpPr>
          <p:cNvPr id="3" name="Text Placeholder 2"/>
          <p:cNvSpPr>
            <a:spLocks noGrp="1"/>
          </p:cNvSpPr>
          <p:nvPr>
            <p:ph type="body" idx="1"/>
          </p:nvPr>
        </p:nvSpPr>
        <p:spPr>
          <a:xfrm>
            <a:off x="831849" y="4589497"/>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p:txBody>
          <a:bodyPr/>
          <a:lstStyle/>
          <a:p>
            <a:fld id="{63181617-AE52-40EF-9E8F-5C7C49F4989C}"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4046445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415320"/>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half" idx="2"/>
          </p:nvPr>
        </p:nvSpPr>
        <p:spPr>
          <a:xfrm>
            <a:off x="6172200" y="1415320"/>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7" name="Slide Number Placeholder 6"/>
          <p:cNvSpPr>
            <a:spLocks noGrp="1"/>
          </p:cNvSpPr>
          <p:nvPr>
            <p:ph type="sldNum" sz="quarter" idx="12"/>
          </p:nvPr>
        </p:nvSpPr>
        <p:spPr/>
        <p:txBody>
          <a:bodyPr/>
          <a:lstStyle>
            <a:lvl1pPr>
              <a:defRPr/>
            </a:lvl1pPr>
          </a:lstStyle>
          <a:p>
            <a:fld id="{57322C6F-883B-EE4D-9D9D-117DC5B9C57A}"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924108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25161"/>
            <a:ext cx="10515600" cy="1325563"/>
          </a:xfrm>
        </p:spPr>
        <p:txBody>
          <a:bodyPr/>
          <a:lstStyle/>
          <a:p>
            <a:r>
              <a:rPr lang="en-US" dirty="0"/>
              <a:t>Click to edit Master title style</a:t>
            </a:r>
            <a:endParaRPr lang="en-IN" dirty="0"/>
          </a:p>
        </p:txBody>
      </p:sp>
      <p:sp>
        <p:nvSpPr>
          <p:cNvPr id="3" name="Text Placeholder 2"/>
          <p:cNvSpPr>
            <a:spLocks noGrp="1"/>
          </p:cNvSpPr>
          <p:nvPr>
            <p:ph type="body" idx="1"/>
          </p:nvPr>
        </p:nvSpPr>
        <p:spPr>
          <a:xfrm>
            <a:off x="839789" y="1376365"/>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20027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3" y="1376365"/>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3" y="220027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8" name="Footer Placeholder 7"/>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9" name="Slide Number Placeholder 8"/>
          <p:cNvSpPr>
            <a:spLocks noGrp="1"/>
          </p:cNvSpPr>
          <p:nvPr>
            <p:ph type="sldNum" sz="quarter" idx="12"/>
          </p:nvPr>
        </p:nvSpPr>
        <p:spPr/>
        <p:txBody>
          <a:bodyPr/>
          <a:lstStyle/>
          <a:p>
            <a:fld id="{43DB6E5F-7FEB-0648-9FAC-2572B4429CC6}"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670870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4" name="Footer Placeholder 3"/>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5" name="Slide Number Placeholder 4"/>
          <p:cNvSpPr>
            <a:spLocks noGrp="1"/>
          </p:cNvSpPr>
          <p:nvPr>
            <p:ph type="sldNum" sz="quarter" idx="12"/>
          </p:nvPr>
        </p:nvSpPr>
        <p:spPr/>
        <p:txBody>
          <a:bodyPr/>
          <a:lstStyle/>
          <a:p>
            <a:fld id="{2B1515BA-1963-5548-A509-B31D6408C04D}"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606062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3" name="Footer Placeholder 2"/>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4" name="Slide Number Placeholder 3"/>
          <p:cNvSpPr>
            <a:spLocks noGrp="1"/>
          </p:cNvSpPr>
          <p:nvPr>
            <p:ph type="sldNum" sz="quarter" idx="12"/>
          </p:nvPr>
        </p:nvSpPr>
        <p:spPr/>
        <p:txBody>
          <a:bodyPr/>
          <a:lstStyle/>
          <a:p>
            <a:fld id="{DCF0632E-D997-4741-9C11-CB4FCA70517A}"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735791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56491"/>
            <a:ext cx="3932237" cy="1600200"/>
          </a:xfrm>
        </p:spPr>
        <p:txBody>
          <a:bodyPr anchor="b">
            <a:normAutofit/>
          </a:bodyPr>
          <a:lstStyle>
            <a:lvl1pPr>
              <a:defRPr sz="2800"/>
            </a:lvl1pPr>
          </a:lstStyle>
          <a:p>
            <a:r>
              <a:rPr lang="en-US"/>
              <a:t>Click to edit Master title style</a:t>
            </a:r>
            <a:endParaRPr lang="en-IN"/>
          </a:p>
        </p:txBody>
      </p:sp>
      <p:sp>
        <p:nvSpPr>
          <p:cNvPr id="3" name="Content Placeholder 2"/>
          <p:cNvSpPr>
            <a:spLocks noGrp="1"/>
          </p:cNvSpPr>
          <p:nvPr>
            <p:ph idx="1"/>
          </p:nvPr>
        </p:nvSpPr>
        <p:spPr>
          <a:xfrm>
            <a:off x="5183188" y="1198442"/>
            <a:ext cx="6172200"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half" idx="2"/>
          </p:nvPr>
        </p:nvSpPr>
        <p:spPr>
          <a:xfrm>
            <a:off x="839788" y="2268414"/>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7" name="Slide Number Placeholder 6"/>
          <p:cNvSpPr>
            <a:spLocks noGrp="1"/>
          </p:cNvSpPr>
          <p:nvPr>
            <p:ph type="sldNum" sz="quarter" idx="12"/>
          </p:nvPr>
        </p:nvSpPr>
        <p:spPr/>
        <p:txBody>
          <a:bodyPr/>
          <a:lstStyle/>
          <a:p>
            <a:fld id="{BF852CCF-9C18-EE4F-AF97-937D2292C2BD}"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860694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21322"/>
            <a:ext cx="3932237" cy="1600200"/>
          </a:xfrm>
        </p:spPr>
        <p:txBody>
          <a:bodyPr anchor="b">
            <a:normAutofit/>
          </a:bodyPr>
          <a:lstStyle>
            <a:lvl1pPr>
              <a:defRPr sz="2800"/>
            </a:lvl1pPr>
          </a:lstStyle>
          <a:p>
            <a:r>
              <a:rPr lang="en-US"/>
              <a:t>Click to edit Master title style</a:t>
            </a:r>
            <a:endParaRPr lang="en-IN"/>
          </a:p>
        </p:txBody>
      </p:sp>
      <p:sp>
        <p:nvSpPr>
          <p:cNvPr id="3" name="Picture Placeholder 2"/>
          <p:cNvSpPr>
            <a:spLocks noGrp="1"/>
          </p:cNvSpPr>
          <p:nvPr>
            <p:ph type="pic" idx="1"/>
          </p:nvPr>
        </p:nvSpPr>
        <p:spPr>
          <a:xfrm>
            <a:off x="5183188" y="1174996"/>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IN" dirty="0"/>
          </a:p>
        </p:txBody>
      </p:sp>
      <p:sp>
        <p:nvSpPr>
          <p:cNvPr id="4" name="Text Placeholder 3"/>
          <p:cNvSpPr>
            <a:spLocks noGrp="1"/>
          </p:cNvSpPr>
          <p:nvPr>
            <p:ph type="body" sz="half" idx="2"/>
          </p:nvPr>
        </p:nvSpPr>
        <p:spPr>
          <a:xfrm>
            <a:off x="839788" y="2221522"/>
            <a:ext cx="3932237" cy="3811588"/>
          </a:xfrm>
        </p:spPr>
        <p:txBody>
          <a:bodyPr>
            <a:normAutofit/>
          </a:bodyPr>
          <a:lstStyle>
            <a:lvl1pPr marL="0" indent="0">
              <a:buNone/>
              <a:defRPr sz="14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7" name="Slide Number Placeholder 6"/>
          <p:cNvSpPr>
            <a:spLocks noGrp="1"/>
          </p:cNvSpPr>
          <p:nvPr>
            <p:ph type="sldNum" sz="quarter" idx="12"/>
          </p:nvPr>
        </p:nvSpPr>
        <p:spPr/>
        <p:txBody>
          <a:bodyPr/>
          <a:lstStyle/>
          <a:p>
            <a:fld id="{A9765D97-2825-F947-8A31-20AC4E20E391}"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280773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p:txBody>
          <a:bodyPr/>
          <a:lstStyle/>
          <a:p>
            <a:fld id="{63181617-AE52-40EF-9E8F-5C7C49F4989C}"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671273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3"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p:txBody>
          <a:bodyPr/>
          <a:lstStyle/>
          <a:p>
            <a:fld id="{E7CE808B-2600-D144-9BD3-F98DDA596C4E}"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3848957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Default - Title and Content">
    <p:spTree>
      <p:nvGrpSpPr>
        <p:cNvPr id="1" name=""/>
        <p:cNvGrpSpPr/>
        <p:nvPr/>
      </p:nvGrpSpPr>
      <p:grpSpPr>
        <a:xfrm>
          <a:off x="0" y="0"/>
          <a:ext cx="0" cy="0"/>
          <a:chOff x="0" y="0"/>
          <a:chExt cx="0" cy="0"/>
        </a:xfrm>
      </p:grpSpPr>
      <p:sp>
        <p:nvSpPr>
          <p:cNvPr id="9" name="Shape 9"/>
          <p:cNvSpPr>
            <a:spLocks noGrp="1"/>
          </p:cNvSpPr>
          <p:nvPr>
            <p:ph type="title" hasCustomPrompt="1"/>
          </p:nvPr>
        </p:nvSpPr>
        <p:spPr>
          <a:xfrm>
            <a:off x="277158" y="0"/>
            <a:ext cx="11099439" cy="1555576"/>
          </a:xfrm>
          <a:prstGeom prst="rect">
            <a:avLst/>
          </a:prstGeom>
        </p:spPr>
        <p:txBody>
          <a:bodyPr anchor="ctr"/>
          <a:lstStyle>
            <a:lvl1pPr algn="l" defTabSz="457189">
              <a:defRPr sz="2400" b="1">
                <a:solidFill>
                  <a:schemeClr val="tx1"/>
                </a:solidFill>
                <a:uFill>
                  <a:solidFill>
                    <a:srgbClr val="3B7542"/>
                  </a:solidFill>
                </a:uFill>
              </a:defRPr>
            </a:lvl1pPr>
          </a:lstStyle>
          <a:p>
            <a:pPr lvl="0"/>
            <a:r>
              <a:t>Title Text</a:t>
            </a:r>
          </a:p>
        </p:txBody>
      </p:sp>
      <p:sp>
        <p:nvSpPr>
          <p:cNvPr id="6" name="Slide Number Placeholder 5"/>
          <p:cNvSpPr>
            <a:spLocks noGrp="1"/>
          </p:cNvSpPr>
          <p:nvPr>
            <p:ph type="sldNum" sz="quarter" idx="4"/>
          </p:nvPr>
        </p:nvSpPr>
        <p:spPr>
          <a:xfrm>
            <a:off x="8763000" y="6508784"/>
            <a:ext cx="2743200" cy="365125"/>
          </a:xfrm>
          <a:prstGeom prst="rect">
            <a:avLst/>
          </a:prstGeom>
        </p:spPr>
        <p:txBody>
          <a:bodyPr/>
          <a:lstStyle>
            <a:lvl1pPr>
              <a:defRPr lang="en-IN" smtClean="0"/>
            </a:lvl1pPr>
          </a:lstStyle>
          <a:p>
            <a:fld id="{63181617-AE52-40EF-9E8F-5C7C49F4989C}" type="slidenum">
              <a:rPr>
                <a:solidFill>
                  <a:prstClr val="black">
                    <a:tint val="75000"/>
                  </a:prstClr>
                </a:solidFill>
              </a:rPr>
              <a:pPr/>
              <a:t>‹#›</a:t>
            </a:fld>
            <a:endParaRPr dirty="0">
              <a:solidFill>
                <a:prstClr val="black">
                  <a:tint val="75000"/>
                </a:prstClr>
              </a:solidFill>
            </a:endParaRPr>
          </a:p>
        </p:txBody>
      </p:sp>
    </p:spTree>
    <p:extLst>
      <p:ext uri="{BB962C8B-B14F-4D97-AF65-F5344CB8AC3E}">
        <p14:creationId xmlns:p14="http://schemas.microsoft.com/office/powerpoint/2010/main" val="130295442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5338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838200" y="1378946"/>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838200" y="6485337"/>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3"/>
          </p:nvPr>
        </p:nvSpPr>
        <p:spPr>
          <a:xfrm>
            <a:off x="4038600" y="6485337"/>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solidFill>
                  <a:prstClr val="black">
                    <a:tint val="75000"/>
                  </a:prstClr>
                </a:solidFill>
              </a:rPr>
              <a:t>Manipal University Jaipur</a:t>
            </a:r>
          </a:p>
        </p:txBody>
      </p:sp>
      <p:sp>
        <p:nvSpPr>
          <p:cNvPr id="6" name="Slide Number Placeholder 5"/>
          <p:cNvSpPr>
            <a:spLocks noGrp="1"/>
          </p:cNvSpPr>
          <p:nvPr>
            <p:ph type="sldNum" sz="quarter" idx="4"/>
          </p:nvPr>
        </p:nvSpPr>
        <p:spPr>
          <a:xfrm>
            <a:off x="8610600" y="6485337"/>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C72C30-510C-0841-ADD2-D25B2E586470}" type="slidenum">
              <a:rPr lang="en-IN" smtClean="0">
                <a:solidFill>
                  <a:prstClr val="black">
                    <a:tint val="75000"/>
                  </a:prstClr>
                </a:solidFill>
              </a:rPr>
              <a:pPr/>
              <a:t>‹#›</a:t>
            </a:fld>
            <a:endParaRPr lang="en-IN" dirty="0">
              <a:solidFill>
                <a:prstClr val="black">
                  <a:tint val="75000"/>
                </a:prstClr>
              </a:solidFill>
            </a:endParaRPr>
          </a:p>
        </p:txBody>
      </p:sp>
      <p:sp>
        <p:nvSpPr>
          <p:cNvPr id="7" name="Shape 354">
            <a:extLst>
              <a:ext uri="{FF2B5EF4-FFF2-40B4-BE49-F238E27FC236}">
                <a16:creationId xmlns:a16="http://schemas.microsoft.com/office/drawing/2014/main" id="{75073F86-4F3F-714F-AE37-E67FC08E3BE8}"/>
              </a:ext>
            </a:extLst>
          </p:cNvPr>
          <p:cNvSpPr>
            <a:spLocks noChangeArrowheads="1"/>
          </p:cNvSpPr>
          <p:nvPr userDrawn="1"/>
        </p:nvSpPr>
        <p:spPr bwMode="auto">
          <a:xfrm>
            <a:off x="0" y="1058504"/>
            <a:ext cx="9840384" cy="46037"/>
          </a:xfrm>
          <a:prstGeom prst="rect">
            <a:avLst/>
          </a:prstGeom>
          <a:solidFill>
            <a:srgbClr val="E46C0A"/>
          </a:solidFill>
          <a:ln w="9525">
            <a:solidFill>
              <a:srgbClr val="FF6600"/>
            </a:solidFill>
            <a:round/>
            <a:headEnd/>
            <a:tailEnd/>
          </a:ln>
          <a:effectLst>
            <a:outerShdw blurRad="38100" dist="23000" dir="5400000" rotWithShape="0">
              <a:srgbClr val="808080">
                <a:alpha val="34999"/>
              </a:srgbClr>
            </a:outerShdw>
          </a:effectLst>
        </p:spPr>
        <p:txBody>
          <a:bodyPr lIns="0" tIns="0" rIns="0" bIns="0" anchor="ctr"/>
          <a:lstStyle>
            <a:lvl1pPr>
              <a:defRPr sz="1200">
                <a:solidFill>
                  <a:schemeClr val="tx1"/>
                </a:solidFill>
                <a:latin typeface="Helvetica" charset="0"/>
                <a:ea typeface="MS PGothic" pitchFamily="34" charset="-128"/>
                <a:sym typeface="Helvetica" charset="0"/>
              </a:defRPr>
            </a:lvl1pPr>
            <a:lvl2pPr>
              <a:defRPr sz="1200">
                <a:solidFill>
                  <a:schemeClr val="tx1"/>
                </a:solidFill>
                <a:latin typeface="Helvetica" charset="0"/>
                <a:ea typeface="MS PGothic" pitchFamily="34" charset="-128"/>
                <a:sym typeface="Helvetica" charset="0"/>
              </a:defRPr>
            </a:lvl2pPr>
            <a:lvl3pPr>
              <a:defRPr sz="1200">
                <a:solidFill>
                  <a:schemeClr val="tx1"/>
                </a:solidFill>
                <a:latin typeface="Helvetica" charset="0"/>
                <a:ea typeface="MS PGothic" pitchFamily="34" charset="-128"/>
                <a:sym typeface="Helvetica" charset="0"/>
              </a:defRPr>
            </a:lvl3pPr>
            <a:lvl4pPr>
              <a:defRPr sz="1200">
                <a:solidFill>
                  <a:schemeClr val="tx1"/>
                </a:solidFill>
                <a:latin typeface="Helvetica" charset="0"/>
                <a:ea typeface="MS PGothic" pitchFamily="34" charset="-128"/>
                <a:sym typeface="Helvetica" charset="0"/>
              </a:defRPr>
            </a:lvl4pPr>
            <a:lvl5pPr>
              <a:defRPr sz="1200">
                <a:solidFill>
                  <a:schemeClr val="tx1"/>
                </a:solidFill>
                <a:latin typeface="Helvetica" charset="0"/>
                <a:ea typeface="MS PGothic" pitchFamily="34" charset="-128"/>
                <a:sym typeface="Helvetica" charset="0"/>
              </a:defRPr>
            </a:lvl5pPr>
            <a:lvl6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6pPr>
            <a:lvl7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7pPr>
            <a:lvl8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8pPr>
            <a:lvl9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9pPr>
          </a:lstStyle>
          <a:p>
            <a:pPr algn="ctr" fontAlgn="base">
              <a:spcBef>
                <a:spcPct val="0"/>
              </a:spcBef>
              <a:spcAft>
                <a:spcPct val="0"/>
              </a:spcAft>
            </a:pPr>
            <a:endParaRPr lang="en-US" altLang="en-US" sz="1800" dirty="0">
              <a:solidFill>
                <a:srgbClr val="FFFFFF"/>
              </a:solidFill>
              <a:latin typeface="Trebuchet MS" pitchFamily="34" charset="0"/>
              <a:ea typeface="Calibri" pitchFamily="34" charset="0"/>
              <a:cs typeface="Trebuchet MS" pitchFamily="34" charset="0"/>
              <a:sym typeface="Calibri" pitchFamily="34" charset="0"/>
            </a:endParaRPr>
          </a:p>
        </p:txBody>
      </p:sp>
      <p:pic>
        <p:nvPicPr>
          <p:cNvPr id="8" name="Picture 7">
            <a:extLst>
              <a:ext uri="{FF2B5EF4-FFF2-40B4-BE49-F238E27FC236}">
                <a16:creationId xmlns:a16="http://schemas.microsoft.com/office/drawing/2014/main" id="{79FF0070-8C18-FB40-A7E0-7B6340E110C4}"/>
              </a:ext>
            </a:extLst>
          </p:cNvPr>
          <p:cNvPicPr>
            <a:picLocks noChangeAspect="1"/>
          </p:cNvPicPr>
          <p:nvPr userDrawn="1"/>
        </p:nvPicPr>
        <p:blipFill>
          <a:blip r:embed="rId14"/>
          <a:stretch>
            <a:fillRect/>
          </a:stretch>
        </p:blipFill>
        <p:spPr>
          <a:xfrm>
            <a:off x="11140521" y="2721"/>
            <a:ext cx="1051481" cy="1101818"/>
          </a:xfrm>
          <a:prstGeom prst="rect">
            <a:avLst/>
          </a:prstGeom>
        </p:spPr>
      </p:pic>
    </p:spTree>
    <p:extLst>
      <p:ext uri="{BB962C8B-B14F-4D97-AF65-F5344CB8AC3E}">
        <p14:creationId xmlns:p14="http://schemas.microsoft.com/office/powerpoint/2010/main" val="1722445568"/>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Lst>
  <p:hf hdr="0" ftr="0" dt="0"/>
  <p:txStyles>
    <p:title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hyperlink" Target="https://www.sciencedirect.com/topics/engineering/gas-welding"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ACE499A-E92C-4C67-A6C8-3D5FD0951DB6}"/>
              </a:ext>
            </a:extLst>
          </p:cNvPr>
          <p:cNvSpPr>
            <a:spLocks noGrp="1"/>
          </p:cNvSpPr>
          <p:nvPr>
            <p:ph idx="1"/>
          </p:nvPr>
        </p:nvSpPr>
        <p:spPr>
          <a:xfrm>
            <a:off x="4976031" y="963877"/>
            <a:ext cx="6377769" cy="4930246"/>
          </a:xfrm>
        </p:spPr>
        <p:txBody>
          <a:bodyPr anchor="ctr">
            <a:normAutofit/>
          </a:bodyPr>
          <a:lstStyle/>
          <a:p>
            <a:pPr marL="0" indent="0">
              <a:buNone/>
            </a:pPr>
            <a:r>
              <a:rPr lang="en-IN" sz="4000" dirty="0">
                <a:solidFill>
                  <a:schemeClr val="accent5">
                    <a:lumMod val="75000"/>
                  </a:schemeClr>
                </a:solidFill>
                <a:latin typeface="Times New Roman" panose="02020603050405020304" pitchFamily="18" charset="0"/>
                <a:cs typeface="Times New Roman" panose="02020603050405020304" pitchFamily="18" charset="0"/>
              </a:rPr>
              <a:t>Gas Welding and Types of Flame</a:t>
            </a:r>
          </a:p>
        </p:txBody>
      </p:sp>
      <p:sp>
        <p:nvSpPr>
          <p:cNvPr id="4" name="Slide Number Placeholder 3">
            <a:extLst>
              <a:ext uri="{FF2B5EF4-FFF2-40B4-BE49-F238E27FC236}">
                <a16:creationId xmlns:a16="http://schemas.microsoft.com/office/drawing/2014/main" id="{DC4B9D61-3A7F-46B9-A456-C27D28D1B910}"/>
              </a:ext>
            </a:extLst>
          </p:cNvPr>
          <p:cNvSpPr>
            <a:spLocks noGrp="1"/>
          </p:cNvSpPr>
          <p:nvPr>
            <p:ph type="sldNum" sz="quarter" idx="12"/>
          </p:nvPr>
        </p:nvSpPr>
        <p:spPr>
          <a:xfrm>
            <a:off x="10571516" y="6033479"/>
            <a:ext cx="782283" cy="365125"/>
          </a:xfrm>
        </p:spPr>
        <p:txBody>
          <a:bodyPr>
            <a:normAutofit/>
          </a:bodyPr>
          <a:lstStyle/>
          <a:p>
            <a:pPr>
              <a:spcAft>
                <a:spcPts val="600"/>
              </a:spcAft>
            </a:pPr>
            <a:fld id="{B0224EE6-E032-0A4B-A8B2-3B3E72DB7979}" type="slidenum">
              <a:rPr lang="en-IN" sz="1050">
                <a:solidFill>
                  <a:schemeClr val="tx1">
                    <a:alpha val="80000"/>
                  </a:schemeClr>
                </a:solidFill>
              </a:rPr>
              <a:pPr>
                <a:spcAft>
                  <a:spcPts val="600"/>
                </a:spcAft>
              </a:pPr>
              <a:t>1</a:t>
            </a:fld>
            <a:endParaRPr lang="en-IN" sz="1050">
              <a:solidFill>
                <a:schemeClr val="tx1">
                  <a:alpha val="80000"/>
                </a:schemeClr>
              </a:solidFill>
            </a:endParaRPr>
          </a:p>
        </p:txBody>
      </p:sp>
      <p:sp>
        <p:nvSpPr>
          <p:cNvPr id="6" name="Content Placeholder 2">
            <a:extLst>
              <a:ext uri="{FF2B5EF4-FFF2-40B4-BE49-F238E27FC236}">
                <a16:creationId xmlns:a16="http://schemas.microsoft.com/office/drawing/2014/main" id="{2B397B5D-885F-4C6F-9A9A-809C2D0C0290}"/>
              </a:ext>
            </a:extLst>
          </p:cNvPr>
          <p:cNvSpPr txBox="1">
            <a:spLocks/>
          </p:cNvSpPr>
          <p:nvPr/>
        </p:nvSpPr>
        <p:spPr>
          <a:xfrm>
            <a:off x="1028703" y="2165685"/>
            <a:ext cx="3108953" cy="2586789"/>
          </a:xfrm>
          <a:prstGeom prst="rect">
            <a:avLst/>
          </a:prstGeom>
        </p:spPr>
        <p:txBody>
          <a:bodyPr vert="horz" lIns="91440" tIns="45720" rIns="91440" bIns="45720" rtlCol="0" anchor="ctr">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SzPct val="80000"/>
              <a:buFont typeface="Wingdings" pitchFamily="2" charset="2"/>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SzPct val="70000"/>
              <a:buFont typeface="Courier New" panose="02070309020205020404" pitchFamily="49" charset="0"/>
              <a:buChar char="o"/>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SzPct val="60000"/>
              <a:buFont typeface="Wingdings" pitchFamily="2" charset="2"/>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5400" dirty="0">
                <a:solidFill>
                  <a:schemeClr val="accent2">
                    <a:lumMod val="75000"/>
                  </a:schemeClr>
                </a:solidFill>
                <a:latin typeface="Times New Roman" panose="02020603050405020304" pitchFamily="18" charset="0"/>
                <a:cs typeface="Times New Roman" panose="02020603050405020304" pitchFamily="18" charset="0"/>
              </a:rPr>
              <a:t>L</a:t>
            </a:r>
            <a:r>
              <a:rPr lang="en-IN" sz="5400" dirty="0" err="1">
                <a:solidFill>
                  <a:schemeClr val="accent2">
                    <a:lumMod val="75000"/>
                  </a:schemeClr>
                </a:solidFill>
                <a:latin typeface="Times New Roman" panose="02020603050405020304" pitchFamily="18" charset="0"/>
                <a:cs typeface="Times New Roman" panose="02020603050405020304" pitchFamily="18" charset="0"/>
              </a:rPr>
              <a:t>ecture</a:t>
            </a:r>
            <a:r>
              <a:rPr lang="en-IN" sz="5400" dirty="0">
                <a:solidFill>
                  <a:schemeClr val="accent2">
                    <a:lumMod val="75000"/>
                  </a:schemeClr>
                </a:solidFill>
                <a:latin typeface="Times New Roman" panose="02020603050405020304" pitchFamily="18" charset="0"/>
                <a:cs typeface="Times New Roman" panose="02020603050405020304" pitchFamily="18" charset="0"/>
              </a:rPr>
              <a:t> 9</a:t>
            </a:r>
          </a:p>
        </p:txBody>
      </p:sp>
    </p:spTree>
    <p:extLst>
      <p:ext uri="{BB962C8B-B14F-4D97-AF65-F5344CB8AC3E}">
        <p14:creationId xmlns:p14="http://schemas.microsoft.com/office/powerpoint/2010/main" val="3563437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6FC502-E2CD-477E-B8CB-2A8A08A3592B}"/>
              </a:ext>
            </a:extLst>
          </p:cNvPr>
          <p:cNvSpPr>
            <a:spLocks noGrp="1"/>
          </p:cNvSpPr>
          <p:nvPr>
            <p:ph idx="1"/>
          </p:nvPr>
        </p:nvSpPr>
        <p:spPr>
          <a:xfrm>
            <a:off x="756139" y="1253331"/>
            <a:ext cx="10515600" cy="4351338"/>
          </a:xfrm>
        </p:spPr>
        <p:txBody>
          <a:bodyPr>
            <a:normAutofit lnSpcReduction="10000"/>
          </a:bodyPr>
          <a:lstStyle/>
          <a:p>
            <a:pPr algn="just"/>
            <a:r>
              <a:rPr lang="en-IN" sz="2800" dirty="0">
                <a:latin typeface="Times New Roman" panose="02020603050405020304" pitchFamily="18" charset="0"/>
                <a:cs typeface="Times New Roman" panose="02020603050405020304" pitchFamily="18" charset="0"/>
              </a:rPr>
              <a:t>Gas cylinders </a:t>
            </a:r>
          </a:p>
          <a:p>
            <a:pPr algn="just"/>
            <a:r>
              <a:rPr lang="en-IN" sz="2800" dirty="0">
                <a:latin typeface="Times New Roman" panose="02020603050405020304" pitchFamily="18" charset="0"/>
                <a:cs typeface="Times New Roman" panose="02020603050405020304" pitchFamily="18" charset="0"/>
              </a:rPr>
              <a:t>Hose pipes and valves</a:t>
            </a:r>
          </a:p>
          <a:p>
            <a:pPr algn="just"/>
            <a:r>
              <a:rPr lang="en-IN" sz="2800" dirty="0">
                <a:latin typeface="Times New Roman" panose="02020603050405020304" pitchFamily="18" charset="0"/>
                <a:cs typeface="Times New Roman" panose="02020603050405020304" pitchFamily="18" charset="0"/>
              </a:rPr>
              <a:t>Cylinder pressure gauge</a:t>
            </a:r>
          </a:p>
          <a:p>
            <a:pPr algn="just"/>
            <a:r>
              <a:rPr lang="en-IN" sz="2800" dirty="0">
                <a:latin typeface="Times New Roman" panose="02020603050405020304" pitchFamily="18" charset="0"/>
                <a:cs typeface="Times New Roman" panose="02020603050405020304" pitchFamily="18" charset="0"/>
              </a:rPr>
              <a:t>Outlet pressure gauge</a:t>
            </a:r>
          </a:p>
          <a:p>
            <a:pPr algn="just"/>
            <a:r>
              <a:rPr lang="en-IN" sz="2800" dirty="0">
                <a:latin typeface="Times New Roman" panose="02020603050405020304" pitchFamily="18" charset="0"/>
                <a:cs typeface="Times New Roman" panose="02020603050405020304" pitchFamily="18" charset="0"/>
              </a:rPr>
              <a:t>Pressure regulators</a:t>
            </a:r>
          </a:p>
          <a:p>
            <a:pPr algn="just"/>
            <a:r>
              <a:rPr lang="en-IN" sz="2800" dirty="0">
                <a:latin typeface="Times New Roman" panose="02020603050405020304" pitchFamily="18" charset="0"/>
                <a:cs typeface="Times New Roman" panose="02020603050405020304" pitchFamily="18" charset="0"/>
              </a:rPr>
              <a:t>Blow pipe or torch and spark lighter</a:t>
            </a:r>
          </a:p>
          <a:p>
            <a:pPr algn="just"/>
            <a:r>
              <a:rPr lang="en-IN" sz="2800" dirty="0">
                <a:latin typeface="Times New Roman" panose="02020603050405020304" pitchFamily="18" charset="0"/>
                <a:cs typeface="Times New Roman" panose="02020603050405020304" pitchFamily="18" charset="0"/>
              </a:rPr>
              <a:t>Welding screens &amp; goggles</a:t>
            </a:r>
          </a:p>
          <a:p>
            <a:pPr algn="just"/>
            <a:r>
              <a:rPr lang="en-IN" sz="2800" dirty="0">
                <a:latin typeface="Times New Roman" panose="02020603050405020304" pitchFamily="18" charset="0"/>
                <a:cs typeface="Times New Roman" panose="02020603050405020304" pitchFamily="18" charset="0"/>
              </a:rPr>
              <a:t>Gloves and apron</a:t>
            </a:r>
          </a:p>
          <a:p>
            <a:pPr algn="just"/>
            <a:r>
              <a:rPr lang="en-IN" sz="2800" dirty="0">
                <a:latin typeface="Times New Roman" panose="02020603050405020304" pitchFamily="18" charset="0"/>
                <a:cs typeface="Times New Roman" panose="02020603050405020304" pitchFamily="18" charset="0"/>
              </a:rPr>
              <a:t>Wire brush, trolley, chipping hammer</a:t>
            </a:r>
          </a:p>
        </p:txBody>
      </p:sp>
      <p:sp>
        <p:nvSpPr>
          <p:cNvPr id="4" name="Slide Number Placeholder 3">
            <a:extLst>
              <a:ext uri="{FF2B5EF4-FFF2-40B4-BE49-F238E27FC236}">
                <a16:creationId xmlns:a16="http://schemas.microsoft.com/office/drawing/2014/main" id="{E67CE42B-1C7F-4728-A611-F546AA81E273}"/>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2</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5DE359A5-EF11-438E-9F5E-DC6C83DB0B21}"/>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Gas Welding Equipment</a:t>
            </a:r>
          </a:p>
        </p:txBody>
      </p:sp>
    </p:spTree>
    <p:extLst>
      <p:ext uri="{BB962C8B-B14F-4D97-AF65-F5344CB8AC3E}">
        <p14:creationId xmlns:p14="http://schemas.microsoft.com/office/powerpoint/2010/main" val="834861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CDB79-28BE-4D52-8FB9-9542263047EA}"/>
              </a:ext>
            </a:extLst>
          </p:cNvPr>
          <p:cNvSpPr>
            <a:spLocks noGrp="1"/>
          </p:cNvSpPr>
          <p:nvPr>
            <p:ph type="title"/>
          </p:nvPr>
        </p:nvSpPr>
        <p:spPr>
          <a:xfrm>
            <a:off x="4271855" y="4668253"/>
            <a:ext cx="3648290" cy="727981"/>
          </a:xfrm>
        </p:spPr>
        <p:txBody>
          <a:bodyPr>
            <a:normAutofit/>
          </a:bodyPr>
          <a:lstStyle/>
          <a:p>
            <a:r>
              <a:rPr lang="en-IN" sz="2400" b="0" dirty="0">
                <a:latin typeface="Times New Roman" panose="02020603050405020304" pitchFamily="18" charset="0"/>
                <a:cs typeface="Times New Roman" panose="02020603050405020304" pitchFamily="18" charset="0"/>
              </a:rPr>
              <a:t>Gas welding equipment [3]</a:t>
            </a:r>
          </a:p>
        </p:txBody>
      </p:sp>
      <p:pic>
        <p:nvPicPr>
          <p:cNvPr id="5" name="Content Placeholder 4">
            <a:extLst>
              <a:ext uri="{FF2B5EF4-FFF2-40B4-BE49-F238E27FC236}">
                <a16:creationId xmlns:a16="http://schemas.microsoft.com/office/drawing/2014/main" id="{B93E9703-88C7-4588-91D5-A32E6257D2B7}"/>
              </a:ext>
            </a:extLst>
          </p:cNvPr>
          <p:cNvPicPr>
            <a:picLocks noGrp="1" noChangeAspect="1"/>
          </p:cNvPicPr>
          <p:nvPr>
            <p:ph idx="1"/>
          </p:nvPr>
        </p:nvPicPr>
        <p:blipFill rotWithShape="1">
          <a:blip r:embed="rId2"/>
          <a:srcRect l="5880" t="24411" r="19914" b="37248"/>
          <a:stretch/>
        </p:blipFill>
        <p:spPr>
          <a:xfrm>
            <a:off x="1036005" y="1764632"/>
            <a:ext cx="9608603" cy="2791326"/>
          </a:xfrm>
          <a:prstGeom prst="rect">
            <a:avLst/>
          </a:prstGeom>
        </p:spPr>
      </p:pic>
      <p:sp>
        <p:nvSpPr>
          <p:cNvPr id="4" name="Slide Number Placeholder 3">
            <a:extLst>
              <a:ext uri="{FF2B5EF4-FFF2-40B4-BE49-F238E27FC236}">
                <a16:creationId xmlns:a16="http://schemas.microsoft.com/office/drawing/2014/main" id="{D41AD605-1D89-4A2A-802A-83CF52189BCA}"/>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3</a:t>
            </a:fld>
            <a:endParaRPr lang="en-IN" dirty="0">
              <a:solidFill>
                <a:prstClr val="black">
                  <a:tint val="75000"/>
                </a:prstClr>
              </a:solidFill>
            </a:endParaRPr>
          </a:p>
        </p:txBody>
      </p:sp>
      <p:sp>
        <p:nvSpPr>
          <p:cNvPr id="6" name="Title 1">
            <a:extLst>
              <a:ext uri="{FF2B5EF4-FFF2-40B4-BE49-F238E27FC236}">
                <a16:creationId xmlns:a16="http://schemas.microsoft.com/office/drawing/2014/main" id="{1776B8FA-24B8-42B3-B140-BC3660FD59E2}"/>
              </a:ext>
            </a:extLst>
          </p:cNvPr>
          <p:cNvSpPr txBox="1">
            <a:spLocks/>
          </p:cNvSpPr>
          <p:nvPr/>
        </p:nvSpPr>
        <p:spPr>
          <a:xfrm>
            <a:off x="756138" y="158584"/>
            <a:ext cx="9238093"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Gas Welding Equipment</a:t>
            </a:r>
          </a:p>
        </p:txBody>
      </p:sp>
    </p:spTree>
    <p:extLst>
      <p:ext uri="{BB962C8B-B14F-4D97-AF65-F5344CB8AC3E}">
        <p14:creationId xmlns:p14="http://schemas.microsoft.com/office/powerpoint/2010/main" val="1081562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4AA2EC-DAF4-4E2B-9EBD-9B3332161555}"/>
              </a:ext>
            </a:extLst>
          </p:cNvPr>
          <p:cNvSpPr>
            <a:spLocks noGrp="1"/>
          </p:cNvSpPr>
          <p:nvPr>
            <p:ph idx="1"/>
          </p:nvPr>
        </p:nvSpPr>
        <p:spPr>
          <a:xfrm>
            <a:off x="756139" y="1283367"/>
            <a:ext cx="10515600" cy="4957011"/>
          </a:xfrm>
        </p:spPr>
        <p:txBody>
          <a:bodyPr>
            <a:noAutofit/>
          </a:bodyPr>
          <a:lstStyle/>
          <a:p>
            <a:pPr marL="0" indent="0" algn="just">
              <a:buNone/>
            </a:pPr>
            <a:r>
              <a:rPr lang="en-IN" sz="2800" b="1" dirty="0">
                <a:latin typeface="Times New Roman" panose="02020603050405020304" pitchFamily="18" charset="0"/>
                <a:cs typeface="Times New Roman" panose="02020603050405020304" pitchFamily="18" charset="0"/>
              </a:rPr>
              <a:t>Gas Cylinders:</a:t>
            </a:r>
          </a:p>
          <a:p>
            <a:pPr algn="just"/>
            <a:r>
              <a:rPr lang="en-IN" sz="2800" dirty="0">
                <a:latin typeface="Times New Roman" panose="02020603050405020304" pitchFamily="18" charset="0"/>
                <a:cs typeface="Times New Roman" panose="02020603050405020304" pitchFamily="18" charset="0"/>
              </a:rPr>
              <a:t>Oxygen gas cylinder is painted black colour and acetylene cylinder in maroon or red colour. Oxygen is filled at pressure to 2000 PSI. </a:t>
            </a:r>
          </a:p>
          <a:p>
            <a:pPr algn="just"/>
            <a:r>
              <a:rPr lang="en-IN" sz="2800" dirty="0">
                <a:latin typeface="Times New Roman" panose="02020603050405020304" pitchFamily="18" charset="0"/>
                <a:cs typeface="Times New Roman" panose="02020603050405020304" pitchFamily="18" charset="0"/>
              </a:rPr>
              <a:t>Acetylene is kept dissolved in acetone in Maroon Cylinder. It is highly recommended that for safety reasons acetylene cylinder should not be exposed to higher temperature. Both the cylinders are made with different types of threads (Left hand and Right hand).</a:t>
            </a:r>
          </a:p>
          <a:p>
            <a:pPr marL="0" indent="0" algn="just">
              <a:buNone/>
            </a:pPr>
            <a:r>
              <a:rPr lang="en-IN" sz="2800" b="1" dirty="0">
                <a:latin typeface="Times New Roman" panose="02020603050405020304" pitchFamily="18" charset="0"/>
                <a:cs typeface="Times New Roman" panose="02020603050405020304" pitchFamily="18" charset="0"/>
              </a:rPr>
              <a:t>Pressure Regulators: </a:t>
            </a:r>
          </a:p>
          <a:p>
            <a:pPr algn="just"/>
            <a:r>
              <a:rPr lang="en-IN" sz="2800" dirty="0">
                <a:latin typeface="Times New Roman" panose="02020603050405020304" pitchFamily="18" charset="0"/>
                <a:cs typeface="Times New Roman" panose="02020603050405020304" pitchFamily="18" charset="0"/>
              </a:rPr>
              <a:t>Each cylinder is fitted with Pressure regulator that maintains supply pressure at a constant value. Supply pressure can be controlled and maintained to different values as required. </a:t>
            </a:r>
          </a:p>
        </p:txBody>
      </p:sp>
      <p:sp>
        <p:nvSpPr>
          <p:cNvPr id="4" name="Slide Number Placeholder 3">
            <a:extLst>
              <a:ext uri="{FF2B5EF4-FFF2-40B4-BE49-F238E27FC236}">
                <a16:creationId xmlns:a16="http://schemas.microsoft.com/office/drawing/2014/main" id="{CF631BD6-1A2E-4DA9-BE02-30F2F156E072}"/>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4</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C06008C7-2284-4CBE-9948-62DB62993A19}"/>
              </a:ext>
            </a:extLst>
          </p:cNvPr>
          <p:cNvSpPr txBox="1">
            <a:spLocks/>
          </p:cNvSpPr>
          <p:nvPr/>
        </p:nvSpPr>
        <p:spPr>
          <a:xfrm>
            <a:off x="756138" y="158584"/>
            <a:ext cx="9238093" cy="780734"/>
          </a:xfrm>
          <a:prstGeom prst="rect">
            <a:avLst/>
          </a:prstGeom>
        </p:spPr>
        <p:txBody>
          <a:bodyPr vert="horz" lIns="91440" tIns="45720" rIns="91440" bIns="45720" rtlCol="0" anchor="ctr">
            <a:normAutofit fontScale="92500"/>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Gas Welding Equipment: Gas Cylinders &amp; Regulators</a:t>
            </a:r>
          </a:p>
        </p:txBody>
      </p:sp>
    </p:spTree>
    <p:extLst>
      <p:ext uri="{BB962C8B-B14F-4D97-AF65-F5344CB8AC3E}">
        <p14:creationId xmlns:p14="http://schemas.microsoft.com/office/powerpoint/2010/main" val="3075673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AAB738-31F0-47CB-B91B-657BA5114634}"/>
              </a:ext>
            </a:extLst>
          </p:cNvPr>
          <p:cNvSpPr>
            <a:spLocks noGrp="1"/>
          </p:cNvSpPr>
          <p:nvPr>
            <p:ph idx="1"/>
          </p:nvPr>
        </p:nvSpPr>
        <p:spPr/>
        <p:txBody>
          <a:bodyPr>
            <a:normAutofit/>
          </a:bodyPr>
          <a:lstStyle/>
          <a:p>
            <a:pPr marL="0" indent="0">
              <a:buNone/>
            </a:pPr>
            <a:r>
              <a:rPr lang="en-IN" sz="2800" b="1" dirty="0">
                <a:latin typeface="Times New Roman" panose="02020603050405020304" pitchFamily="18" charset="0"/>
                <a:cs typeface="Times New Roman" panose="02020603050405020304" pitchFamily="18" charset="0"/>
              </a:rPr>
              <a:t>Pressure Gauge:</a:t>
            </a:r>
          </a:p>
          <a:p>
            <a:pPr algn="just"/>
            <a:r>
              <a:rPr lang="en-IN" sz="2800" dirty="0">
                <a:latin typeface="Times New Roman" panose="02020603050405020304" pitchFamily="18" charset="0"/>
                <a:cs typeface="Times New Roman" panose="02020603050405020304" pitchFamily="18" charset="0"/>
              </a:rPr>
              <a:t>Pressure gauge measures the pressure with respect to the atmospheric pressure. Two pressure gauges are mounted on each of the cylinders. One for cylinder pressure and second for supply pressure. </a:t>
            </a:r>
          </a:p>
          <a:p>
            <a:pPr marL="0" indent="0" algn="just">
              <a:buNone/>
            </a:pPr>
            <a:r>
              <a:rPr lang="en-IN" sz="2800" b="1" dirty="0">
                <a:latin typeface="Times New Roman" panose="02020603050405020304" pitchFamily="18" charset="0"/>
                <a:cs typeface="Times New Roman" panose="02020603050405020304" pitchFamily="18" charset="0"/>
              </a:rPr>
              <a:t>Hose Pipes &amp; Control Valves:</a:t>
            </a:r>
          </a:p>
          <a:p>
            <a:pPr algn="just"/>
            <a:r>
              <a:rPr lang="en-IN" sz="2800" dirty="0">
                <a:latin typeface="Times New Roman" panose="02020603050405020304" pitchFamily="18" charset="0"/>
                <a:cs typeface="Times New Roman" panose="02020603050405020304" pitchFamily="18" charset="0"/>
              </a:rPr>
              <a:t>Hose pipes are used to carry gases from their respective cylinders to blow pipe. The Colour codes of hose pipe are same as cylinders. Hose pipes are made of good quality rubber for long life. Each cylinder is mounted with valves to control the flow of oxygen and acetylene separately, to get desired flame.</a:t>
            </a:r>
          </a:p>
          <a:p>
            <a:endParaRPr lang="en-IN" dirty="0"/>
          </a:p>
        </p:txBody>
      </p:sp>
      <p:sp>
        <p:nvSpPr>
          <p:cNvPr id="4" name="Slide Number Placeholder 3">
            <a:extLst>
              <a:ext uri="{FF2B5EF4-FFF2-40B4-BE49-F238E27FC236}">
                <a16:creationId xmlns:a16="http://schemas.microsoft.com/office/drawing/2014/main" id="{56AB2B99-1418-43D2-97C1-E27962B0CDC4}"/>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5</a:t>
            </a:fld>
            <a:endParaRPr lang="en-IN" dirty="0">
              <a:solidFill>
                <a:prstClr val="black">
                  <a:tint val="75000"/>
                </a:prstClr>
              </a:solidFill>
            </a:endParaRPr>
          </a:p>
        </p:txBody>
      </p:sp>
      <p:sp>
        <p:nvSpPr>
          <p:cNvPr id="7" name="Title 1">
            <a:extLst>
              <a:ext uri="{FF2B5EF4-FFF2-40B4-BE49-F238E27FC236}">
                <a16:creationId xmlns:a16="http://schemas.microsoft.com/office/drawing/2014/main" id="{70803C01-7059-4964-BEE7-388A0AD94B55}"/>
              </a:ext>
            </a:extLst>
          </p:cNvPr>
          <p:cNvSpPr txBox="1">
            <a:spLocks/>
          </p:cNvSpPr>
          <p:nvPr/>
        </p:nvSpPr>
        <p:spPr>
          <a:xfrm>
            <a:off x="756138" y="158584"/>
            <a:ext cx="9238093"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Gas Welding Equipment: Pressure gauges &amp; Valves</a:t>
            </a:r>
          </a:p>
        </p:txBody>
      </p:sp>
    </p:spTree>
    <p:extLst>
      <p:ext uri="{BB962C8B-B14F-4D97-AF65-F5344CB8AC3E}">
        <p14:creationId xmlns:p14="http://schemas.microsoft.com/office/powerpoint/2010/main" val="3579383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D8FB5-2718-4311-8DE4-DE9C1528C7C4}"/>
              </a:ext>
            </a:extLst>
          </p:cNvPr>
          <p:cNvSpPr>
            <a:spLocks noGrp="1"/>
          </p:cNvSpPr>
          <p:nvPr>
            <p:ph type="title"/>
          </p:nvPr>
        </p:nvSpPr>
        <p:spPr>
          <a:xfrm>
            <a:off x="7515727" y="6045667"/>
            <a:ext cx="2943726" cy="400524"/>
          </a:xfrm>
        </p:spPr>
        <p:txBody>
          <a:bodyPr>
            <a:noAutofit/>
          </a:bodyPr>
          <a:lstStyle/>
          <a:p>
            <a:r>
              <a:rPr lang="en-IN" sz="2400" b="0" dirty="0">
                <a:latin typeface="Times New Roman" panose="02020603050405020304" pitchFamily="18" charset="0"/>
                <a:cs typeface="Times New Roman" panose="02020603050405020304" pitchFamily="18" charset="0"/>
              </a:rPr>
              <a:t>Gas welding torch [3]</a:t>
            </a:r>
          </a:p>
        </p:txBody>
      </p:sp>
      <p:pic>
        <p:nvPicPr>
          <p:cNvPr id="5" name="Content Placeholder 4">
            <a:extLst>
              <a:ext uri="{FF2B5EF4-FFF2-40B4-BE49-F238E27FC236}">
                <a16:creationId xmlns:a16="http://schemas.microsoft.com/office/drawing/2014/main" id="{AA741DB1-7412-4017-9B6B-A8B39AD5CA13}"/>
              </a:ext>
            </a:extLst>
          </p:cNvPr>
          <p:cNvPicPr>
            <a:picLocks noGrp="1" noChangeAspect="1"/>
          </p:cNvPicPr>
          <p:nvPr>
            <p:ph idx="1"/>
          </p:nvPr>
        </p:nvPicPr>
        <p:blipFill rotWithShape="1">
          <a:blip r:embed="rId2"/>
          <a:srcRect l="7953" t="17406" r="32973" b="8860"/>
          <a:stretch/>
        </p:blipFill>
        <p:spPr>
          <a:xfrm>
            <a:off x="5125452" y="1565065"/>
            <a:ext cx="6063917" cy="4255379"/>
          </a:xfrm>
          <a:prstGeom prst="rect">
            <a:avLst/>
          </a:prstGeom>
        </p:spPr>
      </p:pic>
      <p:sp>
        <p:nvSpPr>
          <p:cNvPr id="4" name="Slide Number Placeholder 3">
            <a:extLst>
              <a:ext uri="{FF2B5EF4-FFF2-40B4-BE49-F238E27FC236}">
                <a16:creationId xmlns:a16="http://schemas.microsoft.com/office/drawing/2014/main" id="{E3487255-AE4E-4C0A-A51C-A91DF5C64605}"/>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6</a:t>
            </a:fld>
            <a:endParaRPr lang="en-IN" dirty="0">
              <a:solidFill>
                <a:prstClr val="black">
                  <a:tint val="75000"/>
                </a:prstClr>
              </a:solidFill>
            </a:endParaRPr>
          </a:p>
        </p:txBody>
      </p:sp>
      <p:sp>
        <p:nvSpPr>
          <p:cNvPr id="6" name="Title 1">
            <a:extLst>
              <a:ext uri="{FF2B5EF4-FFF2-40B4-BE49-F238E27FC236}">
                <a16:creationId xmlns:a16="http://schemas.microsoft.com/office/drawing/2014/main" id="{458EA5F9-475A-4964-8AD8-4B48DBA9C5A5}"/>
              </a:ext>
            </a:extLst>
          </p:cNvPr>
          <p:cNvSpPr txBox="1">
            <a:spLocks/>
          </p:cNvSpPr>
          <p:nvPr/>
        </p:nvSpPr>
        <p:spPr>
          <a:xfrm>
            <a:off x="756138" y="158584"/>
            <a:ext cx="9238093"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Gas Welding Equipment: Torch</a:t>
            </a:r>
          </a:p>
        </p:txBody>
      </p:sp>
      <p:sp>
        <p:nvSpPr>
          <p:cNvPr id="7" name="Title 1">
            <a:extLst>
              <a:ext uri="{FF2B5EF4-FFF2-40B4-BE49-F238E27FC236}">
                <a16:creationId xmlns:a16="http://schemas.microsoft.com/office/drawing/2014/main" id="{266D4D70-C73B-41CA-9B1B-A5A84650B7A9}"/>
              </a:ext>
            </a:extLst>
          </p:cNvPr>
          <p:cNvSpPr txBox="1">
            <a:spLocks/>
          </p:cNvSpPr>
          <p:nvPr/>
        </p:nvSpPr>
        <p:spPr>
          <a:xfrm>
            <a:off x="756138" y="1267326"/>
            <a:ext cx="4369314" cy="5218011"/>
          </a:xfrm>
          <a:prstGeom prst="rect">
            <a:avLst/>
          </a:prstGeom>
        </p:spPr>
        <p:txBody>
          <a:bodyPr vert="horz" lIns="91440" tIns="45720" rIns="91440" bIns="45720" rtlCol="0" anchor="ctr">
            <a:normAutofit lnSpcReduction="10000"/>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pPr marL="457200" indent="-457200" algn="just">
              <a:buFont typeface="Arial" panose="020B0604020202020204" pitchFamily="34" charset="0"/>
              <a:buChar char="•"/>
            </a:pPr>
            <a:r>
              <a:rPr lang="en-IN" b="0" dirty="0">
                <a:latin typeface="Times New Roman" panose="02020603050405020304" pitchFamily="18" charset="0"/>
                <a:cs typeface="Times New Roman" panose="02020603050405020304" pitchFamily="18" charset="0"/>
              </a:rPr>
              <a:t>Gas welding torches are low pressure torches and Gas cutting torches are high pressure torches. </a:t>
            </a:r>
          </a:p>
          <a:p>
            <a:pPr marL="457200" indent="-457200" algn="just">
              <a:buFont typeface="Arial" panose="020B0604020202020204" pitchFamily="34" charset="0"/>
              <a:buChar char="•"/>
            </a:pPr>
            <a:r>
              <a:rPr lang="en-IN" b="0" dirty="0">
                <a:latin typeface="Times New Roman" panose="02020603050405020304" pitchFamily="18" charset="0"/>
                <a:cs typeface="Times New Roman" panose="02020603050405020304" pitchFamily="18" charset="0"/>
              </a:rPr>
              <a:t>Both the gases are mixed in a chamber of the torch and then flow out through the nozzle and burnt by spark lighter.</a:t>
            </a:r>
          </a:p>
          <a:p>
            <a:pPr marL="457200" indent="-457200" algn="just">
              <a:buFont typeface="Arial" panose="020B0604020202020204" pitchFamily="34" charset="0"/>
              <a:buChar char="•"/>
            </a:pPr>
            <a:r>
              <a:rPr lang="en-IN" b="0" dirty="0">
                <a:latin typeface="Times New Roman" panose="02020603050405020304" pitchFamily="18" charset="0"/>
                <a:cs typeface="Times New Roman" panose="02020603050405020304" pitchFamily="18" charset="0"/>
              </a:rPr>
              <a:t>Gas cutting torch has holes for flow of mixture of gases at the periphery and a separate oxygen flow hole at the centre.</a:t>
            </a:r>
          </a:p>
        </p:txBody>
      </p:sp>
    </p:spTree>
    <p:extLst>
      <p:ext uri="{BB962C8B-B14F-4D97-AF65-F5344CB8AC3E}">
        <p14:creationId xmlns:p14="http://schemas.microsoft.com/office/powerpoint/2010/main" val="1606660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201D57-4CA8-4E4F-955A-ECEFCF750BAC}"/>
              </a:ext>
            </a:extLst>
          </p:cNvPr>
          <p:cNvSpPr>
            <a:spLocks noGrp="1"/>
          </p:cNvSpPr>
          <p:nvPr>
            <p:ph idx="1"/>
          </p:nvPr>
        </p:nvSpPr>
        <p:spPr/>
        <p:txBody>
          <a:bodyPr>
            <a:normAutofit/>
          </a:bodyPr>
          <a:lstStyle/>
          <a:p>
            <a:pPr algn="just"/>
            <a:r>
              <a:rPr lang="en-IN" sz="2800" dirty="0">
                <a:latin typeface="Times New Roman" panose="02020603050405020304" pitchFamily="18" charset="0"/>
                <a:cs typeface="Times New Roman" panose="02020603050405020304" pitchFamily="18" charset="0"/>
              </a:rPr>
              <a:t>In oxy – acetylene welding heat is generated as a result of chemical reaction. The primary combustion process occurs in the inner core of the flame involves the following reaction:</a:t>
            </a:r>
          </a:p>
          <a:p>
            <a:pPr algn="just"/>
            <a:endParaRPr lang="en-IN" sz="2800" dirty="0">
              <a:latin typeface="Times New Roman" panose="02020603050405020304" pitchFamily="18" charset="0"/>
              <a:cs typeface="Times New Roman" panose="02020603050405020304" pitchFamily="18" charset="0"/>
            </a:endParaRPr>
          </a:p>
          <a:p>
            <a:pPr algn="just"/>
            <a:r>
              <a:rPr lang="en-IN" sz="2800" dirty="0">
                <a:latin typeface="Times New Roman" panose="02020603050405020304" pitchFamily="18" charset="0"/>
                <a:cs typeface="Times New Roman" panose="02020603050405020304" pitchFamily="18" charset="0"/>
              </a:rPr>
              <a:t>This reaction consists of the further burning of both the hydrogen and the carbon monoxide and produces about two-thirds of the total heat. </a:t>
            </a:r>
          </a:p>
          <a:p>
            <a:pPr algn="just"/>
            <a:endParaRPr lang="en-IN" sz="2800" dirty="0">
              <a:latin typeface="Times New Roman" panose="02020603050405020304" pitchFamily="18" charset="0"/>
              <a:cs typeface="Times New Roman" panose="02020603050405020304" pitchFamily="18" charset="0"/>
            </a:endParaRPr>
          </a:p>
          <a:p>
            <a:pPr algn="just"/>
            <a:r>
              <a:rPr lang="en-IN" sz="2800" dirty="0">
                <a:latin typeface="Times New Roman" panose="02020603050405020304" pitchFamily="18" charset="0"/>
                <a:cs typeface="Times New Roman" panose="02020603050405020304" pitchFamily="18" charset="0"/>
              </a:rPr>
              <a:t>The temperatures developed in the flame is 3300°C approx.</a:t>
            </a:r>
          </a:p>
        </p:txBody>
      </p:sp>
      <p:sp>
        <p:nvSpPr>
          <p:cNvPr id="4" name="Slide Number Placeholder 3">
            <a:extLst>
              <a:ext uri="{FF2B5EF4-FFF2-40B4-BE49-F238E27FC236}">
                <a16:creationId xmlns:a16="http://schemas.microsoft.com/office/drawing/2014/main" id="{9AC148C6-62F5-4566-82D6-A85A505601A5}"/>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7</a:t>
            </a:fld>
            <a:endParaRPr lang="en-IN" dirty="0">
              <a:solidFill>
                <a:prstClr val="black">
                  <a:tint val="75000"/>
                </a:prstClr>
              </a:solidFill>
            </a:endParaRPr>
          </a:p>
        </p:txBody>
      </p:sp>
      <p:pic>
        <p:nvPicPr>
          <p:cNvPr id="9" name="Picture 8">
            <a:extLst>
              <a:ext uri="{FF2B5EF4-FFF2-40B4-BE49-F238E27FC236}">
                <a16:creationId xmlns:a16="http://schemas.microsoft.com/office/drawing/2014/main" id="{B69755FD-A377-4D0C-8DA8-A00F0FED772D}"/>
              </a:ext>
            </a:extLst>
          </p:cNvPr>
          <p:cNvPicPr>
            <a:picLocks noChangeAspect="1"/>
          </p:cNvPicPr>
          <p:nvPr/>
        </p:nvPicPr>
        <p:blipFill>
          <a:blip r:embed="rId2"/>
          <a:stretch>
            <a:fillRect/>
          </a:stretch>
        </p:blipFill>
        <p:spPr>
          <a:xfrm>
            <a:off x="2207462" y="4105057"/>
            <a:ext cx="6654942" cy="380473"/>
          </a:xfrm>
          <a:prstGeom prst="rect">
            <a:avLst/>
          </a:prstGeom>
        </p:spPr>
      </p:pic>
      <p:pic>
        <p:nvPicPr>
          <p:cNvPr id="10" name="Picture 9">
            <a:extLst>
              <a:ext uri="{FF2B5EF4-FFF2-40B4-BE49-F238E27FC236}">
                <a16:creationId xmlns:a16="http://schemas.microsoft.com/office/drawing/2014/main" id="{A59E15F5-497C-4D8F-B68F-01C9528DF944}"/>
              </a:ext>
            </a:extLst>
          </p:cNvPr>
          <p:cNvPicPr>
            <a:picLocks noChangeAspect="1"/>
          </p:cNvPicPr>
          <p:nvPr/>
        </p:nvPicPr>
        <p:blipFill>
          <a:blip r:embed="rId3"/>
          <a:stretch>
            <a:fillRect/>
          </a:stretch>
        </p:blipFill>
        <p:spPr>
          <a:xfrm>
            <a:off x="2781495" y="2748466"/>
            <a:ext cx="5175574" cy="347503"/>
          </a:xfrm>
          <a:prstGeom prst="rect">
            <a:avLst/>
          </a:prstGeom>
        </p:spPr>
      </p:pic>
      <p:sp>
        <p:nvSpPr>
          <p:cNvPr id="11" name="Title 1">
            <a:extLst>
              <a:ext uri="{FF2B5EF4-FFF2-40B4-BE49-F238E27FC236}">
                <a16:creationId xmlns:a16="http://schemas.microsoft.com/office/drawing/2014/main" id="{80FC64E7-3DC2-4F42-86E5-452156A651C5}"/>
              </a:ext>
            </a:extLst>
          </p:cNvPr>
          <p:cNvSpPr txBox="1">
            <a:spLocks/>
          </p:cNvSpPr>
          <p:nvPr/>
        </p:nvSpPr>
        <p:spPr>
          <a:xfrm>
            <a:off x="756138" y="158584"/>
            <a:ext cx="9238093"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Oxy Acetylene Gas Welding</a:t>
            </a:r>
          </a:p>
        </p:txBody>
      </p:sp>
    </p:spTree>
    <p:extLst>
      <p:ext uri="{BB962C8B-B14F-4D97-AF65-F5344CB8AC3E}">
        <p14:creationId xmlns:p14="http://schemas.microsoft.com/office/powerpoint/2010/main" val="1535787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E542F3D-965C-446D-9C31-EF073B9EA484}"/>
              </a:ext>
            </a:extLst>
          </p:cNvPr>
          <p:cNvPicPr>
            <a:picLocks noGrp="1" noChangeAspect="1"/>
          </p:cNvPicPr>
          <p:nvPr>
            <p:ph idx="1"/>
          </p:nvPr>
        </p:nvPicPr>
        <p:blipFill rotWithShape="1">
          <a:blip r:embed="rId2"/>
          <a:srcRect l="5880" t="27360" r="19707" b="37616"/>
          <a:stretch/>
        </p:blipFill>
        <p:spPr>
          <a:xfrm>
            <a:off x="756139" y="1812759"/>
            <a:ext cx="10856501" cy="2872890"/>
          </a:xfrm>
          <a:prstGeom prst="rect">
            <a:avLst/>
          </a:prstGeom>
        </p:spPr>
      </p:pic>
      <p:sp>
        <p:nvSpPr>
          <p:cNvPr id="4" name="Slide Number Placeholder 3">
            <a:extLst>
              <a:ext uri="{FF2B5EF4-FFF2-40B4-BE49-F238E27FC236}">
                <a16:creationId xmlns:a16="http://schemas.microsoft.com/office/drawing/2014/main" id="{695C38D2-E0AC-40D6-9828-9567DF305B65}"/>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8</a:t>
            </a:fld>
            <a:endParaRPr lang="en-IN" dirty="0">
              <a:solidFill>
                <a:prstClr val="black">
                  <a:tint val="75000"/>
                </a:prstClr>
              </a:solidFill>
            </a:endParaRPr>
          </a:p>
        </p:txBody>
      </p:sp>
      <p:sp>
        <p:nvSpPr>
          <p:cNvPr id="6" name="Title 1">
            <a:extLst>
              <a:ext uri="{FF2B5EF4-FFF2-40B4-BE49-F238E27FC236}">
                <a16:creationId xmlns:a16="http://schemas.microsoft.com/office/drawing/2014/main" id="{C5B9E4B1-1DA9-44D4-ADE1-6A2563F383D1}"/>
              </a:ext>
            </a:extLst>
          </p:cNvPr>
          <p:cNvSpPr txBox="1">
            <a:spLocks/>
          </p:cNvSpPr>
          <p:nvPr/>
        </p:nvSpPr>
        <p:spPr>
          <a:xfrm>
            <a:off x="4203031" y="5360301"/>
            <a:ext cx="4133002" cy="400524"/>
          </a:xfrm>
          <a:prstGeom prst="rect">
            <a:avLst/>
          </a:prstGeom>
        </p:spPr>
        <p:txBody>
          <a:bodyPr vert="horz" lIns="91440" tIns="45720" rIns="91440" bIns="45720" rtlCol="0" anchor="ctr">
            <a:no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2400" b="0" dirty="0">
                <a:latin typeface="Times New Roman" panose="02020603050405020304" pitchFamily="18" charset="0"/>
                <a:cs typeface="Times New Roman" panose="02020603050405020304" pitchFamily="18" charset="0"/>
              </a:rPr>
              <a:t>Types of gas welding flames [3]</a:t>
            </a:r>
          </a:p>
        </p:txBody>
      </p:sp>
      <p:sp>
        <p:nvSpPr>
          <p:cNvPr id="7" name="Title 1">
            <a:extLst>
              <a:ext uri="{FF2B5EF4-FFF2-40B4-BE49-F238E27FC236}">
                <a16:creationId xmlns:a16="http://schemas.microsoft.com/office/drawing/2014/main" id="{C1FD5E26-E385-4128-A5DC-73ABEF872584}"/>
              </a:ext>
            </a:extLst>
          </p:cNvPr>
          <p:cNvSpPr txBox="1">
            <a:spLocks/>
          </p:cNvSpPr>
          <p:nvPr/>
        </p:nvSpPr>
        <p:spPr>
          <a:xfrm>
            <a:off x="756138" y="158584"/>
            <a:ext cx="9238093"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Types of Gas Welding Flames</a:t>
            </a:r>
          </a:p>
        </p:txBody>
      </p:sp>
    </p:spTree>
    <p:extLst>
      <p:ext uri="{BB962C8B-B14F-4D97-AF65-F5344CB8AC3E}">
        <p14:creationId xmlns:p14="http://schemas.microsoft.com/office/powerpoint/2010/main" val="526944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A5379A0-D4BC-446D-9ED0-A8CBF5FED4D4}"/>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9</a:t>
            </a:fld>
            <a:endParaRPr lang="en-IN" dirty="0">
              <a:solidFill>
                <a:prstClr val="black">
                  <a:tint val="75000"/>
                </a:prstClr>
              </a:solidFill>
            </a:endParaRPr>
          </a:p>
        </p:txBody>
      </p:sp>
      <p:sp>
        <p:nvSpPr>
          <p:cNvPr id="12" name="Rectangle 11">
            <a:extLst>
              <a:ext uri="{FF2B5EF4-FFF2-40B4-BE49-F238E27FC236}">
                <a16:creationId xmlns:a16="http://schemas.microsoft.com/office/drawing/2014/main" id="{BD119457-757F-4635-BF26-63CF2C47A967}"/>
              </a:ext>
            </a:extLst>
          </p:cNvPr>
          <p:cNvSpPr/>
          <p:nvPr/>
        </p:nvSpPr>
        <p:spPr>
          <a:xfrm>
            <a:off x="756139" y="1523999"/>
            <a:ext cx="10515600" cy="4832092"/>
          </a:xfrm>
          <a:prstGeom prst="rect">
            <a:avLst/>
          </a:prstGeom>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Neutral Flame:</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When equal amount of Oxygen and Acetylene are mixed and burnt at the outlet of welding torch, A neutral flame is obtained. As in fig of previous slide this type of flame is made of two sharply defined zones i.e. inner white flame cone and outer envelope of blue colour.</a:t>
            </a:r>
          </a:p>
          <a:p>
            <a:pPr algn="just"/>
            <a:endParaRPr lang="en-IN" sz="2800" dirty="0">
              <a:latin typeface="Times New Roman" panose="02020603050405020304" pitchFamily="18" charset="0"/>
              <a:cs typeface="Times New Roman" panose="02020603050405020304" pitchFamily="18" charset="0"/>
            </a:endParaRPr>
          </a:p>
          <a:p>
            <a:pPr algn="just"/>
            <a:r>
              <a:rPr lang="en-IN" sz="2800" b="1" dirty="0">
                <a:latin typeface="Times New Roman" panose="02020603050405020304" pitchFamily="18" charset="0"/>
                <a:cs typeface="Times New Roman" panose="02020603050405020304" pitchFamily="18" charset="0"/>
              </a:rPr>
              <a:t>Carburizing Flame:</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This flame is consists of three zones the inner cone, an outer envelope as same in case of neutral flamed and middle zone surrounds inner cone extended to outer envelope. It’s size increases with increased quantity of Acetylene. </a:t>
            </a:r>
          </a:p>
        </p:txBody>
      </p:sp>
      <p:sp>
        <p:nvSpPr>
          <p:cNvPr id="13" name="Title 1">
            <a:extLst>
              <a:ext uri="{FF2B5EF4-FFF2-40B4-BE49-F238E27FC236}">
                <a16:creationId xmlns:a16="http://schemas.microsoft.com/office/drawing/2014/main" id="{0EA9999F-945B-478C-88EF-115059D00ACB}"/>
              </a:ext>
            </a:extLst>
          </p:cNvPr>
          <p:cNvSpPr txBox="1">
            <a:spLocks/>
          </p:cNvSpPr>
          <p:nvPr/>
        </p:nvSpPr>
        <p:spPr>
          <a:xfrm>
            <a:off x="756138" y="158584"/>
            <a:ext cx="9238093"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Types of Gas Welding Flames</a:t>
            </a:r>
          </a:p>
        </p:txBody>
      </p:sp>
    </p:spTree>
    <p:extLst>
      <p:ext uri="{BB962C8B-B14F-4D97-AF65-F5344CB8AC3E}">
        <p14:creationId xmlns:p14="http://schemas.microsoft.com/office/powerpoint/2010/main" val="1049081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ED9D6F-C756-42CC-861B-286CF153BB90}"/>
              </a:ext>
            </a:extLst>
          </p:cNvPr>
          <p:cNvSpPr>
            <a:spLocks noGrp="1"/>
          </p:cNvSpPr>
          <p:nvPr>
            <p:ph idx="1"/>
          </p:nvPr>
        </p:nvSpPr>
        <p:spPr>
          <a:xfrm>
            <a:off x="756139" y="1251284"/>
            <a:ext cx="10515600" cy="4491928"/>
          </a:xfrm>
        </p:spPr>
        <p:txBody>
          <a:bodyPr>
            <a:normAutofit/>
          </a:bodyPr>
          <a:lstStyle/>
          <a:p>
            <a:pPr marL="0" indent="0" algn="just">
              <a:buNone/>
            </a:pPr>
            <a:r>
              <a:rPr lang="en-IN" sz="2800" b="1" dirty="0">
                <a:latin typeface="Times New Roman" panose="02020603050405020304" pitchFamily="18" charset="0"/>
                <a:cs typeface="Times New Roman" panose="02020603050405020304" pitchFamily="18" charset="0"/>
              </a:rPr>
              <a:t>Oxidizing Flame:</a:t>
            </a:r>
          </a:p>
          <a:p>
            <a:pPr algn="just"/>
            <a:r>
              <a:rPr lang="en-IN" sz="2800" dirty="0">
                <a:latin typeface="Times New Roman" panose="02020603050405020304" pitchFamily="18" charset="0"/>
                <a:cs typeface="Times New Roman" panose="02020603050405020304" pitchFamily="18" charset="0"/>
              </a:rPr>
              <a:t>Excess mount of the Oxygen in the mixture will produce this flame. Oxygen to Acetylene ratio varies between1.15 to 1.50. The inner cone is relatively shorter and excess oxygen turns the flame to light blue colour. It burns with a harsh sound. </a:t>
            </a:r>
          </a:p>
        </p:txBody>
      </p:sp>
      <p:sp>
        <p:nvSpPr>
          <p:cNvPr id="4" name="Slide Number Placeholder 3">
            <a:extLst>
              <a:ext uri="{FF2B5EF4-FFF2-40B4-BE49-F238E27FC236}">
                <a16:creationId xmlns:a16="http://schemas.microsoft.com/office/drawing/2014/main" id="{79E39F0D-44BF-49D8-BFD5-CC7361EF8E47}"/>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10</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17C2F6BF-5C54-48ED-982E-4F927353498F}"/>
              </a:ext>
            </a:extLst>
          </p:cNvPr>
          <p:cNvSpPr txBox="1">
            <a:spLocks/>
          </p:cNvSpPr>
          <p:nvPr/>
        </p:nvSpPr>
        <p:spPr>
          <a:xfrm>
            <a:off x="756138" y="158584"/>
            <a:ext cx="9238093"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Types of Gas Welding Flames</a:t>
            </a:r>
          </a:p>
        </p:txBody>
      </p:sp>
    </p:spTree>
    <p:extLst>
      <p:ext uri="{BB962C8B-B14F-4D97-AF65-F5344CB8AC3E}">
        <p14:creationId xmlns:p14="http://schemas.microsoft.com/office/powerpoint/2010/main" val="29012323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7452A2E-84AE-4185-856B-5071E50FB69B}"/>
              </a:ext>
            </a:extLst>
          </p:cNvPr>
          <p:cNvPicPr>
            <a:picLocks noGrp="1" noChangeAspect="1"/>
          </p:cNvPicPr>
          <p:nvPr>
            <p:ph idx="1"/>
          </p:nvPr>
        </p:nvPicPr>
        <p:blipFill rotWithShape="1">
          <a:blip r:embed="rId2"/>
          <a:srcRect l="8782" t="19987" r="24475" b="15496"/>
          <a:stretch/>
        </p:blipFill>
        <p:spPr>
          <a:xfrm>
            <a:off x="1254999" y="1178976"/>
            <a:ext cx="8585768" cy="4666177"/>
          </a:xfrm>
          <a:prstGeom prst="rect">
            <a:avLst/>
          </a:prstGeom>
        </p:spPr>
      </p:pic>
      <p:sp>
        <p:nvSpPr>
          <p:cNvPr id="4" name="Slide Number Placeholder 3">
            <a:extLst>
              <a:ext uri="{FF2B5EF4-FFF2-40B4-BE49-F238E27FC236}">
                <a16:creationId xmlns:a16="http://schemas.microsoft.com/office/drawing/2014/main" id="{73599D9F-8741-41D7-9A4A-A966B57BE7B2}"/>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11</a:t>
            </a:fld>
            <a:endParaRPr lang="en-IN" dirty="0">
              <a:solidFill>
                <a:prstClr val="black">
                  <a:tint val="75000"/>
                </a:prstClr>
              </a:solidFill>
            </a:endParaRPr>
          </a:p>
        </p:txBody>
      </p:sp>
      <p:sp>
        <p:nvSpPr>
          <p:cNvPr id="6" name="Title 1">
            <a:extLst>
              <a:ext uri="{FF2B5EF4-FFF2-40B4-BE49-F238E27FC236}">
                <a16:creationId xmlns:a16="http://schemas.microsoft.com/office/drawing/2014/main" id="{F3B3F601-8E66-48CE-A588-B7B3DAE03C23}"/>
              </a:ext>
            </a:extLst>
          </p:cNvPr>
          <p:cNvSpPr txBox="1">
            <a:spLocks/>
          </p:cNvSpPr>
          <p:nvPr/>
        </p:nvSpPr>
        <p:spPr>
          <a:xfrm>
            <a:off x="2495231" y="5845154"/>
            <a:ext cx="6186391" cy="400524"/>
          </a:xfrm>
          <a:prstGeom prst="rect">
            <a:avLst/>
          </a:prstGeom>
        </p:spPr>
        <p:txBody>
          <a:bodyPr vert="horz" lIns="91440" tIns="45720" rIns="91440" bIns="45720" rtlCol="0" anchor="ctr">
            <a:no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2400" b="0" dirty="0">
                <a:latin typeface="Times New Roman" panose="02020603050405020304" pitchFamily="18" charset="0"/>
                <a:cs typeface="Times New Roman" panose="02020603050405020304" pitchFamily="18" charset="0"/>
              </a:rPr>
              <a:t>Schematic diagram of Gas welding process [1]</a:t>
            </a:r>
          </a:p>
        </p:txBody>
      </p:sp>
      <p:sp>
        <p:nvSpPr>
          <p:cNvPr id="7" name="Title 1">
            <a:extLst>
              <a:ext uri="{FF2B5EF4-FFF2-40B4-BE49-F238E27FC236}">
                <a16:creationId xmlns:a16="http://schemas.microsoft.com/office/drawing/2014/main" id="{FEA191B4-9DF5-4778-BF2D-09F5AC41248B}"/>
              </a:ext>
            </a:extLst>
          </p:cNvPr>
          <p:cNvSpPr txBox="1">
            <a:spLocks/>
          </p:cNvSpPr>
          <p:nvPr/>
        </p:nvSpPr>
        <p:spPr>
          <a:xfrm>
            <a:off x="756138" y="158584"/>
            <a:ext cx="9238093"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Gas Welding Process</a:t>
            </a:r>
          </a:p>
        </p:txBody>
      </p:sp>
    </p:spTree>
    <p:extLst>
      <p:ext uri="{BB962C8B-B14F-4D97-AF65-F5344CB8AC3E}">
        <p14:creationId xmlns:p14="http://schemas.microsoft.com/office/powerpoint/2010/main" val="1277623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3F3638-78D4-4545-B331-0EA92047231A}"/>
              </a:ext>
            </a:extLst>
          </p:cNvPr>
          <p:cNvSpPr>
            <a:spLocks noGrp="1"/>
          </p:cNvSpPr>
          <p:nvPr>
            <p:ph idx="1"/>
          </p:nvPr>
        </p:nvSpPr>
        <p:spPr>
          <a:xfrm>
            <a:off x="756139" y="1187115"/>
            <a:ext cx="10515600" cy="4764505"/>
          </a:xfrm>
        </p:spPr>
        <p:txBody>
          <a:bodyPr>
            <a:normAutofit lnSpcReduction="10000"/>
          </a:bodyPr>
          <a:lstStyle/>
          <a:p>
            <a:pPr algn="just"/>
            <a:r>
              <a:rPr lang="en-IN" sz="2800" dirty="0">
                <a:latin typeface="Times New Roman" panose="02020603050405020304" pitchFamily="18" charset="0"/>
                <a:cs typeface="Times New Roman" panose="02020603050405020304" pitchFamily="18" charset="0"/>
              </a:rPr>
              <a:t>Gas cutting or flame cutting is an exothermic oxidation of the steel being cut.</a:t>
            </a:r>
          </a:p>
          <a:p>
            <a:pPr algn="just"/>
            <a:r>
              <a:rPr lang="en-IN" sz="2800" dirty="0">
                <a:latin typeface="Times New Roman" panose="02020603050405020304" pitchFamily="18" charset="0"/>
                <a:cs typeface="Times New Roman" panose="02020603050405020304" pitchFamily="18" charset="0"/>
              </a:rPr>
              <a:t>The material is preheated by an oxy-fuel gas flame around 900°C. </a:t>
            </a:r>
          </a:p>
          <a:p>
            <a:pPr algn="just"/>
            <a:r>
              <a:rPr lang="en-IN" sz="2800" dirty="0">
                <a:latin typeface="Times New Roman" panose="02020603050405020304" pitchFamily="18" charset="0"/>
                <a:cs typeface="Times New Roman" panose="02020603050405020304" pitchFamily="18" charset="0"/>
              </a:rPr>
              <a:t>The gas cutting nozzle has an outer ring of holes through which the preheating gas mixture is delivered and a central hole through which only oxygen gas flows. </a:t>
            </a:r>
          </a:p>
          <a:p>
            <a:pPr algn="just"/>
            <a:r>
              <a:rPr lang="en-IN" sz="2800" dirty="0">
                <a:latin typeface="Times New Roman" panose="02020603050405020304" pitchFamily="18" charset="0"/>
                <a:cs typeface="Times New Roman" panose="02020603050405020304" pitchFamily="18" charset="0"/>
              </a:rPr>
              <a:t>The exothermic oxidation of steel forms a fluid slag of iron oxide and the metal section is pierced. Molten metal carried away from the cut by the oxygen stream leaving a cut. Movement of the cutting torch across the work piece cuts a continuous slot. </a:t>
            </a:r>
          </a:p>
          <a:p>
            <a:pPr algn="just"/>
            <a:r>
              <a:rPr lang="en-IN" sz="2800" dirty="0">
                <a:latin typeface="Times New Roman" panose="02020603050405020304" pitchFamily="18" charset="0"/>
                <a:cs typeface="Times New Roman" panose="02020603050405020304" pitchFamily="18" charset="0"/>
              </a:rPr>
              <a:t>Usually steel sections up to 300 mm thick are easily cut.</a:t>
            </a:r>
          </a:p>
        </p:txBody>
      </p:sp>
      <p:sp>
        <p:nvSpPr>
          <p:cNvPr id="4" name="Slide Number Placeholder 3">
            <a:extLst>
              <a:ext uri="{FF2B5EF4-FFF2-40B4-BE49-F238E27FC236}">
                <a16:creationId xmlns:a16="http://schemas.microsoft.com/office/drawing/2014/main" id="{E2DCB42C-9D22-4DC0-9AA5-1C202CF0F19B}"/>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12</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3C6C91FF-4EE8-4FE1-9B16-1519B3C1A5AD}"/>
              </a:ext>
            </a:extLst>
          </p:cNvPr>
          <p:cNvSpPr txBox="1">
            <a:spLocks/>
          </p:cNvSpPr>
          <p:nvPr/>
        </p:nvSpPr>
        <p:spPr>
          <a:xfrm>
            <a:off x="756138" y="158584"/>
            <a:ext cx="9238093"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Gas Cutting</a:t>
            </a:r>
          </a:p>
        </p:txBody>
      </p:sp>
    </p:spTree>
    <p:extLst>
      <p:ext uri="{BB962C8B-B14F-4D97-AF65-F5344CB8AC3E}">
        <p14:creationId xmlns:p14="http://schemas.microsoft.com/office/powerpoint/2010/main" val="433638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DA74CA6-D914-4CD5-BE0B-F50EADFE7311}"/>
              </a:ext>
            </a:extLst>
          </p:cNvPr>
          <p:cNvPicPr>
            <a:picLocks noGrp="1" noChangeAspect="1"/>
          </p:cNvPicPr>
          <p:nvPr>
            <p:ph idx="1"/>
          </p:nvPr>
        </p:nvPicPr>
        <p:blipFill>
          <a:blip r:embed="rId2"/>
          <a:stretch>
            <a:fillRect/>
          </a:stretch>
        </p:blipFill>
        <p:spPr>
          <a:xfrm>
            <a:off x="1154685" y="3608805"/>
            <a:ext cx="2857500" cy="2428875"/>
          </a:xfrm>
          <a:prstGeom prst="rect">
            <a:avLst/>
          </a:prstGeom>
        </p:spPr>
      </p:pic>
      <p:sp>
        <p:nvSpPr>
          <p:cNvPr id="4" name="Slide Number Placeholder 3">
            <a:extLst>
              <a:ext uri="{FF2B5EF4-FFF2-40B4-BE49-F238E27FC236}">
                <a16:creationId xmlns:a16="http://schemas.microsoft.com/office/drawing/2014/main" id="{F38A3727-3D28-4C4E-92CF-740375EC49BB}"/>
              </a:ext>
            </a:extLst>
          </p:cNvPr>
          <p:cNvSpPr>
            <a:spLocks noGrp="1"/>
          </p:cNvSpPr>
          <p:nvPr>
            <p:ph type="sldNum" sz="quarter" idx="12"/>
          </p:nvPr>
        </p:nvSpPr>
        <p:spPr>
          <a:xfrm>
            <a:off x="8610600" y="6485337"/>
            <a:ext cx="2743200" cy="365125"/>
          </a:xfrm>
        </p:spPr>
        <p:txBody>
          <a:bodyPr/>
          <a:lstStyle/>
          <a:p>
            <a:fld id="{B0224EE6-E032-0A4B-A8B2-3B3E72DB7979}" type="slidenum">
              <a:rPr lang="en-IN" smtClean="0">
                <a:solidFill>
                  <a:prstClr val="black">
                    <a:tint val="75000"/>
                  </a:prstClr>
                </a:solidFill>
              </a:rPr>
              <a:pPr/>
              <a:t>13</a:t>
            </a:fld>
            <a:endParaRPr lang="en-IN" dirty="0">
              <a:solidFill>
                <a:prstClr val="black">
                  <a:tint val="75000"/>
                </a:prstClr>
              </a:solidFill>
            </a:endParaRPr>
          </a:p>
        </p:txBody>
      </p:sp>
      <p:pic>
        <p:nvPicPr>
          <p:cNvPr id="6" name="Picture 5">
            <a:extLst>
              <a:ext uri="{FF2B5EF4-FFF2-40B4-BE49-F238E27FC236}">
                <a16:creationId xmlns:a16="http://schemas.microsoft.com/office/drawing/2014/main" id="{02C81AB0-B521-42CB-BB7C-B92757DA5022}"/>
              </a:ext>
            </a:extLst>
          </p:cNvPr>
          <p:cNvPicPr>
            <a:picLocks noChangeAspect="1"/>
          </p:cNvPicPr>
          <p:nvPr/>
        </p:nvPicPr>
        <p:blipFill>
          <a:blip r:embed="rId3"/>
          <a:stretch>
            <a:fillRect/>
          </a:stretch>
        </p:blipFill>
        <p:spPr>
          <a:xfrm>
            <a:off x="7814164" y="1818105"/>
            <a:ext cx="3457575" cy="3581400"/>
          </a:xfrm>
          <a:prstGeom prst="rect">
            <a:avLst/>
          </a:prstGeom>
        </p:spPr>
      </p:pic>
      <p:pic>
        <p:nvPicPr>
          <p:cNvPr id="7" name="Picture 6">
            <a:extLst>
              <a:ext uri="{FF2B5EF4-FFF2-40B4-BE49-F238E27FC236}">
                <a16:creationId xmlns:a16="http://schemas.microsoft.com/office/drawing/2014/main" id="{0FE0E882-119D-41AA-A5C6-3F1986C7AD08}"/>
              </a:ext>
            </a:extLst>
          </p:cNvPr>
          <p:cNvPicPr>
            <a:picLocks noChangeAspect="1"/>
          </p:cNvPicPr>
          <p:nvPr/>
        </p:nvPicPr>
        <p:blipFill rotWithShape="1">
          <a:blip r:embed="rId4"/>
          <a:srcRect b="31687"/>
          <a:stretch/>
        </p:blipFill>
        <p:spPr>
          <a:xfrm>
            <a:off x="756139" y="2015956"/>
            <a:ext cx="4408762" cy="1299369"/>
          </a:xfrm>
          <a:prstGeom prst="rect">
            <a:avLst/>
          </a:prstGeom>
        </p:spPr>
      </p:pic>
      <p:sp>
        <p:nvSpPr>
          <p:cNvPr id="17" name="Title 1">
            <a:extLst>
              <a:ext uri="{FF2B5EF4-FFF2-40B4-BE49-F238E27FC236}">
                <a16:creationId xmlns:a16="http://schemas.microsoft.com/office/drawing/2014/main" id="{AD5513AA-E7B9-4592-A1AA-1D7D682D6FDC}"/>
              </a:ext>
            </a:extLst>
          </p:cNvPr>
          <p:cNvSpPr txBox="1">
            <a:spLocks/>
          </p:cNvSpPr>
          <p:nvPr/>
        </p:nvSpPr>
        <p:spPr>
          <a:xfrm>
            <a:off x="4012185" y="5837418"/>
            <a:ext cx="4178285" cy="400524"/>
          </a:xfrm>
          <a:prstGeom prst="rect">
            <a:avLst/>
          </a:prstGeom>
        </p:spPr>
        <p:txBody>
          <a:bodyPr vert="horz" lIns="91440" tIns="45720" rIns="91440" bIns="45720" rtlCol="0" anchor="ctr">
            <a:no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2400" b="0" dirty="0">
                <a:latin typeface="Times New Roman" panose="02020603050405020304" pitchFamily="18" charset="0"/>
                <a:cs typeface="Times New Roman" panose="02020603050405020304" pitchFamily="18" charset="0"/>
              </a:rPr>
              <a:t>Gas cutting torch and operation</a:t>
            </a:r>
          </a:p>
        </p:txBody>
      </p:sp>
      <p:sp>
        <p:nvSpPr>
          <p:cNvPr id="20" name="Title 1">
            <a:extLst>
              <a:ext uri="{FF2B5EF4-FFF2-40B4-BE49-F238E27FC236}">
                <a16:creationId xmlns:a16="http://schemas.microsoft.com/office/drawing/2014/main" id="{32239C4C-9EC0-4249-BEE6-89ABC52CDBEE}"/>
              </a:ext>
            </a:extLst>
          </p:cNvPr>
          <p:cNvSpPr txBox="1">
            <a:spLocks/>
          </p:cNvSpPr>
          <p:nvPr/>
        </p:nvSpPr>
        <p:spPr>
          <a:xfrm>
            <a:off x="756138" y="158584"/>
            <a:ext cx="9238093"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Gas Cutting Torch and Operation</a:t>
            </a:r>
          </a:p>
        </p:txBody>
      </p:sp>
    </p:spTree>
    <p:extLst>
      <p:ext uri="{BB962C8B-B14F-4D97-AF65-F5344CB8AC3E}">
        <p14:creationId xmlns:p14="http://schemas.microsoft.com/office/powerpoint/2010/main" val="4033306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3CD162-89D3-4118-8E15-95B0579A1BF5}"/>
              </a:ext>
            </a:extLst>
          </p:cNvPr>
          <p:cNvSpPr>
            <a:spLocks noGrp="1"/>
          </p:cNvSpPr>
          <p:nvPr>
            <p:ph idx="1"/>
          </p:nvPr>
        </p:nvSpPr>
        <p:spPr/>
        <p:txBody>
          <a:bodyPr/>
          <a:lstStyle/>
          <a:p>
            <a:pPr marL="0" indent="0" algn="just">
              <a:buNone/>
            </a:pPr>
            <a:r>
              <a:rPr lang="en-IN" dirty="0">
                <a:latin typeface="Times New Roman" panose="02020603050405020304" pitchFamily="18" charset="0"/>
                <a:cs typeface="Times New Roman" panose="02020603050405020304" pitchFamily="18" charset="0"/>
              </a:rPr>
              <a:t>[1]  Ghosh, A. &amp; Mallik, A.K.; Joining processes, Manufacturing Science, Latest edition.</a:t>
            </a:r>
          </a:p>
          <a:p>
            <a:pPr marL="0" indent="0" algn="just">
              <a:buNone/>
            </a:pPr>
            <a:r>
              <a:rPr lang="en-IN" dirty="0">
                <a:latin typeface="Times New Roman" panose="02020603050405020304" pitchFamily="18" charset="0"/>
                <a:cs typeface="Times New Roman" panose="02020603050405020304" pitchFamily="18" charset="0"/>
              </a:rPr>
              <a:t>[2] </a:t>
            </a:r>
            <a:r>
              <a:rPr lang="en-IN" dirty="0">
                <a:latin typeface="Times New Roman" panose="02020603050405020304" pitchFamily="18" charset="0"/>
                <a:cs typeface="Times New Roman" panose="02020603050405020304" pitchFamily="18" charset="0"/>
                <a:hlinkClick r:id="rId2"/>
              </a:rPr>
              <a:t>https://www.sciencedirect.com/topics/engineering/gas-welding</a:t>
            </a:r>
            <a:endParaRPr lang="en-IN"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[3] </a:t>
            </a:r>
            <a:r>
              <a:rPr lang="en-IN" dirty="0" err="1">
                <a:latin typeface="Times New Roman" panose="02020603050405020304" pitchFamily="18" charset="0"/>
                <a:cs typeface="Times New Roman" panose="02020603050405020304" pitchFamily="18" charset="0"/>
              </a:rPr>
              <a:t>Kalpakjian</a:t>
            </a:r>
            <a:r>
              <a:rPr lang="en-IN" dirty="0">
                <a:latin typeface="Times New Roman" panose="02020603050405020304" pitchFamily="18" charset="0"/>
                <a:cs typeface="Times New Roman" panose="02020603050405020304" pitchFamily="18" charset="0"/>
              </a:rPr>
              <a:t>, S &amp; Schmid, S,; Manufacturing Processes for Engineering Materials, Latest edition.</a:t>
            </a:r>
          </a:p>
          <a:p>
            <a:pPr marL="0" indent="0" algn="just">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E70B8BA-ACC6-4CB0-8092-33C45C7F6457}"/>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14</a:t>
            </a:fld>
            <a:endParaRPr lang="en-IN" dirty="0">
              <a:solidFill>
                <a:prstClr val="black">
                  <a:tint val="75000"/>
                </a:prstClr>
              </a:solidFill>
            </a:endParaRPr>
          </a:p>
        </p:txBody>
      </p:sp>
      <p:sp>
        <p:nvSpPr>
          <p:cNvPr id="6" name="Title 1">
            <a:extLst>
              <a:ext uri="{FF2B5EF4-FFF2-40B4-BE49-F238E27FC236}">
                <a16:creationId xmlns:a16="http://schemas.microsoft.com/office/drawing/2014/main" id="{EFBC4899-305C-4740-BC11-9191A55B3B7A}"/>
              </a:ext>
            </a:extLst>
          </p:cNvPr>
          <p:cNvSpPr>
            <a:spLocks noGrp="1"/>
          </p:cNvSpPr>
          <p:nvPr>
            <p:ph type="title"/>
          </p:nvPr>
        </p:nvSpPr>
        <p:spPr>
          <a:xfrm>
            <a:off x="756139" y="158584"/>
            <a:ext cx="7280956" cy="780734"/>
          </a:xfrm>
        </p:spPr>
        <p:txBody>
          <a:bodyPr>
            <a:normAutofit/>
          </a:body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References / Further Readings</a:t>
            </a:r>
            <a:endParaRPr lang="en-IN" sz="3200" dirty="0">
              <a:solidFill>
                <a:schemeClr val="accent5">
                  <a:lumMod val="75000"/>
                </a:schemeClr>
              </a:solidFill>
            </a:endParaRPr>
          </a:p>
        </p:txBody>
      </p:sp>
    </p:spTree>
    <p:extLst>
      <p:ext uri="{BB962C8B-B14F-4D97-AF65-F5344CB8AC3E}">
        <p14:creationId xmlns:p14="http://schemas.microsoft.com/office/powerpoint/2010/main" val="30900434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2" name="Rounded Rectangle 18">
            <a:extLst>
              <a:ext uri="{FF2B5EF4-FFF2-40B4-BE49-F238E27FC236}">
                <a16:creationId xmlns:a16="http://schemas.microsoft.com/office/drawing/2014/main" id="{283A93BD-A469-4D4C-8A1F-5668AE9758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28565" y="503573"/>
            <a:ext cx="7134870" cy="3599401"/>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40 Perfect thank you messages (Appreciation sms)">
            <a:extLst>
              <a:ext uri="{FF2B5EF4-FFF2-40B4-BE49-F238E27FC236}">
                <a16:creationId xmlns:a16="http://schemas.microsoft.com/office/drawing/2014/main" id="{0EF917C7-33B0-4584-96EC-D99575EC62A2}"/>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2169" r="2" b="2"/>
          <a:stretch/>
        </p:blipFill>
        <p:spPr bwMode="auto">
          <a:xfrm>
            <a:off x="2694432" y="666497"/>
            <a:ext cx="6803136" cy="3273552"/>
          </a:xfrm>
          <a:prstGeom prst="rect">
            <a:avLst/>
          </a:prstGeom>
          <a:noFill/>
          <a:effectLst/>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33D0FC1B-8562-4575-9EEC-3FE101CA93E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B0224EE6-E032-0A4B-A8B2-3B3E72DB7979}" type="slidenum">
              <a:rPr lang="en-US" smtClean="0">
                <a:solidFill>
                  <a:prstClr val="black">
                    <a:tint val="75000"/>
                  </a:prstClr>
                </a:solidFill>
                <a:latin typeface="Calibri" panose="020F0502020204030204"/>
              </a:rPr>
              <a:pPr>
                <a:spcAft>
                  <a:spcPts val="600"/>
                </a:spcAft>
                <a:defRPr/>
              </a:pPr>
              <a:t>15</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2246172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6701</TotalTime>
  <Words>820</Words>
  <Application>Microsoft Office PowerPoint</Application>
  <PresentationFormat>Widescreen</PresentationFormat>
  <Paragraphs>76</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Courier New</vt:lpstr>
      <vt:lpstr>Times New Roman</vt:lpstr>
      <vt:lpstr>Trebuchet MS</vt:lpstr>
      <vt:lpstr>Verdana</vt:lpstr>
      <vt:lpstr>Wingdings</vt:lpstr>
      <vt:lpstr>Office Theme</vt:lpstr>
      <vt:lpstr>PowerPoint Presentation</vt:lpstr>
      <vt:lpstr>PowerPoint Presentation</vt:lpstr>
      <vt:lpstr>Gas welding equipment [3]</vt:lpstr>
      <vt:lpstr>PowerPoint Presentation</vt:lpstr>
      <vt:lpstr>PowerPoint Presentation</vt:lpstr>
      <vt:lpstr>Gas welding torch [3]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 Further Readings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Ravi Kant Gupta [MU - Jaipur]</dc:creator>
  <cp:lastModifiedBy>Dr. Ashok Kumar Sharma [MU - Jaipur]</cp:lastModifiedBy>
  <cp:revision>249</cp:revision>
  <dcterms:created xsi:type="dcterms:W3CDTF">2018-05-04T09:20:58Z</dcterms:created>
  <dcterms:modified xsi:type="dcterms:W3CDTF">2025-08-09T16:50:58Z</dcterms:modified>
</cp:coreProperties>
</file>