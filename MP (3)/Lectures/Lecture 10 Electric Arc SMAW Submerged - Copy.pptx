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notesMasterIdLst>
    <p:notesMasterId r:id="rId19"/>
  </p:notesMasterIdLst>
  <p:sldIdLst>
    <p:sldId id="363" r:id="rId2"/>
    <p:sldId id="374" r:id="rId3"/>
    <p:sldId id="342" r:id="rId4"/>
    <p:sldId id="364" r:id="rId5"/>
    <p:sldId id="365" r:id="rId6"/>
    <p:sldId id="366" r:id="rId7"/>
    <p:sldId id="367" r:id="rId8"/>
    <p:sldId id="368" r:id="rId9"/>
    <p:sldId id="378" r:id="rId10"/>
    <p:sldId id="373" r:id="rId11"/>
    <p:sldId id="369" r:id="rId12"/>
    <p:sldId id="371" r:id="rId13"/>
    <p:sldId id="262" r:id="rId14"/>
    <p:sldId id="263" r:id="rId15"/>
    <p:sldId id="264" r:id="rId16"/>
    <p:sldId id="348" r:id="rId17"/>
    <p:sldId id="36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9252"/>
    <a:srgbClr val="FF66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6" autoAdjust="0"/>
    <p:restoredTop sz="88312" autoAdjust="0"/>
  </p:normalViewPr>
  <p:slideViewPr>
    <p:cSldViewPr snapToGrid="0" showGuides="1">
      <p:cViewPr varScale="1">
        <p:scale>
          <a:sx n="53" d="100"/>
          <a:sy n="53" d="100"/>
        </p:scale>
        <p:origin x="1120" y="52"/>
      </p:cViewPr>
      <p:guideLst>
        <p:guide orient="horz" pos="2136"/>
        <p:guide pos="3840"/>
      </p:guideLst>
    </p:cSldViewPr>
  </p:slideViewPr>
  <p:notesTextViewPr>
    <p:cViewPr>
      <p:scale>
        <a:sx n="1" d="1"/>
        <a:sy n="1" d="1"/>
      </p:scale>
      <p:origin x="0" y="0"/>
    </p:cViewPr>
  </p:notesTextViewPr>
  <p:sorterViewPr>
    <p:cViewPr>
      <p:scale>
        <a:sx n="100" d="100"/>
        <a:sy n="100" d="100"/>
      </p:scale>
      <p:origin x="0" y="-2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D159C-51B0-40A3-8694-41A37F70563A}" type="datetimeFigureOut">
              <a:rPr lang="en-US" smtClean="0"/>
              <a:t>8/9/2025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34F81C-B500-4E97-922A-F612A414F54B}" type="slidenum">
              <a:rPr lang="en-US" smtClean="0"/>
              <a:t>‹#›</a:t>
            </a:fld>
            <a:endParaRPr lang="en-US"/>
          </a:p>
        </p:txBody>
      </p:sp>
    </p:spTree>
    <p:extLst>
      <p:ext uri="{BB962C8B-B14F-4D97-AF65-F5344CB8AC3E}">
        <p14:creationId xmlns:p14="http://schemas.microsoft.com/office/powerpoint/2010/main" val="1504011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4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endParaRPr lang="en-IN" dirty="0"/>
          </a:p>
        </p:txBody>
      </p:sp>
      <p:sp>
        <p:nvSpPr>
          <p:cNvPr id="4" name="Date Placeholder 3"/>
          <p:cNvSpPr>
            <a:spLocks noGrp="1"/>
          </p:cNvSpPr>
          <p:nvPr>
            <p:ph type="dt" sz="half" idx="10"/>
          </p:nvPr>
        </p:nvSpPr>
        <p:spPr>
          <a:xfrm>
            <a:off x="838200"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a:xfrm>
            <a:off x="8610600" y="6485337"/>
            <a:ext cx="2743200" cy="365125"/>
          </a:xfrm>
        </p:spPr>
        <p:txBody>
          <a:bodyPr/>
          <a:lstStyle/>
          <a:p>
            <a:fld id="{790D40CC-89F5-074E-A99F-1FA92DFF8C6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91557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6139" y="36884"/>
            <a:ext cx="10515600" cy="1325563"/>
          </a:xfrm>
        </p:spPr>
        <p:txBody>
          <a:bodyPr>
            <a:normAutofit/>
          </a:bodyPr>
          <a:lstStyle>
            <a:lvl1pPr>
              <a:defRPr sz="280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endParaRPr lang="en-IN" dirty="0"/>
          </a:p>
        </p:txBody>
      </p:sp>
      <p:sp>
        <p:nvSpPr>
          <p:cNvPr id="3" name="Content Placeholder 2"/>
          <p:cNvSpPr>
            <a:spLocks noGrp="1"/>
          </p:cNvSpPr>
          <p:nvPr>
            <p:ph idx="1"/>
          </p:nvPr>
        </p:nvSpPr>
        <p:spPr>
          <a:xfrm>
            <a:off x="756139" y="1391874"/>
            <a:ext cx="10515600" cy="4351338"/>
          </a:xfrm>
        </p:spPr>
        <p:txBody>
          <a:bodyPr/>
          <a:lstStyle>
            <a:lvl1pPr>
              <a:defRPr sz="2400">
                <a:latin typeface="Verdana" panose="020B0604030504040204" pitchFamily="34" charset="0"/>
                <a:ea typeface="Verdana" panose="020B0604030504040204" pitchFamily="34" charset="0"/>
                <a:cs typeface="Verdana" panose="020B0604030504040204" pitchFamily="34" charset="0"/>
              </a:defRPr>
            </a:lvl1pPr>
            <a:lvl2pPr marL="685783" indent="-228594">
              <a:buSzPct val="80000"/>
              <a:buFont typeface="Wingdings" pitchFamily="2" charset="2"/>
              <a:buChar char="§"/>
              <a:defRPr sz="2000">
                <a:latin typeface="Verdana" panose="020B0604030504040204" pitchFamily="34" charset="0"/>
                <a:ea typeface="Verdana" panose="020B0604030504040204" pitchFamily="34" charset="0"/>
                <a:cs typeface="Verdana" panose="020B0604030504040204" pitchFamily="34" charset="0"/>
              </a:defRPr>
            </a:lvl2pPr>
            <a:lvl3pPr marL="1142971" indent="-228594">
              <a:buSzPct val="70000"/>
              <a:buFont typeface="Courier New" panose="02070309020205020404" pitchFamily="49" charset="0"/>
              <a:buChar char="o"/>
              <a:defRPr sz="1800">
                <a:latin typeface="Verdana" panose="020B0604030504040204" pitchFamily="34" charset="0"/>
                <a:ea typeface="Verdana" panose="020B0604030504040204" pitchFamily="34" charset="0"/>
                <a:cs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defRPr>
            </a:lvl4pPr>
            <a:lvl5pPr marL="2057349" indent="-228594">
              <a:buSzPct val="60000"/>
              <a:buFont typeface="Wingdings" pitchFamily="2" charset="2"/>
              <a:buChar char="§"/>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Shape 354">
            <a:extLst>
              <a:ext uri="{FF2B5EF4-FFF2-40B4-BE49-F238E27FC236}">
                <a16:creationId xmlns:a16="http://schemas.microsoft.com/office/drawing/2014/main" id="{6E1A2C32-3B4B-1241-8B0E-0DC4FD15B916}"/>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406ADC65-CA76-7742-A967-9DA419BE78F4}"/>
              </a:ext>
            </a:extLst>
          </p:cNvPr>
          <p:cNvPicPr>
            <a:picLocks noChangeAspect="1"/>
          </p:cNvPicPr>
          <p:nvPr userDrawn="1"/>
        </p:nvPicPr>
        <p:blipFill>
          <a:blip r:embed="rId2"/>
          <a:stretch>
            <a:fillRect/>
          </a:stretch>
        </p:blipFill>
        <p:spPr>
          <a:xfrm>
            <a:off x="11140521" y="2721"/>
            <a:ext cx="1051481" cy="1101818"/>
          </a:xfrm>
          <a:prstGeom prst="rect">
            <a:avLst/>
          </a:prstGeom>
        </p:spPr>
      </p:pic>
      <p:sp>
        <p:nvSpPr>
          <p:cNvPr id="4" name="Date Placeholder 3">
            <a:extLst>
              <a:ext uri="{FF2B5EF4-FFF2-40B4-BE49-F238E27FC236}">
                <a16:creationId xmlns:a16="http://schemas.microsoft.com/office/drawing/2014/main" id="{89872737-9D6D-8F41-A7B3-4325B7FD1CBB}"/>
              </a:ext>
            </a:extLst>
          </p:cNvPr>
          <p:cNvSpPr>
            <a:spLocks noGrp="1"/>
          </p:cNvSpPr>
          <p:nvPr>
            <p:ph type="dt" sz="half" idx="10"/>
          </p:nvPr>
        </p:nvSpPr>
        <p:spPr>
          <a:xfrm>
            <a:off x="756139"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id="{0B97172E-E9C4-934E-9BB9-BE12C7546B04}"/>
              </a:ext>
            </a:extLst>
          </p:cNvPr>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a:extLst>
              <a:ext uri="{FF2B5EF4-FFF2-40B4-BE49-F238E27FC236}">
                <a16:creationId xmlns:a16="http://schemas.microsoft.com/office/drawing/2014/main" id="{505D8589-C750-3344-A735-35BA55FD8E63}"/>
              </a:ext>
            </a:extLst>
          </p:cNvPr>
          <p:cNvSpPr>
            <a:spLocks noGrp="1"/>
          </p:cNvSpPr>
          <p:nvPr>
            <p:ph type="sldNum" sz="quarter" idx="12"/>
          </p:nvPr>
        </p:nvSpPr>
        <p:spPr>
          <a:xfrm>
            <a:off x="8610600" y="6485337"/>
            <a:ext cx="2743200" cy="365125"/>
          </a:xfrm>
        </p:spPr>
        <p:txBody>
          <a:bodyPr/>
          <a:lstStyle>
            <a:lvl1pPr>
              <a:defRPr/>
            </a:lvl1pPr>
          </a:lstStyle>
          <a:p>
            <a:fld id="{B0224EE6-E032-0A4B-A8B2-3B3E72DB7979}"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193904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49" y="1709740"/>
            <a:ext cx="10515600" cy="2852737"/>
          </a:xfrm>
        </p:spPr>
        <p:txBody>
          <a:bodyPr anchor="b">
            <a:normAutofit/>
          </a:bodyPr>
          <a:lstStyle>
            <a:lvl1pPr>
              <a:defRPr sz="4000"/>
            </a:lvl1pPr>
          </a:lstStyle>
          <a:p>
            <a:r>
              <a:rPr lang="en-US"/>
              <a:t>Click to edit Master title style</a:t>
            </a:r>
            <a:endParaRPr lang="en-IN"/>
          </a:p>
        </p:txBody>
      </p:sp>
      <p:sp>
        <p:nvSpPr>
          <p:cNvPr id="3" name="Text Placeholder 2"/>
          <p:cNvSpPr>
            <a:spLocks noGrp="1"/>
          </p:cNvSpPr>
          <p:nvPr>
            <p:ph type="body" idx="1"/>
          </p:nvPr>
        </p:nvSpPr>
        <p:spPr>
          <a:xfrm>
            <a:off x="831849" y="4589497"/>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046445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415320"/>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172200" y="1415320"/>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lvl1pPr>
              <a:defRPr/>
            </a:lvl1pPr>
          </a:lstStyle>
          <a:p>
            <a:fld id="{57322C6F-883B-EE4D-9D9D-117DC5B9C5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924108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25161"/>
            <a:ext cx="10515600" cy="1325563"/>
          </a:xfrm>
        </p:spPr>
        <p:txBody>
          <a:bodyPr/>
          <a:lstStyle/>
          <a:p>
            <a:r>
              <a:rPr lang="en-US" dirty="0"/>
              <a:t>Click to edit Master title style</a:t>
            </a:r>
            <a:endParaRPr lang="en-IN" dirty="0"/>
          </a:p>
        </p:txBody>
      </p:sp>
      <p:sp>
        <p:nvSpPr>
          <p:cNvPr id="3" name="Text Placeholder 2"/>
          <p:cNvSpPr>
            <a:spLocks noGrp="1"/>
          </p:cNvSpPr>
          <p:nvPr>
            <p:ph type="body" idx="1"/>
          </p:nvPr>
        </p:nvSpPr>
        <p:spPr>
          <a:xfrm>
            <a:off x="839789" y="1376365"/>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20027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3" y="1376365"/>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3" y="220027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8" name="Footer Placeholder 7"/>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9" name="Slide Number Placeholder 8"/>
          <p:cNvSpPr>
            <a:spLocks noGrp="1"/>
          </p:cNvSpPr>
          <p:nvPr>
            <p:ph type="sldNum" sz="quarter" idx="12"/>
          </p:nvPr>
        </p:nvSpPr>
        <p:spPr/>
        <p:txBody>
          <a:bodyPr/>
          <a:lstStyle/>
          <a:p>
            <a:fld id="{43DB6E5F-7FEB-0648-9FAC-2572B4429CC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67087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4" name="Footer Placeholder 3"/>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5" name="Slide Number Placeholder 4"/>
          <p:cNvSpPr>
            <a:spLocks noGrp="1"/>
          </p:cNvSpPr>
          <p:nvPr>
            <p:ph type="sldNum" sz="quarter" idx="12"/>
          </p:nvPr>
        </p:nvSpPr>
        <p:spPr/>
        <p:txBody>
          <a:bodyPr/>
          <a:lstStyle/>
          <a:p>
            <a:fld id="{2B1515BA-1963-5548-A509-B31D6408C04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06062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3" name="Footer Placeholder 2"/>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4" name="Slide Number Placeholder 3"/>
          <p:cNvSpPr>
            <a:spLocks noGrp="1"/>
          </p:cNvSpPr>
          <p:nvPr>
            <p:ph type="sldNum" sz="quarter" idx="12"/>
          </p:nvPr>
        </p:nvSpPr>
        <p:spPr/>
        <p:txBody>
          <a:bodyPr/>
          <a:lstStyle/>
          <a:p>
            <a:fld id="{DCF0632E-D997-4741-9C11-CB4FCA7051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735791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56491"/>
            <a:ext cx="3932237" cy="1600200"/>
          </a:xfrm>
        </p:spPr>
        <p:txBody>
          <a:bodyPr anchor="b">
            <a:normAutofit/>
          </a:bodyPr>
          <a:lstStyle>
            <a:lvl1pPr>
              <a:defRPr sz="2800"/>
            </a:lvl1pPr>
          </a:lstStyle>
          <a:p>
            <a:r>
              <a:rPr lang="en-US"/>
              <a:t>Click to edit Master title style</a:t>
            </a:r>
            <a:endParaRPr lang="en-IN"/>
          </a:p>
        </p:txBody>
      </p:sp>
      <p:sp>
        <p:nvSpPr>
          <p:cNvPr id="3" name="Content Placeholder 2"/>
          <p:cNvSpPr>
            <a:spLocks noGrp="1"/>
          </p:cNvSpPr>
          <p:nvPr>
            <p:ph idx="1"/>
          </p:nvPr>
        </p:nvSpPr>
        <p:spPr>
          <a:xfrm>
            <a:off x="5183188" y="1198442"/>
            <a:ext cx="617220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half" idx="2"/>
          </p:nvPr>
        </p:nvSpPr>
        <p:spPr>
          <a:xfrm>
            <a:off x="839788" y="2268414"/>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BF852CCF-9C18-EE4F-AF97-937D2292C2B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860694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21322"/>
            <a:ext cx="3932237" cy="1600200"/>
          </a:xfrm>
        </p:spPr>
        <p:txBody>
          <a:bodyPr anchor="b">
            <a:normAutofit/>
          </a:bodyPr>
          <a:lstStyle>
            <a:lvl1pPr>
              <a:defRPr sz="2800"/>
            </a:lvl1pPr>
          </a:lstStyle>
          <a:p>
            <a:r>
              <a:rPr lang="en-US"/>
              <a:t>Click to edit Master title style</a:t>
            </a:r>
            <a:endParaRPr lang="en-IN"/>
          </a:p>
        </p:txBody>
      </p:sp>
      <p:sp>
        <p:nvSpPr>
          <p:cNvPr id="3" name="Picture Placeholder 2"/>
          <p:cNvSpPr>
            <a:spLocks noGrp="1"/>
          </p:cNvSpPr>
          <p:nvPr>
            <p:ph type="pic" idx="1"/>
          </p:nvPr>
        </p:nvSpPr>
        <p:spPr>
          <a:xfrm>
            <a:off x="5183188" y="117499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p:cNvSpPr>
            <a:spLocks noGrp="1"/>
          </p:cNvSpPr>
          <p:nvPr>
            <p:ph type="body" sz="half" idx="2"/>
          </p:nvPr>
        </p:nvSpPr>
        <p:spPr>
          <a:xfrm>
            <a:off x="839788" y="2221522"/>
            <a:ext cx="3932237" cy="3811588"/>
          </a:xfrm>
        </p:spPr>
        <p:txBody>
          <a:bodyPr>
            <a:normAutofit/>
          </a:bodyPr>
          <a:lstStyle>
            <a:lvl1pPr marL="0" indent="0">
              <a:buNone/>
              <a:defRPr sz="14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A9765D97-2825-F947-8A31-20AC4E20E391}"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28077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71273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E7CE808B-2600-D144-9BD3-F98DDA596C4E}"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84895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9" name="Shape 9"/>
          <p:cNvSpPr>
            <a:spLocks noGrp="1"/>
          </p:cNvSpPr>
          <p:nvPr>
            <p:ph type="title" hasCustomPrompt="1"/>
          </p:nvPr>
        </p:nvSpPr>
        <p:spPr>
          <a:xfrm>
            <a:off x="277158" y="0"/>
            <a:ext cx="11099439" cy="1555576"/>
          </a:xfrm>
          <a:prstGeom prst="rect">
            <a:avLst/>
          </a:prstGeom>
        </p:spPr>
        <p:txBody>
          <a:bodyPr anchor="ctr"/>
          <a:lstStyle>
            <a:lvl1pPr algn="l" defTabSz="457189">
              <a:defRPr sz="2400" b="1">
                <a:solidFill>
                  <a:schemeClr val="tx1"/>
                </a:solidFill>
                <a:uFill>
                  <a:solidFill>
                    <a:srgbClr val="3B7542"/>
                  </a:solidFill>
                </a:uFill>
              </a:defRPr>
            </a:lvl1pPr>
          </a:lstStyle>
          <a:p>
            <a:pPr lvl="0"/>
            <a:r>
              <a:t>Title Text</a:t>
            </a:r>
          </a:p>
        </p:txBody>
      </p:sp>
      <p:sp>
        <p:nvSpPr>
          <p:cNvPr id="6" name="Slide Number Placeholder 5"/>
          <p:cNvSpPr>
            <a:spLocks noGrp="1"/>
          </p:cNvSpPr>
          <p:nvPr>
            <p:ph type="sldNum" sz="quarter" idx="4"/>
          </p:nvPr>
        </p:nvSpPr>
        <p:spPr>
          <a:xfrm>
            <a:off x="8763000" y="6508784"/>
            <a:ext cx="2743200" cy="365125"/>
          </a:xfrm>
          <a:prstGeom prst="rect">
            <a:avLst/>
          </a:prstGeom>
        </p:spPr>
        <p:txBody>
          <a:bodyPr/>
          <a:lstStyle>
            <a:lvl1pPr>
              <a:defRPr lang="en-IN" smtClean="0"/>
            </a:lvl1pPr>
          </a:lstStyle>
          <a:p>
            <a:fld id="{63181617-AE52-40EF-9E8F-5C7C49F4989C}" type="slidenum">
              <a:rPr>
                <a:solidFill>
                  <a:prstClr val="black">
                    <a:tint val="75000"/>
                  </a:prstClr>
                </a:solidFill>
              </a:rPr>
              <a:pPr/>
              <a:t>‹#›</a:t>
            </a:fld>
            <a:endParaRPr dirty="0">
              <a:solidFill>
                <a:prstClr val="black">
                  <a:tint val="75000"/>
                </a:prstClr>
              </a:solidFill>
            </a:endParaRPr>
          </a:p>
        </p:txBody>
      </p:sp>
    </p:spTree>
    <p:extLst>
      <p:ext uri="{BB962C8B-B14F-4D97-AF65-F5344CB8AC3E}">
        <p14:creationId xmlns:p14="http://schemas.microsoft.com/office/powerpoint/2010/main" val="130295442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338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37894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485337"/>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3"/>
          </p:nvPr>
        </p:nvSpPr>
        <p:spPr>
          <a:xfrm>
            <a:off x="4038600" y="6485337"/>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solidFill>
                  <a:prstClr val="black">
                    <a:tint val="75000"/>
                  </a:prstClr>
                </a:solidFill>
              </a:rPr>
              <a:t>Manipal University Jaipur</a:t>
            </a:r>
          </a:p>
        </p:txBody>
      </p:sp>
      <p:sp>
        <p:nvSpPr>
          <p:cNvPr id="6" name="Slide Number Placeholder 5"/>
          <p:cNvSpPr>
            <a:spLocks noGrp="1"/>
          </p:cNvSpPr>
          <p:nvPr>
            <p:ph type="sldNum" sz="quarter" idx="4"/>
          </p:nvPr>
        </p:nvSpPr>
        <p:spPr>
          <a:xfrm>
            <a:off x="8610600" y="648533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C72C30-510C-0841-ADD2-D25B2E586470}" type="slidenum">
              <a:rPr lang="en-IN" smtClean="0">
                <a:solidFill>
                  <a:prstClr val="black">
                    <a:tint val="75000"/>
                  </a:prstClr>
                </a:solidFill>
              </a:rPr>
              <a:pPr/>
              <a:t>‹#›</a:t>
            </a:fld>
            <a:endParaRPr lang="en-IN" dirty="0">
              <a:solidFill>
                <a:prstClr val="black">
                  <a:tint val="75000"/>
                </a:prstClr>
              </a:solidFill>
            </a:endParaRPr>
          </a:p>
        </p:txBody>
      </p:sp>
      <p:sp>
        <p:nvSpPr>
          <p:cNvPr id="7" name="Shape 354">
            <a:extLst>
              <a:ext uri="{FF2B5EF4-FFF2-40B4-BE49-F238E27FC236}">
                <a16:creationId xmlns:a16="http://schemas.microsoft.com/office/drawing/2014/main" id="{75073F86-4F3F-714F-AE37-E67FC08E3BE8}"/>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79FF0070-8C18-FB40-A7E0-7B6340E110C4}"/>
              </a:ext>
            </a:extLst>
          </p:cNvPr>
          <p:cNvPicPr>
            <a:picLocks noChangeAspect="1"/>
          </p:cNvPicPr>
          <p:nvPr userDrawn="1"/>
        </p:nvPicPr>
        <p:blipFill>
          <a:blip r:embed="rId14"/>
          <a:stretch>
            <a:fillRect/>
          </a:stretch>
        </p:blipFill>
        <p:spPr>
          <a:xfrm>
            <a:off x="11140521" y="2721"/>
            <a:ext cx="1051481" cy="1101818"/>
          </a:xfrm>
          <a:prstGeom prst="rect">
            <a:avLst/>
          </a:prstGeom>
        </p:spPr>
      </p:pic>
    </p:spTree>
    <p:extLst>
      <p:ext uri="{BB962C8B-B14F-4D97-AF65-F5344CB8AC3E}">
        <p14:creationId xmlns:p14="http://schemas.microsoft.com/office/powerpoint/2010/main" val="1722445568"/>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hf hdr="0" ftr="0" dt="0"/>
  <p:txStyles>
    <p:title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nptel.ac.in/courses/112/107/112107089/" TargetMode="External"/><Relationship Id="rId2" Type="http://schemas.openxmlformats.org/officeDocument/2006/relationships/hyperlink" Target="https://drive.google.com/file/d/16o4wOavcwCZW9tFDZPvAkRmMzdt_NfeQ/view"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ACE499A-E92C-4C67-A6C8-3D5FD0951DB6}"/>
              </a:ext>
            </a:extLst>
          </p:cNvPr>
          <p:cNvSpPr>
            <a:spLocks noGrp="1"/>
          </p:cNvSpPr>
          <p:nvPr>
            <p:ph idx="1"/>
          </p:nvPr>
        </p:nvSpPr>
        <p:spPr>
          <a:xfrm>
            <a:off x="4976031" y="963877"/>
            <a:ext cx="6377769" cy="4930246"/>
          </a:xfrm>
        </p:spPr>
        <p:txBody>
          <a:bodyPr anchor="ctr">
            <a:normAutofit/>
          </a:bodyPr>
          <a:lstStyle/>
          <a:p>
            <a:pPr marL="0" indent="0">
              <a:buNone/>
            </a:pPr>
            <a:r>
              <a:rPr lang="en-US" sz="4800" dirty="0">
                <a:solidFill>
                  <a:schemeClr val="accent5">
                    <a:lumMod val="75000"/>
                  </a:schemeClr>
                </a:solidFill>
                <a:latin typeface="Times New Roman" panose="02020603050405020304" pitchFamily="18" charset="0"/>
                <a:cs typeface="Times New Roman" panose="02020603050405020304" pitchFamily="18" charset="0"/>
              </a:rPr>
              <a:t>Electric Arc Welding</a:t>
            </a:r>
          </a:p>
          <a:p>
            <a:pPr marL="0" indent="0">
              <a:buNone/>
            </a:pPr>
            <a:r>
              <a:rPr lang="en-US" sz="4800" dirty="0">
                <a:solidFill>
                  <a:schemeClr val="accent5">
                    <a:lumMod val="75000"/>
                  </a:schemeClr>
                </a:solidFill>
                <a:latin typeface="Times New Roman" panose="02020603050405020304" pitchFamily="18" charset="0"/>
                <a:cs typeface="Times New Roman" panose="02020603050405020304" pitchFamily="18" charset="0"/>
              </a:rPr>
              <a:t>SMAW </a:t>
            </a:r>
          </a:p>
          <a:p>
            <a:pPr marL="0" indent="0">
              <a:buNone/>
            </a:pPr>
            <a:r>
              <a:rPr lang="en-US" sz="4800" dirty="0">
                <a:solidFill>
                  <a:schemeClr val="accent5">
                    <a:lumMod val="75000"/>
                  </a:schemeClr>
                </a:solidFill>
                <a:latin typeface="Times New Roman" panose="02020603050405020304" pitchFamily="18" charset="0"/>
                <a:cs typeface="Times New Roman" panose="02020603050405020304" pitchFamily="18" charset="0"/>
              </a:rPr>
              <a:t>Submerged Arc Welding</a:t>
            </a:r>
            <a:endParaRPr lang="en-IN" sz="4800"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C4B9D61-3A7F-46B9-A456-C27D28D1B910}"/>
              </a:ext>
            </a:extLst>
          </p:cNvPr>
          <p:cNvSpPr>
            <a:spLocks noGrp="1"/>
          </p:cNvSpPr>
          <p:nvPr>
            <p:ph type="sldNum" sz="quarter" idx="12"/>
          </p:nvPr>
        </p:nvSpPr>
        <p:spPr>
          <a:xfrm>
            <a:off x="10571516" y="6033479"/>
            <a:ext cx="782283" cy="365125"/>
          </a:xfrm>
        </p:spPr>
        <p:txBody>
          <a:bodyPr>
            <a:normAutofit/>
          </a:bodyPr>
          <a:lstStyle/>
          <a:p>
            <a:pPr>
              <a:spcAft>
                <a:spcPts val="600"/>
              </a:spcAft>
            </a:pPr>
            <a:fld id="{B0224EE6-E032-0A4B-A8B2-3B3E72DB7979}" type="slidenum">
              <a:rPr lang="en-IN" sz="1050">
                <a:solidFill>
                  <a:schemeClr val="tx1">
                    <a:alpha val="80000"/>
                  </a:schemeClr>
                </a:solidFill>
              </a:rPr>
              <a:pPr>
                <a:spcAft>
                  <a:spcPts val="600"/>
                </a:spcAft>
              </a:pPr>
              <a:t>1</a:t>
            </a:fld>
            <a:endParaRPr lang="en-IN" sz="1050">
              <a:solidFill>
                <a:schemeClr val="tx1">
                  <a:alpha val="80000"/>
                </a:schemeClr>
              </a:solidFill>
            </a:endParaRPr>
          </a:p>
        </p:txBody>
      </p:sp>
      <p:sp>
        <p:nvSpPr>
          <p:cNvPr id="2" name="Content Placeholder 2">
            <a:extLst>
              <a:ext uri="{FF2B5EF4-FFF2-40B4-BE49-F238E27FC236}">
                <a16:creationId xmlns:a16="http://schemas.microsoft.com/office/drawing/2014/main" id="{3CE8E200-2C25-B5DA-4798-C9CB46AAFCB9}"/>
              </a:ext>
            </a:extLst>
          </p:cNvPr>
          <p:cNvSpPr txBox="1">
            <a:spLocks/>
          </p:cNvSpPr>
          <p:nvPr/>
        </p:nvSpPr>
        <p:spPr>
          <a:xfrm>
            <a:off x="1028703" y="2165685"/>
            <a:ext cx="3194376" cy="2586789"/>
          </a:xfrm>
          <a:prstGeom prst="rect">
            <a:avLst/>
          </a:prstGeom>
        </p:spPr>
        <p:txBody>
          <a:bodyPr vert="horz" lIns="91440" tIns="45720" rIns="91440" bIns="45720" rtlCol="0" anchor="ctr">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SzPct val="80000"/>
              <a:buFont typeface="Wingdings" pitchFamily="2"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SzPct val="70000"/>
              <a:buFont typeface="Courier New" panose="02070309020205020404" pitchFamily="49" charset="0"/>
              <a:buChar char="o"/>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SzPct val="60000"/>
              <a:buFont typeface="Wingdings" pitchFamily="2"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5400" dirty="0">
                <a:solidFill>
                  <a:schemeClr val="accent2">
                    <a:lumMod val="75000"/>
                  </a:schemeClr>
                </a:solidFill>
                <a:latin typeface="Times New Roman" panose="02020603050405020304" pitchFamily="18" charset="0"/>
                <a:cs typeface="Times New Roman" panose="02020603050405020304" pitchFamily="18" charset="0"/>
              </a:rPr>
              <a:t>L</a:t>
            </a:r>
            <a:r>
              <a:rPr lang="en-IN" sz="5400" dirty="0" err="1">
                <a:solidFill>
                  <a:schemeClr val="accent2">
                    <a:lumMod val="75000"/>
                  </a:schemeClr>
                </a:solidFill>
                <a:latin typeface="Times New Roman" panose="02020603050405020304" pitchFamily="18" charset="0"/>
                <a:cs typeface="Times New Roman" panose="02020603050405020304" pitchFamily="18" charset="0"/>
              </a:rPr>
              <a:t>ecture</a:t>
            </a:r>
            <a:r>
              <a:rPr lang="en-IN" sz="5400" dirty="0">
                <a:solidFill>
                  <a:schemeClr val="accent2">
                    <a:lumMod val="75000"/>
                  </a:schemeClr>
                </a:solidFill>
                <a:latin typeface="Times New Roman" panose="02020603050405020304" pitchFamily="18" charset="0"/>
                <a:cs typeface="Times New Roman" panose="02020603050405020304" pitchFamily="18" charset="0"/>
              </a:rPr>
              <a:t> 10</a:t>
            </a:r>
          </a:p>
        </p:txBody>
      </p:sp>
    </p:spTree>
    <p:extLst>
      <p:ext uri="{BB962C8B-B14F-4D97-AF65-F5344CB8AC3E}">
        <p14:creationId xmlns:p14="http://schemas.microsoft.com/office/powerpoint/2010/main" val="3563437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98CD23-BED9-4EC4-9B69-5B21E5B8F6A0}"/>
              </a:ext>
            </a:extLst>
          </p:cNvPr>
          <p:cNvSpPr>
            <a:spLocks noGrp="1"/>
          </p:cNvSpPr>
          <p:nvPr>
            <p:ph idx="1"/>
          </p:nvPr>
        </p:nvSpPr>
        <p:spPr/>
        <p:txBody>
          <a:bodyPr/>
          <a:lstStyle/>
          <a:p>
            <a:pPr marL="0" indent="0">
              <a:buNone/>
            </a:pPr>
            <a:r>
              <a:rPr lang="en-IN" sz="2800" b="1" dirty="0">
                <a:latin typeface="Times New Roman" panose="02020603050405020304" pitchFamily="18" charset="0"/>
                <a:cs typeface="Times New Roman" panose="02020603050405020304" pitchFamily="18" charset="0"/>
              </a:rPr>
              <a:t>Processes fall under Arc Welding:</a:t>
            </a:r>
          </a:p>
          <a:p>
            <a:r>
              <a:rPr lang="en-IN" sz="2800" dirty="0">
                <a:latin typeface="Times New Roman" panose="02020603050405020304" pitchFamily="18" charset="0"/>
                <a:cs typeface="Times New Roman" panose="02020603050405020304" pitchFamily="18" charset="0"/>
              </a:rPr>
              <a:t>SMAW</a:t>
            </a:r>
          </a:p>
          <a:p>
            <a:r>
              <a:rPr lang="en-IN" sz="2800" dirty="0">
                <a:latin typeface="Times New Roman" panose="02020603050405020304" pitchFamily="18" charset="0"/>
                <a:cs typeface="Times New Roman" panose="02020603050405020304" pitchFamily="18" charset="0"/>
              </a:rPr>
              <a:t>GTAW</a:t>
            </a:r>
          </a:p>
          <a:p>
            <a:r>
              <a:rPr lang="en-IN" sz="2800" dirty="0">
                <a:latin typeface="Times New Roman" panose="02020603050405020304" pitchFamily="18" charset="0"/>
                <a:cs typeface="Times New Roman" panose="02020603050405020304" pitchFamily="18" charset="0"/>
              </a:rPr>
              <a:t>GMAW</a:t>
            </a:r>
          </a:p>
          <a:p>
            <a:r>
              <a:rPr lang="en-IN" sz="2800" dirty="0">
                <a:latin typeface="Times New Roman" panose="02020603050405020304" pitchFamily="18" charset="0"/>
                <a:cs typeface="Times New Roman" panose="02020603050405020304" pitchFamily="18" charset="0"/>
              </a:rPr>
              <a:t>Submerged Arc Welding</a:t>
            </a:r>
          </a:p>
          <a:p>
            <a:pPr marL="0" indent="0">
              <a:buNone/>
            </a:pPr>
            <a:r>
              <a:rPr lang="en-IN" sz="2800" b="1" dirty="0">
                <a:latin typeface="Times New Roman" panose="02020603050405020304" pitchFamily="18" charset="0"/>
                <a:cs typeface="Times New Roman" panose="02020603050405020304" pitchFamily="18" charset="0"/>
              </a:rPr>
              <a:t>SMAW:</a:t>
            </a:r>
          </a:p>
          <a:p>
            <a:pPr algn="just"/>
            <a:r>
              <a:rPr lang="en-IN" sz="2800" dirty="0">
                <a:latin typeface="Times New Roman" panose="02020603050405020304" pitchFamily="18" charset="0"/>
                <a:cs typeface="Times New Roman" panose="02020603050405020304" pitchFamily="18" charset="0"/>
              </a:rPr>
              <a:t>It is also known as Manual arc welding, it is simple portable and inexpensive, suitable for almost all kinds of materials, can be used in hard to assessible areas and has low initial cost.</a:t>
            </a:r>
          </a:p>
          <a:p>
            <a:pPr marL="0" indent="0">
              <a:buNone/>
            </a:pPr>
            <a:endParaRPr lang="en-IN" dirty="0"/>
          </a:p>
        </p:txBody>
      </p:sp>
      <p:sp>
        <p:nvSpPr>
          <p:cNvPr id="4" name="Slide Number Placeholder 3">
            <a:extLst>
              <a:ext uri="{FF2B5EF4-FFF2-40B4-BE49-F238E27FC236}">
                <a16:creationId xmlns:a16="http://schemas.microsoft.com/office/drawing/2014/main" id="{9F18DE56-E0DE-404D-ABEE-F22DC74407F8}"/>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2</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74DFE76E-1CFE-4ED4-A3A8-EF286A5667E1}"/>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Introduction to Arc Welding</a:t>
            </a:r>
            <a:endParaRPr lang="en-IN" sz="3200" dirty="0">
              <a:solidFill>
                <a:schemeClr val="accent5">
                  <a:lumMod val="75000"/>
                </a:schemeClr>
              </a:solidFill>
            </a:endParaRPr>
          </a:p>
        </p:txBody>
      </p:sp>
    </p:spTree>
    <p:extLst>
      <p:ext uri="{BB962C8B-B14F-4D97-AF65-F5344CB8AC3E}">
        <p14:creationId xmlns:p14="http://schemas.microsoft.com/office/powerpoint/2010/main" val="281877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01849CC4-AD89-4EF7-A521-3607B1D60C29}"/>
              </a:ext>
            </a:extLst>
          </p:cNvPr>
          <p:cNvPicPr>
            <a:picLocks noGrp="1" noChangeAspect="1"/>
          </p:cNvPicPr>
          <p:nvPr>
            <p:ph idx="1"/>
          </p:nvPr>
        </p:nvPicPr>
        <p:blipFill rotWithShape="1">
          <a:blip r:embed="rId2"/>
          <a:srcRect l="12941" t="32771" r="13710" b="26690"/>
          <a:stretch/>
        </p:blipFill>
        <p:spPr>
          <a:xfrm>
            <a:off x="879691" y="1463675"/>
            <a:ext cx="10170405" cy="3288632"/>
          </a:xfrm>
          <a:prstGeom prst="rect">
            <a:avLst/>
          </a:prstGeom>
        </p:spPr>
      </p:pic>
      <p:sp>
        <p:nvSpPr>
          <p:cNvPr id="4" name="Slide Number Placeholder 3">
            <a:extLst>
              <a:ext uri="{FF2B5EF4-FFF2-40B4-BE49-F238E27FC236}">
                <a16:creationId xmlns:a16="http://schemas.microsoft.com/office/drawing/2014/main" id="{E67CE42B-1C7F-4728-A611-F546AA81E273}"/>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3</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5DE359A5-EF11-438E-9F5E-DC6C83DB0B21}"/>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Introduction to Arc Welding</a:t>
            </a:r>
            <a:endParaRPr lang="en-IN" sz="3200" dirty="0">
              <a:solidFill>
                <a:schemeClr val="accent5">
                  <a:lumMod val="75000"/>
                </a:schemeClr>
              </a:solidFill>
            </a:endParaRPr>
          </a:p>
        </p:txBody>
      </p:sp>
      <p:sp>
        <p:nvSpPr>
          <p:cNvPr id="6" name="Rectangle 5">
            <a:extLst>
              <a:ext uri="{FF2B5EF4-FFF2-40B4-BE49-F238E27FC236}">
                <a16:creationId xmlns:a16="http://schemas.microsoft.com/office/drawing/2014/main" id="{D38E4972-E3D5-4559-8C79-10947789D6B6}"/>
              </a:ext>
            </a:extLst>
          </p:cNvPr>
          <p:cNvSpPr/>
          <p:nvPr/>
        </p:nvSpPr>
        <p:spPr>
          <a:xfrm>
            <a:off x="3220919" y="5045831"/>
            <a:ext cx="5389681" cy="461665"/>
          </a:xfrm>
          <a:prstGeom prst="rect">
            <a:avLst/>
          </a:prstGeom>
        </p:spPr>
        <p:txBody>
          <a:bodyPr wrap="none">
            <a:spAutoFit/>
          </a:bodyPr>
          <a:lstStyle/>
          <a:p>
            <a:r>
              <a:rPr lang="en-IN" sz="2400" b="1" dirty="0">
                <a:latin typeface="Times New Roman" panose="02020603050405020304" pitchFamily="18" charset="0"/>
                <a:cs typeface="Times New Roman" panose="02020603050405020304" pitchFamily="18" charset="0"/>
              </a:rPr>
              <a:t>Arc welding equipment and process [3] </a:t>
            </a:r>
            <a:endParaRPr lang="en-IN" sz="2400" dirty="0"/>
          </a:p>
        </p:txBody>
      </p:sp>
      <p:pic>
        <p:nvPicPr>
          <p:cNvPr id="3" name="Picture 2">
            <a:extLst>
              <a:ext uri="{FF2B5EF4-FFF2-40B4-BE49-F238E27FC236}">
                <a16:creationId xmlns:a16="http://schemas.microsoft.com/office/drawing/2014/main" id="{8C750317-5F7C-4C6B-8644-1C6564C813EB}"/>
              </a:ext>
            </a:extLst>
          </p:cNvPr>
          <p:cNvPicPr>
            <a:picLocks noChangeAspect="1"/>
          </p:cNvPicPr>
          <p:nvPr/>
        </p:nvPicPr>
        <p:blipFill>
          <a:blip r:embed="rId3"/>
          <a:stretch>
            <a:fillRect/>
          </a:stretch>
        </p:blipFill>
        <p:spPr>
          <a:xfrm>
            <a:off x="8704791" y="4480458"/>
            <a:ext cx="3396418" cy="1827733"/>
          </a:xfrm>
          <a:prstGeom prst="rect">
            <a:avLst/>
          </a:prstGeom>
        </p:spPr>
      </p:pic>
      <p:sp>
        <p:nvSpPr>
          <p:cNvPr id="7" name="Rectangle 6">
            <a:extLst>
              <a:ext uri="{FF2B5EF4-FFF2-40B4-BE49-F238E27FC236}">
                <a16:creationId xmlns:a16="http://schemas.microsoft.com/office/drawing/2014/main" id="{A828AC0B-E724-4140-8A3C-B2AB1A0988A1}"/>
              </a:ext>
            </a:extLst>
          </p:cNvPr>
          <p:cNvSpPr/>
          <p:nvPr/>
        </p:nvSpPr>
        <p:spPr>
          <a:xfrm>
            <a:off x="8808294" y="6206234"/>
            <a:ext cx="1482522" cy="461665"/>
          </a:xfrm>
          <a:prstGeom prst="rect">
            <a:avLst/>
          </a:prstGeom>
        </p:spPr>
        <p:txBody>
          <a:bodyPr wrap="none">
            <a:spAutoFit/>
          </a:bodyPr>
          <a:lstStyle/>
          <a:p>
            <a:r>
              <a:rPr lang="en-IN" sz="2400" dirty="0">
                <a:latin typeface="Times New Roman" panose="02020603050405020304" pitchFamily="18" charset="0"/>
                <a:cs typeface="Times New Roman" panose="02020603050405020304" pitchFamily="18" charset="0"/>
              </a:rPr>
              <a:t>Weld bead</a:t>
            </a:r>
            <a:endParaRPr lang="en-IN" sz="2400" dirty="0"/>
          </a:p>
        </p:txBody>
      </p:sp>
    </p:spTree>
    <p:extLst>
      <p:ext uri="{BB962C8B-B14F-4D97-AF65-F5344CB8AC3E}">
        <p14:creationId xmlns:p14="http://schemas.microsoft.com/office/powerpoint/2010/main" val="834861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BD0E97-F89F-485D-947A-D24E56DC55D4}"/>
              </a:ext>
            </a:extLst>
          </p:cNvPr>
          <p:cNvSpPr>
            <a:spLocks noGrp="1"/>
          </p:cNvSpPr>
          <p:nvPr>
            <p:ph idx="1"/>
          </p:nvPr>
        </p:nvSpPr>
        <p:spPr>
          <a:xfrm>
            <a:off x="756139" y="1138989"/>
            <a:ext cx="10515600" cy="5213685"/>
          </a:xfrm>
        </p:spPr>
        <p:txBody>
          <a:bodyPr>
            <a:noAutofit/>
          </a:bodyPr>
          <a:lstStyle/>
          <a:p>
            <a:r>
              <a:rPr lang="en-IN" sz="2800" dirty="0">
                <a:latin typeface="Times New Roman" panose="02020603050405020304" pitchFamily="18" charset="0"/>
                <a:cs typeface="Times New Roman" panose="02020603050405020304" pitchFamily="18" charset="0"/>
              </a:rPr>
              <a:t>Welding machine / transfer (AC)</a:t>
            </a:r>
          </a:p>
          <a:p>
            <a:r>
              <a:rPr lang="en-IN" sz="2800" dirty="0">
                <a:latin typeface="Times New Roman" panose="02020603050405020304" pitchFamily="18" charset="0"/>
                <a:cs typeface="Times New Roman" panose="02020603050405020304" pitchFamily="18" charset="0"/>
              </a:rPr>
              <a:t>Electrode holder</a:t>
            </a:r>
          </a:p>
          <a:p>
            <a:r>
              <a:rPr lang="en-IN" sz="2800" dirty="0">
                <a:latin typeface="Times New Roman" panose="02020603050405020304" pitchFamily="18" charset="0"/>
                <a:cs typeface="Times New Roman" panose="02020603050405020304" pitchFamily="18" charset="0"/>
              </a:rPr>
              <a:t>Cables </a:t>
            </a:r>
          </a:p>
          <a:p>
            <a:r>
              <a:rPr lang="en-IN" sz="2800" dirty="0">
                <a:latin typeface="Times New Roman" panose="02020603050405020304" pitchFamily="18" charset="0"/>
                <a:cs typeface="Times New Roman" panose="02020603050405020304" pitchFamily="18" charset="0"/>
              </a:rPr>
              <a:t>Chipping hammer</a:t>
            </a:r>
          </a:p>
          <a:p>
            <a:r>
              <a:rPr lang="en-IN" sz="2800" dirty="0">
                <a:latin typeface="Times New Roman" panose="02020603050405020304" pitchFamily="18" charset="0"/>
                <a:cs typeface="Times New Roman" panose="02020603050405020304" pitchFamily="18" charset="0"/>
              </a:rPr>
              <a:t>Wire brush</a:t>
            </a:r>
          </a:p>
          <a:p>
            <a:r>
              <a:rPr lang="en-IN" sz="2800" dirty="0">
                <a:latin typeface="Times New Roman" panose="02020603050405020304" pitchFamily="18" charset="0"/>
                <a:cs typeface="Times New Roman" panose="02020603050405020304" pitchFamily="18" charset="0"/>
              </a:rPr>
              <a:t>Flux coated electrode</a:t>
            </a:r>
          </a:p>
          <a:p>
            <a:r>
              <a:rPr lang="en-IN" sz="2800" dirty="0">
                <a:latin typeface="Times New Roman" panose="02020603050405020304" pitchFamily="18" charset="0"/>
                <a:cs typeface="Times New Roman" panose="02020603050405020304" pitchFamily="18" charset="0"/>
              </a:rPr>
              <a:t>Welding shields</a:t>
            </a:r>
          </a:p>
          <a:p>
            <a:r>
              <a:rPr lang="en-IN" sz="2800" dirty="0">
                <a:latin typeface="Times New Roman" panose="02020603050405020304" pitchFamily="18" charset="0"/>
                <a:cs typeface="Times New Roman" panose="02020603050405020304" pitchFamily="18" charset="0"/>
              </a:rPr>
              <a:t>Goggles</a:t>
            </a:r>
          </a:p>
          <a:p>
            <a:r>
              <a:rPr lang="en-IN" sz="2800" dirty="0">
                <a:latin typeface="Times New Roman" panose="02020603050405020304" pitchFamily="18" charset="0"/>
                <a:cs typeface="Times New Roman" panose="02020603050405020304" pitchFamily="18" charset="0"/>
              </a:rPr>
              <a:t>Gloves</a:t>
            </a:r>
          </a:p>
          <a:p>
            <a:r>
              <a:rPr lang="en-IN" sz="2800" dirty="0">
                <a:latin typeface="Times New Roman" panose="02020603050405020304" pitchFamily="18" charset="0"/>
                <a:cs typeface="Times New Roman" panose="02020603050405020304" pitchFamily="18" charset="0"/>
              </a:rPr>
              <a:t>Apron</a:t>
            </a:r>
          </a:p>
        </p:txBody>
      </p:sp>
      <p:sp>
        <p:nvSpPr>
          <p:cNvPr id="4" name="Slide Number Placeholder 3">
            <a:extLst>
              <a:ext uri="{FF2B5EF4-FFF2-40B4-BE49-F238E27FC236}">
                <a16:creationId xmlns:a16="http://schemas.microsoft.com/office/drawing/2014/main" id="{2FCBBD95-99C2-48BF-8716-CD528B562976}"/>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4</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A7A1A9B2-0D24-481C-96FC-F6B8DE114C8E}"/>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Arc Welding Equipment</a:t>
            </a:r>
            <a:endParaRPr lang="en-IN" sz="3200" dirty="0">
              <a:solidFill>
                <a:schemeClr val="accent5">
                  <a:lumMod val="75000"/>
                </a:schemeClr>
              </a:solidFill>
            </a:endParaRPr>
          </a:p>
        </p:txBody>
      </p:sp>
      <p:pic>
        <p:nvPicPr>
          <p:cNvPr id="2" name="Picture 1">
            <a:extLst>
              <a:ext uri="{FF2B5EF4-FFF2-40B4-BE49-F238E27FC236}">
                <a16:creationId xmlns:a16="http://schemas.microsoft.com/office/drawing/2014/main" id="{E60E57CE-1F5C-4544-9986-2A1978D315B5}"/>
              </a:ext>
            </a:extLst>
          </p:cNvPr>
          <p:cNvPicPr>
            <a:picLocks noChangeAspect="1"/>
          </p:cNvPicPr>
          <p:nvPr/>
        </p:nvPicPr>
        <p:blipFill rotWithShape="1">
          <a:blip r:embed="rId2"/>
          <a:srcRect b="17926"/>
          <a:stretch/>
        </p:blipFill>
        <p:spPr>
          <a:xfrm>
            <a:off x="6274173" y="1138989"/>
            <a:ext cx="4387341" cy="1775003"/>
          </a:xfrm>
          <a:prstGeom prst="rect">
            <a:avLst/>
          </a:prstGeom>
        </p:spPr>
      </p:pic>
      <p:pic>
        <p:nvPicPr>
          <p:cNvPr id="6" name="Picture 5">
            <a:extLst>
              <a:ext uri="{FF2B5EF4-FFF2-40B4-BE49-F238E27FC236}">
                <a16:creationId xmlns:a16="http://schemas.microsoft.com/office/drawing/2014/main" id="{1544BF40-941E-430D-9D6C-0F15776B05DD}"/>
              </a:ext>
            </a:extLst>
          </p:cNvPr>
          <p:cNvPicPr>
            <a:picLocks noChangeAspect="1"/>
          </p:cNvPicPr>
          <p:nvPr/>
        </p:nvPicPr>
        <p:blipFill>
          <a:blip r:embed="rId3"/>
          <a:stretch>
            <a:fillRect/>
          </a:stretch>
        </p:blipFill>
        <p:spPr>
          <a:xfrm>
            <a:off x="5293657" y="3741899"/>
            <a:ext cx="2743438" cy="2743438"/>
          </a:xfrm>
          <a:prstGeom prst="rect">
            <a:avLst/>
          </a:prstGeom>
        </p:spPr>
      </p:pic>
      <p:pic>
        <p:nvPicPr>
          <p:cNvPr id="7" name="Picture 6">
            <a:extLst>
              <a:ext uri="{FF2B5EF4-FFF2-40B4-BE49-F238E27FC236}">
                <a16:creationId xmlns:a16="http://schemas.microsoft.com/office/drawing/2014/main" id="{3E4ECC65-A643-4216-AC9D-763AB8552F9C}"/>
              </a:ext>
            </a:extLst>
          </p:cNvPr>
          <p:cNvPicPr>
            <a:picLocks noChangeAspect="1"/>
          </p:cNvPicPr>
          <p:nvPr/>
        </p:nvPicPr>
        <p:blipFill>
          <a:blip r:embed="rId4"/>
          <a:stretch>
            <a:fillRect/>
          </a:stretch>
        </p:blipFill>
        <p:spPr>
          <a:xfrm>
            <a:off x="8610600" y="4010146"/>
            <a:ext cx="2487384" cy="2475191"/>
          </a:xfrm>
          <a:prstGeom prst="rect">
            <a:avLst/>
          </a:prstGeom>
        </p:spPr>
      </p:pic>
      <p:sp>
        <p:nvSpPr>
          <p:cNvPr id="8" name="Rectangle 7">
            <a:extLst>
              <a:ext uri="{FF2B5EF4-FFF2-40B4-BE49-F238E27FC236}">
                <a16:creationId xmlns:a16="http://schemas.microsoft.com/office/drawing/2014/main" id="{F0C4554E-017C-4443-8C98-3BB9F00A6223}"/>
              </a:ext>
            </a:extLst>
          </p:cNvPr>
          <p:cNvSpPr/>
          <p:nvPr/>
        </p:nvSpPr>
        <p:spPr>
          <a:xfrm>
            <a:off x="5293883" y="5884770"/>
            <a:ext cx="2681375" cy="461665"/>
          </a:xfrm>
          <a:prstGeom prst="rect">
            <a:avLst/>
          </a:prstGeom>
        </p:spPr>
        <p:txBody>
          <a:bodyPr wrap="none">
            <a:spAutoFit/>
          </a:bodyPr>
          <a:lstStyle/>
          <a:p>
            <a:r>
              <a:rPr lang="en-IN" sz="2400" b="1" dirty="0">
                <a:latin typeface="Times New Roman" panose="02020603050405020304" pitchFamily="18" charset="0"/>
                <a:cs typeface="Times New Roman" panose="02020603050405020304" pitchFamily="18" charset="0"/>
              </a:rPr>
              <a:t>2. Electrode holder</a:t>
            </a:r>
            <a:endParaRPr lang="en-IN" sz="2400" dirty="0"/>
          </a:p>
        </p:txBody>
      </p:sp>
      <p:sp>
        <p:nvSpPr>
          <p:cNvPr id="9" name="Rectangle 8">
            <a:extLst>
              <a:ext uri="{FF2B5EF4-FFF2-40B4-BE49-F238E27FC236}">
                <a16:creationId xmlns:a16="http://schemas.microsoft.com/office/drawing/2014/main" id="{891388E3-10AE-4605-BD36-A1A3965CA143}"/>
              </a:ext>
            </a:extLst>
          </p:cNvPr>
          <p:cNvSpPr/>
          <p:nvPr/>
        </p:nvSpPr>
        <p:spPr>
          <a:xfrm>
            <a:off x="8432345" y="5842739"/>
            <a:ext cx="1750031" cy="461665"/>
          </a:xfrm>
          <a:prstGeom prst="rect">
            <a:avLst/>
          </a:prstGeom>
        </p:spPr>
        <p:txBody>
          <a:bodyPr wrap="none">
            <a:spAutoFit/>
          </a:bodyPr>
          <a:lstStyle/>
          <a:p>
            <a:r>
              <a:rPr lang="en-IN" sz="2400" b="1" dirty="0">
                <a:latin typeface="Times New Roman" panose="02020603050405020304" pitchFamily="18" charset="0"/>
                <a:cs typeface="Times New Roman" panose="02020603050405020304" pitchFamily="18" charset="0"/>
              </a:rPr>
              <a:t>3 Electrode.</a:t>
            </a:r>
            <a:endParaRPr lang="en-IN" sz="2400" dirty="0"/>
          </a:p>
        </p:txBody>
      </p:sp>
      <p:sp>
        <p:nvSpPr>
          <p:cNvPr id="10" name="Rectangle 9">
            <a:extLst>
              <a:ext uri="{FF2B5EF4-FFF2-40B4-BE49-F238E27FC236}">
                <a16:creationId xmlns:a16="http://schemas.microsoft.com/office/drawing/2014/main" id="{1C1BD916-09B0-47B4-AA99-2C742B6101E7}"/>
              </a:ext>
            </a:extLst>
          </p:cNvPr>
          <p:cNvSpPr/>
          <p:nvPr/>
        </p:nvSpPr>
        <p:spPr>
          <a:xfrm>
            <a:off x="6303749" y="2885268"/>
            <a:ext cx="2639697" cy="461665"/>
          </a:xfrm>
          <a:prstGeom prst="rect">
            <a:avLst/>
          </a:prstGeom>
        </p:spPr>
        <p:txBody>
          <a:bodyPr wrap="none">
            <a:spAutoFit/>
          </a:bodyPr>
          <a:lstStyle/>
          <a:p>
            <a:r>
              <a:rPr lang="en-IN" sz="2400" b="1" dirty="0">
                <a:latin typeface="Times New Roman" panose="02020603050405020304" pitchFamily="18" charset="0"/>
                <a:cs typeface="Times New Roman" panose="02020603050405020304" pitchFamily="18" charset="0"/>
              </a:rPr>
              <a:t>1.Electrode Sketch</a:t>
            </a:r>
            <a:endParaRPr lang="en-IN" sz="2400" dirty="0"/>
          </a:p>
        </p:txBody>
      </p:sp>
    </p:spTree>
    <p:extLst>
      <p:ext uri="{BB962C8B-B14F-4D97-AF65-F5344CB8AC3E}">
        <p14:creationId xmlns:p14="http://schemas.microsoft.com/office/powerpoint/2010/main" val="963550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508B2E-819D-41E2-A551-1398664988F5}"/>
              </a:ext>
            </a:extLst>
          </p:cNvPr>
          <p:cNvSpPr>
            <a:spLocks noGrp="1"/>
          </p:cNvSpPr>
          <p:nvPr>
            <p:ph idx="1"/>
          </p:nvPr>
        </p:nvSpPr>
        <p:spPr/>
        <p:txBody>
          <a:bodyPr>
            <a:noAutofit/>
          </a:bodyPr>
          <a:lstStyle/>
          <a:p>
            <a:pPr algn="just"/>
            <a:r>
              <a:rPr lang="en-IN" sz="2800" dirty="0">
                <a:latin typeface="Times New Roman" panose="02020603050405020304" pitchFamily="18" charset="0"/>
                <a:cs typeface="Times New Roman" panose="02020603050405020304" pitchFamily="18" charset="0"/>
              </a:rPr>
              <a:t>Both AC and DC are used for welding.</a:t>
            </a:r>
          </a:p>
          <a:p>
            <a:pPr algn="just"/>
            <a:r>
              <a:rPr lang="en-IN" sz="2800" dirty="0">
                <a:latin typeface="Times New Roman" panose="02020603050405020304" pitchFamily="18" charset="0"/>
                <a:cs typeface="Times New Roman" panose="02020603050405020304" pitchFamily="18" charset="0"/>
              </a:rPr>
              <a:t>AC machines is a transformer which convert the supply to low voltage and high current. AC is recommended for ferrous metal. </a:t>
            </a:r>
          </a:p>
          <a:p>
            <a:pPr algn="just"/>
            <a:r>
              <a:rPr lang="en-IN" sz="2800" dirty="0">
                <a:latin typeface="Times New Roman" panose="02020603050405020304" pitchFamily="18" charset="0"/>
                <a:cs typeface="Times New Roman" panose="02020603050405020304" pitchFamily="18" charset="0"/>
              </a:rPr>
              <a:t>For AC welding power is required at 80 to 110 volt and 50 to 300 ampere. </a:t>
            </a:r>
          </a:p>
          <a:p>
            <a:pPr algn="just"/>
            <a:r>
              <a:rPr lang="en-IN" sz="2800" dirty="0">
                <a:latin typeface="Times New Roman" panose="02020603050405020304" pitchFamily="18" charset="0"/>
                <a:cs typeface="Times New Roman" panose="02020603050405020304" pitchFamily="18" charset="0"/>
              </a:rPr>
              <a:t>For DC welding normally power is required at 8 to 25 volts and 50 ampere.</a:t>
            </a:r>
          </a:p>
        </p:txBody>
      </p:sp>
      <p:sp>
        <p:nvSpPr>
          <p:cNvPr id="4" name="Slide Number Placeholder 3">
            <a:extLst>
              <a:ext uri="{FF2B5EF4-FFF2-40B4-BE49-F238E27FC236}">
                <a16:creationId xmlns:a16="http://schemas.microsoft.com/office/drawing/2014/main" id="{9466E208-FA57-4DEE-94C6-8AC6A450252E}"/>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5</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233A543F-249F-462B-844E-ED36352CE7CF}"/>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Arc Welding Equipment</a:t>
            </a:r>
            <a:endParaRPr lang="en-IN" sz="3200" dirty="0">
              <a:solidFill>
                <a:schemeClr val="accent5">
                  <a:lumMod val="75000"/>
                </a:schemeClr>
              </a:solidFill>
            </a:endParaRPr>
          </a:p>
        </p:txBody>
      </p:sp>
    </p:spTree>
    <p:extLst>
      <p:ext uri="{BB962C8B-B14F-4D97-AF65-F5344CB8AC3E}">
        <p14:creationId xmlns:p14="http://schemas.microsoft.com/office/powerpoint/2010/main" val="160313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BA9681-4512-40E0-9EF4-081818426D04}"/>
              </a:ext>
            </a:extLst>
          </p:cNvPr>
          <p:cNvSpPr>
            <a:spLocks noGrp="1"/>
          </p:cNvSpPr>
          <p:nvPr>
            <p:ph idx="1"/>
          </p:nvPr>
        </p:nvSpPr>
        <p:spPr>
          <a:xfrm>
            <a:off x="756139" y="1219200"/>
            <a:ext cx="10515600" cy="4524012"/>
          </a:xfrm>
        </p:spPr>
        <p:txBody>
          <a:bodyPr>
            <a:noAutofit/>
          </a:bodyPr>
          <a:lstStyle/>
          <a:p>
            <a:pPr marL="0" indent="0">
              <a:buNone/>
            </a:pPr>
            <a:r>
              <a:rPr lang="en-IN" sz="2800" b="1" dirty="0">
                <a:latin typeface="Times New Roman" panose="02020603050405020304" pitchFamily="18" charset="0"/>
                <a:cs typeface="Times New Roman" panose="02020603050405020304" pitchFamily="18" charset="0"/>
              </a:rPr>
              <a:t>Straight Polarity:</a:t>
            </a:r>
          </a:p>
          <a:p>
            <a:pPr algn="just"/>
            <a:r>
              <a:rPr lang="en-IN" sz="2800" dirty="0">
                <a:latin typeface="Times New Roman" panose="02020603050405020304" pitchFamily="18" charset="0"/>
                <a:cs typeface="Times New Roman" panose="02020603050405020304" pitchFamily="18" charset="0"/>
              </a:rPr>
              <a:t>Electrode is made negative pole and workpiece is made positive pole. </a:t>
            </a:r>
          </a:p>
          <a:p>
            <a:pPr algn="just"/>
            <a:r>
              <a:rPr lang="en-IN" sz="2800" dirty="0">
                <a:latin typeface="Times New Roman" panose="02020603050405020304" pitchFamily="18" charset="0"/>
                <a:cs typeface="Times New Roman" panose="02020603050405020304" pitchFamily="18" charset="0"/>
              </a:rPr>
              <a:t>Two third of the total heat is generated at positive pole and only one third at negative pole. </a:t>
            </a:r>
          </a:p>
          <a:p>
            <a:pPr algn="just"/>
            <a:endParaRPr lang="en-IN" sz="2800" dirty="0">
              <a:latin typeface="Times New Roman" panose="02020603050405020304" pitchFamily="18" charset="0"/>
              <a:cs typeface="Times New Roman" panose="02020603050405020304" pitchFamily="18" charset="0"/>
            </a:endParaRPr>
          </a:p>
          <a:p>
            <a:pPr marL="0" indent="0" algn="just">
              <a:buNone/>
            </a:pPr>
            <a:r>
              <a:rPr lang="en-IN" sz="2800" b="1" dirty="0">
                <a:latin typeface="Times New Roman" panose="02020603050405020304" pitchFamily="18" charset="0"/>
                <a:cs typeface="Times New Roman" panose="02020603050405020304" pitchFamily="18" charset="0"/>
              </a:rPr>
              <a:t>Reversed Polarity:</a:t>
            </a:r>
          </a:p>
          <a:p>
            <a:pPr algn="just"/>
            <a:r>
              <a:rPr lang="en-IN" sz="2800" dirty="0">
                <a:latin typeface="Times New Roman" panose="02020603050405020304" pitchFamily="18" charset="0"/>
                <a:cs typeface="Times New Roman" panose="02020603050405020304" pitchFamily="18" charset="0"/>
              </a:rPr>
              <a:t>Electrode is made positive pole and workpiece is made negative pole.</a:t>
            </a:r>
          </a:p>
          <a:p>
            <a:pPr algn="just"/>
            <a:r>
              <a:rPr lang="en-IN" sz="2800" dirty="0">
                <a:latin typeface="Times New Roman" panose="02020603050405020304" pitchFamily="18" charset="0"/>
                <a:cs typeface="Times New Roman" panose="02020603050405020304" pitchFamily="18" charset="0"/>
              </a:rPr>
              <a:t>Polarity is decided according to the requirement of heat at either pole.</a:t>
            </a:r>
          </a:p>
        </p:txBody>
      </p:sp>
      <p:sp>
        <p:nvSpPr>
          <p:cNvPr id="4" name="Slide Number Placeholder 3">
            <a:extLst>
              <a:ext uri="{FF2B5EF4-FFF2-40B4-BE49-F238E27FC236}">
                <a16:creationId xmlns:a16="http://schemas.microsoft.com/office/drawing/2014/main" id="{7C0D9CBD-2D47-416E-8FDF-05FF407C7ADD}"/>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6</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7EC285DA-98FA-467E-86BA-0989F3FADFCC}"/>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Polarity in DC Welding</a:t>
            </a:r>
            <a:endParaRPr lang="en-IN" sz="3200" dirty="0">
              <a:solidFill>
                <a:schemeClr val="accent5">
                  <a:lumMod val="75000"/>
                </a:schemeClr>
              </a:solidFill>
            </a:endParaRPr>
          </a:p>
        </p:txBody>
      </p:sp>
    </p:spTree>
    <p:extLst>
      <p:ext uri="{BB962C8B-B14F-4D97-AF65-F5344CB8AC3E}">
        <p14:creationId xmlns:p14="http://schemas.microsoft.com/office/powerpoint/2010/main" val="3927232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F418AE-4713-442B-A79F-ADC77235E1C1}"/>
              </a:ext>
            </a:extLst>
          </p:cNvPr>
          <p:cNvSpPr>
            <a:spLocks noGrp="1"/>
          </p:cNvSpPr>
          <p:nvPr>
            <p:ph idx="1"/>
          </p:nvPr>
        </p:nvSpPr>
        <p:spPr/>
        <p:txBody>
          <a:bodyPr>
            <a:normAutofit/>
          </a:bodyPr>
          <a:lstStyle/>
          <a:p>
            <a:pPr marL="0" indent="0" algn="just">
              <a:buNone/>
            </a:pPr>
            <a:r>
              <a:rPr lang="en-IN" sz="2800" b="1" dirty="0">
                <a:latin typeface="Times New Roman" panose="02020603050405020304" pitchFamily="18" charset="0"/>
                <a:cs typeface="Times New Roman" panose="02020603050405020304" pitchFamily="18" charset="0"/>
              </a:rPr>
              <a:t>Welding Electrodes:</a:t>
            </a:r>
          </a:p>
          <a:p>
            <a:pPr algn="just"/>
            <a:r>
              <a:rPr lang="en-IN" sz="2800" dirty="0">
                <a:latin typeface="Times New Roman" panose="02020603050405020304" pitchFamily="18" charset="0"/>
                <a:cs typeface="Times New Roman" panose="02020603050405020304" pitchFamily="18" charset="0"/>
              </a:rPr>
              <a:t>Consumable electrodes and non-consumable electrodes. </a:t>
            </a:r>
          </a:p>
          <a:p>
            <a:pPr algn="just"/>
            <a:r>
              <a:rPr lang="en-IN" sz="2800" dirty="0">
                <a:latin typeface="Times New Roman" panose="02020603050405020304" pitchFamily="18" charset="0"/>
                <a:cs typeface="Times New Roman" panose="02020603050405020304" pitchFamily="18" charset="0"/>
              </a:rPr>
              <a:t>Consumable electrodes provide filler metal.</a:t>
            </a:r>
          </a:p>
          <a:p>
            <a:pPr algn="just"/>
            <a:r>
              <a:rPr lang="en-IN" sz="2800" dirty="0">
                <a:latin typeface="Times New Roman" panose="02020603050405020304" pitchFamily="18" charset="0"/>
                <a:cs typeface="Times New Roman" panose="02020603050405020304" pitchFamily="18" charset="0"/>
              </a:rPr>
              <a:t>Consumable electrodes are of two types i.e. coated and bare electrodes.</a:t>
            </a:r>
          </a:p>
          <a:p>
            <a:pPr algn="just"/>
            <a:r>
              <a:rPr lang="en-IN" sz="2800" dirty="0">
                <a:latin typeface="Times New Roman" panose="02020603050405020304" pitchFamily="18" charset="0"/>
                <a:cs typeface="Times New Roman" panose="02020603050405020304" pitchFamily="18" charset="0"/>
              </a:rPr>
              <a:t>Bare electrodes are used in case of gas shielded welding.</a:t>
            </a:r>
          </a:p>
          <a:p>
            <a:pPr algn="just"/>
            <a:r>
              <a:rPr lang="en-IN" sz="2800" dirty="0">
                <a:latin typeface="Times New Roman" panose="02020603050405020304" pitchFamily="18" charset="0"/>
                <a:cs typeface="Times New Roman" panose="02020603050405020304" pitchFamily="18" charset="0"/>
              </a:rPr>
              <a:t>Additional filler metal is required for non-consumable electrode (GTAW).</a:t>
            </a:r>
          </a:p>
        </p:txBody>
      </p:sp>
      <p:sp>
        <p:nvSpPr>
          <p:cNvPr id="4" name="Slide Number Placeholder 3">
            <a:extLst>
              <a:ext uri="{FF2B5EF4-FFF2-40B4-BE49-F238E27FC236}">
                <a16:creationId xmlns:a16="http://schemas.microsoft.com/office/drawing/2014/main" id="{2E6DD741-86CC-4907-9451-0EC8F1455725}"/>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7</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C5B02B0B-BD09-4D06-94D7-DF6D41BDE4C9}"/>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Arc Welding Electrode</a:t>
            </a:r>
            <a:endParaRPr lang="en-IN" sz="3200" dirty="0">
              <a:solidFill>
                <a:schemeClr val="accent5">
                  <a:lumMod val="75000"/>
                </a:schemeClr>
              </a:solidFill>
            </a:endParaRPr>
          </a:p>
        </p:txBody>
      </p:sp>
    </p:spTree>
    <p:extLst>
      <p:ext uri="{BB962C8B-B14F-4D97-AF65-F5344CB8AC3E}">
        <p14:creationId xmlns:p14="http://schemas.microsoft.com/office/powerpoint/2010/main" val="2960411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9AA078-BCA9-445E-8388-B8C61F934607}"/>
              </a:ext>
            </a:extLst>
          </p:cNvPr>
          <p:cNvSpPr>
            <a:spLocks noGrp="1"/>
          </p:cNvSpPr>
          <p:nvPr>
            <p:ph idx="1"/>
          </p:nvPr>
        </p:nvSpPr>
        <p:spPr>
          <a:xfrm>
            <a:off x="756139" y="1106905"/>
            <a:ext cx="10515600" cy="4957011"/>
          </a:xfrm>
        </p:spPr>
        <p:txBody>
          <a:bodyPr>
            <a:normAutofit/>
          </a:bodyPr>
          <a:lstStyle/>
          <a:p>
            <a:pPr algn="just"/>
            <a:r>
              <a:rPr lang="en-IN" sz="2800" dirty="0">
                <a:latin typeface="Times New Roman" panose="02020603050405020304" pitchFamily="18" charset="0"/>
                <a:cs typeface="Times New Roman" panose="02020603050405020304" pitchFamily="18" charset="0"/>
              </a:rPr>
              <a:t>Electrode is coated with flux.</a:t>
            </a:r>
          </a:p>
          <a:p>
            <a:pPr algn="just"/>
            <a:r>
              <a:rPr lang="en-IN" sz="2800" dirty="0">
                <a:latin typeface="Times New Roman" panose="02020603050405020304" pitchFamily="18" charset="0"/>
                <a:cs typeface="Times New Roman" panose="02020603050405020304" pitchFamily="18" charset="0"/>
              </a:rPr>
              <a:t>The common ingredients act as flux which help in slag formation are asbestos, mica, silica, fluorspar, titanium dioxide, magnesium oxide, calcium oxide, manganese oxide, alumina, ferrous oxide, calcium fluoride and silicates of potassium &amp; sodium.</a:t>
            </a:r>
          </a:p>
          <a:p>
            <a:pPr algn="just"/>
            <a:r>
              <a:rPr lang="en-IN" sz="2800" dirty="0">
                <a:latin typeface="Times New Roman" panose="02020603050405020304" pitchFamily="18" charset="0"/>
                <a:cs typeface="Times New Roman" panose="02020603050405020304" pitchFamily="18" charset="0"/>
              </a:rPr>
              <a:t>Some of the above contents are used as per the required properties in the weld.</a:t>
            </a:r>
          </a:p>
          <a:p>
            <a:pPr algn="just"/>
            <a:r>
              <a:rPr lang="en-IN" sz="2800" dirty="0">
                <a:latin typeface="Times New Roman" panose="02020603050405020304" pitchFamily="18" charset="0"/>
                <a:cs typeface="Times New Roman" panose="02020603050405020304" pitchFamily="18" charset="0"/>
              </a:rPr>
              <a:t>Ingredients used to produce reducing atmosphere are cellulose, </a:t>
            </a:r>
            <a:r>
              <a:rPr lang="en-IN" sz="2800" dirty="0" err="1">
                <a:latin typeface="Times New Roman" panose="02020603050405020304" pitchFamily="18" charset="0"/>
                <a:cs typeface="Times New Roman" panose="02020603050405020304" pitchFamily="18" charset="0"/>
              </a:rPr>
              <a:t>dalomine</a:t>
            </a:r>
            <a:r>
              <a:rPr lang="en-IN" sz="2800" dirty="0">
                <a:latin typeface="Times New Roman" panose="02020603050405020304" pitchFamily="18" charset="0"/>
                <a:cs typeface="Times New Roman" panose="02020603050405020304" pitchFamily="18" charset="0"/>
              </a:rPr>
              <a:t>, wood flour, starch. Iron powder provides higher deposition rate. Manganese oxide and potassium silicate and </a:t>
            </a:r>
            <a:r>
              <a:rPr lang="en-IN" sz="2800" dirty="0" err="1">
                <a:latin typeface="Times New Roman" panose="02020603050405020304" pitchFamily="18" charset="0"/>
                <a:cs typeface="Times New Roman" panose="02020603050405020304" pitchFamily="18" charset="0"/>
              </a:rPr>
              <a:t>titanate</a:t>
            </a:r>
            <a:r>
              <a:rPr lang="en-IN" sz="2800" dirty="0">
                <a:latin typeface="Times New Roman" panose="02020603050405020304" pitchFamily="18" charset="0"/>
                <a:cs typeface="Times New Roman" panose="02020603050405020304" pitchFamily="18" charset="0"/>
              </a:rPr>
              <a:t> are the alloying elements and stabilizers.</a:t>
            </a:r>
          </a:p>
          <a:p>
            <a:endParaRPr lang="en-IN" dirty="0"/>
          </a:p>
        </p:txBody>
      </p:sp>
      <p:sp>
        <p:nvSpPr>
          <p:cNvPr id="4" name="Slide Number Placeholder 3">
            <a:extLst>
              <a:ext uri="{FF2B5EF4-FFF2-40B4-BE49-F238E27FC236}">
                <a16:creationId xmlns:a16="http://schemas.microsoft.com/office/drawing/2014/main" id="{7E874080-6F11-4D08-A5B0-B868B143B0B5}"/>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8</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9E5DF43E-73C1-4062-ACA6-79B9D52A3890}"/>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Coated Electrodes</a:t>
            </a:r>
            <a:endParaRPr lang="en-IN" sz="3200" dirty="0">
              <a:solidFill>
                <a:schemeClr val="accent5">
                  <a:lumMod val="75000"/>
                </a:schemeClr>
              </a:solidFill>
            </a:endParaRPr>
          </a:p>
        </p:txBody>
      </p:sp>
    </p:spTree>
    <p:extLst>
      <p:ext uri="{BB962C8B-B14F-4D97-AF65-F5344CB8AC3E}">
        <p14:creationId xmlns:p14="http://schemas.microsoft.com/office/powerpoint/2010/main" val="1016604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74B335-1CD0-4DC5-A212-BE638A486DC3}"/>
              </a:ext>
            </a:extLst>
          </p:cNvPr>
          <p:cNvSpPr>
            <a:spLocks noGrp="1"/>
          </p:cNvSpPr>
          <p:nvPr>
            <p:ph idx="1"/>
          </p:nvPr>
        </p:nvSpPr>
        <p:spPr/>
        <p:txBody>
          <a:bodyPr/>
          <a:lstStyle/>
          <a:p>
            <a:r>
              <a:rPr lang="en-IN" sz="2800" dirty="0">
                <a:latin typeface="Times New Roman" panose="02020603050405020304" pitchFamily="18" charset="0"/>
                <a:cs typeface="Times New Roman" panose="02020603050405020304" pitchFamily="18" charset="0"/>
              </a:rPr>
              <a:t>Develops reducing atmosphere and prevents oxidation.</a:t>
            </a:r>
          </a:p>
          <a:p>
            <a:r>
              <a:rPr lang="en-IN" sz="2800" dirty="0">
                <a:latin typeface="Times New Roman" panose="02020603050405020304" pitchFamily="18" charset="0"/>
                <a:cs typeface="Times New Roman" panose="02020603050405020304" pitchFamily="18" charset="0"/>
              </a:rPr>
              <a:t>Forms separable slag from metal impurities.</a:t>
            </a:r>
          </a:p>
          <a:p>
            <a:r>
              <a:rPr lang="en-IN" sz="2800" dirty="0">
                <a:latin typeface="Times New Roman" panose="02020603050405020304" pitchFamily="18" charset="0"/>
                <a:cs typeface="Times New Roman" panose="02020603050405020304" pitchFamily="18" charset="0"/>
              </a:rPr>
              <a:t>Establishes arc stability.</a:t>
            </a:r>
          </a:p>
          <a:p>
            <a:r>
              <a:rPr lang="en-IN" sz="2800" dirty="0">
                <a:latin typeface="Times New Roman" panose="02020603050405020304" pitchFamily="18" charset="0"/>
                <a:cs typeface="Times New Roman" panose="02020603050405020304" pitchFamily="18" charset="0"/>
              </a:rPr>
              <a:t>Improves bead appearance.</a:t>
            </a:r>
          </a:p>
          <a:p>
            <a:r>
              <a:rPr lang="en-IN" sz="2800" dirty="0">
                <a:latin typeface="Times New Roman" panose="02020603050405020304" pitchFamily="18" charset="0"/>
                <a:cs typeface="Times New Roman" panose="02020603050405020304" pitchFamily="18" charset="0"/>
              </a:rPr>
              <a:t>Avoid weld spatter.</a:t>
            </a:r>
          </a:p>
          <a:p>
            <a:r>
              <a:rPr lang="en-IN" sz="2800" dirty="0">
                <a:latin typeface="Times New Roman" panose="02020603050405020304" pitchFamily="18" charset="0"/>
                <a:cs typeface="Times New Roman" panose="02020603050405020304" pitchFamily="18" charset="0"/>
              </a:rPr>
              <a:t>Provides necessary alloying elements to the weld pool. </a:t>
            </a:r>
          </a:p>
          <a:p>
            <a:endParaRPr lang="en-IN" dirty="0"/>
          </a:p>
        </p:txBody>
      </p:sp>
      <p:sp>
        <p:nvSpPr>
          <p:cNvPr id="4" name="Slide Number Placeholder 3">
            <a:extLst>
              <a:ext uri="{FF2B5EF4-FFF2-40B4-BE49-F238E27FC236}">
                <a16:creationId xmlns:a16="http://schemas.microsoft.com/office/drawing/2014/main" id="{2E1ED51F-E629-45F0-BC77-F5D4C6309924}"/>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9</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D0134F32-7295-4A79-AA0D-3BF8EAE29AA0}"/>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Merits of Flux on Electrodes</a:t>
            </a:r>
            <a:endParaRPr lang="en-IN" sz="3200" dirty="0">
              <a:solidFill>
                <a:schemeClr val="accent5">
                  <a:lumMod val="75000"/>
                </a:schemeClr>
              </a:solidFill>
            </a:endParaRPr>
          </a:p>
        </p:txBody>
      </p:sp>
    </p:spTree>
    <p:extLst>
      <p:ext uri="{BB962C8B-B14F-4D97-AF65-F5344CB8AC3E}">
        <p14:creationId xmlns:p14="http://schemas.microsoft.com/office/powerpoint/2010/main" val="1544492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96B2DB-A206-44CA-BA61-F7EC42D7E29C}"/>
              </a:ext>
            </a:extLst>
          </p:cNvPr>
          <p:cNvSpPr>
            <a:spLocks noGrp="1"/>
          </p:cNvSpPr>
          <p:nvPr>
            <p:ph idx="1"/>
          </p:nvPr>
        </p:nvSpPr>
        <p:spPr>
          <a:xfrm>
            <a:off x="756139" y="1138989"/>
            <a:ext cx="10515600" cy="4604223"/>
          </a:xfrm>
        </p:spPr>
        <p:txBody>
          <a:bodyPr>
            <a:normAutofit lnSpcReduction="10000"/>
          </a:bodyPr>
          <a:lstStyle/>
          <a:p>
            <a:pPr marL="0" indent="0">
              <a:buNone/>
            </a:pPr>
            <a:r>
              <a:rPr lang="en-IN" sz="2800" b="1" dirty="0">
                <a:latin typeface="Times New Roman" panose="02020603050405020304" pitchFamily="18" charset="0"/>
                <a:cs typeface="Times New Roman" panose="02020603050405020304" pitchFamily="18" charset="0"/>
              </a:rPr>
              <a:t>Cellulose coating:</a:t>
            </a:r>
          </a:p>
          <a:p>
            <a:pPr algn="just"/>
            <a:r>
              <a:rPr lang="en-IN" sz="2800" dirty="0">
                <a:latin typeface="Times New Roman" panose="02020603050405020304" pitchFamily="18" charset="0"/>
                <a:cs typeface="Times New Roman" panose="02020603050405020304" pitchFamily="18" charset="0"/>
              </a:rPr>
              <a:t>Good penetration, CO and Hydrogen generate during process makes joint brittle.</a:t>
            </a:r>
          </a:p>
          <a:p>
            <a:pPr marL="0" indent="0" algn="just">
              <a:buNone/>
            </a:pPr>
            <a:r>
              <a:rPr lang="en-IN" sz="2800" b="1" dirty="0">
                <a:latin typeface="Times New Roman" panose="02020603050405020304" pitchFamily="18" charset="0"/>
                <a:cs typeface="Times New Roman" panose="02020603050405020304" pitchFamily="18" charset="0"/>
              </a:rPr>
              <a:t>Rutile coating:</a:t>
            </a:r>
          </a:p>
          <a:p>
            <a:pPr algn="just"/>
            <a:r>
              <a:rPr lang="en-IN" sz="2800" dirty="0">
                <a:latin typeface="Times New Roman" panose="02020603050405020304" pitchFamily="18" charset="0"/>
                <a:cs typeface="Times New Roman" panose="02020603050405020304" pitchFamily="18" charset="0"/>
              </a:rPr>
              <a:t>More Titanium Dioxide as compared to first one.</a:t>
            </a:r>
          </a:p>
          <a:p>
            <a:pPr marL="0" indent="0" algn="just">
              <a:buNone/>
            </a:pPr>
            <a:r>
              <a:rPr lang="en-IN" sz="2800" b="1" dirty="0">
                <a:latin typeface="Times New Roman" panose="02020603050405020304" pitchFamily="18" charset="0"/>
                <a:cs typeface="Times New Roman" panose="02020603050405020304" pitchFamily="18" charset="0"/>
              </a:rPr>
              <a:t>Iron oxide coating: </a:t>
            </a:r>
            <a:endParaRPr lang="en-IN" sz="2800" dirty="0">
              <a:latin typeface="Times New Roman" panose="02020603050405020304" pitchFamily="18" charset="0"/>
              <a:cs typeface="Times New Roman" panose="02020603050405020304" pitchFamily="18" charset="0"/>
            </a:endParaRPr>
          </a:p>
          <a:p>
            <a:pPr algn="just"/>
            <a:r>
              <a:rPr lang="en-IN" sz="2800" dirty="0">
                <a:latin typeface="Times New Roman" panose="02020603050405020304" pitchFamily="18" charset="0"/>
                <a:cs typeface="Times New Roman" panose="02020603050405020304" pitchFamily="18" charset="0"/>
              </a:rPr>
              <a:t>Less gas produced, protection by slag.</a:t>
            </a:r>
          </a:p>
          <a:p>
            <a:pPr marL="0" indent="0" algn="just">
              <a:buNone/>
            </a:pPr>
            <a:r>
              <a:rPr lang="en-IN" sz="2800" b="1" dirty="0">
                <a:latin typeface="Times New Roman" panose="02020603050405020304" pitchFamily="18" charset="0"/>
                <a:cs typeface="Times New Roman" panose="02020603050405020304" pitchFamily="18" charset="0"/>
              </a:rPr>
              <a:t>Basic or low Hydrogen generating content coating: </a:t>
            </a:r>
          </a:p>
          <a:p>
            <a:pPr algn="just"/>
            <a:r>
              <a:rPr lang="en-IN" sz="2800" dirty="0">
                <a:latin typeface="Times New Roman" panose="02020603050405020304" pitchFamily="18" charset="0"/>
                <a:cs typeface="Times New Roman" panose="02020603050405020304" pitchFamily="18" charset="0"/>
              </a:rPr>
              <a:t>Calcium carbonate and calcium fluoride produce CO + CO</a:t>
            </a:r>
            <a:r>
              <a:rPr lang="en-IN" sz="2800" baseline="-25000" dirty="0">
                <a:latin typeface="Times New Roman" panose="02020603050405020304" pitchFamily="18" charset="0"/>
                <a:cs typeface="Times New Roman" panose="02020603050405020304" pitchFamily="18" charset="0"/>
              </a:rPr>
              <a:t>2,</a:t>
            </a:r>
            <a:r>
              <a:rPr lang="en-IN" sz="2800" dirty="0">
                <a:latin typeface="Times New Roman" panose="02020603050405020304" pitchFamily="18" charset="0"/>
                <a:cs typeface="Times New Roman" panose="02020603050405020304" pitchFamily="18" charset="0"/>
              </a:rPr>
              <a:t> short arc length is maintained for protection.</a:t>
            </a:r>
          </a:p>
          <a:p>
            <a:endParaRPr lang="en-IN" sz="2800" dirty="0">
              <a:latin typeface="Times New Roman" panose="02020603050405020304" pitchFamily="18" charset="0"/>
              <a:cs typeface="Times New Roman" panose="02020603050405020304" pitchFamily="18" charset="0"/>
            </a:endParaRPr>
          </a:p>
          <a:p>
            <a:endParaRPr lang="en-IN" dirty="0"/>
          </a:p>
          <a:p>
            <a:endParaRPr lang="en-IN" dirty="0"/>
          </a:p>
        </p:txBody>
      </p:sp>
      <p:sp>
        <p:nvSpPr>
          <p:cNvPr id="4" name="Slide Number Placeholder 3">
            <a:extLst>
              <a:ext uri="{FF2B5EF4-FFF2-40B4-BE49-F238E27FC236}">
                <a16:creationId xmlns:a16="http://schemas.microsoft.com/office/drawing/2014/main" id="{14E2EE4A-6C1F-4D2E-930F-9050FE200BF5}"/>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10</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2051C43C-D015-4716-B4F2-202DD56F114A}"/>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Types of Flux Coating</a:t>
            </a:r>
            <a:endParaRPr lang="en-IN" sz="3200" dirty="0">
              <a:solidFill>
                <a:schemeClr val="accent5">
                  <a:lumMod val="75000"/>
                </a:schemeClr>
              </a:solidFill>
            </a:endParaRPr>
          </a:p>
        </p:txBody>
      </p:sp>
    </p:spTree>
    <p:extLst>
      <p:ext uri="{BB962C8B-B14F-4D97-AF65-F5344CB8AC3E}">
        <p14:creationId xmlns:p14="http://schemas.microsoft.com/office/powerpoint/2010/main" val="961016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7D55BB-47D9-491C-889D-106D06E9E274}"/>
              </a:ext>
            </a:extLst>
          </p:cNvPr>
          <p:cNvSpPr>
            <a:spLocks noGrp="1"/>
          </p:cNvSpPr>
          <p:nvPr>
            <p:ph idx="1"/>
          </p:nvPr>
        </p:nvSpPr>
        <p:spPr>
          <a:xfrm>
            <a:off x="756139" y="1122947"/>
            <a:ext cx="10515600" cy="4620265"/>
          </a:xfrm>
        </p:spPr>
        <p:txBody>
          <a:bodyPr>
            <a:normAutofit/>
          </a:bodyPr>
          <a:lstStyle/>
          <a:p>
            <a:pPr marL="0" indent="0" algn="just">
              <a:buNone/>
            </a:pPr>
            <a:r>
              <a:rPr lang="en-IN" sz="2800" b="1" dirty="0">
                <a:latin typeface="Times New Roman" panose="02020603050405020304" pitchFamily="18" charset="0"/>
                <a:cs typeface="Times New Roman" panose="02020603050405020304" pitchFamily="18" charset="0"/>
              </a:rPr>
              <a:t>Connecting Cables Welding:</a:t>
            </a:r>
          </a:p>
          <a:p>
            <a:pPr algn="just"/>
            <a:r>
              <a:rPr lang="en-IN" sz="2800" dirty="0">
                <a:latin typeface="Times New Roman" panose="02020603050405020304" pitchFamily="18" charset="0"/>
                <a:cs typeface="Times New Roman" panose="02020603050405020304" pitchFamily="18" charset="0"/>
              </a:rPr>
              <a:t>The cable used to connect electrode holder with power source it is flexible enough to facilitate easy movement of electrode. The cable is provided with good insulation coating and can bear high current.</a:t>
            </a:r>
          </a:p>
          <a:p>
            <a:pPr marL="0" indent="0" algn="just">
              <a:buNone/>
            </a:pPr>
            <a:r>
              <a:rPr lang="en-IN" sz="2800" b="1" dirty="0">
                <a:latin typeface="Times New Roman" panose="02020603050405020304" pitchFamily="18" charset="0"/>
                <a:cs typeface="Times New Roman" panose="02020603050405020304" pitchFamily="18" charset="0"/>
              </a:rPr>
              <a:t>Welding Shield:</a:t>
            </a:r>
          </a:p>
          <a:p>
            <a:pPr algn="just"/>
            <a:r>
              <a:rPr lang="en-IN" sz="2800" dirty="0">
                <a:latin typeface="Times New Roman" panose="02020603050405020304" pitchFamily="18" charset="0"/>
                <a:cs typeface="Times New Roman" panose="02020603050405020304" pitchFamily="18" charset="0"/>
              </a:rPr>
              <a:t>Welding shield is used for the protection of eyes of the welder from ultraviolet radiations which may cause permanent damage to eyes. </a:t>
            </a:r>
          </a:p>
          <a:p>
            <a:pPr marL="0" indent="0" algn="just">
              <a:buNone/>
            </a:pPr>
            <a:r>
              <a:rPr lang="en-IN" sz="2800" b="1" dirty="0">
                <a:latin typeface="Times New Roman" panose="02020603050405020304" pitchFamily="18" charset="0"/>
                <a:cs typeface="Times New Roman" panose="02020603050405020304" pitchFamily="18" charset="0"/>
              </a:rPr>
              <a:t>Chipping Hammer:</a:t>
            </a:r>
          </a:p>
          <a:p>
            <a:pPr algn="just"/>
            <a:r>
              <a:rPr lang="en-IN" sz="2800" dirty="0">
                <a:latin typeface="Times New Roman" panose="02020603050405020304" pitchFamily="18" charset="0"/>
                <a:cs typeface="Times New Roman" panose="02020603050405020304" pitchFamily="18" charset="0"/>
              </a:rPr>
              <a:t>Chipping hammer is also used to remove slag coating to clean the joint.</a:t>
            </a:r>
          </a:p>
          <a:p>
            <a:pPr marL="0" indent="0">
              <a:buNone/>
            </a:pPr>
            <a:endParaRPr lang="en-IN" dirty="0"/>
          </a:p>
        </p:txBody>
      </p:sp>
      <p:sp>
        <p:nvSpPr>
          <p:cNvPr id="4" name="Slide Number Placeholder 3">
            <a:extLst>
              <a:ext uri="{FF2B5EF4-FFF2-40B4-BE49-F238E27FC236}">
                <a16:creationId xmlns:a16="http://schemas.microsoft.com/office/drawing/2014/main" id="{5CF356FD-F795-4287-A8A5-8B787849D91F}"/>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11</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8B898659-E662-440B-B394-14E46F5BB070}"/>
              </a:ext>
            </a:extLst>
          </p:cNvPr>
          <p:cNvSpPr txBox="1">
            <a:spLocks/>
          </p:cNvSpPr>
          <p:nvPr/>
        </p:nvSpPr>
        <p:spPr>
          <a:xfrm>
            <a:off x="756139" y="158584"/>
            <a:ext cx="4938808"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Other Welding Equipment</a:t>
            </a:r>
            <a:endParaRPr lang="en-IN" sz="3200" dirty="0">
              <a:solidFill>
                <a:schemeClr val="accent5">
                  <a:lumMod val="75000"/>
                </a:schemeClr>
              </a:solidFill>
            </a:endParaRPr>
          </a:p>
        </p:txBody>
      </p:sp>
    </p:spTree>
    <p:extLst>
      <p:ext uri="{BB962C8B-B14F-4D97-AF65-F5344CB8AC3E}">
        <p14:creationId xmlns:p14="http://schemas.microsoft.com/office/powerpoint/2010/main" val="4082327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10FCDC-63D2-467C-96F1-F9816E431CF8}"/>
              </a:ext>
            </a:extLst>
          </p:cNvPr>
          <p:cNvSpPr>
            <a:spLocks noGrp="1"/>
          </p:cNvSpPr>
          <p:nvPr>
            <p:ph idx="1"/>
          </p:nvPr>
        </p:nvSpPr>
        <p:spPr/>
        <p:txBody>
          <a:bodyPr>
            <a:normAutofit/>
          </a:bodyPr>
          <a:lstStyle/>
          <a:p>
            <a:pPr marL="0" indent="0">
              <a:buNone/>
            </a:pPr>
            <a:r>
              <a:rPr lang="en-IN" sz="2800" b="1" dirty="0">
                <a:latin typeface="Times New Roman" panose="02020603050405020304" pitchFamily="18" charset="0"/>
                <a:cs typeface="Times New Roman" panose="02020603050405020304" pitchFamily="18" charset="0"/>
              </a:rPr>
              <a:t>Work angle</a:t>
            </a:r>
          </a:p>
          <a:p>
            <a:pPr marL="0" indent="0">
              <a:buNone/>
            </a:pPr>
            <a:r>
              <a:rPr lang="en-IN" sz="2800" b="1" dirty="0">
                <a:latin typeface="Times New Roman" panose="02020603050405020304" pitchFamily="18" charset="0"/>
                <a:cs typeface="Times New Roman" panose="02020603050405020304" pitchFamily="18" charset="0"/>
              </a:rPr>
              <a:t>Travel angle</a:t>
            </a:r>
          </a:p>
          <a:p>
            <a:pPr marL="0" indent="0">
              <a:buNone/>
            </a:pPr>
            <a:r>
              <a:rPr lang="en-IN" sz="2800" b="1" dirty="0">
                <a:latin typeface="Times New Roman" panose="02020603050405020304" pitchFamily="18" charset="0"/>
                <a:cs typeface="Times New Roman" panose="02020603050405020304" pitchFamily="18" charset="0"/>
              </a:rPr>
              <a:t>Arc length</a:t>
            </a:r>
          </a:p>
          <a:p>
            <a:pPr marL="0" indent="0">
              <a:buNone/>
            </a:pPr>
            <a:r>
              <a:rPr lang="en-IN" sz="2800" b="1" dirty="0">
                <a:latin typeface="Times New Roman" panose="02020603050405020304" pitchFamily="18" charset="0"/>
                <a:cs typeface="Times New Roman" panose="02020603050405020304" pitchFamily="18" charset="0"/>
              </a:rPr>
              <a:t>Travel speed</a:t>
            </a:r>
          </a:p>
        </p:txBody>
      </p:sp>
      <p:sp>
        <p:nvSpPr>
          <p:cNvPr id="4" name="Slide Number Placeholder 3">
            <a:extLst>
              <a:ext uri="{FF2B5EF4-FFF2-40B4-BE49-F238E27FC236}">
                <a16:creationId xmlns:a16="http://schemas.microsoft.com/office/drawing/2014/main" id="{23AD468E-B592-4230-96E8-8B183CEB90F0}"/>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12</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FC7DC075-AD19-4B66-A025-283D5D59097D}"/>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Arc Welding Control Parameters</a:t>
            </a:r>
            <a:endParaRPr lang="en-IN" sz="3200" dirty="0">
              <a:solidFill>
                <a:schemeClr val="accent5">
                  <a:lumMod val="75000"/>
                </a:schemeClr>
              </a:solidFill>
            </a:endParaRPr>
          </a:p>
        </p:txBody>
      </p:sp>
    </p:spTree>
    <p:extLst>
      <p:ext uri="{BB962C8B-B14F-4D97-AF65-F5344CB8AC3E}">
        <p14:creationId xmlns:p14="http://schemas.microsoft.com/office/powerpoint/2010/main" val="302396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4948" y="255854"/>
            <a:ext cx="6318885" cy="512445"/>
          </a:xfrm>
          <a:prstGeom prst="rect">
            <a:avLst/>
          </a:prstGeom>
        </p:spPr>
        <p:txBody>
          <a:bodyPr vert="horz" wrap="square" lIns="0" tIns="12065" rIns="0" bIns="0" rtlCol="0">
            <a:spAutoFit/>
          </a:bodyPr>
          <a:lstStyle/>
          <a:p>
            <a:pPr marL="12700">
              <a:lnSpc>
                <a:spcPct val="100000"/>
              </a:lnSpc>
              <a:spcBef>
                <a:spcPts val="95"/>
              </a:spcBef>
            </a:pPr>
            <a:r>
              <a:rPr sz="3200" b="1" spc="-10" dirty="0">
                <a:latin typeface="Times New Roman"/>
                <a:cs typeface="Times New Roman"/>
              </a:rPr>
              <a:t>Submerged </a:t>
            </a:r>
            <a:r>
              <a:rPr sz="3200" b="1" spc="-20" dirty="0">
                <a:latin typeface="Times New Roman"/>
                <a:cs typeface="Times New Roman"/>
              </a:rPr>
              <a:t>Arc </a:t>
            </a:r>
            <a:r>
              <a:rPr sz="3200" b="1" spc="-30" dirty="0">
                <a:latin typeface="Times New Roman"/>
                <a:cs typeface="Times New Roman"/>
              </a:rPr>
              <a:t>Welding</a:t>
            </a:r>
            <a:r>
              <a:rPr sz="3200" b="1" spc="-145" dirty="0">
                <a:latin typeface="Times New Roman"/>
                <a:cs typeface="Times New Roman"/>
              </a:rPr>
              <a:t> </a:t>
            </a:r>
            <a:r>
              <a:rPr sz="3200" b="1" spc="-10" dirty="0">
                <a:latin typeface="Times New Roman"/>
                <a:cs typeface="Times New Roman"/>
              </a:rPr>
              <a:t>Equipment</a:t>
            </a:r>
            <a:endParaRPr sz="3200">
              <a:latin typeface="Times New Roman"/>
              <a:cs typeface="Times New Roman"/>
            </a:endParaRPr>
          </a:p>
        </p:txBody>
      </p:sp>
      <p:sp>
        <p:nvSpPr>
          <p:cNvPr id="3" name="object 3"/>
          <p:cNvSpPr/>
          <p:nvPr/>
        </p:nvSpPr>
        <p:spPr>
          <a:xfrm>
            <a:off x="3415383" y="1279800"/>
            <a:ext cx="5124914" cy="486335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3209925" y="6180726"/>
            <a:ext cx="5949315" cy="349885"/>
          </a:xfrm>
          <a:prstGeom prst="rect">
            <a:avLst/>
          </a:prstGeom>
        </p:spPr>
        <p:txBody>
          <a:bodyPr vert="horz" wrap="square" lIns="0" tIns="0" rIns="0" bIns="0" rtlCol="0">
            <a:spAutoFit/>
          </a:bodyPr>
          <a:lstStyle/>
          <a:p>
            <a:pPr marL="12700">
              <a:lnSpc>
                <a:spcPts val="2615"/>
              </a:lnSpc>
            </a:pPr>
            <a:r>
              <a:rPr sz="2300" dirty="0">
                <a:latin typeface="Times New Roman"/>
                <a:cs typeface="Times New Roman"/>
              </a:rPr>
              <a:t>Schematic diagram of </a:t>
            </a:r>
            <a:r>
              <a:rPr sz="2300" spc="-5" dirty="0">
                <a:latin typeface="Times New Roman"/>
                <a:cs typeface="Times New Roman"/>
              </a:rPr>
              <a:t>Submerged </a:t>
            </a:r>
            <a:r>
              <a:rPr sz="2300" dirty="0">
                <a:latin typeface="Times New Roman"/>
                <a:cs typeface="Times New Roman"/>
              </a:rPr>
              <a:t>Arc </a:t>
            </a:r>
            <a:r>
              <a:rPr sz="2300" spc="-30" dirty="0">
                <a:latin typeface="Times New Roman"/>
                <a:cs typeface="Times New Roman"/>
              </a:rPr>
              <a:t>Welding</a:t>
            </a:r>
            <a:r>
              <a:rPr sz="2300" spc="-280" dirty="0">
                <a:latin typeface="Times New Roman"/>
                <a:cs typeface="Times New Roman"/>
              </a:rPr>
              <a:t> </a:t>
            </a:r>
            <a:r>
              <a:rPr sz="2300" dirty="0">
                <a:latin typeface="Times New Roman"/>
                <a:cs typeface="Times New Roman"/>
              </a:rPr>
              <a:t>[2]</a:t>
            </a:r>
            <a:endParaRPr sz="2300">
              <a:latin typeface="Times New Roman"/>
              <a:cs typeface="Times New Roman"/>
            </a:endParaRPr>
          </a:p>
        </p:txBody>
      </p:sp>
      <p:sp>
        <p:nvSpPr>
          <p:cNvPr id="5" name="object 5"/>
          <p:cNvSpPr txBox="1">
            <a:spLocks noGrp="1"/>
          </p:cNvSpPr>
          <p:nvPr>
            <p:ph type="sldNum" sz="quarter" idx="7"/>
          </p:nvPr>
        </p:nvSpPr>
        <p:spPr>
          <a:xfrm>
            <a:off x="11087354" y="6595440"/>
            <a:ext cx="204470" cy="178434"/>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888888"/>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1600">
              <a:lnSpc>
                <a:spcPts val="1240"/>
              </a:lnSpc>
            </a:pPr>
            <a:fld id="{81D60167-4931-47E6-BA6A-407CBD079E47}" type="slidenum">
              <a:rPr lang="en-IN" smtClean="0"/>
              <a:pPr marL="101600">
                <a:lnSpc>
                  <a:spcPts val="1240"/>
                </a:lnSpc>
              </a:pPr>
              <a:t>13</a:t>
            </a:fld>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32432" y="1155191"/>
            <a:ext cx="7595616" cy="5001768"/>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834948" y="255854"/>
            <a:ext cx="5685155" cy="512445"/>
          </a:xfrm>
          <a:prstGeom prst="rect">
            <a:avLst/>
          </a:prstGeom>
        </p:spPr>
        <p:txBody>
          <a:bodyPr vert="horz" wrap="square" lIns="0" tIns="12065" rIns="0" bIns="0" rtlCol="0">
            <a:spAutoFit/>
          </a:bodyPr>
          <a:lstStyle/>
          <a:p>
            <a:pPr marL="12700">
              <a:lnSpc>
                <a:spcPct val="100000"/>
              </a:lnSpc>
              <a:spcBef>
                <a:spcPts val="95"/>
              </a:spcBef>
            </a:pPr>
            <a:r>
              <a:rPr sz="3200" b="1" spc="-10" dirty="0">
                <a:latin typeface="Times New Roman"/>
                <a:cs typeface="Times New Roman"/>
              </a:rPr>
              <a:t>Submerged </a:t>
            </a:r>
            <a:r>
              <a:rPr sz="3200" b="1" spc="-20" dirty="0">
                <a:latin typeface="Times New Roman"/>
                <a:cs typeface="Times New Roman"/>
              </a:rPr>
              <a:t>Arc </a:t>
            </a:r>
            <a:r>
              <a:rPr sz="3200" b="1" spc="-30" dirty="0">
                <a:latin typeface="Times New Roman"/>
                <a:cs typeface="Times New Roman"/>
              </a:rPr>
              <a:t>Welding</a:t>
            </a:r>
            <a:r>
              <a:rPr sz="3200" b="1" spc="-135" dirty="0">
                <a:latin typeface="Times New Roman"/>
                <a:cs typeface="Times New Roman"/>
              </a:rPr>
              <a:t> </a:t>
            </a:r>
            <a:r>
              <a:rPr sz="3200" b="1" spc="-15" dirty="0">
                <a:latin typeface="Times New Roman"/>
                <a:cs typeface="Times New Roman"/>
              </a:rPr>
              <a:t>Process</a:t>
            </a:r>
            <a:endParaRPr sz="3200">
              <a:latin typeface="Times New Roman"/>
              <a:cs typeface="Times New Roman"/>
            </a:endParaRPr>
          </a:p>
        </p:txBody>
      </p:sp>
      <p:sp>
        <p:nvSpPr>
          <p:cNvPr id="4" name="object 4"/>
          <p:cNvSpPr txBox="1"/>
          <p:nvPr/>
        </p:nvSpPr>
        <p:spPr>
          <a:xfrm>
            <a:off x="3209925" y="6180726"/>
            <a:ext cx="5949315" cy="349885"/>
          </a:xfrm>
          <a:prstGeom prst="rect">
            <a:avLst/>
          </a:prstGeom>
        </p:spPr>
        <p:txBody>
          <a:bodyPr vert="horz" wrap="square" lIns="0" tIns="0" rIns="0" bIns="0" rtlCol="0">
            <a:spAutoFit/>
          </a:bodyPr>
          <a:lstStyle/>
          <a:p>
            <a:pPr marL="12700">
              <a:lnSpc>
                <a:spcPts val="2615"/>
              </a:lnSpc>
            </a:pPr>
            <a:r>
              <a:rPr sz="2300" dirty="0">
                <a:latin typeface="Times New Roman"/>
                <a:cs typeface="Times New Roman"/>
              </a:rPr>
              <a:t>Schematic diagram of </a:t>
            </a:r>
            <a:r>
              <a:rPr sz="2300" spc="-5" dirty="0">
                <a:latin typeface="Times New Roman"/>
                <a:cs typeface="Times New Roman"/>
              </a:rPr>
              <a:t>Submerged </a:t>
            </a:r>
            <a:r>
              <a:rPr sz="2300" dirty="0">
                <a:latin typeface="Times New Roman"/>
                <a:cs typeface="Times New Roman"/>
              </a:rPr>
              <a:t>Arc </a:t>
            </a:r>
            <a:r>
              <a:rPr sz="2300" spc="-30" dirty="0">
                <a:latin typeface="Times New Roman"/>
                <a:cs typeface="Times New Roman"/>
              </a:rPr>
              <a:t>Welding</a:t>
            </a:r>
            <a:r>
              <a:rPr sz="2300" spc="-280" dirty="0">
                <a:latin typeface="Times New Roman"/>
                <a:cs typeface="Times New Roman"/>
              </a:rPr>
              <a:t> </a:t>
            </a:r>
            <a:r>
              <a:rPr sz="2300" dirty="0">
                <a:latin typeface="Times New Roman"/>
                <a:cs typeface="Times New Roman"/>
              </a:rPr>
              <a:t>[1]</a:t>
            </a:r>
            <a:endParaRPr sz="2300">
              <a:latin typeface="Times New Roman"/>
              <a:cs typeface="Times New Roman"/>
            </a:endParaRPr>
          </a:p>
        </p:txBody>
      </p:sp>
      <p:sp>
        <p:nvSpPr>
          <p:cNvPr id="5" name="object 5"/>
          <p:cNvSpPr txBox="1">
            <a:spLocks noGrp="1"/>
          </p:cNvSpPr>
          <p:nvPr>
            <p:ph type="sldNum" sz="quarter" idx="7"/>
          </p:nvPr>
        </p:nvSpPr>
        <p:spPr>
          <a:xfrm>
            <a:off x="11087354" y="6595440"/>
            <a:ext cx="204470" cy="178434"/>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888888"/>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1600">
              <a:lnSpc>
                <a:spcPts val="1240"/>
              </a:lnSpc>
            </a:pPr>
            <a:fld id="{81D60167-4931-47E6-BA6A-407CBD079E47}" type="slidenum">
              <a:rPr lang="en-IN" smtClean="0"/>
              <a:pPr marL="101600">
                <a:lnSpc>
                  <a:spcPts val="1240"/>
                </a:lnSpc>
              </a:pPr>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4948" y="1261948"/>
            <a:ext cx="10361295" cy="3393440"/>
          </a:xfrm>
          <a:prstGeom prst="rect">
            <a:avLst/>
          </a:prstGeom>
        </p:spPr>
        <p:txBody>
          <a:bodyPr vert="horz" wrap="square" lIns="0" tIns="61594" rIns="0" bIns="0" rtlCol="0">
            <a:spAutoFit/>
          </a:bodyPr>
          <a:lstStyle/>
          <a:p>
            <a:pPr marL="241300" marR="5080" indent="-229235">
              <a:lnSpc>
                <a:spcPts val="3030"/>
              </a:lnSpc>
              <a:spcBef>
                <a:spcPts val="484"/>
              </a:spcBef>
              <a:buFont typeface="Arial"/>
              <a:buChar char="•"/>
              <a:tabLst>
                <a:tab pos="241935" algn="l"/>
              </a:tabLst>
            </a:pPr>
            <a:r>
              <a:rPr sz="2800" dirty="0">
                <a:latin typeface="Times New Roman"/>
                <a:cs typeface="Times New Roman"/>
              </a:rPr>
              <a:t>Flux </a:t>
            </a:r>
            <a:r>
              <a:rPr sz="2800" spc="-5" dirty="0">
                <a:latin typeface="Times New Roman"/>
                <a:cs typeface="Times New Roman"/>
              </a:rPr>
              <a:t>contains </a:t>
            </a:r>
            <a:r>
              <a:rPr sz="2800" spc="-10" dirty="0">
                <a:latin typeface="Times New Roman"/>
                <a:cs typeface="Times New Roman"/>
              </a:rPr>
              <a:t>Calcium </a:t>
            </a:r>
            <a:r>
              <a:rPr sz="2800" dirty="0">
                <a:latin typeface="Times New Roman"/>
                <a:cs typeface="Times New Roman"/>
              </a:rPr>
              <a:t>Oxide, </a:t>
            </a:r>
            <a:r>
              <a:rPr sz="2800" spc="-5" dirty="0">
                <a:latin typeface="Times New Roman"/>
                <a:cs typeface="Times New Roman"/>
              </a:rPr>
              <a:t>Calcium </a:t>
            </a:r>
            <a:r>
              <a:rPr sz="2800" dirty="0">
                <a:latin typeface="Times New Roman"/>
                <a:cs typeface="Times New Roman"/>
              </a:rPr>
              <a:t>Fluoride </a:t>
            </a:r>
            <a:r>
              <a:rPr sz="2800" spc="5" dirty="0">
                <a:latin typeface="Times New Roman"/>
                <a:cs typeface="Times New Roman"/>
              </a:rPr>
              <a:t>and </a:t>
            </a:r>
            <a:r>
              <a:rPr sz="2800" spc="-10" dirty="0">
                <a:latin typeface="Times New Roman"/>
                <a:cs typeface="Times New Roman"/>
              </a:rPr>
              <a:t>Silica </a:t>
            </a:r>
            <a:r>
              <a:rPr sz="2800" spc="-5" dirty="0">
                <a:latin typeface="Times New Roman"/>
                <a:cs typeface="Times New Roman"/>
              </a:rPr>
              <a:t>sintered </a:t>
            </a:r>
            <a:r>
              <a:rPr sz="2800" spc="-15" dirty="0">
                <a:latin typeface="Times New Roman"/>
                <a:cs typeface="Times New Roman"/>
              </a:rPr>
              <a:t>to </a:t>
            </a:r>
            <a:r>
              <a:rPr sz="2800" spc="670" dirty="0">
                <a:latin typeface="Times New Roman"/>
                <a:cs typeface="Times New Roman"/>
              </a:rPr>
              <a:t> </a:t>
            </a:r>
            <a:r>
              <a:rPr sz="2800" spc="5" dirty="0">
                <a:latin typeface="Times New Roman"/>
                <a:cs typeface="Times New Roman"/>
              </a:rPr>
              <a:t>form coarse</a:t>
            </a:r>
            <a:r>
              <a:rPr sz="2800" spc="-85" dirty="0">
                <a:latin typeface="Times New Roman"/>
                <a:cs typeface="Times New Roman"/>
              </a:rPr>
              <a:t> </a:t>
            </a:r>
            <a:r>
              <a:rPr sz="2800" spc="-15" dirty="0">
                <a:latin typeface="Times New Roman"/>
                <a:cs typeface="Times New Roman"/>
              </a:rPr>
              <a:t>powder.</a:t>
            </a:r>
            <a:endParaRPr sz="2800">
              <a:latin typeface="Times New Roman"/>
              <a:cs typeface="Times New Roman"/>
            </a:endParaRPr>
          </a:p>
          <a:p>
            <a:pPr marL="241300" indent="-229235">
              <a:lnSpc>
                <a:spcPct val="100000"/>
              </a:lnSpc>
              <a:spcBef>
                <a:spcPts val="600"/>
              </a:spcBef>
              <a:buFont typeface="Arial"/>
              <a:buChar char="•"/>
              <a:tabLst>
                <a:tab pos="241935" algn="l"/>
              </a:tabLst>
            </a:pPr>
            <a:r>
              <a:rPr sz="2800" spc="5" dirty="0">
                <a:latin typeface="Times New Roman"/>
                <a:cs typeface="Times New Roman"/>
              </a:rPr>
              <a:t>Flux powder is spread </a:t>
            </a:r>
            <a:r>
              <a:rPr sz="2800" spc="10" dirty="0">
                <a:latin typeface="Times New Roman"/>
                <a:cs typeface="Times New Roman"/>
              </a:rPr>
              <a:t>on the </a:t>
            </a:r>
            <a:r>
              <a:rPr sz="2800" dirty="0">
                <a:latin typeface="Times New Roman"/>
                <a:cs typeface="Times New Roman"/>
              </a:rPr>
              <a:t>joint </a:t>
            </a:r>
            <a:r>
              <a:rPr sz="2800" spc="5" dirty="0">
                <a:latin typeface="Times New Roman"/>
                <a:cs typeface="Times New Roman"/>
              </a:rPr>
              <a:t>to be</a:t>
            </a:r>
            <a:r>
              <a:rPr sz="2800" spc="-365" dirty="0">
                <a:latin typeface="Times New Roman"/>
                <a:cs typeface="Times New Roman"/>
              </a:rPr>
              <a:t> </a:t>
            </a:r>
            <a:r>
              <a:rPr sz="2800" dirty="0">
                <a:latin typeface="Times New Roman"/>
                <a:cs typeface="Times New Roman"/>
              </a:rPr>
              <a:t>weld.</a:t>
            </a:r>
            <a:endParaRPr sz="2800">
              <a:latin typeface="Times New Roman"/>
              <a:cs typeface="Times New Roman"/>
            </a:endParaRPr>
          </a:p>
          <a:p>
            <a:pPr marL="241300" indent="-229235">
              <a:lnSpc>
                <a:spcPct val="100000"/>
              </a:lnSpc>
              <a:spcBef>
                <a:spcPts val="675"/>
              </a:spcBef>
              <a:buFont typeface="Arial"/>
              <a:buChar char="•"/>
              <a:tabLst>
                <a:tab pos="241935" algn="l"/>
              </a:tabLst>
            </a:pPr>
            <a:r>
              <a:rPr sz="2800" spc="5" dirty="0">
                <a:latin typeface="Times New Roman"/>
                <a:cs typeface="Times New Roman"/>
              </a:rPr>
              <a:t>Metal </a:t>
            </a:r>
            <a:r>
              <a:rPr sz="2800" dirty="0">
                <a:latin typeface="Times New Roman"/>
                <a:cs typeface="Times New Roman"/>
              </a:rPr>
              <a:t>Electrode </a:t>
            </a:r>
            <a:r>
              <a:rPr sz="2800" spc="5" dirty="0">
                <a:latin typeface="Times New Roman"/>
                <a:cs typeface="Times New Roman"/>
              </a:rPr>
              <a:t>is </a:t>
            </a:r>
            <a:r>
              <a:rPr sz="2800" dirty="0">
                <a:latin typeface="Times New Roman"/>
                <a:cs typeface="Times New Roman"/>
              </a:rPr>
              <a:t>fed </a:t>
            </a:r>
            <a:r>
              <a:rPr sz="2800" spc="10" dirty="0">
                <a:latin typeface="Times New Roman"/>
                <a:cs typeface="Times New Roman"/>
              </a:rPr>
              <a:t>into this</a:t>
            </a:r>
            <a:r>
              <a:rPr sz="2800" spc="-305" dirty="0">
                <a:latin typeface="Times New Roman"/>
                <a:cs typeface="Times New Roman"/>
              </a:rPr>
              <a:t> </a:t>
            </a:r>
            <a:r>
              <a:rPr sz="2800" spc="5" dirty="0">
                <a:latin typeface="Times New Roman"/>
                <a:cs typeface="Times New Roman"/>
              </a:rPr>
              <a:t>flux.</a:t>
            </a:r>
            <a:endParaRPr sz="2800">
              <a:latin typeface="Times New Roman"/>
              <a:cs typeface="Times New Roman"/>
            </a:endParaRPr>
          </a:p>
          <a:p>
            <a:pPr marL="241300" indent="-229235">
              <a:lnSpc>
                <a:spcPct val="100000"/>
              </a:lnSpc>
              <a:spcBef>
                <a:spcPts val="670"/>
              </a:spcBef>
              <a:buFont typeface="Arial"/>
              <a:buChar char="•"/>
              <a:tabLst>
                <a:tab pos="241935" algn="l"/>
              </a:tabLst>
            </a:pPr>
            <a:r>
              <a:rPr sz="2800" spc="5" dirty="0">
                <a:latin typeface="Times New Roman"/>
                <a:cs typeface="Times New Roman"/>
              </a:rPr>
              <a:t>Flux </a:t>
            </a:r>
            <a:r>
              <a:rPr sz="2800" spc="-5" dirty="0">
                <a:latin typeface="Times New Roman"/>
                <a:cs typeface="Times New Roman"/>
              </a:rPr>
              <a:t>melts </a:t>
            </a:r>
            <a:r>
              <a:rPr sz="2800" spc="5" dirty="0">
                <a:latin typeface="Times New Roman"/>
                <a:cs typeface="Times New Roman"/>
              </a:rPr>
              <a:t>and cover the </a:t>
            </a:r>
            <a:r>
              <a:rPr sz="2800" dirty="0">
                <a:latin typeface="Times New Roman"/>
                <a:cs typeface="Times New Roman"/>
              </a:rPr>
              <a:t>weld</a:t>
            </a:r>
            <a:r>
              <a:rPr sz="2800" spc="-225" dirty="0">
                <a:latin typeface="Times New Roman"/>
                <a:cs typeface="Times New Roman"/>
              </a:rPr>
              <a:t> </a:t>
            </a:r>
            <a:r>
              <a:rPr sz="2800" spc="5" dirty="0">
                <a:latin typeface="Times New Roman"/>
                <a:cs typeface="Times New Roman"/>
              </a:rPr>
              <a:t>bead.</a:t>
            </a:r>
            <a:endParaRPr sz="2800">
              <a:latin typeface="Times New Roman"/>
              <a:cs typeface="Times New Roman"/>
            </a:endParaRPr>
          </a:p>
          <a:p>
            <a:pPr marL="241300" indent="-229235">
              <a:lnSpc>
                <a:spcPct val="100000"/>
              </a:lnSpc>
              <a:spcBef>
                <a:spcPts val="655"/>
              </a:spcBef>
              <a:buFont typeface="Arial"/>
              <a:buChar char="•"/>
              <a:tabLst>
                <a:tab pos="241935" algn="l"/>
              </a:tabLst>
            </a:pPr>
            <a:r>
              <a:rPr sz="2800" spc="-5" dirty="0">
                <a:latin typeface="Times New Roman"/>
                <a:cs typeface="Times New Roman"/>
              </a:rPr>
              <a:t>AC </a:t>
            </a:r>
            <a:r>
              <a:rPr sz="2800" spc="5" dirty="0">
                <a:latin typeface="Times New Roman"/>
                <a:cs typeface="Times New Roman"/>
              </a:rPr>
              <a:t>and </a:t>
            </a:r>
            <a:r>
              <a:rPr sz="2800" spc="-5" dirty="0">
                <a:latin typeface="Times New Roman"/>
                <a:cs typeface="Times New Roman"/>
              </a:rPr>
              <a:t>DC </a:t>
            </a:r>
            <a:r>
              <a:rPr sz="2800" spc="5" dirty="0">
                <a:latin typeface="Times New Roman"/>
                <a:cs typeface="Times New Roman"/>
              </a:rPr>
              <a:t>is used </a:t>
            </a:r>
            <a:r>
              <a:rPr sz="2800" dirty="0">
                <a:latin typeface="Times New Roman"/>
                <a:cs typeface="Times New Roman"/>
              </a:rPr>
              <a:t>with </a:t>
            </a:r>
            <a:r>
              <a:rPr sz="2800" spc="5" dirty="0">
                <a:latin typeface="Times New Roman"/>
                <a:cs typeface="Times New Roman"/>
              </a:rPr>
              <a:t>current rating </a:t>
            </a:r>
            <a:r>
              <a:rPr sz="2800" spc="10" dirty="0">
                <a:latin typeface="Times New Roman"/>
                <a:cs typeface="Times New Roman"/>
              </a:rPr>
              <a:t>200 </a:t>
            </a:r>
            <a:r>
              <a:rPr sz="2800" spc="5" dirty="0">
                <a:latin typeface="Times New Roman"/>
                <a:cs typeface="Times New Roman"/>
              </a:rPr>
              <a:t>to </a:t>
            </a:r>
            <a:r>
              <a:rPr sz="2800" spc="10" dirty="0">
                <a:latin typeface="Times New Roman"/>
                <a:cs typeface="Times New Roman"/>
              </a:rPr>
              <a:t>2000</a:t>
            </a:r>
            <a:r>
              <a:rPr sz="2800" spc="-370" dirty="0">
                <a:latin typeface="Times New Roman"/>
                <a:cs typeface="Times New Roman"/>
              </a:rPr>
              <a:t> </a:t>
            </a:r>
            <a:r>
              <a:rPr sz="2800" spc="-5" dirty="0">
                <a:latin typeface="Times New Roman"/>
                <a:cs typeface="Times New Roman"/>
              </a:rPr>
              <a:t>amps.</a:t>
            </a:r>
            <a:endParaRPr sz="2800">
              <a:latin typeface="Times New Roman"/>
              <a:cs typeface="Times New Roman"/>
            </a:endParaRPr>
          </a:p>
          <a:p>
            <a:pPr marL="241300" indent="-229235">
              <a:lnSpc>
                <a:spcPct val="100000"/>
              </a:lnSpc>
              <a:spcBef>
                <a:spcPts val="670"/>
              </a:spcBef>
              <a:buFont typeface="Arial"/>
              <a:buChar char="•"/>
              <a:tabLst>
                <a:tab pos="241935" algn="l"/>
              </a:tabLst>
            </a:pPr>
            <a:r>
              <a:rPr sz="2800" dirty="0">
                <a:latin typeface="Times New Roman"/>
                <a:cs typeface="Times New Roman"/>
              </a:rPr>
              <a:t>Used </a:t>
            </a:r>
            <a:r>
              <a:rPr sz="2800" spc="5" dirty="0">
                <a:latin typeface="Times New Roman"/>
                <a:cs typeface="Times New Roman"/>
              </a:rPr>
              <a:t>to </a:t>
            </a:r>
            <a:r>
              <a:rPr sz="2800" dirty="0">
                <a:latin typeface="Times New Roman"/>
                <a:cs typeface="Times New Roman"/>
              </a:rPr>
              <a:t>weld </a:t>
            </a:r>
            <a:r>
              <a:rPr sz="2800" spc="5" dirty="0">
                <a:latin typeface="Times New Roman"/>
                <a:cs typeface="Times New Roman"/>
              </a:rPr>
              <a:t>thick</a:t>
            </a:r>
            <a:r>
              <a:rPr sz="2800" spc="-135" dirty="0">
                <a:latin typeface="Times New Roman"/>
                <a:cs typeface="Times New Roman"/>
              </a:rPr>
              <a:t> </a:t>
            </a:r>
            <a:r>
              <a:rPr sz="2800" spc="5" dirty="0">
                <a:latin typeface="Times New Roman"/>
                <a:cs typeface="Times New Roman"/>
              </a:rPr>
              <a:t>sheets.</a:t>
            </a:r>
            <a:endParaRPr sz="2800">
              <a:latin typeface="Times New Roman"/>
              <a:cs typeface="Times New Roman"/>
            </a:endParaRPr>
          </a:p>
        </p:txBody>
      </p:sp>
      <p:sp>
        <p:nvSpPr>
          <p:cNvPr id="4" name="object 4"/>
          <p:cNvSpPr txBox="1">
            <a:spLocks noGrp="1"/>
          </p:cNvSpPr>
          <p:nvPr>
            <p:ph type="sldNum" sz="quarter" idx="7"/>
          </p:nvPr>
        </p:nvSpPr>
        <p:spPr>
          <a:xfrm>
            <a:off x="11087354" y="6595440"/>
            <a:ext cx="204470" cy="178434"/>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888888"/>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400">
              <a:lnSpc>
                <a:spcPts val="1240"/>
              </a:lnSpc>
            </a:pPr>
            <a:fld id="{81D60167-4931-47E6-BA6A-407CBD079E47}" type="slidenum">
              <a:rPr lang="en-IN" smtClean="0"/>
              <a:pPr marL="101600">
                <a:lnSpc>
                  <a:spcPts val="1240"/>
                </a:lnSpc>
              </a:pPr>
              <a:t>15</a:t>
            </a:fld>
            <a:endParaRPr dirty="0"/>
          </a:p>
        </p:txBody>
      </p:sp>
      <p:sp>
        <p:nvSpPr>
          <p:cNvPr id="3" name="object 3"/>
          <p:cNvSpPr txBox="1">
            <a:spLocks noGrp="1"/>
          </p:cNvSpPr>
          <p:nvPr>
            <p:ph type="title"/>
          </p:nvPr>
        </p:nvSpPr>
        <p:spPr>
          <a:xfrm>
            <a:off x="834948" y="255854"/>
            <a:ext cx="4280535" cy="512445"/>
          </a:xfrm>
          <a:prstGeom prst="rect">
            <a:avLst/>
          </a:prstGeom>
        </p:spPr>
        <p:txBody>
          <a:bodyPr vert="horz" wrap="square" lIns="0" tIns="12065" rIns="0" bIns="0" rtlCol="0">
            <a:spAutoFit/>
          </a:bodyPr>
          <a:lstStyle/>
          <a:p>
            <a:pPr marL="12700">
              <a:lnSpc>
                <a:spcPct val="100000"/>
              </a:lnSpc>
              <a:spcBef>
                <a:spcPts val="95"/>
              </a:spcBef>
            </a:pPr>
            <a:r>
              <a:rPr sz="3200" b="1" spc="-10" dirty="0">
                <a:latin typeface="Times New Roman"/>
                <a:cs typeface="Times New Roman"/>
              </a:rPr>
              <a:t>Submerged </a:t>
            </a:r>
            <a:r>
              <a:rPr sz="3200" b="1" spc="-20" dirty="0">
                <a:latin typeface="Times New Roman"/>
                <a:cs typeface="Times New Roman"/>
              </a:rPr>
              <a:t>Arc</a:t>
            </a:r>
            <a:r>
              <a:rPr sz="3200" b="1" spc="-200" dirty="0">
                <a:latin typeface="Times New Roman"/>
                <a:cs typeface="Times New Roman"/>
              </a:rPr>
              <a:t> </a:t>
            </a:r>
            <a:r>
              <a:rPr sz="3200" b="1" spc="-30" dirty="0">
                <a:latin typeface="Times New Roman"/>
                <a:cs typeface="Times New Roman"/>
              </a:rPr>
              <a:t>Welding</a:t>
            </a:r>
            <a:endParaRPr sz="320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3CD162-89D3-4118-8E15-95B0579A1BF5}"/>
              </a:ext>
            </a:extLst>
          </p:cNvPr>
          <p:cNvSpPr>
            <a:spLocks noGrp="1"/>
          </p:cNvSpPr>
          <p:nvPr>
            <p:ph idx="1"/>
          </p:nvPr>
        </p:nvSpPr>
        <p:spPr/>
        <p:txBody>
          <a:bodyPr/>
          <a:lstStyle/>
          <a:p>
            <a:pPr marL="0" indent="0" algn="just">
              <a:buNone/>
            </a:pPr>
            <a:r>
              <a:rPr lang="en-IN" dirty="0"/>
              <a:t>[1]  </a:t>
            </a:r>
            <a:r>
              <a:rPr lang="en-IN" dirty="0">
                <a:latin typeface="Times New Roman" panose="02020603050405020304" pitchFamily="18" charset="0"/>
                <a:cs typeface="Times New Roman" panose="02020603050405020304" pitchFamily="18" charset="0"/>
              </a:rPr>
              <a:t>Ghosh, A. &amp; Mallik, A.K.; Joining processes, Manufacturing Science, Latest edition.</a:t>
            </a:r>
          </a:p>
          <a:p>
            <a:pPr marL="0" indent="0">
              <a:buNone/>
            </a:pPr>
            <a:r>
              <a:rPr lang="en-IN" dirty="0">
                <a:latin typeface="Times New Roman" panose="02020603050405020304" pitchFamily="18" charset="0"/>
                <a:cs typeface="Times New Roman" panose="02020603050405020304" pitchFamily="18" charset="0"/>
              </a:rPr>
              <a:t>[2] Lecture 19: </a:t>
            </a:r>
            <a:r>
              <a:rPr lang="en-IN" u="sng" dirty="0">
                <a:latin typeface="Times New Roman" panose="02020603050405020304" pitchFamily="18" charset="0"/>
                <a:cs typeface="Times New Roman" panose="02020603050405020304" pitchFamily="18" charset="0"/>
                <a:hlinkClick r:id="rId2"/>
              </a:rPr>
              <a:t>https://drive.google.com/file/d/16o4wOavcwCZW9tFDZPvAkRmMzdt_NfeQ/view</a:t>
            </a: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[3] </a:t>
            </a:r>
            <a:r>
              <a:rPr lang="en-IN" dirty="0" err="1">
                <a:latin typeface="Times New Roman" panose="02020603050405020304" pitchFamily="18" charset="0"/>
                <a:cs typeface="Times New Roman" panose="02020603050405020304" pitchFamily="18" charset="0"/>
              </a:rPr>
              <a:t>Kalpakjian</a:t>
            </a:r>
            <a:r>
              <a:rPr lang="en-IN" dirty="0">
                <a:latin typeface="Times New Roman" panose="02020603050405020304" pitchFamily="18" charset="0"/>
                <a:cs typeface="Times New Roman" panose="02020603050405020304" pitchFamily="18" charset="0"/>
              </a:rPr>
              <a:t>, S &amp; Schmid, S,; Manufacturing Processes for Engineering Materials, Latest edition.</a:t>
            </a:r>
          </a:p>
          <a:p>
            <a:pPr marL="0" indent="0">
              <a:buNone/>
            </a:pPr>
            <a:r>
              <a:rPr lang="en-IN" dirty="0">
                <a:latin typeface="Times New Roman" panose="02020603050405020304" pitchFamily="18" charset="0"/>
                <a:cs typeface="Times New Roman" panose="02020603050405020304" pitchFamily="18" charset="0"/>
              </a:rPr>
              <a:t>[4] Lecture 14 &amp; 15: </a:t>
            </a:r>
            <a:r>
              <a:rPr lang="en-IN" u="sng" dirty="0">
                <a:latin typeface="Times New Roman" panose="02020603050405020304" pitchFamily="18" charset="0"/>
                <a:cs typeface="Times New Roman" panose="02020603050405020304" pitchFamily="18" charset="0"/>
                <a:hlinkClick r:id="rId3"/>
              </a:rPr>
              <a:t>https://nptel.ac.in/courses/112/107/112107089/</a:t>
            </a:r>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E70B8BA-ACC6-4CB0-8092-33C45C7F6457}"/>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16</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EFBC4899-305C-4740-BC11-9191A55B3B7A}"/>
              </a:ext>
            </a:extLst>
          </p:cNvPr>
          <p:cNvSpPr>
            <a:spLocks noGrp="1"/>
          </p:cNvSpPr>
          <p:nvPr>
            <p:ph type="title"/>
          </p:nvPr>
        </p:nvSpPr>
        <p:spPr>
          <a:xfrm>
            <a:off x="756139" y="158584"/>
            <a:ext cx="7280956" cy="780734"/>
          </a:xfrm>
        </p:spPr>
        <p:txBody>
          <a:bodyPr>
            <a:normAutofit/>
          </a:body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References / Further Readings</a:t>
            </a:r>
            <a:endParaRPr lang="en-IN" sz="3200" dirty="0">
              <a:solidFill>
                <a:schemeClr val="accent5">
                  <a:lumMod val="75000"/>
                </a:schemeClr>
              </a:solidFill>
            </a:endParaRPr>
          </a:p>
        </p:txBody>
      </p:sp>
    </p:spTree>
    <p:extLst>
      <p:ext uri="{BB962C8B-B14F-4D97-AF65-F5344CB8AC3E}">
        <p14:creationId xmlns:p14="http://schemas.microsoft.com/office/powerpoint/2010/main" val="3090043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ounded Rectangle 18">
            <a:extLst>
              <a:ext uri="{FF2B5EF4-FFF2-40B4-BE49-F238E27FC236}">
                <a16:creationId xmlns:a16="http://schemas.microsoft.com/office/drawing/2014/main" id="{283A93BD-A469-4D4C-8A1F-5668AE9758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8565" y="503573"/>
            <a:ext cx="7134870" cy="3599401"/>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40 Perfect thank you messages (Appreciation sms)">
            <a:extLst>
              <a:ext uri="{FF2B5EF4-FFF2-40B4-BE49-F238E27FC236}">
                <a16:creationId xmlns:a16="http://schemas.microsoft.com/office/drawing/2014/main" id="{0EF917C7-33B0-4584-96EC-D99575EC62A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2169" r="2" b="2"/>
          <a:stretch/>
        </p:blipFill>
        <p:spPr bwMode="auto">
          <a:xfrm>
            <a:off x="2694432" y="666497"/>
            <a:ext cx="6803136" cy="3273552"/>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3D0FC1B-8562-4575-9EEC-3FE101CA93E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B0224EE6-E032-0A4B-A8B2-3B3E72DB7979}" type="slidenum">
              <a:rPr lang="en-US" smtClean="0">
                <a:solidFill>
                  <a:prstClr val="black">
                    <a:tint val="75000"/>
                  </a:prstClr>
                </a:solidFill>
                <a:latin typeface="Calibri" panose="020F0502020204030204"/>
              </a:rPr>
              <a:pPr>
                <a:spcAft>
                  <a:spcPts val="600"/>
                </a:spcAft>
                <a:defRPr/>
              </a:pPr>
              <a:t>17</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246172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6734</TotalTime>
  <Words>816</Words>
  <Application>Microsoft Office PowerPoint</Application>
  <PresentationFormat>Widescreen</PresentationFormat>
  <Paragraphs>116</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Courier New</vt:lpstr>
      <vt:lpstr>Times New Roman</vt:lpstr>
      <vt:lpstr>Trebuchet MS</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Submerged Arc Welding Equipment</vt:lpstr>
      <vt:lpstr>Submerged Arc Welding Process</vt:lpstr>
      <vt:lpstr>Submerged Arc Welding</vt:lpstr>
      <vt:lpstr>References / Further Readings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Ravi Kant Gupta [MU - Jaipur]</dc:creator>
  <cp:lastModifiedBy>Dr. Ashok Kumar Sharma [MU - Jaipur]</cp:lastModifiedBy>
  <cp:revision>266</cp:revision>
  <dcterms:created xsi:type="dcterms:W3CDTF">2018-05-04T09:20:58Z</dcterms:created>
  <dcterms:modified xsi:type="dcterms:W3CDTF">2025-08-09T16:39:53Z</dcterms:modified>
</cp:coreProperties>
</file>