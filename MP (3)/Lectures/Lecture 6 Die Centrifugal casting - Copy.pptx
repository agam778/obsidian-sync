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8"/>
  </p:notesMasterIdLst>
  <p:sldIdLst>
    <p:sldId id="363" r:id="rId2"/>
    <p:sldId id="342" r:id="rId3"/>
    <p:sldId id="370" r:id="rId4"/>
    <p:sldId id="382" r:id="rId5"/>
    <p:sldId id="368" r:id="rId6"/>
    <p:sldId id="369" r:id="rId7"/>
    <p:sldId id="364" r:id="rId8"/>
    <p:sldId id="384" r:id="rId9"/>
    <p:sldId id="372" r:id="rId10"/>
    <p:sldId id="373" r:id="rId11"/>
    <p:sldId id="383" r:id="rId12"/>
    <p:sldId id="379" r:id="rId13"/>
    <p:sldId id="374" r:id="rId14"/>
    <p:sldId id="375" r:id="rId15"/>
    <p:sldId id="380" r:id="rId16"/>
    <p:sldId id="3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9252"/>
    <a:srgbClr val="FF66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6" autoAdjust="0"/>
    <p:restoredTop sz="88312" autoAdjust="0"/>
  </p:normalViewPr>
  <p:slideViewPr>
    <p:cSldViewPr snapToGrid="0" showGuides="1">
      <p:cViewPr varScale="1">
        <p:scale>
          <a:sx n="63" d="100"/>
          <a:sy n="63" d="100"/>
        </p:scale>
        <p:origin x="744" y="56"/>
      </p:cViewPr>
      <p:guideLst>
        <p:guide orient="horz" pos="2136"/>
        <p:guide pos="3840"/>
      </p:guideLst>
    </p:cSldViewPr>
  </p:slideViewPr>
  <p:notesTextViewPr>
    <p:cViewPr>
      <p:scale>
        <a:sx n="1" d="1"/>
        <a:sy n="1" d="1"/>
      </p:scale>
      <p:origin x="0" y="0"/>
    </p:cViewPr>
  </p:notesTextViewPr>
  <p:sorterViewPr>
    <p:cViewPr>
      <p:scale>
        <a:sx n="100" d="100"/>
        <a:sy n="100"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D159C-51B0-40A3-8694-41A37F70563A}"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4F81C-B500-4E97-922A-F612A414F54B}" type="slidenum">
              <a:rPr lang="en-US" smtClean="0"/>
              <a:t>‹#›</a:t>
            </a:fld>
            <a:endParaRPr lang="en-US"/>
          </a:p>
        </p:txBody>
      </p:sp>
    </p:spTree>
    <p:extLst>
      <p:ext uri="{BB962C8B-B14F-4D97-AF65-F5344CB8AC3E}">
        <p14:creationId xmlns:p14="http://schemas.microsoft.com/office/powerpoint/2010/main" val="150401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234F81C-B500-4E97-922A-F612A414F54B}" type="slidenum">
              <a:rPr lang="en-US" smtClean="0"/>
              <a:t>6</a:t>
            </a:fld>
            <a:endParaRPr lang="en-US"/>
          </a:p>
        </p:txBody>
      </p:sp>
    </p:spTree>
    <p:extLst>
      <p:ext uri="{BB962C8B-B14F-4D97-AF65-F5344CB8AC3E}">
        <p14:creationId xmlns:p14="http://schemas.microsoft.com/office/powerpoint/2010/main" val="3401904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a:xfrm>
            <a:off x="838200"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a:xfrm>
            <a:off x="8610600" y="6485337"/>
            <a:ext cx="2743200" cy="365125"/>
          </a:xfrm>
        </p:spPr>
        <p:txBody>
          <a:bodyPr/>
          <a:lstStyle/>
          <a:p>
            <a:fld id="{790D40CC-89F5-074E-A99F-1FA92DFF8C6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915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139" y="36884"/>
            <a:ext cx="10515600" cy="1325563"/>
          </a:xfrm>
        </p:spPr>
        <p:txBody>
          <a:bodyPr>
            <a:normAutofit/>
          </a:bodyPr>
          <a:lstStyle>
            <a:lvl1pPr>
              <a:defRPr sz="28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a:xfrm>
            <a:off x="756139" y="1391874"/>
            <a:ext cx="10515600" cy="4351338"/>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marL="685783" indent="-228594">
              <a:buSzPct val="80000"/>
              <a:buFont typeface="Wingdings" pitchFamily="2" charset="2"/>
              <a:buChar char="§"/>
              <a:defRPr sz="2000">
                <a:latin typeface="Verdana" panose="020B0604030504040204" pitchFamily="34" charset="0"/>
                <a:ea typeface="Verdana" panose="020B0604030504040204" pitchFamily="34" charset="0"/>
                <a:cs typeface="Verdana" panose="020B0604030504040204" pitchFamily="34" charset="0"/>
              </a:defRPr>
            </a:lvl2pPr>
            <a:lvl3pPr marL="1142971" indent="-228594">
              <a:buSzPct val="70000"/>
              <a:buFont typeface="Courier New" panose="02070309020205020404" pitchFamily="49" charset="0"/>
              <a:buChar char="o"/>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marL="2057349" indent="-228594">
              <a:buSzPct val="60000"/>
              <a:buFont typeface="Wingdings" pitchFamily="2" charset="2"/>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354">
            <a:extLst>
              <a:ext uri="{FF2B5EF4-FFF2-40B4-BE49-F238E27FC236}">
                <a16:creationId xmlns:a16="http://schemas.microsoft.com/office/drawing/2014/main" id="{6E1A2C32-3B4B-1241-8B0E-0DC4FD15B916}"/>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406ADC65-CA76-7742-A967-9DA419BE78F4}"/>
              </a:ext>
            </a:extLst>
          </p:cNvPr>
          <p:cNvPicPr>
            <a:picLocks noChangeAspect="1"/>
          </p:cNvPicPr>
          <p:nvPr userDrawn="1"/>
        </p:nvPicPr>
        <p:blipFill>
          <a:blip r:embed="rId2"/>
          <a:stretch>
            <a:fillRect/>
          </a:stretch>
        </p:blipFill>
        <p:spPr>
          <a:xfrm>
            <a:off x="11140521" y="2721"/>
            <a:ext cx="1051481" cy="1101818"/>
          </a:xfrm>
          <a:prstGeom prst="rect">
            <a:avLst/>
          </a:prstGeom>
        </p:spPr>
      </p:pic>
      <p:sp>
        <p:nvSpPr>
          <p:cNvPr id="4" name="Date Placeholder 3">
            <a:extLst>
              <a:ext uri="{FF2B5EF4-FFF2-40B4-BE49-F238E27FC236}">
                <a16:creationId xmlns:a16="http://schemas.microsoft.com/office/drawing/2014/main" id="{89872737-9D6D-8F41-A7B3-4325B7FD1CBB}"/>
              </a:ext>
            </a:extLst>
          </p:cNvPr>
          <p:cNvSpPr>
            <a:spLocks noGrp="1"/>
          </p:cNvSpPr>
          <p:nvPr>
            <p:ph type="dt" sz="half" idx="10"/>
          </p:nvPr>
        </p:nvSpPr>
        <p:spPr>
          <a:xfrm>
            <a:off x="756139"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0B97172E-E9C4-934E-9BB9-BE12C7546B04}"/>
              </a:ext>
            </a:extLst>
          </p:cNvPr>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a:extLst>
              <a:ext uri="{FF2B5EF4-FFF2-40B4-BE49-F238E27FC236}">
                <a16:creationId xmlns:a16="http://schemas.microsoft.com/office/drawing/2014/main" id="{505D8589-C750-3344-A735-35BA55FD8E63}"/>
              </a:ext>
            </a:extLst>
          </p:cNvPr>
          <p:cNvSpPr>
            <a:spLocks noGrp="1"/>
          </p:cNvSpPr>
          <p:nvPr>
            <p:ph type="sldNum" sz="quarter" idx="12"/>
          </p:nvPr>
        </p:nvSpPr>
        <p:spPr>
          <a:xfrm>
            <a:off x="8610600" y="6485337"/>
            <a:ext cx="2743200" cy="365125"/>
          </a:xfrm>
        </p:spPr>
        <p:txBody>
          <a:bodyPr/>
          <a:lstStyle>
            <a:lvl1pPr>
              <a:defRPr/>
            </a:lvl1pPr>
          </a:lstStyle>
          <a:p>
            <a:fld id="{B0224EE6-E032-0A4B-A8B2-3B3E72DB7979}"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390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4000"/>
            </a:lvl1pPr>
          </a:lstStyle>
          <a:p>
            <a:r>
              <a:rPr lang="en-US"/>
              <a:t>Click to edit Master title style</a:t>
            </a:r>
            <a:endParaRPr lang="en-IN"/>
          </a:p>
        </p:txBody>
      </p:sp>
      <p:sp>
        <p:nvSpPr>
          <p:cNvPr id="3" name="Text Placeholder 2"/>
          <p:cNvSpPr>
            <a:spLocks noGrp="1"/>
          </p:cNvSpPr>
          <p:nvPr>
            <p:ph type="body" idx="1"/>
          </p:nvPr>
        </p:nvSpPr>
        <p:spPr>
          <a:xfrm>
            <a:off x="831849" y="458949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04644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415320"/>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0" y="14153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lvl1pPr>
              <a:defRPr/>
            </a:lvl1pPr>
          </a:lstStyle>
          <a:p>
            <a:fld id="{57322C6F-883B-EE4D-9D9D-117DC5B9C5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241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25161"/>
            <a:ext cx="10515600" cy="1325563"/>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9" y="1376365"/>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2002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3" y="1376365"/>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2002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9" name="Slide Number Placeholder 8"/>
          <p:cNvSpPr>
            <a:spLocks noGrp="1"/>
          </p:cNvSpPr>
          <p:nvPr>
            <p:ph type="sldNum" sz="quarter" idx="12"/>
          </p:nvPr>
        </p:nvSpPr>
        <p:spPr/>
        <p:txBody>
          <a:bodyPr/>
          <a:lstStyle/>
          <a:p>
            <a:fld id="{43DB6E5F-7FEB-0648-9FAC-2572B4429CC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087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5" name="Slide Number Placeholder 4"/>
          <p:cNvSpPr>
            <a:spLocks noGrp="1"/>
          </p:cNvSpPr>
          <p:nvPr>
            <p:ph type="sldNum" sz="quarter" idx="12"/>
          </p:nvPr>
        </p:nvSpPr>
        <p:spPr/>
        <p:txBody>
          <a:bodyPr/>
          <a:lstStyle/>
          <a:p>
            <a:fld id="{2B1515BA-1963-5548-A509-B31D6408C04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0606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4" name="Slide Number Placeholder 3"/>
          <p:cNvSpPr>
            <a:spLocks noGrp="1"/>
          </p:cNvSpPr>
          <p:nvPr>
            <p:ph type="sldNum" sz="quarter" idx="12"/>
          </p:nvPr>
        </p:nvSpPr>
        <p:spPr/>
        <p:txBody>
          <a:bodyPr/>
          <a:lstStyle/>
          <a:p>
            <a:fld id="{DCF0632E-D997-4741-9C11-CB4FCA7051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3579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6069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21322"/>
            <a:ext cx="3932237" cy="1600200"/>
          </a:xfrm>
        </p:spPr>
        <p:txBody>
          <a:bodyPr anchor="b">
            <a:normAutofit/>
          </a:bodyPr>
          <a:lstStyle>
            <a:lvl1pPr>
              <a:defRPr sz="2800"/>
            </a:lvl1pPr>
          </a:lstStyle>
          <a:p>
            <a:r>
              <a:rPr lang="en-US"/>
              <a:t>Click to edit Master title style</a:t>
            </a:r>
            <a:endParaRPr lang="en-IN"/>
          </a:p>
        </p:txBody>
      </p:sp>
      <p:sp>
        <p:nvSpPr>
          <p:cNvPr id="3" name="Picture Placeholder 2"/>
          <p:cNvSpPr>
            <a:spLocks noGrp="1"/>
          </p:cNvSpPr>
          <p:nvPr>
            <p:ph type="pic" idx="1"/>
          </p:nvPr>
        </p:nvSpPr>
        <p:spPr>
          <a:xfrm>
            <a:off x="5183188" y="117499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p:cNvSpPr>
            <a:spLocks noGrp="1"/>
          </p:cNvSpPr>
          <p:nvPr>
            <p:ph type="body" sz="half" idx="2"/>
          </p:nvPr>
        </p:nvSpPr>
        <p:spPr>
          <a:xfrm>
            <a:off x="839788" y="2221522"/>
            <a:ext cx="3932237" cy="3811588"/>
          </a:xfrm>
        </p:spPr>
        <p:txBody>
          <a:bodyPr>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A9765D97-2825-F947-8A31-20AC4E20E391}"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8077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7127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E7CE808B-2600-D144-9BD3-F98DDA596C4E}"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8489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9" name="Shape 9"/>
          <p:cNvSpPr>
            <a:spLocks noGrp="1"/>
          </p:cNvSpPr>
          <p:nvPr>
            <p:ph type="title" hasCustomPrompt="1"/>
          </p:nvPr>
        </p:nvSpPr>
        <p:spPr>
          <a:xfrm>
            <a:off x="277158" y="0"/>
            <a:ext cx="11099439" cy="1555576"/>
          </a:xfrm>
          <a:prstGeom prst="rect">
            <a:avLst/>
          </a:prstGeom>
        </p:spPr>
        <p:txBody>
          <a:bodyPr anchor="ctr"/>
          <a:lstStyle>
            <a:lvl1pPr algn="l" defTabSz="457189">
              <a:defRPr sz="2400" b="1">
                <a:solidFill>
                  <a:schemeClr val="tx1"/>
                </a:solidFill>
                <a:uFill>
                  <a:solidFill>
                    <a:srgbClr val="3B7542"/>
                  </a:solidFill>
                </a:uFill>
              </a:defRPr>
            </a:lvl1pPr>
          </a:lstStyle>
          <a:p>
            <a:pPr lvl="0"/>
            <a:r>
              <a:t>Title Text</a:t>
            </a:r>
          </a:p>
        </p:txBody>
      </p:sp>
      <p:sp>
        <p:nvSpPr>
          <p:cNvPr id="6" name="Slide Number Placeholder 5"/>
          <p:cNvSpPr>
            <a:spLocks noGrp="1"/>
          </p:cNvSpPr>
          <p:nvPr>
            <p:ph type="sldNum" sz="quarter" idx="4"/>
          </p:nvPr>
        </p:nvSpPr>
        <p:spPr>
          <a:xfrm>
            <a:off x="8763000" y="6508784"/>
            <a:ext cx="2743200" cy="365125"/>
          </a:xfrm>
          <a:prstGeom prst="rect">
            <a:avLst/>
          </a:prstGeom>
        </p:spPr>
        <p:txBody>
          <a:bodyPr/>
          <a:lstStyle>
            <a:lvl1pPr>
              <a:defRPr lang="en-IN" smtClean="0"/>
            </a:lvl1pPr>
          </a:lstStyle>
          <a:p>
            <a:fld id="{63181617-AE52-40EF-9E8F-5C7C49F4989C}"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13029544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338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37894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48533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3"/>
          </p:nvPr>
        </p:nvSpPr>
        <p:spPr>
          <a:xfrm>
            <a:off x="4038600" y="648533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solidFill>
                  <a:prstClr val="black">
                    <a:tint val="75000"/>
                  </a:prstClr>
                </a:solidFill>
              </a:rPr>
              <a:t>Manipal University Jaipur</a:t>
            </a:r>
          </a:p>
        </p:txBody>
      </p:sp>
      <p:sp>
        <p:nvSpPr>
          <p:cNvPr id="6" name="Slide Number Placeholder 5"/>
          <p:cNvSpPr>
            <a:spLocks noGrp="1"/>
          </p:cNvSpPr>
          <p:nvPr>
            <p:ph type="sldNum" sz="quarter" idx="4"/>
          </p:nvPr>
        </p:nvSpPr>
        <p:spPr>
          <a:xfrm>
            <a:off x="8610600" y="648533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72C30-510C-0841-ADD2-D25B2E586470}" type="slidenum">
              <a:rPr lang="en-IN" smtClean="0">
                <a:solidFill>
                  <a:prstClr val="black">
                    <a:tint val="75000"/>
                  </a:prstClr>
                </a:solidFill>
              </a:rPr>
              <a:pPr/>
              <a:t>‹#›</a:t>
            </a:fld>
            <a:endParaRPr lang="en-IN" dirty="0">
              <a:solidFill>
                <a:prstClr val="black">
                  <a:tint val="75000"/>
                </a:prstClr>
              </a:solidFill>
            </a:endParaRPr>
          </a:p>
        </p:txBody>
      </p:sp>
      <p:sp>
        <p:nvSpPr>
          <p:cNvPr id="7" name="Shape 354">
            <a:extLst>
              <a:ext uri="{FF2B5EF4-FFF2-40B4-BE49-F238E27FC236}">
                <a16:creationId xmlns:a16="http://schemas.microsoft.com/office/drawing/2014/main" id="{75073F86-4F3F-714F-AE37-E67FC08E3BE8}"/>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79FF0070-8C18-FB40-A7E0-7B6340E110C4}"/>
              </a:ext>
            </a:extLst>
          </p:cNvPr>
          <p:cNvPicPr>
            <a:picLocks noChangeAspect="1"/>
          </p:cNvPicPr>
          <p:nvPr userDrawn="1"/>
        </p:nvPicPr>
        <p:blipFill>
          <a:blip r:embed="rId14"/>
          <a:stretch>
            <a:fillRect/>
          </a:stretch>
        </p:blipFill>
        <p:spPr>
          <a:xfrm>
            <a:off x="11140521" y="2721"/>
            <a:ext cx="1051481" cy="1101818"/>
          </a:xfrm>
          <a:prstGeom prst="rect">
            <a:avLst/>
          </a:prstGeom>
        </p:spPr>
      </p:pic>
    </p:spTree>
    <p:extLst>
      <p:ext uri="{BB962C8B-B14F-4D97-AF65-F5344CB8AC3E}">
        <p14:creationId xmlns:p14="http://schemas.microsoft.com/office/powerpoint/2010/main" val="172244556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hf hdr="0" ftr="0" dt="0"/>
  <p:txStyles>
    <p:title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E499A-E92C-4C67-A6C8-3D5FD0951DB6}"/>
              </a:ext>
            </a:extLst>
          </p:cNvPr>
          <p:cNvSpPr>
            <a:spLocks noGrp="1"/>
          </p:cNvSpPr>
          <p:nvPr>
            <p:ph idx="1"/>
          </p:nvPr>
        </p:nvSpPr>
        <p:spPr>
          <a:xfrm>
            <a:off x="4976031" y="963877"/>
            <a:ext cx="6377769" cy="4930246"/>
          </a:xfrm>
        </p:spPr>
        <p:txBody>
          <a:bodyPr anchor="ctr">
            <a:normAutofit/>
          </a:bodyPr>
          <a:lstStyle/>
          <a:p>
            <a:pPr marL="0" indent="0">
              <a:buNone/>
            </a:pPr>
            <a:r>
              <a:rPr lang="en-IN" sz="4000" dirty="0">
                <a:solidFill>
                  <a:schemeClr val="accent5">
                    <a:lumMod val="75000"/>
                  </a:schemeClr>
                </a:solidFill>
                <a:latin typeface="Times New Roman" panose="02020603050405020304" pitchFamily="18" charset="0"/>
                <a:cs typeface="Times New Roman" panose="02020603050405020304" pitchFamily="18" charset="0"/>
              </a:rPr>
              <a:t>Casting Methods: Die Casting</a:t>
            </a:r>
          </a:p>
          <a:p>
            <a:pPr marL="0" indent="0">
              <a:buNone/>
            </a:pPr>
            <a:r>
              <a:rPr lang="en-IN" sz="4000" dirty="0">
                <a:solidFill>
                  <a:schemeClr val="accent5">
                    <a:lumMod val="75000"/>
                  </a:schemeClr>
                </a:solidFill>
                <a:latin typeface="Times New Roman" panose="02020603050405020304" pitchFamily="18" charset="0"/>
                <a:cs typeface="Times New Roman" panose="02020603050405020304" pitchFamily="18" charset="0"/>
              </a:rPr>
              <a:t>Centrifugal Casting</a:t>
            </a:r>
          </a:p>
        </p:txBody>
      </p:sp>
      <p:sp>
        <p:nvSpPr>
          <p:cNvPr id="4" name="Slide Number Placeholder 3">
            <a:extLst>
              <a:ext uri="{FF2B5EF4-FFF2-40B4-BE49-F238E27FC236}">
                <a16:creationId xmlns:a16="http://schemas.microsoft.com/office/drawing/2014/main" id="{DC4B9D61-3A7F-46B9-A456-C27D28D1B910}"/>
              </a:ext>
            </a:extLst>
          </p:cNvPr>
          <p:cNvSpPr>
            <a:spLocks noGrp="1"/>
          </p:cNvSpPr>
          <p:nvPr>
            <p:ph type="sldNum" sz="quarter" idx="12"/>
          </p:nvPr>
        </p:nvSpPr>
        <p:spPr>
          <a:xfrm>
            <a:off x="10571516" y="6033479"/>
            <a:ext cx="782283" cy="365125"/>
          </a:xfrm>
        </p:spPr>
        <p:txBody>
          <a:bodyPr>
            <a:normAutofit/>
          </a:bodyPr>
          <a:lstStyle/>
          <a:p>
            <a:pPr>
              <a:spcAft>
                <a:spcPts val="600"/>
              </a:spcAft>
            </a:pPr>
            <a:fld id="{B0224EE6-E032-0A4B-A8B2-3B3E72DB7979}" type="slidenum">
              <a:rPr lang="en-IN" sz="1050">
                <a:solidFill>
                  <a:schemeClr val="tx1">
                    <a:alpha val="80000"/>
                  </a:schemeClr>
                </a:solidFill>
              </a:rPr>
              <a:pPr>
                <a:spcAft>
                  <a:spcPts val="600"/>
                </a:spcAft>
              </a:pPr>
              <a:t>1</a:t>
            </a:fld>
            <a:endParaRPr lang="en-IN" sz="1050">
              <a:solidFill>
                <a:schemeClr val="tx1">
                  <a:alpha val="80000"/>
                </a:schemeClr>
              </a:solidFill>
            </a:endParaRPr>
          </a:p>
        </p:txBody>
      </p:sp>
      <p:sp>
        <p:nvSpPr>
          <p:cNvPr id="6" name="Content Placeholder 2">
            <a:extLst>
              <a:ext uri="{FF2B5EF4-FFF2-40B4-BE49-F238E27FC236}">
                <a16:creationId xmlns:a16="http://schemas.microsoft.com/office/drawing/2014/main" id="{2B397B5D-885F-4C6F-9A9A-809C2D0C0290}"/>
              </a:ext>
            </a:extLst>
          </p:cNvPr>
          <p:cNvSpPr txBox="1">
            <a:spLocks/>
          </p:cNvSpPr>
          <p:nvPr/>
        </p:nvSpPr>
        <p:spPr>
          <a:xfrm>
            <a:off x="1028703" y="2165685"/>
            <a:ext cx="3108953" cy="2586789"/>
          </a:xfrm>
          <a:prstGeom prst="rect">
            <a:avLst/>
          </a:prstGeom>
        </p:spPr>
        <p:txBody>
          <a:bodyPr vert="horz" lIns="91440" tIns="45720" rIns="91440" bIns="45720" rtlCol="0" anchor="ctr">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SzPct val="80000"/>
              <a:buFont typeface="Wingdings" pitchFamily="2"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SzPct val="70000"/>
              <a:buFont typeface="Courier New" panose="02070309020205020404" pitchFamily="49" charset="0"/>
              <a:buChar char="o"/>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SzPct val="60000"/>
              <a:buFont typeface="Wingdings" pitchFamily="2"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dirty="0">
                <a:solidFill>
                  <a:schemeClr val="accent2">
                    <a:lumMod val="75000"/>
                  </a:schemeClr>
                </a:solidFill>
                <a:latin typeface="Times New Roman" panose="02020603050405020304" pitchFamily="18" charset="0"/>
                <a:cs typeface="Times New Roman" panose="02020603050405020304" pitchFamily="18" charset="0"/>
              </a:rPr>
              <a:t>L</a:t>
            </a:r>
            <a:r>
              <a:rPr lang="en-IN" sz="5400" dirty="0" err="1">
                <a:solidFill>
                  <a:schemeClr val="accent2">
                    <a:lumMod val="75000"/>
                  </a:schemeClr>
                </a:solidFill>
                <a:latin typeface="Times New Roman" panose="02020603050405020304" pitchFamily="18" charset="0"/>
                <a:cs typeface="Times New Roman" panose="02020603050405020304" pitchFamily="18" charset="0"/>
              </a:rPr>
              <a:t>ecture</a:t>
            </a:r>
            <a:r>
              <a:rPr lang="en-IN" sz="5400" dirty="0">
                <a:solidFill>
                  <a:schemeClr val="accent2">
                    <a:lumMod val="75000"/>
                  </a:schemeClr>
                </a:solidFill>
                <a:latin typeface="Times New Roman" panose="02020603050405020304" pitchFamily="18" charset="0"/>
                <a:cs typeface="Times New Roman" panose="02020603050405020304" pitchFamily="18" charset="0"/>
              </a:rPr>
              <a:t> 6</a:t>
            </a:r>
          </a:p>
        </p:txBody>
      </p:sp>
    </p:spTree>
    <p:extLst>
      <p:ext uri="{BB962C8B-B14F-4D97-AF65-F5344CB8AC3E}">
        <p14:creationId xmlns:p14="http://schemas.microsoft.com/office/powerpoint/2010/main" val="356343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6FC502-E2CD-477E-B8CB-2A8A08A3592B}"/>
              </a:ext>
            </a:extLst>
          </p:cNvPr>
          <p:cNvSpPr>
            <a:spLocks noGrp="1"/>
          </p:cNvSpPr>
          <p:nvPr>
            <p:ph idx="1"/>
          </p:nvPr>
        </p:nvSpPr>
        <p:spPr>
          <a:xfrm>
            <a:off x="756139" y="1253331"/>
            <a:ext cx="10515600" cy="4351338"/>
          </a:xfrm>
        </p:spPr>
        <p:txBody>
          <a:bodyPr>
            <a:normAutofit/>
          </a:bodyPr>
          <a:lstStyle/>
          <a:p>
            <a:pPr algn="just"/>
            <a:r>
              <a:rPr lang="en-US" sz="2800" dirty="0">
                <a:latin typeface="Times New Roman" panose="02020603050405020304" pitchFamily="18" charset="0"/>
                <a:cs typeface="Times New Roman" panose="02020603050405020304" pitchFamily="18" charset="0"/>
              </a:rPr>
              <a:t>Good for low temperature (approx. 650°C)</a:t>
            </a:r>
          </a:p>
          <a:p>
            <a:pPr algn="just"/>
            <a:r>
              <a:rPr lang="en-US" sz="2800" dirty="0">
                <a:latin typeface="Times New Roman" panose="02020603050405020304" pitchFamily="18" charset="0"/>
                <a:cs typeface="Times New Roman" panose="02020603050405020304" pitchFamily="18" charset="0"/>
              </a:rPr>
              <a:t>Faster than cold chamber machines</a:t>
            </a:r>
          </a:p>
          <a:p>
            <a:pPr algn="just"/>
            <a:r>
              <a:rPr lang="en-US" sz="2800" dirty="0">
                <a:latin typeface="Times New Roman" panose="02020603050405020304" pitchFamily="18" charset="0"/>
                <a:cs typeface="Times New Roman" panose="02020603050405020304" pitchFamily="18" charset="0"/>
              </a:rPr>
              <a:t>Cycle times must be short to minimize metal contamination</a:t>
            </a:r>
          </a:p>
          <a:p>
            <a:pPr algn="just"/>
            <a:r>
              <a:rPr lang="en-US" sz="2800" dirty="0">
                <a:latin typeface="Times New Roman" panose="02020603050405020304" pitchFamily="18" charset="0"/>
                <a:cs typeface="Times New Roman" panose="02020603050405020304" pitchFamily="18" charset="0"/>
              </a:rPr>
              <a:t>Metal starts in a heated cylinder</a:t>
            </a:r>
          </a:p>
          <a:p>
            <a:pPr algn="just"/>
            <a:r>
              <a:rPr lang="en-US" sz="2800" dirty="0">
                <a:latin typeface="Times New Roman" panose="02020603050405020304" pitchFamily="18" charset="0"/>
                <a:cs typeface="Times New Roman" panose="02020603050405020304" pitchFamily="18" charset="0"/>
              </a:rPr>
              <a:t>A piston forces metal into the die</a:t>
            </a:r>
          </a:p>
          <a:p>
            <a:pPr algn="just"/>
            <a:r>
              <a:rPr lang="en-US" sz="2800" dirty="0">
                <a:latin typeface="Times New Roman" panose="02020603050405020304" pitchFamily="18" charset="0"/>
                <a:cs typeface="Times New Roman" panose="02020603050405020304" pitchFamily="18" charset="0"/>
              </a:rPr>
              <a:t>The piston retracts, and draws metal in</a:t>
            </a:r>
          </a:p>
          <a:p>
            <a:pPr algn="just"/>
            <a:r>
              <a:rPr lang="en-US" sz="2800" dirty="0">
                <a:latin typeface="Times New Roman" panose="02020603050405020304" pitchFamily="18" charset="0"/>
                <a:cs typeface="Times New Roman" panose="02020603050405020304" pitchFamily="18" charset="0"/>
              </a:rPr>
              <a:t>Metal: Lead, Tin, Zinc</a:t>
            </a:r>
          </a:p>
          <a:p>
            <a:pPr algn="just"/>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7CE42B-1C7F-4728-A611-F546AA81E273}"/>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5DE359A5-EF11-438E-9F5E-DC6C83DB0B21}"/>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Hot Chamber 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834861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1AD605-1D89-4A2A-802A-83CF52189BCA}"/>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3</a:t>
            </a:fld>
            <a:endParaRPr lang="en-IN" dirty="0">
              <a:solidFill>
                <a:prstClr val="black">
                  <a:tint val="75000"/>
                </a:prstClr>
              </a:solidFill>
            </a:endParaRPr>
          </a:p>
        </p:txBody>
      </p:sp>
      <p:pic>
        <p:nvPicPr>
          <p:cNvPr id="15" name="Picture 14">
            <a:extLst>
              <a:ext uri="{FF2B5EF4-FFF2-40B4-BE49-F238E27FC236}">
                <a16:creationId xmlns:a16="http://schemas.microsoft.com/office/drawing/2014/main" id="{BD8A1386-FFE8-3411-576D-A5C4CB70AEA4}"/>
              </a:ext>
            </a:extLst>
          </p:cNvPr>
          <p:cNvPicPr>
            <a:picLocks noChangeAspect="1"/>
          </p:cNvPicPr>
          <p:nvPr/>
        </p:nvPicPr>
        <p:blipFill>
          <a:blip r:embed="rId2"/>
          <a:srcRect l="51119" t="32982" r="16908" b="24561"/>
          <a:stretch>
            <a:fillRect/>
          </a:stretch>
        </p:blipFill>
        <p:spPr>
          <a:xfrm>
            <a:off x="2165684" y="1143000"/>
            <a:ext cx="7302061" cy="5454011"/>
          </a:xfrm>
          <a:prstGeom prst="rect">
            <a:avLst/>
          </a:prstGeom>
        </p:spPr>
      </p:pic>
      <p:sp>
        <p:nvSpPr>
          <p:cNvPr id="16" name="Title 1">
            <a:extLst>
              <a:ext uri="{FF2B5EF4-FFF2-40B4-BE49-F238E27FC236}">
                <a16:creationId xmlns:a16="http://schemas.microsoft.com/office/drawing/2014/main" id="{73C57B73-A6C8-BA2A-CFB7-22750AEDF994}"/>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Hot Chamber 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1081562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62AC99C-5E83-F2DB-4896-9DB33497978B}"/>
              </a:ext>
            </a:extLst>
          </p:cNvPr>
          <p:cNvPicPr>
            <a:picLocks noGrp="1" noChangeAspect="1"/>
          </p:cNvPicPr>
          <p:nvPr>
            <p:ph idx="1"/>
          </p:nvPr>
        </p:nvPicPr>
        <p:blipFill>
          <a:blip r:embed="rId2"/>
          <a:srcRect l="25145" t="23858" r="26085" b="8952"/>
          <a:stretch>
            <a:fillRect/>
          </a:stretch>
        </p:blipFill>
        <p:spPr>
          <a:xfrm>
            <a:off x="2261938" y="1367225"/>
            <a:ext cx="6942220" cy="5379926"/>
          </a:xfrm>
          <a:prstGeom prst="rect">
            <a:avLst/>
          </a:prstGeom>
        </p:spPr>
      </p:pic>
      <p:sp>
        <p:nvSpPr>
          <p:cNvPr id="4" name="Slide Number Placeholder 3">
            <a:extLst>
              <a:ext uri="{FF2B5EF4-FFF2-40B4-BE49-F238E27FC236}">
                <a16:creationId xmlns:a16="http://schemas.microsoft.com/office/drawing/2014/main" id="{03B4D090-1F76-5AAC-30A7-E57D1524D76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4</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1536166C-EFC1-F3DF-8116-9B9D51FACA7B}"/>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Hot Chamber 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1330548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AA2EC-DAF4-4E2B-9EBD-9B3332161555}"/>
              </a:ext>
            </a:extLst>
          </p:cNvPr>
          <p:cNvSpPr>
            <a:spLocks noGrp="1"/>
          </p:cNvSpPr>
          <p:nvPr>
            <p:ph idx="1"/>
          </p:nvPr>
        </p:nvSpPr>
        <p:spPr>
          <a:xfrm>
            <a:off x="756139" y="1283367"/>
            <a:ext cx="10515600" cy="4957011"/>
          </a:xfrm>
        </p:spPr>
        <p:txBody>
          <a:bodyPr>
            <a:noAutofit/>
          </a:bodyPr>
          <a:lstStyle/>
          <a:p>
            <a:pPr algn="just"/>
            <a:r>
              <a:rPr lang="en-US" sz="2800" dirty="0">
                <a:latin typeface="Times New Roman" panose="02020603050405020304" pitchFamily="18" charset="0"/>
                <a:cs typeface="Times New Roman" panose="02020603050405020304" pitchFamily="18" charset="0"/>
              </a:rPr>
              <a:t>Casts high melting point metals ( &gt; 700°C)</a:t>
            </a:r>
          </a:p>
          <a:p>
            <a:pPr algn="just"/>
            <a:r>
              <a:rPr lang="en-US" sz="2800" dirty="0">
                <a:latin typeface="Times New Roman" panose="02020603050405020304" pitchFamily="18" charset="0"/>
                <a:cs typeface="Times New Roman" panose="02020603050405020304" pitchFamily="18" charset="0"/>
              </a:rPr>
              <a:t>High pressures used</a:t>
            </a:r>
          </a:p>
          <a:p>
            <a:pPr algn="just"/>
            <a:r>
              <a:rPr lang="en-US" sz="2800" dirty="0">
                <a:latin typeface="Times New Roman" panose="02020603050405020304" pitchFamily="18" charset="0"/>
                <a:cs typeface="Times New Roman" panose="02020603050405020304" pitchFamily="18" charset="0"/>
              </a:rPr>
              <a:t>Metal is heated in a separate crucible</a:t>
            </a:r>
          </a:p>
          <a:p>
            <a:pPr algn="just"/>
            <a:r>
              <a:rPr lang="en-US" sz="2800" dirty="0">
                <a:latin typeface="Times New Roman" panose="02020603050405020304" pitchFamily="18" charset="0"/>
                <a:cs typeface="Times New Roman" panose="02020603050405020304" pitchFamily="18" charset="0"/>
              </a:rPr>
              <a:t>Metal is ladled into a cold chamber</a:t>
            </a:r>
          </a:p>
          <a:p>
            <a:pPr algn="just"/>
            <a:r>
              <a:rPr lang="en-US" sz="2800" dirty="0">
                <a:latin typeface="Times New Roman" panose="02020603050405020304" pitchFamily="18" charset="0"/>
                <a:cs typeface="Times New Roman" panose="02020603050405020304" pitchFamily="18" charset="0"/>
              </a:rPr>
              <a:t>The metal is rapidly forced into the mold before it 	cools</a:t>
            </a:r>
          </a:p>
          <a:p>
            <a:pPr algn="just"/>
            <a:r>
              <a:rPr lang="en-US" sz="2800" dirty="0">
                <a:latin typeface="Times New Roman" panose="02020603050405020304" pitchFamily="18" charset="0"/>
                <a:cs typeface="Times New Roman" panose="02020603050405020304" pitchFamily="18" charset="0"/>
              </a:rPr>
              <a:t>Copper, Brass and Aluminum can cast.</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F631BD6-1A2E-4DA9-BE02-30F2F156E072}"/>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5</a:t>
            </a:fld>
            <a:endParaRPr lang="en-IN" dirty="0">
              <a:solidFill>
                <a:prstClr val="black">
                  <a:tint val="75000"/>
                </a:prstClr>
              </a:solidFill>
            </a:endParaRPr>
          </a:p>
        </p:txBody>
      </p:sp>
      <p:sp>
        <p:nvSpPr>
          <p:cNvPr id="2" name="Title 1">
            <a:extLst>
              <a:ext uri="{FF2B5EF4-FFF2-40B4-BE49-F238E27FC236}">
                <a16:creationId xmlns:a16="http://schemas.microsoft.com/office/drawing/2014/main" id="{ACE4145A-1A84-4576-59E5-926ED348B9B8}"/>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Cold Chamber 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3075673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C2938D6-BEF9-A602-47B5-15B894D22BED}"/>
              </a:ext>
            </a:extLst>
          </p:cNvPr>
          <p:cNvPicPr>
            <a:picLocks noGrp="1" noChangeAspect="1"/>
          </p:cNvPicPr>
          <p:nvPr>
            <p:ph idx="1"/>
          </p:nvPr>
        </p:nvPicPr>
        <p:blipFill>
          <a:blip r:embed="rId3"/>
          <a:srcRect l="56718" t="31876" r="11709" b="17247"/>
          <a:stretch>
            <a:fillRect/>
          </a:stretch>
        </p:blipFill>
        <p:spPr>
          <a:xfrm>
            <a:off x="2286000" y="939318"/>
            <a:ext cx="6641432" cy="6019818"/>
          </a:xfrm>
          <a:prstGeom prst="rect">
            <a:avLst/>
          </a:prstGeom>
        </p:spPr>
      </p:pic>
      <p:sp>
        <p:nvSpPr>
          <p:cNvPr id="4" name="Slide Number Placeholder 3">
            <a:extLst>
              <a:ext uri="{FF2B5EF4-FFF2-40B4-BE49-F238E27FC236}">
                <a16:creationId xmlns:a16="http://schemas.microsoft.com/office/drawing/2014/main" id="{56AB2B99-1418-43D2-97C1-E27962B0CDC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6</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3F11A0BB-78B9-57DD-99F8-B647EC44922C}"/>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Cold Chamber 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3579383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F32E1A69-F4D5-5D32-AA6E-258899E1F8DB}"/>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Extremely smooth surfaces (1 µm)</a:t>
            </a:r>
          </a:p>
          <a:p>
            <a:r>
              <a:rPr lang="en-US" sz="2800" dirty="0">
                <a:latin typeface="Times New Roman" panose="02020603050405020304" pitchFamily="18" charset="0"/>
                <a:cs typeface="Times New Roman" panose="02020603050405020304" pitchFamily="18" charset="0"/>
              </a:rPr>
              <a:t>Excellent dimensional accuracy</a:t>
            </a:r>
          </a:p>
          <a:p>
            <a:r>
              <a:rPr lang="en-US" sz="2800" dirty="0">
                <a:latin typeface="Times New Roman" panose="02020603050405020304" pitchFamily="18" charset="0"/>
                <a:cs typeface="Times New Roman" panose="02020603050405020304" pitchFamily="18" charset="0"/>
              </a:rPr>
              <a:t>Rapid production rate</a:t>
            </a:r>
          </a:p>
          <a:p>
            <a:r>
              <a:rPr lang="en-US" sz="2800" dirty="0">
                <a:latin typeface="Times New Roman" panose="02020603050405020304" pitchFamily="18" charset="0"/>
                <a:cs typeface="Times New Roman" panose="02020603050405020304" pitchFamily="18" charset="0"/>
              </a:rPr>
              <a:t>Better mechanical properties compared to sand casting</a:t>
            </a:r>
          </a:p>
          <a:p>
            <a:r>
              <a:rPr lang="en-US" sz="2800" dirty="0">
                <a:latin typeface="Times New Roman" panose="02020603050405020304" pitchFamily="18" charset="0"/>
                <a:cs typeface="Times New Roman" panose="02020603050405020304" pitchFamily="18" charset="0"/>
              </a:rPr>
              <a:t>Intricate parts possible</a:t>
            </a:r>
          </a:p>
          <a:p>
            <a:pPr marL="0" indent="0">
              <a:buNone/>
            </a:pPr>
            <a:endParaRPr lang="en-IN" dirty="0"/>
          </a:p>
        </p:txBody>
      </p:sp>
      <p:sp>
        <p:nvSpPr>
          <p:cNvPr id="10" name="Title 1">
            <a:extLst>
              <a:ext uri="{FF2B5EF4-FFF2-40B4-BE49-F238E27FC236}">
                <a16:creationId xmlns:a16="http://schemas.microsoft.com/office/drawing/2014/main" id="{1C31BCA6-6929-F1E2-7645-FFA6DB8A7DED}"/>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Cold Chamber 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1606660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CB58-04A1-8348-9EF9-61C31E760B2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D6701048-67B7-0D97-7C13-C98B21C044FA}"/>
              </a:ext>
            </a:extLst>
          </p:cNvPr>
          <p:cNvSpPr txBox="1">
            <a:spLocks/>
          </p:cNvSpPr>
          <p:nvPr/>
        </p:nvSpPr>
        <p:spPr>
          <a:xfrm>
            <a:off x="756138" y="158584"/>
            <a:ext cx="9437015" cy="780734"/>
          </a:xfrm>
          <a:prstGeom prst="rect">
            <a:avLst/>
          </a:prstGeom>
        </p:spPr>
        <p:txBody>
          <a:bodyPr vert="horz" lIns="91440" tIns="45720" rIns="91440" bIns="45720" rtlCol="0" anchor="ctr">
            <a:normAutofit fontScale="92500"/>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Summary Table for Hot and Cold Chamber 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pic>
        <p:nvPicPr>
          <p:cNvPr id="5" name="Picture 4">
            <a:extLst>
              <a:ext uri="{FF2B5EF4-FFF2-40B4-BE49-F238E27FC236}">
                <a16:creationId xmlns:a16="http://schemas.microsoft.com/office/drawing/2014/main" id="{12C803F8-EBC0-6E83-34DA-24367B4801DE}"/>
              </a:ext>
            </a:extLst>
          </p:cNvPr>
          <p:cNvPicPr>
            <a:picLocks noChangeAspect="1"/>
          </p:cNvPicPr>
          <p:nvPr/>
        </p:nvPicPr>
        <p:blipFill>
          <a:blip r:embed="rId2"/>
          <a:stretch>
            <a:fillRect/>
          </a:stretch>
        </p:blipFill>
        <p:spPr>
          <a:xfrm>
            <a:off x="659942" y="1538287"/>
            <a:ext cx="10872116" cy="4390875"/>
          </a:xfrm>
          <a:prstGeom prst="rect">
            <a:avLst/>
          </a:prstGeom>
        </p:spPr>
      </p:pic>
    </p:spTree>
    <p:extLst>
      <p:ext uri="{BB962C8B-B14F-4D97-AF65-F5344CB8AC3E}">
        <p14:creationId xmlns:p14="http://schemas.microsoft.com/office/powerpoint/2010/main" val="71188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C148C6-62F5-4566-82D6-A85A505601A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9</a:t>
            </a:fld>
            <a:endParaRPr lang="en-IN" dirty="0">
              <a:solidFill>
                <a:prstClr val="black">
                  <a:tint val="75000"/>
                </a:prstClr>
              </a:solidFill>
            </a:endParaRPr>
          </a:p>
        </p:txBody>
      </p:sp>
      <p:sp>
        <p:nvSpPr>
          <p:cNvPr id="7" name="TextBox 6">
            <a:extLst>
              <a:ext uri="{FF2B5EF4-FFF2-40B4-BE49-F238E27FC236}">
                <a16:creationId xmlns:a16="http://schemas.microsoft.com/office/drawing/2014/main" id="{39334ED2-DECB-1D71-E7D8-71583FB56108}"/>
              </a:ext>
            </a:extLst>
          </p:cNvPr>
          <p:cNvSpPr txBox="1"/>
          <p:nvPr/>
        </p:nvSpPr>
        <p:spPr>
          <a:xfrm>
            <a:off x="974558" y="1335504"/>
            <a:ext cx="9685421" cy="2677656"/>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High initial die cost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Limited to high‐fluidity nonferrous metals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Part size is limited</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Porosity may be a problem</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Some scrap in sprues, runners, and flash, but this can be directly recycled</a:t>
            </a:r>
          </a:p>
        </p:txBody>
      </p:sp>
      <p:sp>
        <p:nvSpPr>
          <p:cNvPr id="8" name="Title 1">
            <a:extLst>
              <a:ext uri="{FF2B5EF4-FFF2-40B4-BE49-F238E27FC236}">
                <a16:creationId xmlns:a16="http://schemas.microsoft.com/office/drawing/2014/main" id="{49A59D48-B203-F2ED-C1CB-3551CB183464}"/>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1535787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5C38D2-E0AC-40D6-9828-9567DF305B6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10</a:t>
            </a:fld>
            <a:endParaRPr lang="en-IN" dirty="0">
              <a:solidFill>
                <a:prstClr val="black">
                  <a:tint val="75000"/>
                </a:prstClr>
              </a:solidFill>
            </a:endParaRPr>
          </a:p>
        </p:txBody>
      </p:sp>
      <p:sp>
        <p:nvSpPr>
          <p:cNvPr id="11" name="TextBox 10">
            <a:extLst>
              <a:ext uri="{FF2B5EF4-FFF2-40B4-BE49-F238E27FC236}">
                <a16:creationId xmlns:a16="http://schemas.microsoft.com/office/drawing/2014/main" id="{C0C4B6C0-31BC-9323-577A-E018483B8AD3}"/>
              </a:ext>
            </a:extLst>
          </p:cNvPr>
          <p:cNvSpPr txBox="1"/>
          <p:nvPr/>
        </p:nvSpPr>
        <p:spPr>
          <a:xfrm>
            <a:off x="1531018" y="1209907"/>
            <a:ext cx="7949865" cy="3970318"/>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Applications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Carburetors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Automotive parts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Bathroom fixtures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Toys</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Common metals</a:t>
            </a:r>
          </a:p>
          <a:p>
            <a:pPr algn="just"/>
            <a:r>
              <a:rPr lang="en-US" sz="2800" dirty="0">
                <a:latin typeface="Times New Roman" panose="02020603050405020304" pitchFamily="18" charset="0"/>
                <a:cs typeface="Times New Roman" panose="02020603050405020304" pitchFamily="18" charset="0"/>
              </a:rPr>
              <a:t>Alloys of aluminum, zinc, magnesium, and lead Also possible with alloys of copper and tin.</a:t>
            </a:r>
          </a:p>
        </p:txBody>
      </p:sp>
      <p:sp>
        <p:nvSpPr>
          <p:cNvPr id="12" name="Title 1">
            <a:extLst>
              <a:ext uri="{FF2B5EF4-FFF2-40B4-BE49-F238E27FC236}">
                <a16:creationId xmlns:a16="http://schemas.microsoft.com/office/drawing/2014/main" id="{779D7FE9-793A-2AE0-DA51-828063DE281B}"/>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D</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ie</a:t>
            </a:r>
            <a:r>
              <a:rPr lang="en-IN" sz="3200" dirty="0">
                <a:solidFill>
                  <a:schemeClr val="accent5">
                    <a:lumMod val="75000"/>
                  </a:schemeClr>
                </a:solidFill>
                <a:latin typeface="Times New Roman" panose="02020603050405020304" pitchFamily="18" charset="0"/>
                <a:cs typeface="Times New Roman" panose="02020603050405020304" pitchFamily="18" charset="0"/>
              </a:rPr>
              <a:t> casting </a:t>
            </a:r>
          </a:p>
        </p:txBody>
      </p:sp>
    </p:spTree>
    <p:extLst>
      <p:ext uri="{BB962C8B-B14F-4D97-AF65-F5344CB8AC3E}">
        <p14:creationId xmlns:p14="http://schemas.microsoft.com/office/powerpoint/2010/main" val="526944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8A590E-0C6A-BCEC-2C2B-C3F89639B4BD}"/>
              </a:ext>
            </a:extLst>
          </p:cNvPr>
          <p:cNvSpPr>
            <a:spLocks noGrp="1"/>
          </p:cNvSpPr>
          <p:nvPr>
            <p:ph idx="1"/>
          </p:nvPr>
        </p:nvSpPr>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Centrifugal casting is a metal casting process that utilizes centrifugal force to distribute molten metal into a rotating mold, producing cylindrical or symmetrical parts. This method is particularly effective for creating pipes, tubes, and other components with rotational symmetry, leveraging the force of rotation to ensure uniform metal distribution and potentially reduced defects.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550F18F-4204-AA59-A30D-74EC5508FD89}"/>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11</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DB383B21-03E8-4886-8831-DA843280E108}"/>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Centrifugal casting</a:t>
            </a:r>
          </a:p>
        </p:txBody>
      </p:sp>
    </p:spTree>
    <p:extLst>
      <p:ext uri="{BB962C8B-B14F-4D97-AF65-F5344CB8AC3E}">
        <p14:creationId xmlns:p14="http://schemas.microsoft.com/office/powerpoint/2010/main" val="2524412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555887F-212A-EEF8-E516-87A846B44DAB}"/>
              </a:ext>
            </a:extLst>
          </p:cNvPr>
          <p:cNvPicPr>
            <a:picLocks noGrp="1" noChangeAspect="1"/>
          </p:cNvPicPr>
          <p:nvPr>
            <p:ph idx="1"/>
          </p:nvPr>
        </p:nvPicPr>
        <p:blipFill>
          <a:blip r:embed="rId2"/>
          <a:srcRect l="11924" t="21646" r="39082" b="22777"/>
          <a:stretch>
            <a:fillRect/>
          </a:stretch>
        </p:blipFill>
        <p:spPr>
          <a:xfrm>
            <a:off x="1687879" y="1224255"/>
            <a:ext cx="8244973" cy="5261082"/>
          </a:xfrm>
          <a:prstGeom prst="rect">
            <a:avLst/>
          </a:prstGeom>
        </p:spPr>
      </p:pic>
      <p:sp>
        <p:nvSpPr>
          <p:cNvPr id="4" name="Slide Number Placeholder 3">
            <a:extLst>
              <a:ext uri="{FF2B5EF4-FFF2-40B4-BE49-F238E27FC236}">
                <a16:creationId xmlns:a16="http://schemas.microsoft.com/office/drawing/2014/main" id="{737C2535-8BB7-853B-3166-4E4D788581B6}"/>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12</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5E97F851-5A3D-788F-9D25-B7F8B5333F63}"/>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Centrifugal casting</a:t>
            </a:r>
          </a:p>
        </p:txBody>
      </p:sp>
    </p:spTree>
    <p:extLst>
      <p:ext uri="{BB962C8B-B14F-4D97-AF65-F5344CB8AC3E}">
        <p14:creationId xmlns:p14="http://schemas.microsoft.com/office/powerpoint/2010/main" val="725822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5379A0-D4BC-446D-9ED0-A8CBF5FED4D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13</a:t>
            </a:fld>
            <a:endParaRPr lang="en-IN" dirty="0">
              <a:solidFill>
                <a:prstClr val="black">
                  <a:tint val="75000"/>
                </a:prstClr>
              </a:solidFill>
            </a:endParaRPr>
          </a:p>
        </p:txBody>
      </p:sp>
      <p:sp>
        <p:nvSpPr>
          <p:cNvPr id="12" name="Rectangle 11">
            <a:extLst>
              <a:ext uri="{FF2B5EF4-FFF2-40B4-BE49-F238E27FC236}">
                <a16:creationId xmlns:a16="http://schemas.microsoft.com/office/drawing/2014/main" id="{BD119457-757F-4635-BF26-63CF2C47A967}"/>
              </a:ext>
            </a:extLst>
          </p:cNvPr>
          <p:cNvSpPr/>
          <p:nvPr/>
        </p:nvSpPr>
        <p:spPr>
          <a:xfrm>
            <a:off x="756139" y="1523999"/>
            <a:ext cx="10515600" cy="4926733"/>
          </a:xfrm>
          <a:prstGeom prst="rect">
            <a:avLst/>
          </a:prstGeom>
        </p:spPr>
        <p:txBody>
          <a:bodyPr wrap="square">
            <a:spAutoFit/>
          </a:bodyPr>
          <a:lstStyle/>
          <a:p>
            <a:pPr marL="81915" algn="just">
              <a:lnSpc>
                <a:spcPct val="100000"/>
              </a:lnSpc>
              <a:spcBef>
                <a:spcPts val="114"/>
              </a:spcBef>
              <a:buClr>
                <a:srgbClr val="0BD0D9"/>
              </a:buClr>
              <a:buSzPct val="93750"/>
              <a:tabLst>
                <a:tab pos="175895" algn="l"/>
              </a:tabLst>
            </a:pPr>
            <a:r>
              <a:rPr lang="en-US" sz="2800" b="1" dirty="0">
                <a:latin typeface="Constantia"/>
                <a:cs typeface="Constantia"/>
              </a:rPr>
              <a:t>Process:</a:t>
            </a:r>
          </a:p>
          <a:p>
            <a:pPr marL="539115" indent="-457200" algn="just">
              <a:lnSpc>
                <a:spcPct val="100000"/>
              </a:lnSpc>
              <a:spcBef>
                <a:spcPts val="114"/>
              </a:spcBef>
              <a:buClr>
                <a:srgbClr val="0BD0D9"/>
              </a:buClr>
              <a:buSzPct val="93750"/>
              <a:buFont typeface="Arial" panose="020B0604020202020204" pitchFamily="34" charset="0"/>
              <a:buChar char="•"/>
              <a:tabLst>
                <a:tab pos="175895" algn="l"/>
              </a:tabLst>
            </a:pPr>
            <a:r>
              <a:rPr lang="en-US" sz="2800" b="1" spc="10" dirty="0">
                <a:latin typeface="Constantia"/>
                <a:cs typeface="Constantia"/>
              </a:rPr>
              <a:t> </a:t>
            </a:r>
            <a:r>
              <a:rPr lang="en-US" sz="2800" spc="-10" dirty="0">
                <a:latin typeface="Constantia"/>
                <a:cs typeface="Constantia"/>
              </a:rPr>
              <a:t>Molten </a:t>
            </a:r>
            <a:r>
              <a:rPr lang="en-US" sz="2800" dirty="0">
                <a:latin typeface="Constantia"/>
                <a:cs typeface="Constantia"/>
              </a:rPr>
              <a:t>metal</a:t>
            </a:r>
            <a:r>
              <a:rPr lang="en-US" sz="2800" spc="5" dirty="0">
                <a:latin typeface="Constantia"/>
                <a:cs typeface="Constantia"/>
              </a:rPr>
              <a:t> </a:t>
            </a:r>
            <a:r>
              <a:rPr lang="en-US" sz="2800" dirty="0">
                <a:latin typeface="Constantia"/>
                <a:cs typeface="Constantia"/>
              </a:rPr>
              <a:t>is</a:t>
            </a:r>
            <a:r>
              <a:rPr lang="en-US" sz="2800" spc="-10" dirty="0">
                <a:latin typeface="Constantia"/>
                <a:cs typeface="Constantia"/>
              </a:rPr>
              <a:t> introduced</a:t>
            </a:r>
            <a:r>
              <a:rPr lang="en-US" sz="2800" spc="15" dirty="0">
                <a:latin typeface="Constantia"/>
                <a:cs typeface="Constantia"/>
              </a:rPr>
              <a:t> </a:t>
            </a:r>
            <a:r>
              <a:rPr lang="en-US" sz="2800" dirty="0">
                <a:latin typeface="Constantia"/>
                <a:cs typeface="Constantia"/>
              </a:rPr>
              <a:t>into</a:t>
            </a:r>
            <a:r>
              <a:rPr lang="en-US" sz="2800" spc="-15" dirty="0">
                <a:latin typeface="Constantia"/>
                <a:cs typeface="Constantia"/>
              </a:rPr>
              <a:t> </a:t>
            </a:r>
            <a:r>
              <a:rPr lang="en-US" sz="2800" dirty="0">
                <a:latin typeface="Constantia"/>
                <a:cs typeface="Constantia"/>
              </a:rPr>
              <a:t>a</a:t>
            </a:r>
            <a:r>
              <a:rPr lang="en-US" sz="2800" spc="-15" dirty="0">
                <a:latin typeface="Constantia"/>
                <a:cs typeface="Constantia"/>
              </a:rPr>
              <a:t> </a:t>
            </a:r>
            <a:r>
              <a:rPr lang="en-US" sz="2800" spc="-10" dirty="0">
                <a:latin typeface="Constantia"/>
                <a:cs typeface="Constantia"/>
              </a:rPr>
              <a:t>rotating</a:t>
            </a:r>
            <a:r>
              <a:rPr lang="en-US" sz="2800" spc="5" dirty="0">
                <a:latin typeface="Constantia"/>
                <a:cs typeface="Constantia"/>
              </a:rPr>
              <a:t> </a:t>
            </a:r>
            <a:r>
              <a:rPr lang="en-US" sz="2800" spc="-10" dirty="0">
                <a:latin typeface="Constantia"/>
                <a:cs typeface="Constantia"/>
              </a:rPr>
              <a:t>metal die,</a:t>
            </a:r>
          </a:p>
          <a:p>
            <a:pPr marL="539115" indent="-457200" algn="just">
              <a:lnSpc>
                <a:spcPct val="100000"/>
              </a:lnSpc>
              <a:spcBef>
                <a:spcPts val="114"/>
              </a:spcBef>
              <a:buClr>
                <a:srgbClr val="0BD0D9"/>
              </a:buClr>
              <a:buSzPct val="93750"/>
              <a:buFont typeface="Arial" panose="020B0604020202020204" pitchFamily="34" charset="0"/>
              <a:buChar char="•"/>
              <a:tabLst>
                <a:tab pos="175895" algn="l"/>
              </a:tabLst>
            </a:pPr>
            <a:r>
              <a:rPr lang="en-US" sz="2800" dirty="0">
                <a:latin typeface="Constantia"/>
                <a:cs typeface="Constantia"/>
              </a:rPr>
              <a:t>metal,</a:t>
            </a:r>
            <a:r>
              <a:rPr lang="en-US" sz="2800" spc="150" dirty="0">
                <a:latin typeface="Constantia"/>
                <a:cs typeface="Constantia"/>
              </a:rPr>
              <a:t> </a:t>
            </a:r>
            <a:r>
              <a:rPr lang="en-US" sz="2800" dirty="0">
                <a:latin typeface="Constantia"/>
                <a:cs typeface="Constantia"/>
              </a:rPr>
              <a:t>or</a:t>
            </a:r>
            <a:r>
              <a:rPr lang="en-US" sz="2800" spc="125" dirty="0">
                <a:latin typeface="Constantia"/>
                <a:cs typeface="Constantia"/>
              </a:rPr>
              <a:t> </a:t>
            </a:r>
            <a:r>
              <a:rPr lang="en-US" sz="2800" dirty="0">
                <a:latin typeface="Constantia"/>
                <a:cs typeface="Constantia"/>
              </a:rPr>
              <a:t>graphite</a:t>
            </a:r>
            <a:r>
              <a:rPr lang="en-US" sz="2800" spc="140" dirty="0">
                <a:latin typeface="Constantia"/>
                <a:cs typeface="Constantia"/>
              </a:rPr>
              <a:t> </a:t>
            </a:r>
            <a:r>
              <a:rPr lang="en-US" sz="2800" dirty="0" err="1">
                <a:latin typeface="Constantia"/>
                <a:cs typeface="Constantia"/>
              </a:rPr>
              <a:t>mould</a:t>
            </a:r>
            <a:r>
              <a:rPr lang="en-US" sz="2800" dirty="0">
                <a:latin typeface="Constantia"/>
                <a:cs typeface="Constantia"/>
              </a:rPr>
              <a:t>,</a:t>
            </a:r>
            <a:r>
              <a:rPr lang="en-US" sz="2800" spc="145" dirty="0">
                <a:latin typeface="Constantia"/>
                <a:cs typeface="Constantia"/>
              </a:rPr>
              <a:t> </a:t>
            </a:r>
            <a:r>
              <a:rPr lang="en-US" sz="2800" dirty="0">
                <a:latin typeface="Constantia"/>
                <a:cs typeface="Constantia"/>
              </a:rPr>
              <a:t>and</a:t>
            </a:r>
            <a:r>
              <a:rPr lang="en-US" sz="2800" spc="150" dirty="0">
                <a:latin typeface="Constantia"/>
                <a:cs typeface="Constantia"/>
              </a:rPr>
              <a:t> </a:t>
            </a:r>
            <a:r>
              <a:rPr lang="en-US" sz="2800" dirty="0">
                <a:latin typeface="Constantia"/>
                <a:cs typeface="Constantia"/>
              </a:rPr>
              <a:t>held</a:t>
            </a:r>
            <a:r>
              <a:rPr lang="en-US" sz="2800" spc="155" dirty="0">
                <a:latin typeface="Constantia"/>
                <a:cs typeface="Constantia"/>
              </a:rPr>
              <a:t> </a:t>
            </a:r>
            <a:r>
              <a:rPr lang="en-US" sz="2800" dirty="0">
                <a:latin typeface="Constantia"/>
                <a:cs typeface="Constantia"/>
              </a:rPr>
              <a:t>against</a:t>
            </a:r>
            <a:r>
              <a:rPr lang="en-US" sz="2800" spc="130" dirty="0">
                <a:latin typeface="Constantia"/>
                <a:cs typeface="Constantia"/>
              </a:rPr>
              <a:t> </a:t>
            </a:r>
            <a:r>
              <a:rPr lang="en-US" sz="2800" dirty="0">
                <a:latin typeface="Constantia"/>
                <a:cs typeface="Constantia"/>
              </a:rPr>
              <a:t>the</a:t>
            </a:r>
            <a:r>
              <a:rPr lang="en-US" sz="2800" spc="125" dirty="0">
                <a:latin typeface="Constantia"/>
                <a:cs typeface="Constantia"/>
              </a:rPr>
              <a:t> </a:t>
            </a:r>
            <a:r>
              <a:rPr lang="en-US" sz="2800" spc="-10" dirty="0" err="1">
                <a:latin typeface="Constantia"/>
                <a:cs typeface="Constantia"/>
              </a:rPr>
              <a:t>mould</a:t>
            </a:r>
            <a:r>
              <a:rPr lang="en-US" sz="2800" spc="500" dirty="0">
                <a:latin typeface="Constantia"/>
                <a:cs typeface="Constantia"/>
              </a:rPr>
              <a:t> </a:t>
            </a:r>
            <a:r>
              <a:rPr lang="en-US" sz="2800" dirty="0">
                <a:latin typeface="Constantia"/>
                <a:cs typeface="Constantia"/>
              </a:rPr>
              <a:t>wall</a:t>
            </a:r>
            <a:r>
              <a:rPr lang="en-US" sz="2800" spc="-20" dirty="0">
                <a:latin typeface="Constantia"/>
                <a:cs typeface="Constantia"/>
              </a:rPr>
              <a:t> </a:t>
            </a:r>
            <a:r>
              <a:rPr lang="en-US" sz="2800" spc="-10" dirty="0">
                <a:latin typeface="Constantia"/>
                <a:cs typeface="Constantia"/>
              </a:rPr>
              <a:t>by</a:t>
            </a:r>
            <a:r>
              <a:rPr lang="en-US" sz="2800" spc="-40" dirty="0">
                <a:latin typeface="Constantia"/>
                <a:cs typeface="Constantia"/>
              </a:rPr>
              <a:t> </a:t>
            </a:r>
            <a:r>
              <a:rPr lang="en-US" sz="2800" spc="-10" dirty="0">
                <a:latin typeface="Constantia"/>
                <a:cs typeface="Constantia"/>
              </a:rPr>
              <a:t>centrifugal</a:t>
            </a:r>
            <a:r>
              <a:rPr lang="en-US" sz="2800" spc="-5" dirty="0">
                <a:latin typeface="Constantia"/>
                <a:cs typeface="Constantia"/>
              </a:rPr>
              <a:t> </a:t>
            </a:r>
            <a:r>
              <a:rPr lang="en-US" sz="2800" spc="-20" dirty="0">
                <a:latin typeface="Constantia"/>
                <a:cs typeface="Constantia"/>
              </a:rPr>
              <a:t>force</a:t>
            </a:r>
            <a:r>
              <a:rPr lang="en-US" sz="2800" spc="-30" dirty="0">
                <a:latin typeface="Constantia"/>
                <a:cs typeface="Constantia"/>
              </a:rPr>
              <a:t> </a:t>
            </a:r>
            <a:r>
              <a:rPr lang="en-US" sz="2800" dirty="0">
                <a:latin typeface="Constantia"/>
                <a:cs typeface="Constantia"/>
              </a:rPr>
              <a:t>until</a:t>
            </a:r>
            <a:r>
              <a:rPr lang="en-US" sz="2800" spc="-5" dirty="0">
                <a:latin typeface="Constantia"/>
                <a:cs typeface="Constantia"/>
              </a:rPr>
              <a:t> </a:t>
            </a:r>
            <a:r>
              <a:rPr lang="en-US" sz="2800" dirty="0">
                <a:latin typeface="Constantia"/>
                <a:cs typeface="Constantia"/>
              </a:rPr>
              <a:t>it</a:t>
            </a:r>
            <a:r>
              <a:rPr lang="en-US" sz="2800" spc="-20" dirty="0">
                <a:latin typeface="Constantia"/>
                <a:cs typeface="Constantia"/>
              </a:rPr>
              <a:t> </a:t>
            </a:r>
            <a:r>
              <a:rPr lang="en-US" sz="2800" dirty="0">
                <a:latin typeface="Constantia"/>
                <a:cs typeface="Constantia"/>
              </a:rPr>
              <a:t>is</a:t>
            </a:r>
            <a:r>
              <a:rPr lang="en-US" sz="2800" spc="-35" dirty="0">
                <a:latin typeface="Constantia"/>
                <a:cs typeface="Constantia"/>
              </a:rPr>
              <a:t> </a:t>
            </a:r>
            <a:r>
              <a:rPr lang="en-US" sz="2800" spc="-10" dirty="0">
                <a:latin typeface="Constantia"/>
                <a:cs typeface="Constantia"/>
              </a:rPr>
              <a:t>solidified</a:t>
            </a:r>
            <a:endParaRPr lang="en-US" sz="2800" dirty="0">
              <a:latin typeface="Constantia"/>
              <a:cs typeface="Constantia"/>
            </a:endParaRPr>
          </a:p>
          <a:p>
            <a:pPr marL="539115" marR="78740" indent="-457200" algn="just">
              <a:lnSpc>
                <a:spcPct val="150300"/>
              </a:lnSpc>
              <a:spcBef>
                <a:spcPts val="200"/>
              </a:spcBef>
              <a:buClr>
                <a:srgbClr val="0BD0D9"/>
              </a:buClr>
              <a:buSzPct val="93750"/>
              <a:buFont typeface="Arial" panose="020B0604020202020204" pitchFamily="34" charset="0"/>
              <a:buChar char="•"/>
              <a:tabLst>
                <a:tab pos="176530" algn="l"/>
              </a:tabLst>
            </a:pPr>
            <a:r>
              <a:rPr lang="en-US" sz="2800" dirty="0">
                <a:latin typeface="Constantia"/>
                <a:cs typeface="Constantia"/>
              </a:rPr>
              <a:t>A</a:t>
            </a:r>
            <a:r>
              <a:rPr lang="en-US" sz="2800" spc="155" dirty="0">
                <a:latin typeface="Constantia"/>
                <a:cs typeface="Constantia"/>
              </a:rPr>
              <a:t> </a:t>
            </a:r>
            <a:r>
              <a:rPr lang="en-US" sz="2800" dirty="0">
                <a:latin typeface="Constantia"/>
                <a:cs typeface="Constantia"/>
              </a:rPr>
              <a:t>mold</a:t>
            </a:r>
            <a:r>
              <a:rPr lang="en-US" sz="2800" spc="170" dirty="0">
                <a:latin typeface="Constantia"/>
                <a:cs typeface="Constantia"/>
              </a:rPr>
              <a:t> </a:t>
            </a:r>
            <a:r>
              <a:rPr lang="en-US" sz="2800" dirty="0">
                <a:latin typeface="Constantia"/>
                <a:cs typeface="Constantia"/>
              </a:rPr>
              <a:t>is</a:t>
            </a:r>
            <a:r>
              <a:rPr lang="en-US" sz="2800" spc="150" dirty="0">
                <a:latin typeface="Constantia"/>
                <a:cs typeface="Constantia"/>
              </a:rPr>
              <a:t> </a:t>
            </a:r>
            <a:r>
              <a:rPr lang="en-US" sz="2800" dirty="0">
                <a:latin typeface="Constantia"/>
                <a:cs typeface="Constantia"/>
              </a:rPr>
              <a:t>set</a:t>
            </a:r>
            <a:r>
              <a:rPr lang="en-US" sz="2800" spc="145" dirty="0">
                <a:latin typeface="Constantia"/>
                <a:cs typeface="Constantia"/>
              </a:rPr>
              <a:t> </a:t>
            </a:r>
            <a:r>
              <a:rPr lang="en-US" sz="2800" dirty="0">
                <a:latin typeface="Constantia"/>
                <a:cs typeface="Constantia"/>
              </a:rPr>
              <a:t>up</a:t>
            </a:r>
            <a:r>
              <a:rPr lang="en-US" sz="2800" spc="155" dirty="0">
                <a:latin typeface="Constantia"/>
                <a:cs typeface="Constantia"/>
              </a:rPr>
              <a:t> </a:t>
            </a:r>
            <a:r>
              <a:rPr lang="en-US" sz="2800" dirty="0">
                <a:latin typeface="Constantia"/>
                <a:cs typeface="Constantia"/>
              </a:rPr>
              <a:t>and</a:t>
            </a:r>
            <a:r>
              <a:rPr lang="en-US" sz="2800" spc="165" dirty="0">
                <a:latin typeface="Constantia"/>
                <a:cs typeface="Constantia"/>
              </a:rPr>
              <a:t> </a:t>
            </a:r>
            <a:r>
              <a:rPr lang="en-US" sz="2800" dirty="0">
                <a:latin typeface="Constantia"/>
                <a:cs typeface="Constantia"/>
              </a:rPr>
              <a:t>rotated</a:t>
            </a:r>
            <a:r>
              <a:rPr lang="en-US" sz="2800" spc="170" dirty="0">
                <a:latin typeface="Constantia"/>
                <a:cs typeface="Constantia"/>
              </a:rPr>
              <a:t> </a:t>
            </a:r>
            <a:r>
              <a:rPr lang="en-US" sz="2800" dirty="0">
                <a:latin typeface="Constantia"/>
                <a:cs typeface="Constantia"/>
              </a:rPr>
              <a:t>along</a:t>
            </a:r>
            <a:r>
              <a:rPr lang="en-US" sz="2800" spc="165" dirty="0">
                <a:latin typeface="Constantia"/>
                <a:cs typeface="Constantia"/>
              </a:rPr>
              <a:t> </a:t>
            </a:r>
            <a:r>
              <a:rPr lang="en-US" sz="2800" dirty="0">
                <a:latin typeface="Constantia"/>
                <a:cs typeface="Constantia"/>
              </a:rPr>
              <a:t>a</a:t>
            </a:r>
            <a:r>
              <a:rPr lang="en-US" sz="2800" spc="145" dirty="0">
                <a:latin typeface="Constantia"/>
                <a:cs typeface="Constantia"/>
              </a:rPr>
              <a:t> </a:t>
            </a:r>
            <a:r>
              <a:rPr lang="en-US" sz="2800" dirty="0">
                <a:latin typeface="Constantia"/>
                <a:cs typeface="Constantia"/>
              </a:rPr>
              <a:t>vertical</a:t>
            </a:r>
            <a:r>
              <a:rPr lang="en-US" sz="2800" spc="170" dirty="0">
                <a:latin typeface="Constantia"/>
                <a:cs typeface="Constantia"/>
              </a:rPr>
              <a:t> </a:t>
            </a:r>
            <a:r>
              <a:rPr lang="en-US" sz="2800" dirty="0">
                <a:latin typeface="Constantia"/>
                <a:cs typeface="Constantia"/>
              </a:rPr>
              <a:t>(rpm</a:t>
            </a:r>
            <a:r>
              <a:rPr lang="en-US" sz="2800" spc="155" dirty="0">
                <a:latin typeface="Constantia"/>
                <a:cs typeface="Constantia"/>
              </a:rPr>
              <a:t> </a:t>
            </a:r>
            <a:r>
              <a:rPr lang="en-US" sz="2800" spc="-25" dirty="0">
                <a:latin typeface="Constantia"/>
                <a:cs typeface="Constantia"/>
              </a:rPr>
              <a:t>is</a:t>
            </a:r>
            <a:r>
              <a:rPr lang="en-US" sz="2800" spc="500" dirty="0">
                <a:latin typeface="Constantia"/>
                <a:cs typeface="Constantia"/>
              </a:rPr>
              <a:t> </a:t>
            </a:r>
            <a:r>
              <a:rPr lang="en-US" sz="2800" dirty="0">
                <a:latin typeface="Constantia"/>
                <a:cs typeface="Constantia"/>
              </a:rPr>
              <a:t>reasonable),</a:t>
            </a:r>
            <a:r>
              <a:rPr lang="en-US" sz="2800" spc="95" dirty="0">
                <a:latin typeface="Constantia"/>
                <a:cs typeface="Constantia"/>
              </a:rPr>
              <a:t> </a:t>
            </a:r>
            <a:r>
              <a:rPr lang="en-US" sz="2800" dirty="0">
                <a:latin typeface="Constantia"/>
                <a:cs typeface="Constantia"/>
              </a:rPr>
              <a:t>or</a:t>
            </a:r>
            <a:r>
              <a:rPr lang="en-US" sz="2800" spc="70" dirty="0">
                <a:latin typeface="Constantia"/>
                <a:cs typeface="Constantia"/>
              </a:rPr>
              <a:t> </a:t>
            </a:r>
            <a:r>
              <a:rPr lang="en-US" sz="2800" dirty="0">
                <a:latin typeface="Constantia"/>
                <a:cs typeface="Constantia"/>
              </a:rPr>
              <a:t>horizontal</a:t>
            </a:r>
            <a:r>
              <a:rPr lang="en-US" sz="2800" spc="105" dirty="0">
                <a:latin typeface="Constantia"/>
                <a:cs typeface="Constantia"/>
              </a:rPr>
              <a:t> </a:t>
            </a:r>
            <a:r>
              <a:rPr lang="en-US" sz="2800" dirty="0">
                <a:latin typeface="Constantia"/>
                <a:cs typeface="Constantia"/>
              </a:rPr>
              <a:t>(200‐1000</a:t>
            </a:r>
            <a:r>
              <a:rPr lang="en-US" sz="2800" spc="95" dirty="0">
                <a:latin typeface="Constantia"/>
                <a:cs typeface="Constantia"/>
              </a:rPr>
              <a:t> </a:t>
            </a:r>
            <a:r>
              <a:rPr lang="en-US" sz="2800" dirty="0">
                <a:latin typeface="Constantia"/>
                <a:cs typeface="Constantia"/>
              </a:rPr>
              <a:t>rpm</a:t>
            </a:r>
            <a:r>
              <a:rPr lang="en-US" sz="2800" spc="90" dirty="0">
                <a:latin typeface="Constantia"/>
                <a:cs typeface="Constantia"/>
              </a:rPr>
              <a:t> </a:t>
            </a:r>
            <a:r>
              <a:rPr lang="en-US" sz="2800" dirty="0">
                <a:latin typeface="Constantia"/>
                <a:cs typeface="Constantia"/>
              </a:rPr>
              <a:t>is</a:t>
            </a:r>
            <a:r>
              <a:rPr lang="en-US" sz="2800" spc="85" dirty="0">
                <a:latin typeface="Constantia"/>
                <a:cs typeface="Constantia"/>
              </a:rPr>
              <a:t> </a:t>
            </a:r>
            <a:r>
              <a:rPr lang="en-US" sz="2800" spc="-10" dirty="0">
                <a:latin typeface="Constantia"/>
                <a:cs typeface="Constantia"/>
              </a:rPr>
              <a:t>reasonable)</a:t>
            </a:r>
            <a:r>
              <a:rPr lang="en-US" sz="2800" spc="500" dirty="0">
                <a:latin typeface="Constantia"/>
                <a:cs typeface="Constantia"/>
              </a:rPr>
              <a:t> </a:t>
            </a:r>
            <a:r>
              <a:rPr lang="en-US" sz="2800" spc="-10" dirty="0">
                <a:latin typeface="Constantia"/>
                <a:cs typeface="Constantia"/>
              </a:rPr>
              <a:t>axis.</a:t>
            </a:r>
            <a:endParaRPr lang="en-US" sz="2800" dirty="0">
              <a:latin typeface="Constantia"/>
              <a:cs typeface="Constantia"/>
            </a:endParaRPr>
          </a:p>
          <a:p>
            <a:pPr marL="538480" indent="-457200" algn="just">
              <a:lnSpc>
                <a:spcPct val="100000"/>
              </a:lnSpc>
              <a:spcBef>
                <a:spcPts val="675"/>
              </a:spcBef>
              <a:buClr>
                <a:srgbClr val="0BD0D9"/>
              </a:buClr>
              <a:buSzPct val="93750"/>
              <a:buFont typeface="Arial" panose="020B0604020202020204" pitchFamily="34" charset="0"/>
              <a:buChar char="•"/>
              <a:tabLst>
                <a:tab pos="175260" algn="l"/>
              </a:tabLst>
            </a:pPr>
            <a:r>
              <a:rPr lang="en-US" sz="2800" dirty="0">
                <a:latin typeface="Constantia"/>
                <a:cs typeface="Constantia"/>
              </a:rPr>
              <a:t>The</a:t>
            </a:r>
            <a:r>
              <a:rPr lang="en-US" sz="2800" spc="-20" dirty="0">
                <a:latin typeface="Constantia"/>
                <a:cs typeface="Constantia"/>
              </a:rPr>
              <a:t> </a:t>
            </a:r>
            <a:r>
              <a:rPr lang="en-US" sz="2800" dirty="0">
                <a:latin typeface="Constantia"/>
                <a:cs typeface="Constantia"/>
              </a:rPr>
              <a:t>mold</a:t>
            </a:r>
            <a:r>
              <a:rPr lang="en-US" sz="2800" spc="5" dirty="0">
                <a:latin typeface="Constantia"/>
                <a:cs typeface="Constantia"/>
              </a:rPr>
              <a:t> </a:t>
            </a:r>
            <a:r>
              <a:rPr lang="en-US" sz="2800" dirty="0">
                <a:latin typeface="Constantia"/>
                <a:cs typeface="Constantia"/>
              </a:rPr>
              <a:t>is</a:t>
            </a:r>
            <a:r>
              <a:rPr lang="en-US" sz="2800" spc="-20" dirty="0">
                <a:latin typeface="Constantia"/>
                <a:cs typeface="Constantia"/>
              </a:rPr>
              <a:t> </a:t>
            </a:r>
            <a:r>
              <a:rPr lang="en-US" sz="2800" spc="-10" dirty="0">
                <a:latin typeface="Constantia"/>
                <a:cs typeface="Constantia"/>
              </a:rPr>
              <a:t>coated with</a:t>
            </a:r>
            <a:r>
              <a:rPr lang="en-US" sz="2800" spc="-30" dirty="0">
                <a:latin typeface="Constantia"/>
                <a:cs typeface="Constantia"/>
              </a:rPr>
              <a:t> </a:t>
            </a:r>
            <a:r>
              <a:rPr lang="en-US" sz="2800" dirty="0">
                <a:latin typeface="Constantia"/>
                <a:cs typeface="Constantia"/>
              </a:rPr>
              <a:t>a</a:t>
            </a:r>
            <a:r>
              <a:rPr lang="en-US" sz="2800" spc="-15" dirty="0">
                <a:latin typeface="Constantia"/>
                <a:cs typeface="Constantia"/>
              </a:rPr>
              <a:t> </a:t>
            </a:r>
            <a:r>
              <a:rPr lang="en-US" sz="2800" spc="-20" dirty="0">
                <a:latin typeface="Constantia"/>
                <a:cs typeface="Constantia"/>
              </a:rPr>
              <a:t>refractory</a:t>
            </a:r>
            <a:r>
              <a:rPr lang="en-US" sz="2800" spc="-25" dirty="0">
                <a:latin typeface="Constantia"/>
                <a:cs typeface="Constantia"/>
              </a:rPr>
              <a:t> </a:t>
            </a:r>
            <a:r>
              <a:rPr lang="en-US" sz="2800" spc="-10" dirty="0">
                <a:latin typeface="Constantia"/>
                <a:cs typeface="Constantia"/>
              </a:rPr>
              <a:t>coating.</a:t>
            </a:r>
            <a:endParaRPr lang="en-US" sz="2800" dirty="0">
              <a:latin typeface="Constantia"/>
              <a:cs typeface="Constantia"/>
            </a:endParaRPr>
          </a:p>
          <a:p>
            <a:pPr marL="537845" marR="79375" indent="-457200" algn="just">
              <a:lnSpc>
                <a:spcPct val="150600"/>
              </a:lnSpc>
              <a:spcBef>
                <a:spcPts val="185"/>
              </a:spcBef>
              <a:buClr>
                <a:srgbClr val="0BD0D9"/>
              </a:buClr>
              <a:buSzPct val="93750"/>
              <a:buFont typeface="Arial" panose="020B0604020202020204" pitchFamily="34" charset="0"/>
              <a:buChar char="•"/>
              <a:tabLst>
                <a:tab pos="176530" algn="l"/>
              </a:tabLst>
            </a:pPr>
            <a:r>
              <a:rPr lang="en-US" sz="2800" dirty="0">
                <a:latin typeface="Constantia"/>
                <a:cs typeface="Constantia"/>
              </a:rPr>
              <a:t>During</a:t>
            </a:r>
            <a:r>
              <a:rPr lang="en-US" sz="2800" spc="45" dirty="0">
                <a:latin typeface="Constantia"/>
                <a:cs typeface="Constantia"/>
              </a:rPr>
              <a:t> </a:t>
            </a:r>
            <a:r>
              <a:rPr lang="en-US" sz="2800" dirty="0">
                <a:latin typeface="Constantia"/>
                <a:cs typeface="Constantia"/>
              </a:rPr>
              <a:t>cooling</a:t>
            </a:r>
            <a:r>
              <a:rPr lang="en-US" sz="2800" spc="35" dirty="0">
                <a:latin typeface="Constantia"/>
                <a:cs typeface="Constantia"/>
              </a:rPr>
              <a:t> </a:t>
            </a:r>
            <a:r>
              <a:rPr lang="en-US" sz="2800" dirty="0">
                <a:latin typeface="Constantia"/>
                <a:cs typeface="Constantia"/>
              </a:rPr>
              <a:t>lower</a:t>
            </a:r>
            <a:r>
              <a:rPr lang="en-US" sz="2800" spc="15" dirty="0">
                <a:latin typeface="Constantia"/>
                <a:cs typeface="Constantia"/>
              </a:rPr>
              <a:t> </a:t>
            </a:r>
            <a:r>
              <a:rPr lang="en-US" sz="2800" dirty="0">
                <a:latin typeface="Constantia"/>
                <a:cs typeface="Constantia"/>
              </a:rPr>
              <a:t>density</a:t>
            </a:r>
            <a:r>
              <a:rPr lang="en-US" sz="2800" spc="30" dirty="0">
                <a:latin typeface="Constantia"/>
                <a:cs typeface="Constantia"/>
              </a:rPr>
              <a:t> </a:t>
            </a:r>
            <a:r>
              <a:rPr lang="en-US" sz="2800" dirty="0">
                <a:latin typeface="Constantia"/>
                <a:cs typeface="Constantia"/>
              </a:rPr>
              <a:t>impurities</a:t>
            </a:r>
            <a:r>
              <a:rPr lang="en-US" sz="2800" spc="30" dirty="0">
                <a:latin typeface="Constantia"/>
                <a:cs typeface="Constantia"/>
              </a:rPr>
              <a:t> </a:t>
            </a:r>
            <a:r>
              <a:rPr lang="en-US" sz="2800" dirty="0">
                <a:latin typeface="Constantia"/>
                <a:cs typeface="Constantia"/>
              </a:rPr>
              <a:t>will</a:t>
            </a:r>
            <a:r>
              <a:rPr lang="en-US" sz="2800" spc="45" dirty="0">
                <a:latin typeface="Constantia"/>
                <a:cs typeface="Constantia"/>
              </a:rPr>
              <a:t> </a:t>
            </a:r>
            <a:r>
              <a:rPr lang="en-US" sz="2800" dirty="0">
                <a:latin typeface="Constantia"/>
                <a:cs typeface="Constantia"/>
              </a:rPr>
              <a:t>tend</a:t>
            </a:r>
            <a:r>
              <a:rPr lang="en-US" sz="2800" spc="40" dirty="0">
                <a:latin typeface="Constantia"/>
                <a:cs typeface="Constantia"/>
              </a:rPr>
              <a:t> </a:t>
            </a:r>
            <a:r>
              <a:rPr lang="en-US" sz="2800" dirty="0">
                <a:latin typeface="Constantia"/>
                <a:cs typeface="Constantia"/>
              </a:rPr>
              <a:t>to</a:t>
            </a:r>
            <a:r>
              <a:rPr lang="en-US" sz="2800" spc="30" dirty="0">
                <a:latin typeface="Constantia"/>
                <a:cs typeface="Constantia"/>
              </a:rPr>
              <a:t> </a:t>
            </a:r>
            <a:r>
              <a:rPr lang="en-US" sz="2800" spc="-20" dirty="0">
                <a:latin typeface="Constantia"/>
                <a:cs typeface="Constantia"/>
              </a:rPr>
              <a:t>rise</a:t>
            </a:r>
            <a:r>
              <a:rPr lang="en-US" sz="2800" spc="500" dirty="0">
                <a:latin typeface="Constantia"/>
                <a:cs typeface="Constantia"/>
              </a:rPr>
              <a:t> 	</a:t>
            </a:r>
            <a:r>
              <a:rPr lang="en-US" sz="2800" spc="-20" dirty="0">
                <a:latin typeface="Constantia"/>
                <a:cs typeface="Constantia"/>
              </a:rPr>
              <a:t>towards</a:t>
            </a:r>
            <a:r>
              <a:rPr lang="en-US" sz="2800" spc="-25" dirty="0">
                <a:latin typeface="Constantia"/>
                <a:cs typeface="Constantia"/>
              </a:rPr>
              <a:t> </a:t>
            </a:r>
            <a:r>
              <a:rPr lang="en-US" sz="2800" spc="-10" dirty="0">
                <a:latin typeface="Constantia"/>
                <a:cs typeface="Constantia"/>
              </a:rPr>
              <a:t>the</a:t>
            </a:r>
            <a:r>
              <a:rPr lang="en-US" sz="2800" spc="-25" dirty="0">
                <a:latin typeface="Constantia"/>
                <a:cs typeface="Constantia"/>
              </a:rPr>
              <a:t> </a:t>
            </a:r>
            <a:r>
              <a:rPr lang="en-US" sz="2800" spc="-10" dirty="0">
                <a:latin typeface="Constantia"/>
                <a:cs typeface="Constantia"/>
              </a:rPr>
              <a:t>center</a:t>
            </a:r>
            <a:r>
              <a:rPr lang="en-US" sz="2800" spc="-40" dirty="0">
                <a:latin typeface="Constantia"/>
                <a:cs typeface="Constantia"/>
              </a:rPr>
              <a:t> </a:t>
            </a:r>
            <a:r>
              <a:rPr lang="en-US" sz="2800" dirty="0">
                <a:latin typeface="Constantia"/>
                <a:cs typeface="Constantia"/>
              </a:rPr>
              <a:t>of</a:t>
            </a:r>
            <a:r>
              <a:rPr lang="en-US" sz="2800" spc="20" dirty="0">
                <a:latin typeface="Constantia"/>
                <a:cs typeface="Constantia"/>
              </a:rPr>
              <a:t> </a:t>
            </a:r>
            <a:r>
              <a:rPr lang="en-US" sz="2800" spc="-10" dirty="0">
                <a:latin typeface="Constantia"/>
                <a:cs typeface="Constantia"/>
              </a:rPr>
              <a:t>rotation.</a:t>
            </a:r>
            <a:endParaRPr lang="en-US" sz="2800" dirty="0">
              <a:latin typeface="Constantia"/>
              <a:cs typeface="Constantia"/>
            </a:endParaRPr>
          </a:p>
        </p:txBody>
      </p:sp>
      <p:sp>
        <p:nvSpPr>
          <p:cNvPr id="13" name="Title 1">
            <a:extLst>
              <a:ext uri="{FF2B5EF4-FFF2-40B4-BE49-F238E27FC236}">
                <a16:creationId xmlns:a16="http://schemas.microsoft.com/office/drawing/2014/main" id="{0EA9999F-945B-478C-88EF-115059D00ACB}"/>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Centrifugal casting</a:t>
            </a:r>
          </a:p>
        </p:txBody>
      </p:sp>
    </p:spTree>
    <p:extLst>
      <p:ext uri="{BB962C8B-B14F-4D97-AF65-F5344CB8AC3E}">
        <p14:creationId xmlns:p14="http://schemas.microsoft.com/office/powerpoint/2010/main" val="104908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7F07A1C-FF02-F164-843C-0A3F7E717E06}"/>
              </a:ext>
            </a:extLst>
          </p:cNvPr>
          <p:cNvPicPr>
            <a:picLocks noGrp="1" noChangeAspect="1"/>
          </p:cNvPicPr>
          <p:nvPr>
            <p:ph idx="1"/>
          </p:nvPr>
        </p:nvPicPr>
        <p:blipFill>
          <a:blip r:embed="rId2"/>
          <a:srcRect l="46113" t="40178" r="9147" b="28221"/>
          <a:stretch>
            <a:fillRect/>
          </a:stretch>
        </p:blipFill>
        <p:spPr>
          <a:xfrm>
            <a:off x="812814" y="1473242"/>
            <a:ext cx="10540986" cy="4188000"/>
          </a:xfrm>
          <a:prstGeom prst="rect">
            <a:avLst/>
          </a:prstGeom>
        </p:spPr>
      </p:pic>
      <p:sp>
        <p:nvSpPr>
          <p:cNvPr id="4" name="Slide Number Placeholder 3">
            <a:extLst>
              <a:ext uri="{FF2B5EF4-FFF2-40B4-BE49-F238E27FC236}">
                <a16:creationId xmlns:a16="http://schemas.microsoft.com/office/drawing/2014/main" id="{79E39F0D-44BF-49D8-BFD5-CC7361EF8E4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14</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ABA02705-B516-876B-4B3F-94374E6AF782}"/>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Centrifugal casting</a:t>
            </a:r>
          </a:p>
        </p:txBody>
      </p:sp>
    </p:spTree>
    <p:extLst>
      <p:ext uri="{BB962C8B-B14F-4D97-AF65-F5344CB8AC3E}">
        <p14:creationId xmlns:p14="http://schemas.microsoft.com/office/powerpoint/2010/main" val="2901232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E77FAED-2121-9989-C11E-416C9FF0E1E6}"/>
              </a:ext>
            </a:extLst>
          </p:cNvPr>
          <p:cNvPicPr>
            <a:picLocks noGrp="1" noChangeAspect="1"/>
          </p:cNvPicPr>
          <p:nvPr>
            <p:ph idx="1"/>
          </p:nvPr>
        </p:nvPicPr>
        <p:blipFill>
          <a:blip r:embed="rId2"/>
          <a:srcRect l="49875" t="29664" r="1755" b="29136"/>
          <a:stretch>
            <a:fillRect/>
          </a:stretch>
        </p:blipFill>
        <p:spPr>
          <a:xfrm>
            <a:off x="910445" y="1378409"/>
            <a:ext cx="9448744" cy="4526889"/>
          </a:xfrm>
          <a:prstGeom prst="rect">
            <a:avLst/>
          </a:prstGeom>
        </p:spPr>
      </p:pic>
      <p:sp>
        <p:nvSpPr>
          <p:cNvPr id="4" name="Slide Number Placeholder 3">
            <a:extLst>
              <a:ext uri="{FF2B5EF4-FFF2-40B4-BE49-F238E27FC236}">
                <a16:creationId xmlns:a16="http://schemas.microsoft.com/office/drawing/2014/main" id="{861ABCC4-AC0D-E66A-FE65-FED44D613DED}"/>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15</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C9ADB99F-9E33-C786-97FA-64352677054E}"/>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Centrifugal casting</a:t>
            </a:r>
          </a:p>
        </p:txBody>
      </p:sp>
    </p:spTree>
    <p:extLst>
      <p:ext uri="{BB962C8B-B14F-4D97-AF65-F5344CB8AC3E}">
        <p14:creationId xmlns:p14="http://schemas.microsoft.com/office/powerpoint/2010/main" val="1549851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ounded Rectangle 18">
            <a:extLst>
              <a:ext uri="{FF2B5EF4-FFF2-40B4-BE49-F238E27FC236}">
                <a16:creationId xmlns:a16="http://schemas.microsoft.com/office/drawing/2014/main" id="{283A93BD-A469-4D4C-8A1F-5668AE975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8565" y="503573"/>
            <a:ext cx="7134870" cy="3599401"/>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9" r="2" b="2"/>
          <a:stretch/>
        </p:blipFill>
        <p:spPr bwMode="auto">
          <a:xfrm>
            <a:off x="2694432" y="666497"/>
            <a:ext cx="6803136" cy="327355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latin typeface="Calibri" panose="020F0502020204030204"/>
              </a:rPr>
              <a:pPr>
                <a:spcAft>
                  <a:spcPts val="600"/>
                </a:spcAft>
                <a:defRPr/>
              </a:pPr>
              <a:t>16</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8495</TotalTime>
  <Words>410</Words>
  <Application>Microsoft Office PowerPoint</Application>
  <PresentationFormat>Widescreen</PresentationFormat>
  <Paragraphs>70</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Constantia</vt:lpstr>
      <vt:lpstr>Courier New</vt:lpstr>
      <vt:lpstr>Times New Roman</vt:lpstr>
      <vt:lpstr>Trebuchet MS</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Ravi Kant Gupta [MU - Jaipur]</dc:creator>
  <cp:lastModifiedBy>Dr. Vaibhav Srivastava [MU - Jaipur]</cp:lastModifiedBy>
  <cp:revision>260</cp:revision>
  <dcterms:created xsi:type="dcterms:W3CDTF">2018-05-04T09:20:58Z</dcterms:created>
  <dcterms:modified xsi:type="dcterms:W3CDTF">2026-08-12T09:01:17Z</dcterms:modified>
</cp:coreProperties>
</file>