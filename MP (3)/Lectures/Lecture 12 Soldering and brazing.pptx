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20"/>
  </p:notesMasterIdLst>
  <p:sldIdLst>
    <p:sldId id="363" r:id="rId2"/>
    <p:sldId id="367" r:id="rId3"/>
    <p:sldId id="368" r:id="rId4"/>
    <p:sldId id="366" r:id="rId5"/>
    <p:sldId id="364" r:id="rId6"/>
    <p:sldId id="310" r:id="rId7"/>
    <p:sldId id="374" r:id="rId8"/>
    <p:sldId id="375" r:id="rId9"/>
    <p:sldId id="369" r:id="rId10"/>
    <p:sldId id="309" r:id="rId11"/>
    <p:sldId id="370" r:id="rId12"/>
    <p:sldId id="371" r:id="rId13"/>
    <p:sldId id="372" r:id="rId14"/>
    <p:sldId id="373" r:id="rId15"/>
    <p:sldId id="311" r:id="rId16"/>
    <p:sldId id="312" r:id="rId17"/>
    <p:sldId id="348" r:id="rId18"/>
    <p:sldId id="36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9252"/>
    <a:srgbClr val="FF66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88312" autoAdjust="0"/>
  </p:normalViewPr>
  <p:slideViewPr>
    <p:cSldViewPr snapToGrid="0" showGuides="1">
      <p:cViewPr varScale="1">
        <p:scale>
          <a:sx n="53" d="100"/>
          <a:sy n="53" d="100"/>
        </p:scale>
        <p:origin x="1120" y="52"/>
      </p:cViewPr>
      <p:guideLst>
        <p:guide orient="horz" pos="2136"/>
        <p:guide pos="3840"/>
      </p:guideLst>
    </p:cSldViewPr>
  </p:slideViewPr>
  <p:notesTextViewPr>
    <p:cViewPr>
      <p:scale>
        <a:sx n="1" d="1"/>
        <a:sy n="1" d="1"/>
      </p:scale>
      <p:origin x="0" y="0"/>
    </p:cViewPr>
  </p:notesTextViewPr>
  <p:sorterViewPr>
    <p:cViewPr>
      <p:scale>
        <a:sx n="100" d="100"/>
        <a:sy n="100"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D159C-51B0-40A3-8694-41A37F70563A}"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4F81C-B500-4E97-922A-F612A414F54B}" type="slidenum">
              <a:rPr lang="en-US" smtClean="0"/>
              <a:t>‹#›</a:t>
            </a:fld>
            <a:endParaRPr lang="en-US"/>
          </a:p>
        </p:txBody>
      </p:sp>
    </p:spTree>
    <p:extLst>
      <p:ext uri="{BB962C8B-B14F-4D97-AF65-F5344CB8AC3E}">
        <p14:creationId xmlns:p14="http://schemas.microsoft.com/office/powerpoint/2010/main" val="150401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21114-9311-4CF0-0AFC-D59B96932DA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6291285-27D4-B626-4F6A-9DB2C5F7FDB0}"/>
              </a:ext>
            </a:extLst>
          </p:cNvPr>
          <p:cNvSpPr>
            <a:spLocks noGrp="1" noChangeArrowheads="1"/>
          </p:cNvSpPr>
          <p:nvPr>
            <p:ph type="sldNum" sz="quarter" idx="5"/>
          </p:nvPr>
        </p:nvSpPr>
        <p:spPr>
          <a:ln/>
        </p:spPr>
        <p:txBody>
          <a:bodyPr/>
          <a:lstStyle/>
          <a:p>
            <a:fld id="{E5C10112-6A00-462D-A550-4288051EE3E3}" type="slidenum">
              <a:rPr lang="en-US"/>
              <a:pPr/>
              <a:t>3</a:t>
            </a:fld>
            <a:endParaRPr lang="en-US"/>
          </a:p>
        </p:txBody>
      </p:sp>
      <p:sp>
        <p:nvSpPr>
          <p:cNvPr id="153602" name="Rectangle 2">
            <a:extLst>
              <a:ext uri="{FF2B5EF4-FFF2-40B4-BE49-F238E27FC236}">
                <a16:creationId xmlns:a16="http://schemas.microsoft.com/office/drawing/2014/main" id="{0A41C61F-08AF-B85D-EFE2-02BD405153E5}"/>
              </a:ext>
            </a:extLst>
          </p:cNvPr>
          <p:cNvSpPr>
            <a:spLocks noGrp="1" noRot="1" noChangeAspect="1" noChangeArrowheads="1" noTextEdit="1"/>
          </p:cNvSpPr>
          <p:nvPr>
            <p:ph type="sldImg"/>
          </p:nvPr>
        </p:nvSpPr>
        <p:spPr>
          <a:ln/>
        </p:spPr>
      </p:sp>
      <p:sp>
        <p:nvSpPr>
          <p:cNvPr id="153603" name="Rectangle 3">
            <a:extLst>
              <a:ext uri="{FF2B5EF4-FFF2-40B4-BE49-F238E27FC236}">
                <a16:creationId xmlns:a16="http://schemas.microsoft.com/office/drawing/2014/main" id="{2BB13D6D-F628-DDC8-12B5-304544395345}"/>
              </a:ext>
            </a:extLst>
          </p:cNvPr>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22205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27BE5D-2DBB-4B82-B5C2-34B878531538}" type="slidenum">
              <a:rPr lang="en-US"/>
              <a:pPr/>
              <a:t>6</a:t>
            </a:fld>
            <a:endParaRPr lang="en-US"/>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53482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C10112-6A00-462D-A550-4288051EE3E3}" type="slidenum">
              <a:rPr lang="en-US"/>
              <a:pPr/>
              <a:t>10</a:t>
            </a:fld>
            <a:endParaRPr lang="en-US"/>
          </a:p>
        </p:txBody>
      </p:sp>
      <p:sp>
        <p:nvSpPr>
          <p:cNvPr id="153602" name="Rectangle 2"/>
          <p:cNvSpPr>
            <a:spLocks noGrp="1" noRot="1" noChangeAspect="1" noChangeArrowheads="1" noTextEdit="1"/>
          </p:cNvSpPr>
          <p:nvPr>
            <p:ph type="sldImg"/>
          </p:nvPr>
        </p:nvSpPr>
        <p:spPr>
          <a:ln/>
        </p:spPr>
      </p:sp>
      <p:sp>
        <p:nvSpPr>
          <p:cNvPr id="1536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80857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3F8B3D-BC7C-4C8F-83D9-49C7B1D9D56B}" type="slidenum">
              <a:rPr lang="en-US"/>
              <a:pPr/>
              <a:t>15</a:t>
            </a:fld>
            <a:endParaRPr lang="en-US"/>
          </a:p>
        </p:txBody>
      </p:sp>
      <p:sp>
        <p:nvSpPr>
          <p:cNvPr id="118786" name="Rectangle 2"/>
          <p:cNvSpPr>
            <a:spLocks noGrp="1" noRot="1" noChangeAspect="1" noChangeArrowheads="1" noTextEdit="1"/>
          </p:cNvSpPr>
          <p:nvPr>
            <p:ph type="sldImg"/>
          </p:nvPr>
        </p:nvSpPr>
        <p:spPr>
          <a:ln/>
        </p:spPr>
      </p:sp>
      <p:sp>
        <p:nvSpPr>
          <p:cNvPr id="118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20030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5A8B5D-5C14-4185-B8C4-3D3DAD058822}" type="slidenum">
              <a:rPr lang="en-US"/>
              <a:pPr/>
              <a:t>16</a:t>
            </a:fld>
            <a:endParaRPr lang="en-US"/>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32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4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N" dirty="0"/>
          </a:p>
        </p:txBody>
      </p:sp>
      <p:sp>
        <p:nvSpPr>
          <p:cNvPr id="4" name="Date Placeholder 3"/>
          <p:cNvSpPr>
            <a:spLocks noGrp="1"/>
          </p:cNvSpPr>
          <p:nvPr>
            <p:ph type="dt" sz="half" idx="10"/>
          </p:nvPr>
        </p:nvSpPr>
        <p:spPr>
          <a:xfrm>
            <a:off x="838200"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a:xfrm>
            <a:off x="8610600" y="6485337"/>
            <a:ext cx="2743200" cy="365125"/>
          </a:xfrm>
        </p:spPr>
        <p:txBody>
          <a:bodyPr/>
          <a:lstStyle/>
          <a:p>
            <a:fld id="{790D40CC-89F5-074E-A99F-1FA92DFF8C6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91557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6139" y="36884"/>
            <a:ext cx="10515600" cy="1325563"/>
          </a:xfrm>
        </p:spPr>
        <p:txBody>
          <a:bodyPr>
            <a:normAutofit/>
          </a:bodyPr>
          <a:lstStyle>
            <a:lvl1pPr>
              <a:defRPr sz="2800">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endParaRPr lang="en-IN" dirty="0"/>
          </a:p>
        </p:txBody>
      </p:sp>
      <p:sp>
        <p:nvSpPr>
          <p:cNvPr id="3" name="Content Placeholder 2"/>
          <p:cNvSpPr>
            <a:spLocks noGrp="1"/>
          </p:cNvSpPr>
          <p:nvPr>
            <p:ph idx="1"/>
          </p:nvPr>
        </p:nvSpPr>
        <p:spPr>
          <a:xfrm>
            <a:off x="756139" y="1391874"/>
            <a:ext cx="10515600" cy="4351338"/>
          </a:xfrm>
        </p:spPr>
        <p:txBody>
          <a:bodyPr/>
          <a:lstStyle>
            <a:lvl1pPr>
              <a:defRPr sz="2400">
                <a:latin typeface="Verdana" panose="020B0604030504040204" pitchFamily="34" charset="0"/>
                <a:ea typeface="Verdana" panose="020B0604030504040204" pitchFamily="34" charset="0"/>
                <a:cs typeface="Verdana" panose="020B0604030504040204" pitchFamily="34" charset="0"/>
              </a:defRPr>
            </a:lvl1pPr>
            <a:lvl2pPr marL="685783" indent="-228594">
              <a:buSzPct val="80000"/>
              <a:buFont typeface="Wingdings" pitchFamily="2" charset="2"/>
              <a:buChar char="§"/>
              <a:defRPr sz="2000">
                <a:latin typeface="Verdana" panose="020B0604030504040204" pitchFamily="34" charset="0"/>
                <a:ea typeface="Verdana" panose="020B0604030504040204" pitchFamily="34" charset="0"/>
                <a:cs typeface="Verdana" panose="020B0604030504040204" pitchFamily="34" charset="0"/>
              </a:defRPr>
            </a:lvl2pPr>
            <a:lvl3pPr marL="1142971" indent="-228594">
              <a:buSzPct val="70000"/>
              <a:buFont typeface="Courier New" panose="02070309020205020404" pitchFamily="49" charset="0"/>
              <a:buChar char="o"/>
              <a:defRPr sz="1800">
                <a:latin typeface="Verdana" panose="020B0604030504040204" pitchFamily="34" charset="0"/>
                <a:ea typeface="Verdana" panose="020B0604030504040204" pitchFamily="34" charset="0"/>
                <a:cs typeface="Verdana" panose="020B0604030504040204" pitchFamily="34" charset="0"/>
              </a:defRPr>
            </a:lvl3pPr>
            <a:lvl4pPr>
              <a:defRPr sz="1600">
                <a:latin typeface="Verdana" panose="020B0604030504040204" pitchFamily="34" charset="0"/>
                <a:ea typeface="Verdana" panose="020B0604030504040204" pitchFamily="34" charset="0"/>
                <a:cs typeface="Verdana" panose="020B0604030504040204" pitchFamily="34" charset="0"/>
              </a:defRPr>
            </a:lvl4pPr>
            <a:lvl5pPr marL="2057349" indent="-228594">
              <a:buSzPct val="60000"/>
              <a:buFont typeface="Wingdings" pitchFamily="2" charset="2"/>
              <a:buChar char="§"/>
              <a:defRPr sz="1600">
                <a:latin typeface="Verdana" panose="020B0604030504040204" pitchFamily="34" charset="0"/>
                <a:ea typeface="Verdana" panose="020B0604030504040204" pitchFamily="34" charset="0"/>
                <a:cs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Shape 354">
            <a:extLst>
              <a:ext uri="{FF2B5EF4-FFF2-40B4-BE49-F238E27FC236}">
                <a16:creationId xmlns:a16="http://schemas.microsoft.com/office/drawing/2014/main" id="{6E1A2C32-3B4B-1241-8B0E-0DC4FD15B916}"/>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406ADC65-CA76-7742-A967-9DA419BE78F4}"/>
              </a:ext>
            </a:extLst>
          </p:cNvPr>
          <p:cNvPicPr>
            <a:picLocks noChangeAspect="1"/>
          </p:cNvPicPr>
          <p:nvPr userDrawn="1"/>
        </p:nvPicPr>
        <p:blipFill>
          <a:blip r:embed="rId2"/>
          <a:stretch>
            <a:fillRect/>
          </a:stretch>
        </p:blipFill>
        <p:spPr>
          <a:xfrm>
            <a:off x="11140521" y="2721"/>
            <a:ext cx="1051481" cy="1101818"/>
          </a:xfrm>
          <a:prstGeom prst="rect">
            <a:avLst/>
          </a:prstGeom>
        </p:spPr>
      </p:pic>
      <p:sp>
        <p:nvSpPr>
          <p:cNvPr id="4" name="Date Placeholder 3">
            <a:extLst>
              <a:ext uri="{FF2B5EF4-FFF2-40B4-BE49-F238E27FC236}">
                <a16:creationId xmlns:a16="http://schemas.microsoft.com/office/drawing/2014/main" id="{89872737-9D6D-8F41-A7B3-4325B7FD1CBB}"/>
              </a:ext>
            </a:extLst>
          </p:cNvPr>
          <p:cNvSpPr>
            <a:spLocks noGrp="1"/>
          </p:cNvSpPr>
          <p:nvPr>
            <p:ph type="dt" sz="half" idx="10"/>
          </p:nvPr>
        </p:nvSpPr>
        <p:spPr>
          <a:xfrm>
            <a:off x="756139" y="6485337"/>
            <a:ext cx="2743200" cy="365125"/>
          </a:xfrm>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a:extLst>
              <a:ext uri="{FF2B5EF4-FFF2-40B4-BE49-F238E27FC236}">
                <a16:creationId xmlns:a16="http://schemas.microsoft.com/office/drawing/2014/main" id="{0B97172E-E9C4-934E-9BB9-BE12C7546B04}"/>
              </a:ext>
            </a:extLst>
          </p:cNvPr>
          <p:cNvSpPr>
            <a:spLocks noGrp="1"/>
          </p:cNvSpPr>
          <p:nvPr>
            <p:ph type="ftr" sz="quarter" idx="11"/>
          </p:nvPr>
        </p:nvSpPr>
        <p:spPr>
          <a:xfrm>
            <a:off x="4038600" y="6485337"/>
            <a:ext cx="4114800" cy="365125"/>
          </a:xfrm>
        </p:spPr>
        <p:txBody>
          <a:bodyPr/>
          <a:lstStyle/>
          <a:p>
            <a:r>
              <a:rPr lang="en-IN" dirty="0">
                <a:solidFill>
                  <a:prstClr val="black">
                    <a:tint val="75000"/>
                  </a:prstClr>
                </a:solidFill>
              </a:rPr>
              <a:t>Manipal University Jaipur</a:t>
            </a:r>
          </a:p>
        </p:txBody>
      </p:sp>
      <p:sp>
        <p:nvSpPr>
          <p:cNvPr id="6" name="Slide Number Placeholder 5">
            <a:extLst>
              <a:ext uri="{FF2B5EF4-FFF2-40B4-BE49-F238E27FC236}">
                <a16:creationId xmlns:a16="http://schemas.microsoft.com/office/drawing/2014/main" id="{505D8589-C750-3344-A735-35BA55FD8E63}"/>
              </a:ext>
            </a:extLst>
          </p:cNvPr>
          <p:cNvSpPr>
            <a:spLocks noGrp="1"/>
          </p:cNvSpPr>
          <p:nvPr>
            <p:ph type="sldNum" sz="quarter" idx="12"/>
          </p:nvPr>
        </p:nvSpPr>
        <p:spPr>
          <a:xfrm>
            <a:off x="8610600" y="6485337"/>
            <a:ext cx="2743200" cy="365125"/>
          </a:xfrm>
        </p:spPr>
        <p:txBody>
          <a:bodyPr/>
          <a:lstStyle>
            <a:lvl1pPr>
              <a:defRPr/>
            </a:lvl1pPr>
          </a:lstStyle>
          <a:p>
            <a:fld id="{B0224EE6-E032-0A4B-A8B2-3B3E72DB7979}"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19390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49" y="1709740"/>
            <a:ext cx="10515600" cy="2852737"/>
          </a:xfrm>
        </p:spPr>
        <p:txBody>
          <a:bodyPr anchor="b">
            <a:normAutofit/>
          </a:bodyPr>
          <a:lstStyle>
            <a:lvl1pPr>
              <a:defRPr sz="4000"/>
            </a:lvl1pPr>
          </a:lstStyle>
          <a:p>
            <a:r>
              <a:rPr lang="en-US"/>
              <a:t>Click to edit Master title style</a:t>
            </a:r>
            <a:endParaRPr lang="en-IN"/>
          </a:p>
        </p:txBody>
      </p:sp>
      <p:sp>
        <p:nvSpPr>
          <p:cNvPr id="3" name="Text Placeholder 2"/>
          <p:cNvSpPr>
            <a:spLocks noGrp="1"/>
          </p:cNvSpPr>
          <p:nvPr>
            <p:ph type="body" idx="1"/>
          </p:nvPr>
        </p:nvSpPr>
        <p:spPr>
          <a:xfrm>
            <a:off x="831849" y="4589497"/>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404644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415320"/>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6172200" y="1415320"/>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lvl1pPr>
              <a:defRPr/>
            </a:lvl1pPr>
          </a:lstStyle>
          <a:p>
            <a:fld id="{57322C6F-883B-EE4D-9D9D-117DC5B9C5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9241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25161"/>
            <a:ext cx="10515600" cy="1325563"/>
          </a:xfrm>
        </p:spPr>
        <p:txBody>
          <a:bodyPr/>
          <a:lstStyle/>
          <a:p>
            <a:r>
              <a:rPr lang="en-US" dirty="0"/>
              <a:t>Click to edit Master title style</a:t>
            </a:r>
            <a:endParaRPr lang="en-IN" dirty="0"/>
          </a:p>
        </p:txBody>
      </p:sp>
      <p:sp>
        <p:nvSpPr>
          <p:cNvPr id="3" name="Text Placeholder 2"/>
          <p:cNvSpPr>
            <a:spLocks noGrp="1"/>
          </p:cNvSpPr>
          <p:nvPr>
            <p:ph type="body" idx="1"/>
          </p:nvPr>
        </p:nvSpPr>
        <p:spPr>
          <a:xfrm>
            <a:off x="839789" y="1376365"/>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2002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3" y="1376365"/>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2002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9" name="Slide Number Placeholder 8"/>
          <p:cNvSpPr>
            <a:spLocks noGrp="1"/>
          </p:cNvSpPr>
          <p:nvPr>
            <p:ph type="sldNum" sz="quarter" idx="12"/>
          </p:nvPr>
        </p:nvSpPr>
        <p:spPr/>
        <p:txBody>
          <a:bodyPr/>
          <a:lstStyle/>
          <a:p>
            <a:fld id="{43DB6E5F-7FEB-0648-9FAC-2572B4429CC6}"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670870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4" name="Footer Placeholder 3"/>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5" name="Slide Number Placeholder 4"/>
          <p:cNvSpPr>
            <a:spLocks noGrp="1"/>
          </p:cNvSpPr>
          <p:nvPr>
            <p:ph type="sldNum" sz="quarter" idx="12"/>
          </p:nvPr>
        </p:nvSpPr>
        <p:spPr/>
        <p:txBody>
          <a:bodyPr/>
          <a:lstStyle/>
          <a:p>
            <a:fld id="{2B1515BA-1963-5548-A509-B31D6408C04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06062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3" name="Footer Placeholder 2"/>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4" name="Slide Number Placeholder 3"/>
          <p:cNvSpPr>
            <a:spLocks noGrp="1"/>
          </p:cNvSpPr>
          <p:nvPr>
            <p:ph type="sldNum" sz="quarter" idx="12"/>
          </p:nvPr>
        </p:nvSpPr>
        <p:spPr/>
        <p:txBody>
          <a:bodyPr/>
          <a:lstStyle/>
          <a:p>
            <a:fld id="{DCF0632E-D997-4741-9C11-CB4FCA70517A}"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73579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56491"/>
            <a:ext cx="3932237" cy="1600200"/>
          </a:xfrm>
        </p:spPr>
        <p:txBody>
          <a:bodyPr anchor="b">
            <a:normAutofit/>
          </a:bodyPr>
          <a:lstStyle>
            <a:lvl1pPr>
              <a:defRPr sz="2800"/>
            </a:lvl1pPr>
          </a:lstStyle>
          <a:p>
            <a:r>
              <a:rPr lang="en-US"/>
              <a:t>Click to edit Master title style</a:t>
            </a:r>
            <a:endParaRPr lang="en-IN"/>
          </a:p>
        </p:txBody>
      </p:sp>
      <p:sp>
        <p:nvSpPr>
          <p:cNvPr id="3" name="Content Placeholder 2"/>
          <p:cNvSpPr>
            <a:spLocks noGrp="1"/>
          </p:cNvSpPr>
          <p:nvPr>
            <p:ph idx="1"/>
          </p:nvPr>
        </p:nvSpPr>
        <p:spPr>
          <a:xfrm>
            <a:off x="5183188" y="1198442"/>
            <a:ext cx="6172200"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half" idx="2"/>
          </p:nvPr>
        </p:nvSpPr>
        <p:spPr>
          <a:xfrm>
            <a:off x="839788" y="2268414"/>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BF852CCF-9C18-EE4F-AF97-937D2292C2BD}"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860694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21322"/>
            <a:ext cx="3932237" cy="1600200"/>
          </a:xfrm>
        </p:spPr>
        <p:txBody>
          <a:bodyPr anchor="b">
            <a:normAutofit/>
          </a:bodyPr>
          <a:lstStyle>
            <a:lvl1pPr>
              <a:defRPr sz="2800"/>
            </a:lvl1pPr>
          </a:lstStyle>
          <a:p>
            <a:r>
              <a:rPr lang="en-US"/>
              <a:t>Click to edit Master title style</a:t>
            </a:r>
            <a:endParaRPr lang="en-IN"/>
          </a:p>
        </p:txBody>
      </p:sp>
      <p:sp>
        <p:nvSpPr>
          <p:cNvPr id="3" name="Picture Placeholder 2"/>
          <p:cNvSpPr>
            <a:spLocks noGrp="1"/>
          </p:cNvSpPr>
          <p:nvPr>
            <p:ph type="pic" idx="1"/>
          </p:nvPr>
        </p:nvSpPr>
        <p:spPr>
          <a:xfrm>
            <a:off x="5183188" y="1174996"/>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p:cNvSpPr>
            <a:spLocks noGrp="1"/>
          </p:cNvSpPr>
          <p:nvPr>
            <p:ph type="body" sz="half" idx="2"/>
          </p:nvPr>
        </p:nvSpPr>
        <p:spPr>
          <a:xfrm>
            <a:off x="839788" y="2221522"/>
            <a:ext cx="3932237" cy="3811588"/>
          </a:xfrm>
        </p:spPr>
        <p:txBody>
          <a:bodyPr>
            <a:normAutofit/>
          </a:bodyPr>
          <a:lstStyle>
            <a:lvl1pPr marL="0" indent="0">
              <a:buNone/>
              <a:defRPr sz="14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6" name="Footer Placeholder 5"/>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7" name="Slide Number Placeholder 6"/>
          <p:cNvSpPr>
            <a:spLocks noGrp="1"/>
          </p:cNvSpPr>
          <p:nvPr>
            <p:ph type="sldNum" sz="quarter" idx="12"/>
          </p:nvPr>
        </p:nvSpPr>
        <p:spPr/>
        <p:txBody>
          <a:bodyPr/>
          <a:lstStyle/>
          <a:p>
            <a:fld id="{A9765D97-2825-F947-8A31-20AC4E20E391}"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2280773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63181617-AE52-40EF-9E8F-5C7C49F4989C}"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671273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dirty="0">
                <a:solidFill>
                  <a:prstClr val="black">
                    <a:tint val="75000"/>
                  </a:prstClr>
                </a:solidFill>
              </a:rPr>
              <a:t>Manipal University Jaipur</a:t>
            </a:r>
          </a:p>
        </p:txBody>
      </p:sp>
      <p:sp>
        <p:nvSpPr>
          <p:cNvPr id="6" name="Slide Number Placeholder 5"/>
          <p:cNvSpPr>
            <a:spLocks noGrp="1"/>
          </p:cNvSpPr>
          <p:nvPr>
            <p:ph type="sldNum" sz="quarter" idx="12"/>
          </p:nvPr>
        </p:nvSpPr>
        <p:spPr/>
        <p:txBody>
          <a:bodyPr/>
          <a:lstStyle/>
          <a:p>
            <a:fld id="{E7CE808B-2600-D144-9BD3-F98DDA596C4E}"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1384895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9" name="Shape 9"/>
          <p:cNvSpPr>
            <a:spLocks noGrp="1"/>
          </p:cNvSpPr>
          <p:nvPr>
            <p:ph type="title" hasCustomPrompt="1"/>
          </p:nvPr>
        </p:nvSpPr>
        <p:spPr>
          <a:xfrm>
            <a:off x="277158" y="0"/>
            <a:ext cx="11099439" cy="1555576"/>
          </a:xfrm>
          <a:prstGeom prst="rect">
            <a:avLst/>
          </a:prstGeom>
        </p:spPr>
        <p:txBody>
          <a:bodyPr anchor="ctr"/>
          <a:lstStyle>
            <a:lvl1pPr algn="l" defTabSz="457189">
              <a:defRPr sz="2400" b="1">
                <a:solidFill>
                  <a:schemeClr val="tx1"/>
                </a:solidFill>
                <a:uFill>
                  <a:solidFill>
                    <a:srgbClr val="3B7542"/>
                  </a:solidFill>
                </a:uFill>
              </a:defRPr>
            </a:lvl1pPr>
          </a:lstStyle>
          <a:p>
            <a:pPr lvl="0"/>
            <a:r>
              <a:t>Title Text</a:t>
            </a:r>
          </a:p>
        </p:txBody>
      </p:sp>
      <p:sp>
        <p:nvSpPr>
          <p:cNvPr id="6" name="Slide Number Placeholder 5"/>
          <p:cNvSpPr>
            <a:spLocks noGrp="1"/>
          </p:cNvSpPr>
          <p:nvPr>
            <p:ph type="sldNum" sz="quarter" idx="4"/>
          </p:nvPr>
        </p:nvSpPr>
        <p:spPr>
          <a:xfrm>
            <a:off x="8763000" y="6508784"/>
            <a:ext cx="2743200" cy="365125"/>
          </a:xfrm>
          <a:prstGeom prst="rect">
            <a:avLst/>
          </a:prstGeom>
        </p:spPr>
        <p:txBody>
          <a:bodyPr/>
          <a:lstStyle>
            <a:lvl1pPr>
              <a:defRPr lang="en-IN" smtClean="0"/>
            </a:lvl1pPr>
          </a:lstStyle>
          <a:p>
            <a:fld id="{63181617-AE52-40EF-9E8F-5C7C49F4989C}" type="slidenum">
              <a:rPr>
                <a:solidFill>
                  <a:prstClr val="black">
                    <a:tint val="75000"/>
                  </a:prstClr>
                </a:solidFill>
              </a:rPr>
              <a:pPr/>
              <a:t>‹#›</a:t>
            </a:fld>
            <a:endParaRPr dirty="0">
              <a:solidFill>
                <a:prstClr val="black">
                  <a:tint val="75000"/>
                </a:prstClr>
              </a:solidFill>
            </a:endParaRPr>
          </a:p>
        </p:txBody>
      </p:sp>
    </p:spTree>
    <p:extLst>
      <p:ext uri="{BB962C8B-B14F-4D97-AF65-F5344CB8AC3E}">
        <p14:creationId xmlns:p14="http://schemas.microsoft.com/office/powerpoint/2010/main" val="130295442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fontAlgn="base">
              <a:spcBef>
                <a:spcPct val="0"/>
              </a:spcBef>
              <a:spcAft>
                <a:spcPct val="0"/>
              </a:spcAft>
              <a:defRPr/>
            </a:pPr>
            <a:endParaRPr lang="en-US" sz="1400">
              <a:solidFill>
                <a:srgbClr val="000000"/>
              </a:solidFill>
              <a:latin typeface="Arial" charset="0"/>
            </a:endParaRPr>
          </a:p>
        </p:txBody>
      </p:sp>
      <p:sp>
        <p:nvSpPr>
          <p:cNvPr id="4" name="Rectangle 5"/>
          <p:cNvSpPr>
            <a:spLocks noGrp="1" noChangeArrowheads="1"/>
          </p:cNvSpPr>
          <p:nvPr>
            <p:ph type="ftr" sz="quarter" idx="11"/>
          </p:nvPr>
        </p:nvSpPr>
        <p:spPr>
          <a:ln/>
        </p:spPr>
        <p:txBody>
          <a:bodyPr/>
          <a:lstStyle>
            <a:lvl1pPr>
              <a:defRPr/>
            </a:lvl1pPr>
          </a:lstStyle>
          <a:p>
            <a:pPr fontAlgn="base">
              <a:spcBef>
                <a:spcPct val="0"/>
              </a:spcBef>
              <a:spcAft>
                <a:spcPct val="0"/>
              </a:spcAft>
              <a:defRPr/>
            </a:pPr>
            <a:r>
              <a:rPr lang="en-US" sz="1400" b="1">
                <a:solidFill>
                  <a:srgbClr val="333399"/>
                </a:solidFill>
                <a:effectLst>
                  <a:outerShdw blurRad="38100" dist="38100" dir="2700000" algn="tl">
                    <a:srgbClr val="C0C0C0"/>
                  </a:outerShdw>
                </a:effectLst>
                <a:latin typeface="Arial" charset="0"/>
              </a:rPr>
              <a:t>Dept. of Mech. Engg..</a:t>
            </a:r>
            <a:endParaRPr lang="en-US" sz="1400" b="1" dirty="0">
              <a:solidFill>
                <a:srgbClr val="333399"/>
              </a:solidFill>
              <a:effectLst>
                <a:outerShdw blurRad="38100" dist="38100" dir="2700000" algn="tl">
                  <a:srgbClr val="C0C0C0"/>
                </a:outerShdw>
              </a:effectLst>
              <a:latin typeface="Arial" charset="0"/>
            </a:endParaRPr>
          </a:p>
        </p:txBody>
      </p:sp>
      <p:sp>
        <p:nvSpPr>
          <p:cNvPr id="5" name="Rectangle 6"/>
          <p:cNvSpPr>
            <a:spLocks noGrp="1" noChangeArrowheads="1"/>
          </p:cNvSpPr>
          <p:nvPr>
            <p:ph type="sldNum" sz="quarter" idx="12"/>
          </p:nvPr>
        </p:nvSpPr>
        <p:spPr>
          <a:ln/>
        </p:spPr>
        <p:txBody>
          <a:bodyPr/>
          <a:lstStyle>
            <a:lvl1pPr>
              <a:defRPr/>
            </a:lvl1pPr>
          </a:lstStyle>
          <a:p>
            <a:pPr fontAlgn="base">
              <a:spcBef>
                <a:spcPct val="0"/>
              </a:spcBef>
              <a:spcAft>
                <a:spcPct val="0"/>
              </a:spcAft>
              <a:defRPr/>
            </a:pPr>
            <a:fld id="{5DF92A6F-6267-42C4-BAAF-7E22FE62BFE5}" type="slidenum">
              <a:rPr lang="en-US" sz="1400" b="1" smtClean="0">
                <a:solidFill>
                  <a:srgbClr val="333399"/>
                </a:solidFill>
                <a:effectLst>
                  <a:outerShdw blurRad="38100" dist="38100" dir="2700000" algn="tl">
                    <a:srgbClr val="C0C0C0"/>
                  </a:outerShdw>
                </a:effectLst>
                <a:latin typeface="Arial" charset="0"/>
              </a:rPr>
              <a:pPr fontAlgn="base">
                <a:spcBef>
                  <a:spcPct val="0"/>
                </a:spcBef>
                <a:spcAft>
                  <a:spcPct val="0"/>
                </a:spcAft>
                <a:defRPr/>
              </a:pPr>
              <a:t>‹#›</a:t>
            </a:fld>
            <a:endParaRPr lang="en-US" sz="1400" b="1">
              <a:solidFill>
                <a:srgbClr val="333399"/>
              </a:solidFill>
              <a:effectLst>
                <a:outerShdw blurRad="38100" dist="38100" dir="2700000" algn="tl">
                  <a:srgbClr val="C0C0C0"/>
                </a:outerShdw>
              </a:effectLst>
              <a:latin typeface="Arial" charset="0"/>
            </a:endParaRPr>
          </a:p>
        </p:txBody>
      </p:sp>
    </p:spTree>
    <p:extLst>
      <p:ext uri="{BB962C8B-B14F-4D97-AF65-F5344CB8AC3E}">
        <p14:creationId xmlns:p14="http://schemas.microsoft.com/office/powerpoint/2010/main" val="1970334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5338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37894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48533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solidFill>
                  <a:prstClr val="black">
                    <a:tint val="75000"/>
                  </a:prstClr>
                </a:solidFill>
              </a:rPr>
              <a:t>3/14/18</a:t>
            </a:r>
            <a:endParaRPr lang="en-IN" dirty="0">
              <a:solidFill>
                <a:prstClr val="black">
                  <a:tint val="75000"/>
                </a:prstClr>
              </a:solidFill>
            </a:endParaRPr>
          </a:p>
        </p:txBody>
      </p:sp>
      <p:sp>
        <p:nvSpPr>
          <p:cNvPr id="5" name="Footer Placeholder 4"/>
          <p:cNvSpPr>
            <a:spLocks noGrp="1"/>
          </p:cNvSpPr>
          <p:nvPr>
            <p:ph type="ftr" sz="quarter" idx="3"/>
          </p:nvPr>
        </p:nvSpPr>
        <p:spPr>
          <a:xfrm>
            <a:off x="4038600" y="6485337"/>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solidFill>
                  <a:prstClr val="black">
                    <a:tint val="75000"/>
                  </a:prstClr>
                </a:solidFill>
              </a:rPr>
              <a:t>Manipal University Jaipur</a:t>
            </a:r>
          </a:p>
        </p:txBody>
      </p:sp>
      <p:sp>
        <p:nvSpPr>
          <p:cNvPr id="6" name="Slide Number Placeholder 5"/>
          <p:cNvSpPr>
            <a:spLocks noGrp="1"/>
          </p:cNvSpPr>
          <p:nvPr>
            <p:ph type="sldNum" sz="quarter" idx="4"/>
          </p:nvPr>
        </p:nvSpPr>
        <p:spPr>
          <a:xfrm>
            <a:off x="8610600" y="6485337"/>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72C30-510C-0841-ADD2-D25B2E586470}" type="slidenum">
              <a:rPr lang="en-IN" smtClean="0">
                <a:solidFill>
                  <a:prstClr val="black">
                    <a:tint val="75000"/>
                  </a:prstClr>
                </a:solidFill>
              </a:rPr>
              <a:pPr/>
              <a:t>‹#›</a:t>
            </a:fld>
            <a:endParaRPr lang="en-IN" dirty="0">
              <a:solidFill>
                <a:prstClr val="black">
                  <a:tint val="75000"/>
                </a:prstClr>
              </a:solidFill>
            </a:endParaRPr>
          </a:p>
        </p:txBody>
      </p:sp>
      <p:sp>
        <p:nvSpPr>
          <p:cNvPr id="7" name="Shape 354">
            <a:extLst>
              <a:ext uri="{FF2B5EF4-FFF2-40B4-BE49-F238E27FC236}">
                <a16:creationId xmlns:a16="http://schemas.microsoft.com/office/drawing/2014/main" id="{75073F86-4F3F-714F-AE37-E67FC08E3BE8}"/>
              </a:ext>
            </a:extLst>
          </p:cNvPr>
          <p:cNvSpPr>
            <a:spLocks noChangeArrowheads="1"/>
          </p:cNvSpPr>
          <p:nvPr userDrawn="1"/>
        </p:nvSpPr>
        <p:spPr bwMode="auto">
          <a:xfrm>
            <a:off x="0" y="1058504"/>
            <a:ext cx="9840384" cy="46037"/>
          </a:xfrm>
          <a:prstGeom prst="rect">
            <a:avLst/>
          </a:prstGeom>
          <a:solidFill>
            <a:srgbClr val="E46C0A"/>
          </a:solidFill>
          <a:ln w="9525">
            <a:solidFill>
              <a:srgbClr val="FF6600"/>
            </a:solidFill>
            <a:round/>
            <a:headEnd/>
            <a:tailEnd/>
          </a:ln>
          <a:effectLst>
            <a:outerShdw blurRad="38100" dist="23000" dir="5400000" rotWithShape="0">
              <a:srgbClr val="808080">
                <a:alpha val="34999"/>
              </a:srgbClr>
            </a:outerShdw>
          </a:effectLst>
        </p:spPr>
        <p:txBody>
          <a:bodyPr lIns="0" tIns="0" rIns="0" bIns="0" anchor="ctr"/>
          <a:lstStyle>
            <a:lvl1pPr>
              <a:defRPr sz="1200">
                <a:solidFill>
                  <a:schemeClr val="tx1"/>
                </a:solidFill>
                <a:latin typeface="Helvetica" charset="0"/>
                <a:ea typeface="MS PGothic" pitchFamily="34" charset="-128"/>
                <a:sym typeface="Helvetica" charset="0"/>
              </a:defRPr>
            </a:lvl1pPr>
            <a:lvl2pPr>
              <a:defRPr sz="1200">
                <a:solidFill>
                  <a:schemeClr val="tx1"/>
                </a:solidFill>
                <a:latin typeface="Helvetica" charset="0"/>
                <a:ea typeface="MS PGothic" pitchFamily="34" charset="-128"/>
                <a:sym typeface="Helvetica" charset="0"/>
              </a:defRPr>
            </a:lvl2pPr>
            <a:lvl3pPr>
              <a:defRPr sz="1200">
                <a:solidFill>
                  <a:schemeClr val="tx1"/>
                </a:solidFill>
                <a:latin typeface="Helvetica" charset="0"/>
                <a:ea typeface="MS PGothic" pitchFamily="34" charset="-128"/>
                <a:sym typeface="Helvetica" charset="0"/>
              </a:defRPr>
            </a:lvl3pPr>
            <a:lvl4pPr>
              <a:defRPr sz="1200">
                <a:solidFill>
                  <a:schemeClr val="tx1"/>
                </a:solidFill>
                <a:latin typeface="Helvetica" charset="0"/>
                <a:ea typeface="MS PGothic" pitchFamily="34" charset="-128"/>
                <a:sym typeface="Helvetica" charset="0"/>
              </a:defRPr>
            </a:lvl4pPr>
            <a:lvl5pPr>
              <a:defRPr sz="1200">
                <a:solidFill>
                  <a:schemeClr val="tx1"/>
                </a:solidFill>
                <a:latin typeface="Helvetica" charset="0"/>
                <a:ea typeface="MS PGothic" pitchFamily="34" charset="-128"/>
                <a:sym typeface="Helvetica" charset="0"/>
              </a:defRPr>
            </a:lvl5pPr>
            <a:lvl6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6pPr>
            <a:lvl7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7pPr>
            <a:lvl8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8pPr>
            <a:lvl9pPr indent="-914400" eaLnBrk="0" fontAlgn="base" hangingPunct="0">
              <a:spcBef>
                <a:spcPct val="0"/>
              </a:spcBef>
              <a:spcAft>
                <a:spcPct val="0"/>
              </a:spcAft>
              <a:defRPr sz="1200">
                <a:solidFill>
                  <a:schemeClr val="tx1"/>
                </a:solidFill>
                <a:latin typeface="Helvetica" charset="0"/>
                <a:ea typeface="MS PGothic" pitchFamily="34" charset="-128"/>
                <a:sym typeface="Helvetica" charset="0"/>
              </a:defRPr>
            </a:lvl9pPr>
          </a:lstStyle>
          <a:p>
            <a:pPr algn="ctr" fontAlgn="base">
              <a:spcBef>
                <a:spcPct val="0"/>
              </a:spcBef>
              <a:spcAft>
                <a:spcPct val="0"/>
              </a:spcAft>
            </a:pPr>
            <a:endParaRPr lang="en-US" altLang="en-US" sz="1800" dirty="0">
              <a:solidFill>
                <a:srgbClr val="FFFFFF"/>
              </a:solidFill>
              <a:latin typeface="Trebuchet MS" pitchFamily="34" charset="0"/>
              <a:ea typeface="Calibri" pitchFamily="34" charset="0"/>
              <a:cs typeface="Trebuchet MS" pitchFamily="34" charset="0"/>
              <a:sym typeface="Calibri" pitchFamily="34" charset="0"/>
            </a:endParaRPr>
          </a:p>
        </p:txBody>
      </p:sp>
      <p:pic>
        <p:nvPicPr>
          <p:cNvPr id="8" name="Picture 7">
            <a:extLst>
              <a:ext uri="{FF2B5EF4-FFF2-40B4-BE49-F238E27FC236}">
                <a16:creationId xmlns:a16="http://schemas.microsoft.com/office/drawing/2014/main" id="{79FF0070-8C18-FB40-A7E0-7B6340E110C4}"/>
              </a:ext>
            </a:extLst>
          </p:cNvPr>
          <p:cNvPicPr>
            <a:picLocks noChangeAspect="1"/>
          </p:cNvPicPr>
          <p:nvPr userDrawn="1"/>
        </p:nvPicPr>
        <p:blipFill>
          <a:blip r:embed="rId15"/>
          <a:stretch>
            <a:fillRect/>
          </a:stretch>
        </p:blipFill>
        <p:spPr>
          <a:xfrm>
            <a:off x="11140521" y="2721"/>
            <a:ext cx="1051481" cy="1101818"/>
          </a:xfrm>
          <a:prstGeom prst="rect">
            <a:avLst/>
          </a:prstGeom>
        </p:spPr>
      </p:pic>
    </p:spTree>
    <p:extLst>
      <p:ext uri="{BB962C8B-B14F-4D97-AF65-F5344CB8AC3E}">
        <p14:creationId xmlns:p14="http://schemas.microsoft.com/office/powerpoint/2010/main" val="1722445568"/>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hf hdr="0" ftr="0" dt="0"/>
  <p:txStyles>
    <p:title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hyperlink" Target="http://mewelding.com/resistance-welding-equipmen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70B121-56F4-4848-B38B-182089D909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8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2D72A2C9-F3CA-4216-8BAD-FA4C970C3C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ACE499A-E92C-4C67-A6C8-3D5FD0951DB6}"/>
              </a:ext>
            </a:extLst>
          </p:cNvPr>
          <p:cNvSpPr>
            <a:spLocks noGrp="1"/>
          </p:cNvSpPr>
          <p:nvPr>
            <p:ph idx="1"/>
          </p:nvPr>
        </p:nvSpPr>
        <p:spPr>
          <a:xfrm>
            <a:off x="4976031" y="963877"/>
            <a:ext cx="6377769" cy="4930246"/>
          </a:xfrm>
        </p:spPr>
        <p:txBody>
          <a:bodyPr anchor="ctr">
            <a:normAutofit/>
          </a:bodyPr>
          <a:lstStyle/>
          <a:p>
            <a:pPr marL="0" indent="0">
              <a:buNone/>
            </a:pPr>
            <a:r>
              <a:rPr lang="en-IN" sz="4400" dirty="0">
                <a:solidFill>
                  <a:schemeClr val="accent1">
                    <a:lumMod val="50000"/>
                  </a:schemeClr>
                </a:solidFill>
                <a:latin typeface="Times New Roman" panose="02020603050405020304" pitchFamily="18" charset="0"/>
                <a:cs typeface="Times New Roman" panose="02020603050405020304" pitchFamily="18" charset="0"/>
              </a:rPr>
              <a:t>Soldering and Brazing</a:t>
            </a:r>
          </a:p>
        </p:txBody>
      </p:sp>
      <p:sp>
        <p:nvSpPr>
          <p:cNvPr id="4" name="Slide Number Placeholder 3">
            <a:extLst>
              <a:ext uri="{FF2B5EF4-FFF2-40B4-BE49-F238E27FC236}">
                <a16:creationId xmlns:a16="http://schemas.microsoft.com/office/drawing/2014/main" id="{DC4B9D61-3A7F-46B9-A456-C27D28D1B910}"/>
              </a:ext>
            </a:extLst>
          </p:cNvPr>
          <p:cNvSpPr>
            <a:spLocks noGrp="1"/>
          </p:cNvSpPr>
          <p:nvPr>
            <p:ph type="sldNum" sz="quarter" idx="12"/>
          </p:nvPr>
        </p:nvSpPr>
        <p:spPr>
          <a:xfrm>
            <a:off x="10571516" y="6033479"/>
            <a:ext cx="782283" cy="365125"/>
          </a:xfrm>
        </p:spPr>
        <p:txBody>
          <a:bodyPr>
            <a:normAutofit/>
          </a:bodyPr>
          <a:lstStyle/>
          <a:p>
            <a:pPr>
              <a:spcAft>
                <a:spcPts val="600"/>
              </a:spcAft>
            </a:pPr>
            <a:fld id="{B0224EE6-E032-0A4B-A8B2-3B3E72DB7979}" type="slidenum">
              <a:rPr lang="en-IN" sz="1050">
                <a:solidFill>
                  <a:schemeClr val="tx1">
                    <a:alpha val="80000"/>
                  </a:schemeClr>
                </a:solidFill>
              </a:rPr>
              <a:pPr>
                <a:spcAft>
                  <a:spcPts val="600"/>
                </a:spcAft>
              </a:pPr>
              <a:t>1</a:t>
            </a:fld>
            <a:endParaRPr lang="en-IN" sz="1050">
              <a:solidFill>
                <a:schemeClr val="tx1">
                  <a:alpha val="80000"/>
                </a:schemeClr>
              </a:solidFill>
            </a:endParaRPr>
          </a:p>
        </p:txBody>
      </p:sp>
      <p:sp>
        <p:nvSpPr>
          <p:cNvPr id="2" name="Content Placeholder 2">
            <a:extLst>
              <a:ext uri="{FF2B5EF4-FFF2-40B4-BE49-F238E27FC236}">
                <a16:creationId xmlns:a16="http://schemas.microsoft.com/office/drawing/2014/main" id="{06B264E4-6211-3EF9-19DA-B3D2B50934A4}"/>
              </a:ext>
            </a:extLst>
          </p:cNvPr>
          <p:cNvSpPr txBox="1">
            <a:spLocks/>
          </p:cNvSpPr>
          <p:nvPr/>
        </p:nvSpPr>
        <p:spPr>
          <a:xfrm>
            <a:off x="1028703" y="2165685"/>
            <a:ext cx="3303858" cy="2586789"/>
          </a:xfrm>
          <a:prstGeom prst="rect">
            <a:avLst/>
          </a:prstGeom>
        </p:spPr>
        <p:txBody>
          <a:bodyPr vert="horz" lIns="91440" tIns="45720" rIns="91440" bIns="45720" rtlCol="0" anchor="ctr">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90000"/>
              </a:lnSpc>
              <a:spcBef>
                <a:spcPts val="500"/>
              </a:spcBef>
              <a:buSzPct val="80000"/>
              <a:buFont typeface="Wingdings" pitchFamily="2" charset="2"/>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90000"/>
              </a:lnSpc>
              <a:spcBef>
                <a:spcPts val="500"/>
              </a:spcBef>
              <a:buSzPct val="70000"/>
              <a:buFont typeface="Courier New" panose="02070309020205020404" pitchFamily="49" charset="0"/>
              <a:buChar char="o"/>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349" indent="-228594" algn="l" defTabSz="914377" rtl="0" eaLnBrk="1" latinLnBrk="0" hangingPunct="1">
              <a:lnSpc>
                <a:spcPct val="90000"/>
              </a:lnSpc>
              <a:spcBef>
                <a:spcPts val="500"/>
              </a:spcBef>
              <a:buSzPct val="60000"/>
              <a:buFont typeface="Wingdings" pitchFamily="2" charset="2"/>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400" dirty="0">
                <a:solidFill>
                  <a:schemeClr val="accent2">
                    <a:lumMod val="75000"/>
                  </a:schemeClr>
                </a:solidFill>
                <a:latin typeface="Times New Roman" panose="02020603050405020304" pitchFamily="18" charset="0"/>
                <a:cs typeface="Times New Roman" panose="02020603050405020304" pitchFamily="18" charset="0"/>
              </a:rPr>
              <a:t>L</a:t>
            </a:r>
            <a:r>
              <a:rPr lang="en-IN" sz="5400" dirty="0" err="1">
                <a:solidFill>
                  <a:schemeClr val="accent2">
                    <a:lumMod val="75000"/>
                  </a:schemeClr>
                </a:solidFill>
                <a:latin typeface="Times New Roman" panose="02020603050405020304" pitchFamily="18" charset="0"/>
                <a:cs typeface="Times New Roman" panose="02020603050405020304" pitchFamily="18" charset="0"/>
              </a:rPr>
              <a:t>ecture</a:t>
            </a:r>
            <a:r>
              <a:rPr lang="en-IN" sz="5400" dirty="0">
                <a:solidFill>
                  <a:schemeClr val="accent2">
                    <a:lumMod val="75000"/>
                  </a:schemeClr>
                </a:solidFill>
                <a:latin typeface="Times New Roman" panose="02020603050405020304" pitchFamily="18" charset="0"/>
                <a:cs typeface="Times New Roman" panose="02020603050405020304" pitchFamily="18" charset="0"/>
              </a:rPr>
              <a:t> 12</a:t>
            </a:r>
          </a:p>
        </p:txBody>
      </p:sp>
    </p:spTree>
    <p:extLst>
      <p:ext uri="{BB962C8B-B14F-4D97-AF65-F5344CB8AC3E}">
        <p14:creationId xmlns:p14="http://schemas.microsoft.com/office/powerpoint/2010/main" val="3563437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EAC7AC-1ECF-4340-93C4-CFCE30C2845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7173D048-4302-4555-B484-675A4414749E}"/>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a:t>
            </a:r>
          </a:p>
        </p:txBody>
      </p:sp>
      <p:pic>
        <p:nvPicPr>
          <p:cNvPr id="8" name="Picture 7" descr="Close-up of hands holding a soldering iron&#10;&#10;AI-generated content may be incorrect.">
            <a:extLst>
              <a:ext uri="{FF2B5EF4-FFF2-40B4-BE49-F238E27FC236}">
                <a16:creationId xmlns:a16="http://schemas.microsoft.com/office/drawing/2014/main" id="{499F645D-5DCE-C7C6-9BA9-472660553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093" y="1130968"/>
            <a:ext cx="4724400" cy="3164979"/>
          </a:xfrm>
          <a:prstGeom prst="rect">
            <a:avLst/>
          </a:prstGeom>
        </p:spPr>
      </p:pic>
      <p:pic>
        <p:nvPicPr>
          <p:cNvPr id="10" name="Picture 9" descr="Diagram of a soldering iron&#10;&#10;AI-generated content may be incorrect.">
            <a:extLst>
              <a:ext uri="{FF2B5EF4-FFF2-40B4-BE49-F238E27FC236}">
                <a16:creationId xmlns:a16="http://schemas.microsoft.com/office/drawing/2014/main" id="{891C8008-0E07-E7F4-4B38-874C16505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9737" y="1166393"/>
            <a:ext cx="4596424" cy="2901616"/>
          </a:xfrm>
          <a:prstGeom prst="rect">
            <a:avLst/>
          </a:prstGeom>
        </p:spPr>
      </p:pic>
      <p:pic>
        <p:nvPicPr>
          <p:cNvPr id="11" name="Picture 10" descr="A soldering a circuit board&#10;&#10;AI-generated content may be incorrect.">
            <a:extLst>
              <a:ext uri="{FF2B5EF4-FFF2-40B4-BE49-F238E27FC236}">
                <a16:creationId xmlns:a16="http://schemas.microsoft.com/office/drawing/2014/main" id="{2E099FA5-F254-D362-683D-6BA67D4917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1254" y="4331374"/>
            <a:ext cx="3793582" cy="2524457"/>
          </a:xfrm>
          <a:prstGeom prst="rect">
            <a:avLst/>
          </a:prstGeom>
        </p:spPr>
      </p:pic>
      <p:pic>
        <p:nvPicPr>
          <p:cNvPr id="12" name="Picture 11" descr="A hand holding a soldering iron&#10;&#10;AI-generated content may be incorrect.">
            <a:extLst>
              <a:ext uri="{FF2B5EF4-FFF2-40B4-BE49-F238E27FC236}">
                <a16:creationId xmlns:a16="http://schemas.microsoft.com/office/drawing/2014/main" id="{2E210C42-29AD-7FAB-7E09-0D90811A3D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56942" y="4018351"/>
            <a:ext cx="4502704" cy="2874803"/>
          </a:xfrm>
          <a:prstGeom prst="rect">
            <a:avLst/>
          </a:prstGeom>
        </p:spPr>
      </p:pic>
    </p:spTree>
    <p:extLst>
      <p:ext uri="{BB962C8B-B14F-4D97-AF65-F5344CB8AC3E}">
        <p14:creationId xmlns:p14="http://schemas.microsoft.com/office/powerpoint/2010/main" val="3633734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66E38-C996-424C-C1E8-CEC2151F1D06}"/>
            </a:ext>
          </a:extLst>
        </p:cNvPr>
        <p:cNvGrpSpPr/>
        <p:nvPr/>
      </p:nvGrpSpPr>
      <p:grpSpPr>
        <a:xfrm>
          <a:off x="0" y="0"/>
          <a:ext cx="0" cy="0"/>
          <a:chOff x="0" y="0"/>
          <a:chExt cx="0" cy="0"/>
        </a:xfrm>
      </p:grpSpPr>
      <p:sp>
        <p:nvSpPr>
          <p:cNvPr id="152578" name="Rectangle 2">
            <a:extLst>
              <a:ext uri="{FF2B5EF4-FFF2-40B4-BE49-F238E27FC236}">
                <a16:creationId xmlns:a16="http://schemas.microsoft.com/office/drawing/2014/main" id="{6EF7205D-548D-EB30-25A9-9D06A46F5C43}"/>
              </a:ext>
            </a:extLst>
          </p:cNvPr>
          <p:cNvSpPr>
            <a:spLocks noGrp="1" noChangeArrowheads="1"/>
          </p:cNvSpPr>
          <p:nvPr>
            <p:ph type="body" idx="1"/>
          </p:nvPr>
        </p:nvSpPr>
        <p:spPr>
          <a:xfrm>
            <a:off x="1419726" y="1708484"/>
            <a:ext cx="9035716" cy="1339516"/>
          </a:xfrm>
          <a:noFill/>
        </p:spPr>
        <p:txBody>
          <a:bodyPr>
            <a:noAutofit/>
          </a:bodyPr>
          <a:lstStyle/>
          <a:p>
            <a:pPr algn="just">
              <a:lnSpc>
                <a:spcPct val="130000"/>
              </a:lnSpc>
              <a:buFontTx/>
              <a:buNone/>
            </a:pPr>
            <a:r>
              <a:rPr lang="en-US" sz="2800" b="1" dirty="0">
                <a:latin typeface="Times New Roman" panose="02020603050405020304" pitchFamily="18" charset="0"/>
                <a:cs typeface="Times New Roman" panose="02020603050405020304" pitchFamily="18" charset="0"/>
              </a:rPr>
              <a:t>A method of uniting two thin metal pieces using a dissimilar metal or an alloy by the application of heat</a:t>
            </a:r>
          </a:p>
        </p:txBody>
      </p:sp>
      <p:sp>
        <p:nvSpPr>
          <p:cNvPr id="3" name="Title 1">
            <a:extLst>
              <a:ext uri="{FF2B5EF4-FFF2-40B4-BE49-F238E27FC236}">
                <a16:creationId xmlns:a16="http://schemas.microsoft.com/office/drawing/2014/main" id="{A1FDDAE4-CE2A-CCF6-26E1-80DDA34C45B7}"/>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a:t>
            </a:r>
          </a:p>
        </p:txBody>
      </p:sp>
    </p:spTree>
    <p:extLst>
      <p:ext uri="{BB962C8B-B14F-4D97-AF65-F5344CB8AC3E}">
        <p14:creationId xmlns:p14="http://schemas.microsoft.com/office/powerpoint/2010/main" val="57451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B1884-C4CE-43E8-974D-104A6B4EFD7E}"/>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4</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0FD1B681-DE92-43FE-BD31-8C4B75F24782}"/>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sz="3200" dirty="0">
                <a:solidFill>
                  <a:schemeClr val="accent5">
                    <a:lumMod val="75000"/>
                  </a:schemeClr>
                </a:solidFill>
                <a:latin typeface="Times New Roman" panose="02020603050405020304" pitchFamily="18" charset="0"/>
                <a:cs typeface="Times New Roman" panose="02020603050405020304" pitchFamily="18" charset="0"/>
              </a:rPr>
              <a:t>S</a:t>
            </a:r>
            <a:r>
              <a:rPr lang="en-IN" sz="3200" dirty="0" err="1">
                <a:solidFill>
                  <a:schemeClr val="accent5">
                    <a:lumMod val="75000"/>
                  </a:schemeClr>
                </a:solidFill>
                <a:latin typeface="Times New Roman" panose="02020603050405020304" pitchFamily="18" charset="0"/>
                <a:cs typeface="Times New Roman" panose="02020603050405020304" pitchFamily="18" charset="0"/>
              </a:rPr>
              <a:t>oldering</a:t>
            </a:r>
            <a:r>
              <a:rPr lang="en-IN" sz="3200" dirty="0">
                <a:solidFill>
                  <a:schemeClr val="accent5">
                    <a:lumMod val="75000"/>
                  </a:schemeClr>
                </a:solidFill>
                <a:latin typeface="Times New Roman" panose="02020603050405020304" pitchFamily="18" charset="0"/>
                <a:cs typeface="Times New Roman" panose="02020603050405020304" pitchFamily="18" charset="0"/>
              </a:rPr>
              <a:t> equipment</a:t>
            </a:r>
          </a:p>
        </p:txBody>
      </p:sp>
      <p:pic>
        <p:nvPicPr>
          <p:cNvPr id="12" name="Picture 11" descr="A set of tools for soldering">
            <a:extLst>
              <a:ext uri="{FF2B5EF4-FFF2-40B4-BE49-F238E27FC236}">
                <a16:creationId xmlns:a16="http://schemas.microsoft.com/office/drawing/2014/main" id="{E96F27E4-F5EB-AEDA-DDB2-AC4623D803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67000" y="1223203"/>
            <a:ext cx="5370095" cy="5370095"/>
          </a:xfrm>
          <a:prstGeom prst="rect">
            <a:avLst/>
          </a:prstGeom>
        </p:spPr>
      </p:pic>
    </p:spTree>
    <p:extLst>
      <p:ext uri="{BB962C8B-B14F-4D97-AF65-F5344CB8AC3E}">
        <p14:creationId xmlns:p14="http://schemas.microsoft.com/office/powerpoint/2010/main" val="3078711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53230B3-F5F0-4513-BD17-CAA851E92817}"/>
              </a:ext>
            </a:extLst>
          </p:cNvPr>
          <p:cNvSpPr>
            <a:spLocks noGrp="1"/>
          </p:cNvSpPr>
          <p:nvPr>
            <p:ph type="sldNum" sz="quarter" idx="12"/>
          </p:nvPr>
        </p:nvSpPr>
        <p:spPr>
          <a:xfrm>
            <a:off x="8610600" y="6485337"/>
            <a:ext cx="2743200" cy="365125"/>
          </a:xfrm>
        </p:spPr>
        <p:txBody>
          <a:bodyPr/>
          <a:lstStyle/>
          <a:p>
            <a:fld id="{B0224EE6-E032-0A4B-A8B2-3B3E72DB7979}" type="slidenum">
              <a:rPr lang="en-IN" smtClean="0">
                <a:solidFill>
                  <a:prstClr val="black">
                    <a:tint val="75000"/>
                  </a:prstClr>
                </a:solidFill>
              </a:rPr>
              <a:pPr/>
              <a:t>5</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81D6686B-4B3B-4E67-B5F6-85AB30410FE9}"/>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 Equipment</a:t>
            </a:r>
          </a:p>
        </p:txBody>
      </p:sp>
      <p:sp>
        <p:nvSpPr>
          <p:cNvPr id="9" name="TextBox 8">
            <a:extLst>
              <a:ext uri="{FF2B5EF4-FFF2-40B4-BE49-F238E27FC236}">
                <a16:creationId xmlns:a16="http://schemas.microsoft.com/office/drawing/2014/main" id="{3777C32C-EB5B-007D-F036-58B0C587595F}"/>
              </a:ext>
            </a:extLst>
          </p:cNvPr>
          <p:cNvSpPr txBox="1"/>
          <p:nvPr/>
        </p:nvSpPr>
        <p:spPr>
          <a:xfrm>
            <a:off x="756139" y="1067187"/>
            <a:ext cx="10515600" cy="5418150"/>
          </a:xfrm>
          <a:prstGeom prst="rect">
            <a:avLst/>
          </a:prstGeom>
          <a:noFill/>
        </p:spPr>
        <p:txBody>
          <a:bodyPr wrap="square">
            <a:spAutoFit/>
          </a:bodyPr>
          <a:lstStyle/>
          <a:p>
            <a:pPr algn="just">
              <a:lnSpc>
                <a:spcPct val="115000"/>
              </a:lnSpc>
              <a:spcAft>
                <a:spcPts val="800"/>
              </a:spcAft>
              <a:buNone/>
            </a:pPr>
            <a:r>
              <a:rPr lang="en-US" sz="2800" kern="100" dirty="0">
                <a:solidFill>
                  <a:schemeClr val="accent1">
                    <a:lumMod val="75000"/>
                  </a:schemeClr>
                </a:solidFill>
                <a:effectLst/>
                <a:latin typeface="Times New Roman" panose="02020603050405020304" pitchFamily="18" charset="0"/>
                <a:ea typeface="Aptos" panose="020B0004020202020204" pitchFamily="34" charset="0"/>
                <a:cs typeface="Times New Roman" panose="02020603050405020304" pitchFamily="18" charset="0"/>
              </a:rPr>
              <a:t>Soldering Iron/Station: </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The heart of the operation, providing the heat to melt the solder. Soldering stations offer temperature control and can be more versatile. </a:t>
            </a:r>
          </a:p>
          <a:p>
            <a:pPr algn="just">
              <a:lnSpc>
                <a:spcPct val="115000"/>
              </a:lnSpc>
              <a:spcAft>
                <a:spcPts val="800"/>
              </a:spcAft>
              <a:buNone/>
            </a:pPr>
            <a:r>
              <a:rPr lang="en-US" sz="2800" kern="100" dirty="0">
                <a:solidFill>
                  <a:schemeClr val="accent1">
                    <a:lumMod val="75000"/>
                  </a:schemeClr>
                </a:solidFill>
                <a:effectLst/>
                <a:latin typeface="Times New Roman" panose="02020603050405020304" pitchFamily="18" charset="0"/>
                <a:ea typeface="Aptos" panose="020B0004020202020204" pitchFamily="34" charset="0"/>
                <a:cs typeface="Times New Roman" panose="02020603050405020304" pitchFamily="18" charset="0"/>
              </a:rPr>
              <a:t>Solder Wire: </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The fusible metal alloy that creates the bond. </a:t>
            </a:r>
          </a:p>
          <a:p>
            <a:pPr algn="just">
              <a:lnSpc>
                <a:spcPct val="115000"/>
              </a:lnSpc>
              <a:spcAft>
                <a:spcPts val="800"/>
              </a:spcAft>
              <a:buNone/>
            </a:pP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Soldering Iron Stand: A safe place to rest the hot soldering iron when not in use. </a:t>
            </a:r>
          </a:p>
          <a:p>
            <a:pPr algn="just">
              <a:lnSpc>
                <a:spcPct val="115000"/>
              </a:lnSpc>
              <a:spcAft>
                <a:spcPts val="800"/>
              </a:spcAft>
              <a:buNone/>
            </a:pPr>
            <a:r>
              <a:rPr lang="en-US" sz="2800" kern="100" dirty="0">
                <a:solidFill>
                  <a:schemeClr val="accent1">
                    <a:lumMod val="75000"/>
                  </a:schemeClr>
                </a:solidFill>
                <a:effectLst/>
                <a:latin typeface="Times New Roman" panose="02020603050405020304" pitchFamily="18" charset="0"/>
                <a:ea typeface="Aptos" panose="020B0004020202020204" pitchFamily="34" charset="0"/>
                <a:cs typeface="Times New Roman" panose="02020603050405020304" pitchFamily="18" charset="0"/>
              </a:rPr>
              <a:t>Wet Sponge: </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Used to clean the soldering iron tip of excess solder and oxidation. </a:t>
            </a:r>
          </a:p>
          <a:p>
            <a:pPr algn="just">
              <a:lnSpc>
                <a:spcPct val="115000"/>
              </a:lnSpc>
              <a:spcAft>
                <a:spcPts val="800"/>
              </a:spcAft>
              <a:buNone/>
            </a:pPr>
            <a:r>
              <a:rPr lang="en-US" sz="2800" kern="100" dirty="0">
                <a:solidFill>
                  <a:schemeClr val="accent1">
                    <a:lumMod val="75000"/>
                  </a:schemeClr>
                </a:solidFill>
                <a:effectLst/>
                <a:latin typeface="Times New Roman" panose="02020603050405020304" pitchFamily="18" charset="0"/>
                <a:ea typeface="Aptos" panose="020B0004020202020204" pitchFamily="34" charset="0"/>
                <a:cs typeface="Times New Roman" panose="02020603050405020304" pitchFamily="18" charset="0"/>
              </a:rPr>
              <a:t>Desoldering Tools: </a:t>
            </a:r>
            <a:r>
              <a:rPr lang="en-US" sz="2800" kern="100" dirty="0">
                <a:effectLst/>
                <a:latin typeface="Times New Roman" panose="02020603050405020304" pitchFamily="18" charset="0"/>
                <a:ea typeface="Aptos" panose="020B0004020202020204" pitchFamily="34" charset="0"/>
                <a:cs typeface="Times New Roman" panose="02020603050405020304" pitchFamily="18" charset="0"/>
              </a:rPr>
              <a:t>Tools like desoldering wick or a solder sucker help remove excess solder or correct mistakes. </a:t>
            </a:r>
          </a:p>
        </p:txBody>
      </p:sp>
    </p:spTree>
    <p:extLst>
      <p:ext uri="{BB962C8B-B14F-4D97-AF65-F5344CB8AC3E}">
        <p14:creationId xmlns:p14="http://schemas.microsoft.com/office/powerpoint/2010/main" val="327019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9" name="Text Box 5"/>
          <p:cNvSpPr txBox="1">
            <a:spLocks noChangeArrowheads="1"/>
          </p:cNvSpPr>
          <p:nvPr/>
        </p:nvSpPr>
        <p:spPr bwMode="auto">
          <a:xfrm>
            <a:off x="1648326" y="1290156"/>
            <a:ext cx="8590548" cy="4845942"/>
          </a:xfrm>
          <a:prstGeom prst="rect">
            <a:avLst/>
          </a:prstGeom>
          <a:noFill/>
          <a:ln w="9525" algn="ctr">
            <a:noFill/>
            <a:miter lim="800000"/>
            <a:headEnd/>
            <a:tailEnd/>
          </a:ln>
          <a:effectLst/>
        </p:spPr>
        <p:txBody>
          <a:bodyPr wrap="square">
            <a:spAutoFit/>
          </a:bodyPr>
          <a:lstStyle/>
          <a:p>
            <a:pPr>
              <a:spcBef>
                <a:spcPct val="50000"/>
              </a:spcBef>
            </a:pPr>
            <a:r>
              <a:rPr lang="en-US" sz="2800" dirty="0">
                <a:solidFill>
                  <a:schemeClr val="accent1">
                    <a:lumMod val="75000"/>
                  </a:schemeClr>
                </a:solidFill>
                <a:latin typeface="Times New Roman" panose="02020603050405020304" pitchFamily="18" charset="0"/>
                <a:cs typeface="Times New Roman" panose="02020603050405020304" pitchFamily="18" charset="0"/>
              </a:rPr>
              <a:t>Soft solder:  </a:t>
            </a:r>
            <a:r>
              <a:rPr lang="en-US" sz="2800" dirty="0">
                <a:latin typeface="Times New Roman" panose="02020603050405020304" pitchFamily="18" charset="0"/>
                <a:cs typeface="Times New Roman" panose="02020603050405020304" pitchFamily="18" charset="0"/>
              </a:rPr>
              <a:t>Alloy of </a:t>
            </a:r>
            <a:r>
              <a:rPr lang="en-US" sz="2800">
                <a:latin typeface="Times New Roman" panose="02020603050405020304" pitchFamily="18" charset="0"/>
                <a:cs typeface="Times New Roman" panose="02020603050405020304" pitchFamily="18" charset="0"/>
              </a:rPr>
              <a:t>lead (37 %) and tin (63%) </a:t>
            </a:r>
            <a:endParaRPr lang="en-US" sz="2800" dirty="0">
              <a:latin typeface="Times New Roman" panose="02020603050405020304" pitchFamily="18" charset="0"/>
              <a:cs typeface="Times New Roman" panose="02020603050405020304" pitchFamily="18" charset="0"/>
            </a:endParaRPr>
          </a:p>
          <a:p>
            <a:pPr lvl="1" indent="-457200">
              <a:spcBef>
                <a:spcPct val="50000"/>
              </a:spcBef>
              <a:buFontTx/>
              <a:buChar char="•"/>
            </a:pPr>
            <a:r>
              <a:rPr lang="en-US" sz="2800" dirty="0">
                <a:latin typeface="Times New Roman" panose="02020603050405020304" pitchFamily="18" charset="0"/>
                <a:cs typeface="Times New Roman" panose="02020603050405020304" pitchFamily="18" charset="0"/>
              </a:rPr>
              <a:t> Melting temperature, 150 – 350</a:t>
            </a:r>
            <a:r>
              <a:rPr lang="en-US" sz="2800" baseline="30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C</a:t>
            </a:r>
          </a:p>
          <a:p>
            <a:pPr algn="l">
              <a:spcBef>
                <a:spcPct val="50000"/>
              </a:spcBef>
            </a:pPr>
            <a:r>
              <a:rPr lang="en-US" sz="2800" dirty="0">
                <a:solidFill>
                  <a:schemeClr val="accent1">
                    <a:lumMod val="75000"/>
                  </a:schemeClr>
                </a:solidFill>
                <a:latin typeface="Times New Roman" panose="02020603050405020304" pitchFamily="18" charset="0"/>
                <a:cs typeface="Times New Roman" panose="02020603050405020304" pitchFamily="18" charset="0"/>
              </a:rPr>
              <a:t>Hard solder:  </a:t>
            </a:r>
            <a:r>
              <a:rPr lang="en-US" sz="2800" dirty="0">
                <a:latin typeface="Times New Roman" panose="02020603050405020304" pitchFamily="18" charset="0"/>
                <a:cs typeface="Times New Roman" panose="02020603050405020304" pitchFamily="18" charset="0"/>
              </a:rPr>
              <a:t>Alloy of copper , tin and silver</a:t>
            </a:r>
          </a:p>
          <a:p>
            <a:pPr lvl="1" indent="-457200" algn="l">
              <a:spcBef>
                <a:spcPct val="50000"/>
              </a:spcBef>
              <a:buFontTx/>
              <a:buChar char="•"/>
            </a:pPr>
            <a:r>
              <a:rPr lang="en-US" sz="2800" dirty="0">
                <a:latin typeface="Times New Roman" panose="02020603050405020304" pitchFamily="18" charset="0"/>
                <a:cs typeface="Times New Roman" panose="02020603050405020304" pitchFamily="18" charset="0"/>
              </a:rPr>
              <a:t> Soldering  temperature, 600 – 900</a:t>
            </a:r>
            <a:r>
              <a:rPr lang="en-US" sz="2800" baseline="30000" dirty="0">
                <a:latin typeface="Times New Roman" panose="02020603050405020304" pitchFamily="18" charset="0"/>
                <a:cs typeface="Times New Roman" panose="02020603050405020304" pitchFamily="18" charset="0"/>
              </a:rPr>
              <a:t>0</a:t>
            </a:r>
            <a:r>
              <a:rPr lang="en-US" sz="2800" dirty="0">
                <a:latin typeface="Times New Roman" panose="02020603050405020304" pitchFamily="18" charset="0"/>
                <a:cs typeface="Times New Roman" panose="02020603050405020304" pitchFamily="18" charset="0"/>
              </a:rPr>
              <a:t>C</a:t>
            </a:r>
          </a:p>
          <a:p>
            <a:pPr lvl="1" indent="-457200" algn="l">
              <a:spcBef>
                <a:spcPct val="50000"/>
              </a:spcBef>
              <a:buFontTx/>
              <a:buChar char="•"/>
            </a:pPr>
            <a:r>
              <a:rPr lang="en-US" sz="2800" dirty="0">
                <a:latin typeface="Times New Roman" panose="02020603050405020304" pitchFamily="18" charset="0"/>
                <a:cs typeface="Times New Roman" panose="02020603050405020304" pitchFamily="18" charset="0"/>
              </a:rPr>
              <a:t> Used for stronger joints</a:t>
            </a:r>
          </a:p>
          <a:p>
            <a:pPr>
              <a:lnSpc>
                <a:spcPct val="140000"/>
              </a:lnSpc>
            </a:pPr>
            <a:r>
              <a:rPr lang="en-US" sz="2800" dirty="0">
                <a:solidFill>
                  <a:schemeClr val="accent1">
                    <a:lumMod val="75000"/>
                  </a:schemeClr>
                </a:solidFill>
                <a:latin typeface="Times New Roman" panose="02020603050405020304" pitchFamily="18" charset="0"/>
                <a:cs typeface="Times New Roman" panose="02020603050405020304" pitchFamily="18" charset="0"/>
              </a:rPr>
              <a:t>Flux: </a:t>
            </a:r>
            <a:r>
              <a:rPr lang="en-US" sz="2800" dirty="0">
                <a:latin typeface="Times New Roman" panose="02020603050405020304" pitchFamily="18" charset="0"/>
                <a:cs typeface="Times New Roman" panose="02020603050405020304" pitchFamily="18" charset="0"/>
              </a:rPr>
              <a:t>Zinc Chloride</a:t>
            </a:r>
            <a:endParaRPr lang="en-US" sz="2800" dirty="0">
              <a:solidFill>
                <a:schemeClr val="accent1">
                  <a:lumMod val="75000"/>
                </a:schemeClr>
              </a:solidFill>
              <a:latin typeface="Times New Roman" panose="02020603050405020304" pitchFamily="18" charset="0"/>
              <a:cs typeface="Times New Roman" panose="02020603050405020304" pitchFamily="18" charset="0"/>
            </a:endParaRPr>
          </a:p>
          <a:p>
            <a:pPr marL="457200" indent="-457200">
              <a:lnSpc>
                <a:spcPct val="14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Clean the joint surfaces &amp; to prevent oxidation</a:t>
            </a:r>
          </a:p>
          <a:p>
            <a:pPr lvl="1" algn="l">
              <a:spcBef>
                <a:spcPct val="50000"/>
              </a:spcBef>
              <a:buFontTx/>
              <a:buChar char="•"/>
            </a:pPr>
            <a:endParaRPr lang="en-US" sz="2300" dirty="0">
              <a:solidFill>
                <a:srgbClr val="800000"/>
              </a:solidFill>
            </a:endParaRPr>
          </a:p>
        </p:txBody>
      </p:sp>
      <p:sp>
        <p:nvSpPr>
          <p:cNvPr id="3" name="Title 1">
            <a:extLst>
              <a:ext uri="{FF2B5EF4-FFF2-40B4-BE49-F238E27FC236}">
                <a16:creationId xmlns:a16="http://schemas.microsoft.com/office/drawing/2014/main" id="{1540FA9D-BA4C-F194-B415-E6A32A27B0CA}"/>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 Types</a:t>
            </a:r>
          </a:p>
        </p:txBody>
      </p:sp>
    </p:spTree>
    <p:extLst>
      <p:ext uri="{BB962C8B-B14F-4D97-AF65-F5344CB8AC3E}">
        <p14:creationId xmlns:p14="http://schemas.microsoft.com/office/powerpoint/2010/main" val="1091187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556EC9-D1AB-C0B1-5804-5371FE311CDF}"/>
              </a:ext>
            </a:extLst>
          </p:cNvPr>
          <p:cNvSpPr>
            <a:spLocks noGrp="1"/>
          </p:cNvSpPr>
          <p:nvPr>
            <p:ph idx="1"/>
          </p:nvPr>
        </p:nvSpPr>
        <p:spPr>
          <a:xfrm>
            <a:off x="756139" y="1142999"/>
            <a:ext cx="10515600" cy="5462337"/>
          </a:xfrm>
        </p:spPr>
        <p:txBody>
          <a:bodyPr>
            <a:normAutofit fontScale="92500"/>
          </a:bodyPr>
          <a:lstStyle/>
          <a:p>
            <a:pPr marL="0" indent="0" algn="just">
              <a:buNone/>
            </a:pPr>
            <a:r>
              <a:rPr lang="en-IN" sz="2600" dirty="0">
                <a:solidFill>
                  <a:schemeClr val="accent1">
                    <a:lumMod val="75000"/>
                  </a:schemeClr>
                </a:solidFill>
                <a:latin typeface="Times New Roman" panose="02020603050405020304" pitchFamily="18" charset="0"/>
                <a:cs typeface="Times New Roman" panose="02020603050405020304" pitchFamily="18" charset="0"/>
              </a:rPr>
              <a:t>1. Preparation:</a:t>
            </a:r>
          </a:p>
          <a:p>
            <a:pPr algn="just"/>
            <a:r>
              <a:rPr lang="en-IN" sz="2600" dirty="0">
                <a:latin typeface="Times New Roman" panose="02020603050405020304" pitchFamily="18" charset="0"/>
                <a:cs typeface="Times New Roman" panose="02020603050405020304" pitchFamily="18" charset="0"/>
              </a:rPr>
              <a:t>Clean the surfaces: Ensure the metal surfaces to be joined are free from oil, dirt, or oxidation by cleaning them with a solvent, fine sandpaper, or steel wool. </a:t>
            </a:r>
          </a:p>
          <a:p>
            <a:pPr algn="just"/>
            <a:r>
              <a:rPr lang="en-IN" sz="2600" dirty="0">
                <a:latin typeface="Times New Roman" panose="02020603050405020304" pitchFamily="18" charset="0"/>
                <a:cs typeface="Times New Roman" panose="02020603050405020304" pitchFamily="18" charset="0"/>
              </a:rPr>
              <a:t>Position components: Place the components or parts to be joined in their correct positions. </a:t>
            </a:r>
          </a:p>
          <a:p>
            <a:pPr marL="0" indent="0" algn="just">
              <a:buNone/>
            </a:pPr>
            <a:r>
              <a:rPr lang="en-IN" sz="2600" dirty="0">
                <a:solidFill>
                  <a:schemeClr val="accent1">
                    <a:lumMod val="75000"/>
                  </a:schemeClr>
                </a:solidFill>
                <a:latin typeface="Times New Roman" panose="02020603050405020304" pitchFamily="18" charset="0"/>
                <a:cs typeface="Times New Roman" panose="02020603050405020304" pitchFamily="18" charset="0"/>
              </a:rPr>
              <a:t>2. Apply Flux:</a:t>
            </a:r>
          </a:p>
          <a:p>
            <a:pPr algn="just"/>
            <a:r>
              <a:rPr lang="en-IN" sz="2600" dirty="0">
                <a:latin typeface="Times New Roman" panose="02020603050405020304" pitchFamily="18" charset="0"/>
                <a:cs typeface="Times New Roman" panose="02020603050405020304" pitchFamily="18" charset="0"/>
              </a:rPr>
              <a:t>Clean and protect: Apply a flux pen or paste to the joint area. Flux removes any remaining oxide layers from the metal surfaces and prevents new ones from forming during heating, ensuring the solder will flow properly and create a good connection. </a:t>
            </a:r>
          </a:p>
          <a:p>
            <a:pPr marL="0" indent="0" algn="just">
              <a:buNone/>
            </a:pPr>
            <a:r>
              <a:rPr lang="en-IN" sz="2600" dirty="0">
                <a:solidFill>
                  <a:schemeClr val="accent1">
                    <a:lumMod val="75000"/>
                  </a:schemeClr>
                </a:solidFill>
                <a:latin typeface="Times New Roman" panose="02020603050405020304" pitchFamily="18" charset="0"/>
                <a:cs typeface="Times New Roman" panose="02020603050405020304" pitchFamily="18" charset="0"/>
              </a:rPr>
              <a:t>3. Heat the Joint:</a:t>
            </a:r>
          </a:p>
          <a:p>
            <a:pPr algn="just"/>
            <a:r>
              <a:rPr lang="en-IN" sz="2600" dirty="0">
                <a:latin typeface="Times New Roman" panose="02020603050405020304" pitchFamily="18" charset="0"/>
                <a:cs typeface="Times New Roman" panose="02020603050405020304" pitchFamily="18" charset="0"/>
              </a:rPr>
              <a:t>Heat </a:t>
            </a:r>
            <a:r>
              <a:rPr lang="en-IN" sz="2600">
                <a:latin typeface="Times New Roman" panose="02020603050405020304" pitchFamily="18" charset="0"/>
                <a:cs typeface="Times New Roman" panose="02020603050405020304" pitchFamily="18" charset="0"/>
              </a:rPr>
              <a:t>the joint not </a:t>
            </a:r>
            <a:r>
              <a:rPr lang="en-IN" sz="2600" dirty="0">
                <a:latin typeface="Times New Roman" panose="02020603050405020304" pitchFamily="18" charset="0"/>
                <a:cs typeface="Times New Roman" panose="02020603050405020304" pitchFamily="18" charset="0"/>
              </a:rPr>
              <a:t>the solder: Touch the heated tip of the soldering iron to the surfaces to be joined for a few seconds to bring them to soldering temperature. The goal is to transfer heat to the metals so they can melt the solder. </a:t>
            </a:r>
          </a:p>
          <a:p>
            <a:pPr marL="0" indent="0">
              <a:buNone/>
            </a:pPr>
            <a:endParaRPr lang="en-IN" dirty="0"/>
          </a:p>
        </p:txBody>
      </p:sp>
      <p:sp>
        <p:nvSpPr>
          <p:cNvPr id="4" name="Slide Number Placeholder 3">
            <a:extLst>
              <a:ext uri="{FF2B5EF4-FFF2-40B4-BE49-F238E27FC236}">
                <a16:creationId xmlns:a16="http://schemas.microsoft.com/office/drawing/2014/main" id="{60333098-51B9-9998-FB46-13D0A8C8E9F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7</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414F0253-F2E0-E735-083D-039ACB4E8760}"/>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 Process</a:t>
            </a:r>
          </a:p>
        </p:txBody>
      </p:sp>
    </p:spTree>
    <p:extLst>
      <p:ext uri="{BB962C8B-B14F-4D97-AF65-F5344CB8AC3E}">
        <p14:creationId xmlns:p14="http://schemas.microsoft.com/office/powerpoint/2010/main" val="318850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686DD-1FDA-BDFE-B301-E185CFA1EB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D52B3-74AE-2317-7ABA-C80D38F35A7E}"/>
              </a:ext>
            </a:extLst>
          </p:cNvPr>
          <p:cNvSpPr>
            <a:spLocks noGrp="1"/>
          </p:cNvSpPr>
          <p:nvPr>
            <p:ph idx="1"/>
          </p:nvPr>
        </p:nvSpPr>
        <p:spPr>
          <a:xfrm>
            <a:off x="469232" y="1142999"/>
            <a:ext cx="10802507" cy="5462337"/>
          </a:xfrm>
        </p:spPr>
        <p:txBody>
          <a:bodyPr>
            <a:normAutofit/>
          </a:bodyPr>
          <a:lstStyle/>
          <a:p>
            <a:pPr marL="0" indent="0" algn="just">
              <a:buNone/>
            </a:pPr>
            <a:r>
              <a:rPr lang="en-IN" dirty="0">
                <a:solidFill>
                  <a:schemeClr val="accent1">
                    <a:lumMod val="75000"/>
                  </a:schemeClr>
                </a:solidFill>
                <a:latin typeface="Times New Roman" panose="02020603050405020304" pitchFamily="18" charset="0"/>
                <a:cs typeface="Times New Roman" panose="02020603050405020304" pitchFamily="18" charset="0"/>
              </a:rPr>
              <a:t>4. Apply Solder:</a:t>
            </a:r>
          </a:p>
          <a:p>
            <a:pPr algn="just"/>
            <a:r>
              <a:rPr lang="en-IN" dirty="0">
                <a:latin typeface="Times New Roman" panose="02020603050405020304" pitchFamily="18" charset="0"/>
                <a:cs typeface="Times New Roman" panose="02020603050405020304" pitchFamily="18" charset="0"/>
              </a:rPr>
              <a:t>Melt the solder: While the joint remains hot, bring the solder wire into contact with the heated joint. The heat from the joint will melt the solder, not the iron. </a:t>
            </a:r>
          </a:p>
          <a:p>
            <a:pPr algn="just"/>
            <a:r>
              <a:rPr lang="en-IN" dirty="0">
                <a:latin typeface="Times New Roman" panose="02020603050405020304" pitchFamily="18" charset="0"/>
                <a:cs typeface="Times New Roman" panose="02020603050405020304" pitchFamily="18" charset="0"/>
              </a:rPr>
              <a:t>Allow to flow: The molten solder will flow into the joint, forming a strong bond with the metal parts. </a:t>
            </a:r>
          </a:p>
          <a:p>
            <a:pPr marL="0" indent="0" algn="just">
              <a:buNone/>
            </a:pPr>
            <a:r>
              <a:rPr lang="en-IN" dirty="0">
                <a:solidFill>
                  <a:schemeClr val="accent1">
                    <a:lumMod val="75000"/>
                  </a:schemeClr>
                </a:solidFill>
                <a:latin typeface="Times New Roman" panose="02020603050405020304" pitchFamily="18" charset="0"/>
                <a:cs typeface="Times New Roman" panose="02020603050405020304" pitchFamily="18" charset="0"/>
              </a:rPr>
              <a:t>5. Finish the Joint:</a:t>
            </a:r>
          </a:p>
          <a:p>
            <a:pPr algn="just"/>
            <a:r>
              <a:rPr lang="en-IN" dirty="0">
                <a:latin typeface="Times New Roman" panose="02020603050405020304" pitchFamily="18" charset="0"/>
                <a:cs typeface="Times New Roman" panose="02020603050405020304" pitchFamily="18" charset="0"/>
              </a:rPr>
              <a:t>Cool and solidify: Remove the iron and the solder wire and allow the joint to cool and solidify. </a:t>
            </a:r>
          </a:p>
          <a:p>
            <a:pPr algn="just"/>
            <a:r>
              <a:rPr lang="en-IN" dirty="0">
                <a:latin typeface="Times New Roman" panose="02020603050405020304" pitchFamily="18" charset="0"/>
                <a:cs typeface="Times New Roman" panose="02020603050405020304" pitchFamily="18" charset="0"/>
              </a:rPr>
              <a:t>Clean the residue: Once cooled, use a damp sponge or cotton swab to clean any remaining flux residue from the connection</a:t>
            </a:r>
          </a:p>
          <a:p>
            <a:pPr marL="0" indent="0" algn="just">
              <a:buNone/>
            </a:pPr>
            <a:endParaRPr lang="en-IN" dirty="0"/>
          </a:p>
        </p:txBody>
      </p:sp>
      <p:sp>
        <p:nvSpPr>
          <p:cNvPr id="4" name="Slide Number Placeholder 3">
            <a:extLst>
              <a:ext uri="{FF2B5EF4-FFF2-40B4-BE49-F238E27FC236}">
                <a16:creationId xmlns:a16="http://schemas.microsoft.com/office/drawing/2014/main" id="{F622D939-77CE-848E-FD30-608BFBBA8530}"/>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8</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CEC5AABE-2E7B-B46F-00E8-86B9C2F8CC62}"/>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Soldering Process</a:t>
            </a:r>
          </a:p>
        </p:txBody>
      </p:sp>
    </p:spTree>
    <p:extLst>
      <p:ext uri="{BB962C8B-B14F-4D97-AF65-F5344CB8AC3E}">
        <p14:creationId xmlns:p14="http://schemas.microsoft.com/office/powerpoint/2010/main" val="3200611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person welding a pipe&#10;&#10;AI-generated content may be incorrect.">
            <a:extLst>
              <a:ext uri="{FF2B5EF4-FFF2-40B4-BE49-F238E27FC236}">
                <a16:creationId xmlns:a16="http://schemas.microsoft.com/office/drawing/2014/main" id="{E38EECB9-415F-7978-F209-6D682F16DC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5500" y="1142998"/>
            <a:ext cx="3962753" cy="2515365"/>
          </a:xfrm>
        </p:spPr>
      </p:pic>
      <p:sp>
        <p:nvSpPr>
          <p:cNvPr id="4" name="Slide Number Placeholder 3">
            <a:extLst>
              <a:ext uri="{FF2B5EF4-FFF2-40B4-BE49-F238E27FC236}">
                <a16:creationId xmlns:a16="http://schemas.microsoft.com/office/drawing/2014/main" id="{9F306583-BE6D-ED68-D8D2-8668B5A06E14}"/>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9</a:t>
            </a:fld>
            <a:endParaRPr lang="en-IN" dirty="0">
              <a:solidFill>
                <a:prstClr val="black">
                  <a:tint val="75000"/>
                </a:prstClr>
              </a:solidFill>
            </a:endParaRPr>
          </a:p>
        </p:txBody>
      </p:sp>
      <p:pic>
        <p:nvPicPr>
          <p:cNvPr id="8" name="Picture 7" descr="A close-up of a torch welding a piece of metal&#10;&#10;AI-generated content may be incorrect.">
            <a:extLst>
              <a:ext uri="{FF2B5EF4-FFF2-40B4-BE49-F238E27FC236}">
                <a16:creationId xmlns:a16="http://schemas.microsoft.com/office/drawing/2014/main" id="{87C0A10D-4B29-FEF5-37BB-CAA4B7EA5F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75158" y="1142996"/>
            <a:ext cx="3777916" cy="2518610"/>
          </a:xfrm>
          <a:prstGeom prst="rect">
            <a:avLst/>
          </a:prstGeom>
        </p:spPr>
      </p:pic>
      <p:pic>
        <p:nvPicPr>
          <p:cNvPr id="10" name="Picture 9" descr="A collage of several people welding&#10;&#10;AI-generated content may be incorrect.">
            <a:extLst>
              <a:ext uri="{FF2B5EF4-FFF2-40B4-BE49-F238E27FC236}">
                <a16:creationId xmlns:a16="http://schemas.microsoft.com/office/drawing/2014/main" id="{34C9DF51-77A8-BA28-72F3-57875D8ACC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0642" y="3381638"/>
            <a:ext cx="6180221" cy="3512587"/>
          </a:xfrm>
          <a:prstGeom prst="rect">
            <a:avLst/>
          </a:prstGeom>
        </p:spPr>
      </p:pic>
      <p:sp>
        <p:nvSpPr>
          <p:cNvPr id="11" name="Title 1">
            <a:extLst>
              <a:ext uri="{FF2B5EF4-FFF2-40B4-BE49-F238E27FC236}">
                <a16:creationId xmlns:a16="http://schemas.microsoft.com/office/drawing/2014/main" id="{64B48272-5C95-699E-FCEF-E14C526F7EC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a:t>
            </a:r>
          </a:p>
        </p:txBody>
      </p:sp>
    </p:spTree>
    <p:extLst>
      <p:ext uri="{BB962C8B-B14F-4D97-AF65-F5344CB8AC3E}">
        <p14:creationId xmlns:p14="http://schemas.microsoft.com/office/powerpoint/2010/main" val="1020344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1" name="Text Box 5"/>
          <p:cNvSpPr txBox="1">
            <a:spLocks noChangeArrowheads="1"/>
          </p:cNvSpPr>
          <p:nvPr/>
        </p:nvSpPr>
        <p:spPr bwMode="auto">
          <a:xfrm>
            <a:off x="757989" y="1576138"/>
            <a:ext cx="10142622" cy="1232132"/>
          </a:xfrm>
          <a:prstGeom prst="rect">
            <a:avLst/>
          </a:prstGeom>
          <a:noFill/>
          <a:ln w="9525" algn="ctr">
            <a:noFill/>
            <a:miter lim="800000"/>
            <a:headEnd/>
            <a:tailEnd/>
          </a:ln>
          <a:effectLst/>
        </p:spPr>
        <p:txBody>
          <a:bodyPr wrap="square">
            <a:spAutoFit/>
          </a:bodyPr>
          <a:lstStyle/>
          <a:p>
            <a:pPr algn="l">
              <a:lnSpc>
                <a:spcPct val="140000"/>
              </a:lnSpc>
              <a:spcBef>
                <a:spcPct val="50000"/>
              </a:spcBef>
            </a:pPr>
            <a:r>
              <a:rPr lang="en-US" sz="2800" dirty="0">
                <a:latin typeface="Times New Roman" panose="02020603050405020304" pitchFamily="18" charset="0"/>
                <a:cs typeface="Times New Roman" panose="02020603050405020304" pitchFamily="18" charset="0"/>
              </a:rPr>
              <a:t>A method of joining </a:t>
            </a:r>
            <a:r>
              <a:rPr lang="en-US" sz="2800" u="sng" dirty="0">
                <a:latin typeface="Times New Roman" panose="02020603050405020304" pitchFamily="18" charset="0"/>
                <a:cs typeface="Times New Roman" panose="02020603050405020304" pitchFamily="18" charset="0"/>
              </a:rPr>
              <a:t>two</a:t>
            </a:r>
            <a:r>
              <a:rPr lang="en-US" sz="2800" dirty="0">
                <a:latin typeface="Times New Roman" panose="02020603050405020304" pitchFamily="18" charset="0"/>
                <a:cs typeface="Times New Roman" panose="02020603050405020304" pitchFamily="18" charset="0"/>
              </a:rPr>
              <a:t> similar or dissimilar metals using a special fusible alloy.</a:t>
            </a:r>
          </a:p>
        </p:txBody>
      </p:sp>
      <p:sp>
        <p:nvSpPr>
          <p:cNvPr id="5" name="Title 1">
            <a:extLst>
              <a:ext uri="{FF2B5EF4-FFF2-40B4-BE49-F238E27FC236}">
                <a16:creationId xmlns:a16="http://schemas.microsoft.com/office/drawing/2014/main" id="{8D68B780-D6F7-F97B-E467-C5AFF506E821}"/>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a:t>
            </a:r>
          </a:p>
        </p:txBody>
      </p:sp>
      <p:sp>
        <p:nvSpPr>
          <p:cNvPr id="9" name="TextBox 8">
            <a:extLst>
              <a:ext uri="{FF2B5EF4-FFF2-40B4-BE49-F238E27FC236}">
                <a16:creationId xmlns:a16="http://schemas.microsoft.com/office/drawing/2014/main" id="{FDA1EFF8-A73D-67A9-4A22-486D59DD592B}"/>
              </a:ext>
            </a:extLst>
          </p:cNvPr>
          <p:cNvSpPr txBox="1"/>
          <p:nvPr/>
        </p:nvSpPr>
        <p:spPr>
          <a:xfrm>
            <a:off x="756139" y="2930967"/>
            <a:ext cx="10000093" cy="181588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Brazing temperature is the range above the solidus temperature (where the filler metal begins to melt) and below the melting points of the base metals being joined. Generally, this ranges from approximately 450°C (842°F) to 1200°C (2192°F).</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816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B588E-D39E-94E1-5339-EBD90FDE8FA5}"/>
              </a:ext>
            </a:extLst>
          </p:cNvPr>
          <p:cNvSpPr>
            <a:spLocks noGrp="1"/>
          </p:cNvSpPr>
          <p:nvPr>
            <p:ph idx="1"/>
          </p:nvPr>
        </p:nvSpPr>
        <p:spPr/>
        <p:txBody>
          <a:bodyPr/>
          <a:lstStyle/>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Torch Brazing: </a:t>
            </a:r>
            <a:r>
              <a:rPr lang="en-IN" sz="2800" dirty="0">
                <a:latin typeface="Times New Roman" panose="02020603050405020304" pitchFamily="18" charset="0"/>
                <a:cs typeface="Times New Roman" panose="02020603050405020304" pitchFamily="18" charset="0"/>
              </a:rPr>
              <a:t>Uses a torch, often oxy-acetylene or propane, to heat the joint.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Induction Brazing: </a:t>
            </a:r>
            <a:r>
              <a:rPr lang="en-IN" sz="2800" dirty="0">
                <a:latin typeface="Times New Roman" panose="02020603050405020304" pitchFamily="18" charset="0"/>
                <a:cs typeface="Times New Roman" panose="02020603050405020304" pitchFamily="18" charset="0"/>
              </a:rPr>
              <a:t>Employs an induction coil to generate heat in the workpieces.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Furnace Brazing: </a:t>
            </a:r>
            <a:r>
              <a:rPr lang="en-IN" sz="2800" dirty="0">
                <a:latin typeface="Times New Roman" panose="02020603050405020304" pitchFamily="18" charset="0"/>
                <a:cs typeface="Times New Roman" panose="02020603050405020304" pitchFamily="18" charset="0"/>
              </a:rPr>
              <a:t>Involves placing the assembly in a furnace to heat it evenly.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Resistance Brazing: </a:t>
            </a:r>
            <a:r>
              <a:rPr lang="en-IN" sz="2800" dirty="0">
                <a:latin typeface="Times New Roman" panose="02020603050405020304" pitchFamily="18" charset="0"/>
                <a:cs typeface="Times New Roman" panose="02020603050405020304" pitchFamily="18" charset="0"/>
              </a:rPr>
              <a:t>Utilizes electrical resistance to create heat at the joint.</a:t>
            </a:r>
          </a:p>
          <a:p>
            <a:pPr marL="0" indent="0">
              <a:buNone/>
            </a:pPr>
            <a:endParaRPr lang="en-IN" dirty="0"/>
          </a:p>
        </p:txBody>
      </p:sp>
      <p:sp>
        <p:nvSpPr>
          <p:cNvPr id="4" name="Slide Number Placeholder 3">
            <a:extLst>
              <a:ext uri="{FF2B5EF4-FFF2-40B4-BE49-F238E27FC236}">
                <a16:creationId xmlns:a16="http://schemas.microsoft.com/office/drawing/2014/main" id="{DB2B7342-5BB8-08CA-F4D3-2462E03C825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11</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F066A2B6-E6E6-E8EB-E170-4482A6C6A272}"/>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 Heat Sources (Types of Brazing)</a:t>
            </a:r>
          </a:p>
        </p:txBody>
      </p:sp>
    </p:spTree>
    <p:extLst>
      <p:ext uri="{BB962C8B-B14F-4D97-AF65-F5344CB8AC3E}">
        <p14:creationId xmlns:p14="http://schemas.microsoft.com/office/powerpoint/2010/main" val="2786810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FF6D1-F568-E35A-DF34-A69F8EC293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AFC890-C3B6-FD44-FB76-CEE73CEF8F9A}"/>
              </a:ext>
            </a:extLst>
          </p:cNvPr>
          <p:cNvSpPr>
            <a:spLocks noGrp="1"/>
          </p:cNvSpPr>
          <p:nvPr>
            <p:ph idx="1"/>
          </p:nvPr>
        </p:nvSpPr>
        <p:spPr>
          <a:xfrm>
            <a:off x="756139" y="1179095"/>
            <a:ext cx="10515600" cy="5149516"/>
          </a:xfrm>
        </p:spPr>
        <p:txBody>
          <a:bodyPr>
            <a:normAutofit fontScale="92500"/>
          </a:bodyPr>
          <a:lstStyle/>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Brazing Torch</a:t>
            </a:r>
            <a:r>
              <a:rPr lang="en-IN" sz="3000" dirty="0">
                <a:latin typeface="Times New Roman" panose="02020603050405020304" pitchFamily="18" charset="0"/>
                <a:cs typeface="Times New Roman" panose="02020603050405020304" pitchFamily="18" charset="0"/>
              </a:rPr>
              <a:t>: A handheld tool for torch brazing.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Brazing Machine: Used in induction or resistance brazing processes.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Nozzle Set: </a:t>
            </a:r>
            <a:r>
              <a:rPr lang="en-IN" sz="3000" dirty="0">
                <a:latin typeface="Times New Roman" panose="02020603050405020304" pitchFamily="18" charset="0"/>
                <a:cs typeface="Times New Roman" panose="02020603050405020304" pitchFamily="18" charset="0"/>
              </a:rPr>
              <a:t>Assorted nozzles for torches to control the flame.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Lighter/Spark Lighter: </a:t>
            </a:r>
            <a:r>
              <a:rPr lang="en-IN" sz="3000" dirty="0">
                <a:latin typeface="Times New Roman" panose="02020603050405020304" pitchFamily="18" charset="0"/>
                <a:cs typeface="Times New Roman" panose="02020603050405020304" pitchFamily="18" charset="0"/>
              </a:rPr>
              <a:t>A spark lighter for igniting torches.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Gas Regulators &amp; Hoses: </a:t>
            </a:r>
            <a:r>
              <a:rPr lang="en-IN" sz="3000" dirty="0">
                <a:latin typeface="Times New Roman" panose="02020603050405020304" pitchFamily="18" charset="0"/>
                <a:cs typeface="Times New Roman" panose="02020603050405020304" pitchFamily="18" charset="0"/>
              </a:rPr>
              <a:t>For controlling the gas flow in an oxy-acetylene setup. 	</a:t>
            </a:r>
          </a:p>
          <a:p>
            <a:pPr marL="0" indent="0" algn="just">
              <a:buNone/>
            </a:pPr>
            <a:r>
              <a:rPr lang="en-IN" sz="3000" dirty="0">
                <a:solidFill>
                  <a:srgbClr val="C00000"/>
                </a:solidFill>
                <a:latin typeface="Times New Roman" panose="02020603050405020304" pitchFamily="18" charset="0"/>
                <a:cs typeface="Times New Roman" panose="02020603050405020304" pitchFamily="18" charset="0"/>
              </a:rPr>
              <a:t>Personal Protective Equipment (PPE)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Brazing Goggles: </a:t>
            </a:r>
            <a:r>
              <a:rPr lang="en-IN" sz="3000" dirty="0">
                <a:latin typeface="Times New Roman" panose="02020603050405020304" pitchFamily="18" charset="0"/>
                <a:cs typeface="Times New Roman" panose="02020603050405020304" pitchFamily="18" charset="0"/>
              </a:rPr>
              <a:t>To protect the eyes from sparks and fumes.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Welding Gloves: </a:t>
            </a:r>
            <a:r>
              <a:rPr lang="en-IN" sz="3000" dirty="0">
                <a:latin typeface="Times New Roman" panose="02020603050405020304" pitchFamily="18" charset="0"/>
                <a:cs typeface="Times New Roman" panose="02020603050405020304" pitchFamily="18" charset="0"/>
              </a:rPr>
              <a:t>To shield hands from the heat and potential sparks. </a:t>
            </a:r>
          </a:p>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Protective Clothing: </a:t>
            </a:r>
            <a:r>
              <a:rPr lang="en-IN" sz="3000" dirty="0">
                <a:latin typeface="Times New Roman" panose="02020603050405020304" pitchFamily="18" charset="0"/>
                <a:cs typeface="Times New Roman" panose="02020603050405020304" pitchFamily="18" charset="0"/>
              </a:rPr>
              <a:t>Such as leather aprons to protect the body.</a:t>
            </a:r>
          </a:p>
          <a:p>
            <a:pPr marL="0" indent="0">
              <a:buNone/>
            </a:pPr>
            <a:endParaRPr lang="en-IN" dirty="0"/>
          </a:p>
        </p:txBody>
      </p:sp>
      <p:sp>
        <p:nvSpPr>
          <p:cNvPr id="4" name="Slide Number Placeholder 3">
            <a:extLst>
              <a:ext uri="{FF2B5EF4-FFF2-40B4-BE49-F238E27FC236}">
                <a16:creationId xmlns:a16="http://schemas.microsoft.com/office/drawing/2014/main" id="{E5E2A3BF-C64D-5BB6-FD2A-4189BFE6C4A8}"/>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12</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21766F39-0AA4-23A7-97DB-0F1094234FAF}"/>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 Equipment</a:t>
            </a:r>
          </a:p>
        </p:txBody>
      </p:sp>
    </p:spTree>
    <p:extLst>
      <p:ext uri="{BB962C8B-B14F-4D97-AF65-F5344CB8AC3E}">
        <p14:creationId xmlns:p14="http://schemas.microsoft.com/office/powerpoint/2010/main" val="2010416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FC742B-B45C-136F-355C-2A9F6DA3B717}"/>
              </a:ext>
            </a:extLst>
          </p:cNvPr>
          <p:cNvSpPr>
            <a:spLocks noGrp="1"/>
          </p:cNvSpPr>
          <p:nvPr>
            <p:ph idx="1"/>
          </p:nvPr>
        </p:nvSpPr>
        <p:spPr/>
        <p:txBody>
          <a:bodyPr>
            <a:normAutofit/>
          </a:bodyPr>
          <a:lstStyle/>
          <a:p>
            <a:pPr marL="0" indent="0" algn="just">
              <a:buNone/>
            </a:pPr>
            <a:r>
              <a:rPr lang="en-IN" sz="3000" dirty="0">
                <a:solidFill>
                  <a:schemeClr val="accent1">
                    <a:lumMod val="75000"/>
                  </a:schemeClr>
                </a:solidFill>
                <a:latin typeface="Times New Roman" panose="02020603050405020304" pitchFamily="18" charset="0"/>
                <a:cs typeface="Times New Roman" panose="02020603050405020304" pitchFamily="18" charset="0"/>
              </a:rPr>
              <a:t>1</a:t>
            </a:r>
            <a:r>
              <a:rPr lang="en-IN" sz="2800" dirty="0">
                <a:solidFill>
                  <a:schemeClr val="accent1">
                    <a:lumMod val="75000"/>
                  </a:schemeClr>
                </a:solidFill>
                <a:latin typeface="Times New Roman" panose="02020603050405020304" pitchFamily="18" charset="0"/>
                <a:cs typeface="Times New Roman" panose="02020603050405020304" pitchFamily="18" charset="0"/>
              </a:rPr>
              <a:t>. Cleaning: </a:t>
            </a:r>
            <a:r>
              <a:rPr lang="en-IN" sz="2800" dirty="0">
                <a:latin typeface="Times New Roman" panose="02020603050405020304" pitchFamily="18" charset="0"/>
                <a:cs typeface="Times New Roman" panose="02020603050405020304" pitchFamily="18" charset="0"/>
              </a:rPr>
              <a:t>Thoroughly clean the components to remove oxides, grease, and other contaminants, as they can cause weak or brittle joints.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2. Joint Design: </a:t>
            </a:r>
            <a:r>
              <a:rPr lang="en-IN" sz="2800" dirty="0">
                <a:latin typeface="Times New Roman" panose="02020603050405020304" pitchFamily="18" charset="0"/>
                <a:cs typeface="Times New Roman" panose="02020603050405020304" pitchFamily="18" charset="0"/>
              </a:rPr>
              <a:t>Create a joint with a precise, small gap (typically 0.05-0.2 mm) to facilitate capillary action for the filler metal.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3. Fluxing: </a:t>
            </a:r>
            <a:r>
              <a:rPr lang="en-IN" sz="2800" dirty="0">
                <a:latin typeface="Times New Roman" panose="02020603050405020304" pitchFamily="18" charset="0"/>
                <a:cs typeface="Times New Roman" panose="02020603050405020304" pitchFamily="18" charset="0"/>
              </a:rPr>
              <a:t>Apply a flux to prevent oxidation during heating and to promote wetting, allowing the filler metal to spread evenly.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4. Heating: </a:t>
            </a:r>
            <a:r>
              <a:rPr lang="en-IN" sz="2800" dirty="0">
                <a:latin typeface="Times New Roman" panose="02020603050405020304" pitchFamily="18" charset="0"/>
                <a:cs typeface="Times New Roman" panose="02020603050405020304" pitchFamily="18" charset="0"/>
              </a:rPr>
              <a:t>Heat the assembled parts to a temperature just above the filler metal's melting point but below the melting point of the base metals. </a:t>
            </a:r>
          </a:p>
          <a:p>
            <a:pPr marL="0" indent="0">
              <a:buNone/>
            </a:pPr>
            <a:endParaRPr lang="en-IN" dirty="0"/>
          </a:p>
        </p:txBody>
      </p:sp>
      <p:sp>
        <p:nvSpPr>
          <p:cNvPr id="4" name="Slide Number Placeholder 3">
            <a:extLst>
              <a:ext uri="{FF2B5EF4-FFF2-40B4-BE49-F238E27FC236}">
                <a16:creationId xmlns:a16="http://schemas.microsoft.com/office/drawing/2014/main" id="{3F4E7E07-009C-AEAE-A26B-F1D5B6CBBF1A}"/>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13</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E4D6F8C0-42EC-F454-744C-BB1C305ECCC6}"/>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 Process</a:t>
            </a:r>
          </a:p>
        </p:txBody>
      </p:sp>
    </p:spTree>
    <p:extLst>
      <p:ext uri="{BB962C8B-B14F-4D97-AF65-F5344CB8AC3E}">
        <p14:creationId xmlns:p14="http://schemas.microsoft.com/office/powerpoint/2010/main" val="1506319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ACB9-810E-0E5B-5B14-23EEEEC808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65D9F4-33FA-2C67-DF76-1BCCD0821B14}"/>
              </a:ext>
            </a:extLst>
          </p:cNvPr>
          <p:cNvSpPr>
            <a:spLocks noGrp="1"/>
          </p:cNvSpPr>
          <p:nvPr>
            <p:ph idx="1"/>
          </p:nvPr>
        </p:nvSpPr>
        <p:spPr/>
        <p:txBody>
          <a:bodyPr>
            <a:normAutofit/>
          </a:bodyPr>
          <a:lstStyle/>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5. Applying Filler Metal: </a:t>
            </a:r>
            <a:r>
              <a:rPr lang="en-IN" sz="2800" dirty="0">
                <a:latin typeface="Times New Roman" panose="02020603050405020304" pitchFamily="18" charset="0"/>
                <a:cs typeface="Times New Roman" panose="02020603050405020304" pitchFamily="18" charset="0"/>
              </a:rPr>
              <a:t>Introduce the filler metal into the joint. It will melt and be drawn into the gap between the base metals by capillary action.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6. Cooling: </a:t>
            </a:r>
            <a:r>
              <a:rPr lang="en-IN" sz="2800" dirty="0">
                <a:latin typeface="Times New Roman" panose="02020603050405020304" pitchFamily="18" charset="0"/>
                <a:cs typeface="Times New Roman" panose="02020603050405020304" pitchFamily="18" charset="0"/>
              </a:rPr>
              <a:t>Allow the assembly to cool, which solidifies the filler metal and creates a permanent, metallurgical bond. </a:t>
            </a:r>
          </a:p>
          <a:p>
            <a:pPr marL="0" indent="0" algn="just">
              <a:buNone/>
            </a:pPr>
            <a:r>
              <a:rPr lang="en-IN" sz="2800" dirty="0">
                <a:solidFill>
                  <a:schemeClr val="accent1">
                    <a:lumMod val="75000"/>
                  </a:schemeClr>
                </a:solidFill>
                <a:latin typeface="Times New Roman" panose="02020603050405020304" pitchFamily="18" charset="0"/>
                <a:cs typeface="Times New Roman" panose="02020603050405020304" pitchFamily="18" charset="0"/>
              </a:rPr>
              <a:t>7. Post-Brazing: </a:t>
            </a:r>
            <a:r>
              <a:rPr lang="en-IN" sz="2800" dirty="0">
                <a:latin typeface="Times New Roman" panose="02020603050405020304" pitchFamily="18" charset="0"/>
                <a:cs typeface="Times New Roman" panose="02020603050405020304" pitchFamily="18" charset="0"/>
              </a:rPr>
              <a:t>Clean any remaining flux residue from the joint.</a:t>
            </a:r>
          </a:p>
          <a:p>
            <a:pPr marL="0" indent="0">
              <a:buNone/>
            </a:pPr>
            <a:endParaRPr lang="en-IN" dirty="0"/>
          </a:p>
        </p:txBody>
      </p:sp>
      <p:sp>
        <p:nvSpPr>
          <p:cNvPr id="4" name="Slide Number Placeholder 3">
            <a:extLst>
              <a:ext uri="{FF2B5EF4-FFF2-40B4-BE49-F238E27FC236}">
                <a16:creationId xmlns:a16="http://schemas.microsoft.com/office/drawing/2014/main" id="{7CC01DDC-45AB-3A12-673E-A385CD7F09E1}"/>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14</a:t>
            </a:fld>
            <a:endParaRPr lang="en-IN" dirty="0">
              <a:solidFill>
                <a:prstClr val="black">
                  <a:tint val="75000"/>
                </a:prstClr>
              </a:solidFill>
            </a:endParaRPr>
          </a:p>
        </p:txBody>
      </p:sp>
      <p:sp>
        <p:nvSpPr>
          <p:cNvPr id="5" name="Title 1">
            <a:extLst>
              <a:ext uri="{FF2B5EF4-FFF2-40B4-BE49-F238E27FC236}">
                <a16:creationId xmlns:a16="http://schemas.microsoft.com/office/drawing/2014/main" id="{A3F90E71-B6C2-377D-7FB5-9D4BDF9437DE}"/>
              </a:ext>
            </a:extLst>
          </p:cNvPr>
          <p:cNvSpPr txBox="1">
            <a:spLocks/>
          </p:cNvSpPr>
          <p:nvPr/>
        </p:nvSpPr>
        <p:spPr>
          <a:xfrm>
            <a:off x="756139" y="158584"/>
            <a:ext cx="7280956" cy="78073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2800" b="1"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Brazing Process</a:t>
            </a:r>
          </a:p>
        </p:txBody>
      </p:sp>
    </p:spTree>
    <p:extLst>
      <p:ext uri="{BB962C8B-B14F-4D97-AF65-F5344CB8AC3E}">
        <p14:creationId xmlns:p14="http://schemas.microsoft.com/office/powerpoint/2010/main" val="4095256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7823" name="Group 63"/>
          <p:cNvGraphicFramePr>
            <a:graphicFrameLocks noGrp="1"/>
          </p:cNvGraphicFramePr>
          <p:nvPr>
            <p:ph/>
            <p:extLst>
              <p:ext uri="{D42A27DB-BD31-4B8C-83A1-F6EECF244321}">
                <p14:modId xmlns:p14="http://schemas.microsoft.com/office/powerpoint/2010/main" val="4210415934"/>
              </p:ext>
            </p:extLst>
          </p:nvPr>
        </p:nvGraphicFramePr>
        <p:xfrm>
          <a:off x="1812758" y="1147966"/>
          <a:ext cx="8229600" cy="4133897"/>
        </p:xfrm>
        <a:graphic>
          <a:graphicData uri="http://schemas.openxmlformats.org/drawingml/2006/table">
            <a:tbl>
              <a:tblPr/>
              <a:tblGrid>
                <a:gridCol w="40386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87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00FF"/>
                          </a:solidFill>
                          <a:effectLst/>
                          <a:latin typeface="Times New Roman" pitchFamily="18" charset="0"/>
                          <a:cs typeface="Times New Roman" pitchFamily="18" charset="0"/>
                        </a:rPr>
                        <a:t>Brazing</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00FF"/>
                          </a:solidFill>
                          <a:effectLst/>
                          <a:latin typeface="Times New Roman" pitchFamily="18" charset="0"/>
                          <a:cs typeface="Times New Roman" pitchFamily="18" charset="0"/>
                        </a:rPr>
                        <a:t>Soldering</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43000">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Melting point of the filler material is above 450</a:t>
                      </a:r>
                      <a:r>
                        <a:rPr lang="en-US" sz="2800" baseline="30000" dirty="0">
                          <a:solidFill>
                            <a:schemeClr val="tx1"/>
                          </a:solidFill>
                          <a:latin typeface="Times New Roman" panose="02020603050405020304" pitchFamily="18" charset="0"/>
                          <a:cs typeface="Times New Roman" panose="02020603050405020304" pitchFamily="18" charset="0"/>
                        </a:rPr>
                        <a:t>0</a:t>
                      </a:r>
                      <a:r>
                        <a:rPr lang="en-US" sz="2800" dirty="0">
                          <a:solidFill>
                            <a:schemeClr val="tx1"/>
                          </a:solidFill>
                          <a:latin typeface="Times New Roman" panose="02020603050405020304" pitchFamily="18" charset="0"/>
                          <a:cs typeface="Times New Roman" panose="02020603050405020304" pitchFamily="18" charset="0"/>
                        </a:rPr>
                        <a:t>C</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Melting point of the filler material is below 450</a:t>
                      </a:r>
                      <a:r>
                        <a:rPr lang="en-US" sz="2800" baseline="30000" dirty="0">
                          <a:solidFill>
                            <a:schemeClr val="tx1"/>
                          </a:solidFill>
                          <a:latin typeface="Times New Roman" panose="02020603050405020304" pitchFamily="18" charset="0"/>
                          <a:cs typeface="Times New Roman" panose="02020603050405020304" pitchFamily="18" charset="0"/>
                        </a:rPr>
                        <a:t>0</a:t>
                      </a:r>
                      <a:r>
                        <a:rPr lang="en-US" sz="2800" dirty="0">
                          <a:solidFill>
                            <a:schemeClr val="tx1"/>
                          </a:solidFill>
                          <a:latin typeface="Times New Roman" panose="02020603050405020304" pitchFamily="18" charset="0"/>
                          <a:cs typeface="Times New Roman" panose="02020603050405020304" pitchFamily="18" charset="0"/>
                        </a:rPr>
                        <a:t>C</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00">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Dissimilar metals can be joined easily</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Preferably similar metals can be  joined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6300">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Good surface finish</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Does not yield a good surface finish</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2977">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Stronger joints</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Less stronger joints</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7824" name="Text Box 64"/>
          <p:cNvSpPr txBox="1">
            <a:spLocks noChangeArrowheads="1"/>
          </p:cNvSpPr>
          <p:nvPr/>
        </p:nvSpPr>
        <p:spPr bwMode="auto">
          <a:xfrm>
            <a:off x="2253916" y="206126"/>
            <a:ext cx="7886700" cy="668645"/>
          </a:xfrm>
          <a:prstGeom prst="rect">
            <a:avLst/>
          </a:prstGeom>
          <a:noFill/>
          <a:ln w="9525" algn="ctr">
            <a:noFill/>
            <a:miter lim="800000"/>
            <a:headEnd/>
            <a:tailEnd/>
          </a:ln>
          <a:effectLst/>
        </p:spPr>
        <p:txBody>
          <a:bodyPr>
            <a:spAutoFit/>
          </a:bodyPr>
          <a:lstStyle/>
          <a:p>
            <a:pPr algn="l">
              <a:lnSpc>
                <a:spcPct val="130000"/>
              </a:lnSpc>
              <a:spcBef>
                <a:spcPct val="50000"/>
              </a:spcBef>
            </a:pPr>
            <a:r>
              <a:rPr lang="en-US" sz="3200" b="1" dirty="0">
                <a:solidFill>
                  <a:schemeClr val="accent1">
                    <a:lumMod val="50000"/>
                  </a:schemeClr>
                </a:solidFill>
                <a:latin typeface="Times New Roman" panose="02020603050405020304" pitchFamily="18" charset="0"/>
                <a:cs typeface="Times New Roman" panose="02020603050405020304" pitchFamily="18" charset="0"/>
              </a:rPr>
              <a:t>Distinguish between brazing and soldering </a:t>
            </a:r>
          </a:p>
        </p:txBody>
      </p:sp>
    </p:spTree>
    <p:extLst>
      <p:ext uri="{BB962C8B-B14F-4D97-AF65-F5344CB8AC3E}">
        <p14:creationId xmlns:p14="http://schemas.microsoft.com/office/powerpoint/2010/main" val="1476069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886" name="Group 78"/>
          <p:cNvGraphicFramePr>
            <a:graphicFrameLocks noGrp="1"/>
          </p:cNvGraphicFramePr>
          <p:nvPr>
            <p:ph/>
            <p:extLst>
              <p:ext uri="{D42A27DB-BD31-4B8C-83A1-F6EECF244321}">
                <p14:modId xmlns:p14="http://schemas.microsoft.com/office/powerpoint/2010/main" val="1485966844"/>
              </p:ext>
            </p:extLst>
          </p:nvPr>
        </p:nvGraphicFramePr>
        <p:xfrm>
          <a:off x="1311442" y="1054100"/>
          <a:ext cx="10058400" cy="4950460"/>
        </p:xfrm>
        <a:graphic>
          <a:graphicData uri="http://schemas.openxmlformats.org/drawingml/2006/table">
            <a:tbl>
              <a:tblPr/>
              <a:tblGrid>
                <a:gridCol w="5122333">
                  <a:extLst>
                    <a:ext uri="{9D8B030D-6E8A-4147-A177-3AD203B41FA5}">
                      <a16:colId xmlns:a16="http://schemas.microsoft.com/office/drawing/2014/main" val="20000"/>
                    </a:ext>
                  </a:extLst>
                </a:gridCol>
                <a:gridCol w="4936067">
                  <a:extLst>
                    <a:ext uri="{9D8B030D-6E8A-4147-A177-3AD203B41FA5}">
                      <a16:colId xmlns:a16="http://schemas.microsoft.com/office/drawing/2014/main" val="20001"/>
                    </a:ext>
                  </a:extLst>
                </a:gridCol>
              </a:tblGrid>
              <a:tr h="593725">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accent1">
                              <a:lumMod val="75000"/>
                            </a:schemeClr>
                          </a:solidFill>
                          <a:effectLst/>
                          <a:latin typeface="Times New Roman" panose="02020603050405020304" pitchFamily="18" charset="0"/>
                          <a:cs typeface="Times New Roman" panose="02020603050405020304" pitchFamily="18" charset="0"/>
                        </a:rPr>
                        <a:t>Soldering, Brazing</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accent1">
                              <a:lumMod val="75000"/>
                            </a:schemeClr>
                          </a:solidFill>
                          <a:effectLst/>
                          <a:latin typeface="Times New Roman" panose="02020603050405020304" pitchFamily="18" charset="0"/>
                          <a:cs typeface="Times New Roman" panose="02020603050405020304" pitchFamily="18" charset="0"/>
                        </a:rPr>
                        <a:t>Welding</a:t>
                      </a:r>
                      <a:r>
                        <a:rPr kumimoji="0" lang="en-US" sz="2800" b="0" i="0" u="none" strike="noStrike" cap="none" normalizeH="0" baseline="0" dirty="0">
                          <a:ln>
                            <a:noFill/>
                          </a:ln>
                          <a:solidFill>
                            <a:schemeClr val="accent1">
                              <a:lumMod val="75000"/>
                            </a:schemeClr>
                          </a:solidFill>
                          <a:effectLst/>
                          <a:latin typeface="Times New Roman" panose="02020603050405020304" pitchFamily="18" charset="0"/>
                          <a:cs typeface="Times New Roman" panose="02020603050405020304" pitchFamily="18" charset="0"/>
                        </a:rPr>
                        <a:t>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19175">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No direct melting of the base metals being joined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Direct melting of the base metals being joined </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38200">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Useful for joining similar &amp; dissimilar metals</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Useful for joining similar metals</a:t>
                      </a:r>
                    </a:p>
                    <a:p>
                      <a:pPr marL="0" marR="0" lvl="0" indent="0" algn="l" defTabSz="914400" rtl="0" eaLnBrk="1" fontAlgn="ctr" latinLnBrk="0" hangingPunct="1">
                        <a:lnSpc>
                          <a:spcPct val="100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47800">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Brazing alloy and the solder have low melting points than the metals to be joined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Welding alloy has high melting point  than the metals to be joined</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Filler materials are solder and brazing alloy</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sz="2800" dirty="0">
                          <a:solidFill>
                            <a:schemeClr val="tx1"/>
                          </a:solidFill>
                          <a:latin typeface="Times New Roman" panose="02020603050405020304" pitchFamily="18" charset="0"/>
                          <a:cs typeface="Times New Roman" panose="02020603050405020304" pitchFamily="18" charset="0"/>
                        </a:rPr>
                        <a:t>Welding rod is used as filler material</a:t>
                      </a:r>
                      <a:endParaRPr kumimoji="0" 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19862" name="Text Box 54"/>
          <p:cNvSpPr txBox="1">
            <a:spLocks noChangeArrowheads="1"/>
          </p:cNvSpPr>
          <p:nvPr/>
        </p:nvSpPr>
        <p:spPr bwMode="auto">
          <a:xfrm>
            <a:off x="1588168" y="130916"/>
            <a:ext cx="8622632" cy="668645"/>
          </a:xfrm>
          <a:prstGeom prst="rect">
            <a:avLst/>
          </a:prstGeom>
          <a:noFill/>
          <a:ln w="9525" algn="ctr">
            <a:noFill/>
            <a:miter lim="800000"/>
            <a:headEnd/>
            <a:tailEnd/>
          </a:ln>
          <a:effectLst/>
        </p:spPr>
        <p:txBody>
          <a:bodyPr wrap="square">
            <a:spAutoFit/>
          </a:bodyPr>
          <a:lstStyle/>
          <a:p>
            <a:pPr algn="l">
              <a:lnSpc>
                <a:spcPct val="130000"/>
              </a:lnSpc>
              <a:spcBef>
                <a:spcPct val="50000"/>
              </a:spcBef>
            </a:pPr>
            <a:r>
              <a:rPr lang="en-US" sz="3200" b="1" dirty="0">
                <a:solidFill>
                  <a:schemeClr val="accent1">
                    <a:lumMod val="50000"/>
                  </a:schemeClr>
                </a:solidFill>
                <a:latin typeface="Times New Roman" panose="02020603050405020304" pitchFamily="18" charset="0"/>
                <a:cs typeface="Times New Roman" panose="02020603050405020304" pitchFamily="18" charset="0"/>
              </a:rPr>
              <a:t>Comparison of Soldering, brazing and welding</a:t>
            </a:r>
          </a:p>
        </p:txBody>
      </p:sp>
    </p:spTree>
    <p:extLst>
      <p:ext uri="{BB962C8B-B14F-4D97-AF65-F5344CB8AC3E}">
        <p14:creationId xmlns:p14="http://schemas.microsoft.com/office/powerpoint/2010/main" val="3947393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3CD162-89D3-4118-8E15-95B0579A1BF5}"/>
              </a:ext>
            </a:extLst>
          </p:cNvPr>
          <p:cNvSpPr>
            <a:spLocks noGrp="1"/>
          </p:cNvSpPr>
          <p:nvPr>
            <p:ph idx="1"/>
          </p:nvPr>
        </p:nvSpPr>
        <p:spPr/>
        <p:txBody>
          <a:bodyPr/>
          <a:lstStyle/>
          <a:p>
            <a:pPr marL="0" indent="0" algn="just">
              <a:buNone/>
            </a:pPr>
            <a:r>
              <a:rPr lang="en-IN" dirty="0">
                <a:latin typeface="Times New Roman" panose="02020603050405020304" pitchFamily="18" charset="0"/>
                <a:cs typeface="Times New Roman" panose="02020603050405020304" pitchFamily="18" charset="0"/>
              </a:rPr>
              <a:t>[1]  Ghosh, A. &amp; Mallik, A.K.; Joining processes, Manufacturing Science, Latest edition.</a:t>
            </a:r>
          </a:p>
          <a:p>
            <a:pPr marL="0" indent="0" algn="just">
              <a:buNone/>
            </a:pPr>
            <a:r>
              <a:rPr lang="en-IN" dirty="0">
                <a:latin typeface="Times New Roman" panose="02020603050405020304" pitchFamily="18"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hlinkClick r:id="rId2"/>
              </a:rPr>
              <a:t>http://mewelding.com/resistance-welding-equipment/</a:t>
            </a: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[3] </a:t>
            </a:r>
            <a:r>
              <a:rPr lang="en-IN" dirty="0" err="1">
                <a:latin typeface="Times New Roman" panose="02020603050405020304" pitchFamily="18" charset="0"/>
                <a:cs typeface="Times New Roman" panose="02020603050405020304" pitchFamily="18" charset="0"/>
              </a:rPr>
              <a:t>Kalpakjian</a:t>
            </a:r>
            <a:r>
              <a:rPr lang="en-IN" dirty="0">
                <a:latin typeface="Times New Roman" panose="02020603050405020304" pitchFamily="18" charset="0"/>
                <a:cs typeface="Times New Roman" panose="02020603050405020304" pitchFamily="18" charset="0"/>
              </a:rPr>
              <a:t>, S &amp; Schmid, S,; Manufacturing Processes for Engineering Materials, Latest edition.</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E70B8BA-ACC6-4CB0-8092-33C45C7F6457}"/>
              </a:ext>
            </a:extLst>
          </p:cNvPr>
          <p:cNvSpPr>
            <a:spLocks noGrp="1"/>
          </p:cNvSpPr>
          <p:nvPr>
            <p:ph type="sldNum" sz="quarter" idx="12"/>
          </p:nvPr>
        </p:nvSpPr>
        <p:spPr/>
        <p:txBody>
          <a:bodyPr/>
          <a:lstStyle/>
          <a:p>
            <a:fld id="{B0224EE6-E032-0A4B-A8B2-3B3E72DB7979}" type="slidenum">
              <a:rPr lang="en-IN" smtClean="0">
                <a:solidFill>
                  <a:prstClr val="black">
                    <a:tint val="75000"/>
                  </a:prstClr>
                </a:solidFill>
              </a:rPr>
              <a:pPr/>
              <a:t>17</a:t>
            </a:fld>
            <a:endParaRPr lang="en-IN" dirty="0">
              <a:solidFill>
                <a:prstClr val="black">
                  <a:tint val="75000"/>
                </a:prstClr>
              </a:solidFill>
            </a:endParaRPr>
          </a:p>
        </p:txBody>
      </p:sp>
      <p:sp>
        <p:nvSpPr>
          <p:cNvPr id="6" name="Title 1">
            <a:extLst>
              <a:ext uri="{FF2B5EF4-FFF2-40B4-BE49-F238E27FC236}">
                <a16:creationId xmlns:a16="http://schemas.microsoft.com/office/drawing/2014/main" id="{EFBC4899-305C-4740-BC11-9191A55B3B7A}"/>
              </a:ext>
            </a:extLst>
          </p:cNvPr>
          <p:cNvSpPr>
            <a:spLocks noGrp="1"/>
          </p:cNvSpPr>
          <p:nvPr>
            <p:ph type="title"/>
          </p:nvPr>
        </p:nvSpPr>
        <p:spPr>
          <a:xfrm>
            <a:off x="756139" y="158584"/>
            <a:ext cx="7280956" cy="780734"/>
          </a:xfrm>
        </p:spPr>
        <p:txBody>
          <a:bodyPr>
            <a:normAutofit/>
          </a:bodyPr>
          <a:lstStyle/>
          <a:p>
            <a:r>
              <a:rPr lang="en-IN" sz="3200" dirty="0">
                <a:solidFill>
                  <a:schemeClr val="accent5">
                    <a:lumMod val="75000"/>
                  </a:schemeClr>
                </a:solidFill>
                <a:latin typeface="Times New Roman" panose="02020603050405020304" pitchFamily="18" charset="0"/>
                <a:cs typeface="Times New Roman" panose="02020603050405020304" pitchFamily="18" charset="0"/>
              </a:rPr>
              <a:t>References / Further Readings</a:t>
            </a:r>
            <a:endParaRPr lang="en-IN" sz="3200" dirty="0">
              <a:solidFill>
                <a:schemeClr val="accent5">
                  <a:lumMod val="75000"/>
                </a:schemeClr>
              </a:solidFill>
            </a:endParaRPr>
          </a:p>
        </p:txBody>
      </p:sp>
    </p:spTree>
    <p:extLst>
      <p:ext uri="{BB962C8B-B14F-4D97-AF65-F5344CB8AC3E}">
        <p14:creationId xmlns:p14="http://schemas.microsoft.com/office/powerpoint/2010/main" val="3090043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2" name="Rounded Rectangle 18">
            <a:extLst>
              <a:ext uri="{FF2B5EF4-FFF2-40B4-BE49-F238E27FC236}">
                <a16:creationId xmlns:a16="http://schemas.microsoft.com/office/drawing/2014/main" id="{283A93BD-A469-4D4C-8A1F-5668AE975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28565" y="503573"/>
            <a:ext cx="7134870" cy="3599401"/>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40 Perfect thank you messages (Appreciation sms)">
            <a:extLst>
              <a:ext uri="{FF2B5EF4-FFF2-40B4-BE49-F238E27FC236}">
                <a16:creationId xmlns:a16="http://schemas.microsoft.com/office/drawing/2014/main" id="{0EF917C7-33B0-4584-96EC-D99575EC62A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9" r="2" b="2"/>
          <a:stretch/>
        </p:blipFill>
        <p:spPr bwMode="auto">
          <a:xfrm>
            <a:off x="2694432" y="666497"/>
            <a:ext cx="6803136" cy="3273552"/>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3D0FC1B-8562-4575-9EEC-3FE101CA93E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B0224EE6-E032-0A4B-A8B2-3B3E72DB7979}" type="slidenum">
              <a:rPr lang="en-US" smtClean="0">
                <a:solidFill>
                  <a:prstClr val="black">
                    <a:tint val="75000"/>
                  </a:prstClr>
                </a:solidFill>
                <a:latin typeface="Calibri" panose="020F0502020204030204"/>
              </a:rPr>
              <a:pPr>
                <a:spcAft>
                  <a:spcPts val="600"/>
                </a:spcAft>
                <a:defRPr/>
              </a:pPr>
              <a:t>18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246172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7144</TotalTime>
  <Words>1090</Words>
  <Application>Microsoft Office PowerPoint</Application>
  <PresentationFormat>Widescreen</PresentationFormat>
  <Paragraphs>107</Paragraphs>
  <Slides>18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Courier New</vt:lpstr>
      <vt:lpstr>Times New Roman</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 / Further Readings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Ravi Kant Gupta [MU - Jaipur]</dc:creator>
  <cp:lastModifiedBy>Dr. Ashok Kumar Sharma [MU - Jaipur]</cp:lastModifiedBy>
  <cp:revision>314</cp:revision>
  <dcterms:created xsi:type="dcterms:W3CDTF">2018-05-04T09:20:58Z</dcterms:created>
  <dcterms:modified xsi:type="dcterms:W3CDTF">2025-08-26T17:31:04Z</dcterms:modified>
</cp:coreProperties>
</file>