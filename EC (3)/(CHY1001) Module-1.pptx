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2.xml" ContentType="application/inkml+xml"/>
  <Override PartName="/ppt/notesSlides/notesSlide45.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46.xml" ContentType="application/vnd.openxmlformats-officedocument.presentationml.notesSlide+xml"/>
  <Override PartName="/ppt/ink/ink11.xml" ContentType="application/inkml+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ink/ink12.xml" ContentType="application/inkml+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4" r:id="rId4"/>
  </p:sldMasterIdLst>
  <p:notesMasterIdLst>
    <p:notesMasterId r:id="rId108"/>
  </p:notesMasterIdLst>
  <p:handoutMasterIdLst>
    <p:handoutMasterId r:id="rId109"/>
  </p:handoutMasterIdLst>
  <p:sldIdLst>
    <p:sldId id="368" r:id="rId5"/>
    <p:sldId id="642" r:id="rId6"/>
    <p:sldId id="393" r:id="rId7"/>
    <p:sldId id="677" r:id="rId8"/>
    <p:sldId id="834" r:id="rId9"/>
    <p:sldId id="658" r:id="rId10"/>
    <p:sldId id="653" r:id="rId11"/>
    <p:sldId id="835" r:id="rId12"/>
    <p:sldId id="711" r:id="rId13"/>
    <p:sldId id="836" r:id="rId14"/>
    <p:sldId id="822" r:id="rId15"/>
    <p:sldId id="674" r:id="rId16"/>
    <p:sldId id="675" r:id="rId17"/>
    <p:sldId id="676" r:id="rId18"/>
    <p:sldId id="823" r:id="rId19"/>
    <p:sldId id="824" r:id="rId20"/>
    <p:sldId id="825" r:id="rId21"/>
    <p:sldId id="714" r:id="rId22"/>
    <p:sldId id="678" r:id="rId23"/>
    <p:sldId id="326" r:id="rId24"/>
    <p:sldId id="327" r:id="rId25"/>
    <p:sldId id="831" r:id="rId26"/>
    <p:sldId id="716" r:id="rId27"/>
    <p:sldId id="717" r:id="rId28"/>
    <p:sldId id="719" r:id="rId29"/>
    <p:sldId id="718" r:id="rId30"/>
    <p:sldId id="679" r:id="rId31"/>
    <p:sldId id="680" r:id="rId32"/>
    <p:sldId id="694" r:id="rId33"/>
    <p:sldId id="693" r:id="rId34"/>
    <p:sldId id="682" r:id="rId35"/>
    <p:sldId id="681" r:id="rId36"/>
    <p:sldId id="774" r:id="rId37"/>
    <p:sldId id="699" r:id="rId38"/>
    <p:sldId id="700" r:id="rId39"/>
    <p:sldId id="701" r:id="rId40"/>
    <p:sldId id="702" r:id="rId41"/>
    <p:sldId id="706" r:id="rId42"/>
    <p:sldId id="709" r:id="rId43"/>
    <p:sldId id="759" r:id="rId44"/>
    <p:sldId id="728" r:id="rId45"/>
    <p:sldId id="729" r:id="rId46"/>
    <p:sldId id="730" r:id="rId47"/>
    <p:sldId id="731" r:id="rId48"/>
    <p:sldId id="832" r:id="rId49"/>
    <p:sldId id="372" r:id="rId50"/>
    <p:sldId id="828" r:id="rId51"/>
    <p:sldId id="829" r:id="rId52"/>
    <p:sldId id="685" r:id="rId53"/>
    <p:sldId id="686" r:id="rId54"/>
    <p:sldId id="656" r:id="rId55"/>
    <p:sldId id="683" r:id="rId56"/>
    <p:sldId id="644" r:id="rId57"/>
    <p:sldId id="797" r:id="rId58"/>
    <p:sldId id="684" r:id="rId59"/>
    <p:sldId id="799" r:id="rId60"/>
    <p:sldId id="800" r:id="rId61"/>
    <p:sldId id="798" r:id="rId62"/>
    <p:sldId id="801" r:id="rId63"/>
    <p:sldId id="802" r:id="rId64"/>
    <p:sldId id="657" r:id="rId65"/>
    <p:sldId id="643" r:id="rId66"/>
    <p:sldId id="660" r:id="rId67"/>
    <p:sldId id="661" r:id="rId68"/>
    <p:sldId id="662" r:id="rId69"/>
    <p:sldId id="663" r:id="rId70"/>
    <p:sldId id="664" r:id="rId71"/>
    <p:sldId id="665" r:id="rId72"/>
    <p:sldId id="751" r:id="rId73"/>
    <p:sldId id="726" r:id="rId74"/>
    <p:sldId id="727" r:id="rId75"/>
    <p:sldId id="747" r:id="rId76"/>
    <p:sldId id="748" r:id="rId77"/>
    <p:sldId id="591" r:id="rId78"/>
    <p:sldId id="760" r:id="rId79"/>
    <p:sldId id="720" r:id="rId80"/>
    <p:sldId id="721" r:id="rId81"/>
    <p:sldId id="722" r:id="rId82"/>
    <p:sldId id="749" r:id="rId83"/>
    <p:sldId id="757" r:id="rId84"/>
    <p:sldId id="753" r:id="rId85"/>
    <p:sldId id="385" r:id="rId86"/>
    <p:sldId id="397" r:id="rId87"/>
    <p:sldId id="398" r:id="rId88"/>
    <p:sldId id="400" r:id="rId89"/>
    <p:sldId id="403" r:id="rId90"/>
    <p:sldId id="388" r:id="rId91"/>
    <p:sldId id="390" r:id="rId92"/>
    <p:sldId id="399" r:id="rId93"/>
    <p:sldId id="819" r:id="rId94"/>
    <p:sldId id="409" r:id="rId95"/>
    <p:sldId id="412" r:id="rId96"/>
    <p:sldId id="837" r:id="rId97"/>
    <p:sldId id="414" r:id="rId98"/>
    <p:sldId id="417" r:id="rId99"/>
    <p:sldId id="418" r:id="rId100"/>
    <p:sldId id="419" r:id="rId101"/>
    <p:sldId id="420" r:id="rId102"/>
    <p:sldId id="771" r:id="rId103"/>
    <p:sldId id="795" r:id="rId104"/>
    <p:sldId id="703" r:id="rId105"/>
    <p:sldId id="704" r:id="rId106"/>
    <p:sldId id="705" r:id="rId107"/>
  </p:sldIdLst>
  <p:sldSz cx="12192000" cy="6858000"/>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E7C30-4060-4D87-B1A8-B9A9FCD162AC}" v="2" dt="2026-04-04T05:59:45.230"/>
  </p1510:revLst>
</p1510:revInfo>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6208"/>
  </p:normalViewPr>
  <p:slideViewPr>
    <p:cSldViewPr snapToGrid="0" snapToObjects="1">
      <p:cViewPr varScale="1">
        <p:scale>
          <a:sx n="60" d="100"/>
          <a:sy n="60" d="100"/>
        </p:scale>
        <p:origin x="916" y="48"/>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handoutMaster" Target="handoutMasters/handoutMaster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eenakshi Pilania [MU - Jaipur]" userId="101ed0fe-f317-4361-a741-045232e6f4a0" providerId="ADAL" clId="{A99DBE4F-FB0A-40AA-884E-54965336198B}"/>
    <pc:docChg chg="modSld">
      <pc:chgData name="Dr. Meenakshi Pilania [MU - Jaipur]" userId="101ed0fe-f317-4361-a741-045232e6f4a0" providerId="ADAL" clId="{A99DBE4F-FB0A-40AA-884E-54965336198B}" dt="2026-04-04T06:11:57.887" v="2" actId="1036"/>
      <pc:docMkLst>
        <pc:docMk/>
      </pc:docMkLst>
      <pc:sldChg chg="modSp">
        <pc:chgData name="Dr. Meenakshi Pilania [MU - Jaipur]" userId="101ed0fe-f317-4361-a741-045232e6f4a0" providerId="ADAL" clId="{A99DBE4F-FB0A-40AA-884E-54965336198B}" dt="2026-04-04T05:59:43.576" v="0" actId="20578"/>
        <pc:sldMkLst>
          <pc:docMk/>
          <pc:sldMk cId="957844082" sldId="774"/>
        </pc:sldMkLst>
        <pc:spChg chg="mod">
          <ac:chgData name="Dr. Meenakshi Pilania [MU - Jaipur]" userId="101ed0fe-f317-4361-a741-045232e6f4a0" providerId="ADAL" clId="{A99DBE4F-FB0A-40AA-884E-54965336198B}" dt="2026-04-04T05:59:43.576" v="0" actId="20578"/>
          <ac:spMkLst>
            <pc:docMk/>
            <pc:sldMk cId="957844082" sldId="774"/>
            <ac:spMk id="6" creationId="{73443530-309B-4936-9EB2-5FD84BE462C0}"/>
          </ac:spMkLst>
        </pc:spChg>
      </pc:sldChg>
      <pc:sldChg chg="modSp mod">
        <pc:chgData name="Dr. Meenakshi Pilania [MU - Jaipur]" userId="101ed0fe-f317-4361-a741-045232e6f4a0" providerId="ADAL" clId="{A99DBE4F-FB0A-40AA-884E-54965336198B}" dt="2026-04-04T06:11:57.887" v="2" actId="1036"/>
        <pc:sldMkLst>
          <pc:docMk/>
          <pc:sldMk cId="1307503036" sldId="822"/>
        </pc:sldMkLst>
        <pc:picChg chg="mod">
          <ac:chgData name="Dr. Meenakshi Pilania [MU - Jaipur]" userId="101ed0fe-f317-4361-a741-045232e6f4a0" providerId="ADAL" clId="{A99DBE4F-FB0A-40AA-884E-54965336198B}" dt="2026-04-04T06:11:57.887" v="2" actId="1036"/>
          <ac:picMkLst>
            <pc:docMk/>
            <pc:sldMk cId="1307503036" sldId="822"/>
            <ac:picMk id="5" creationId="{590631E1-D4D2-520A-9BD7-525135718BC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CDA97F1-B160-CD43-AB00-B4962F56C3BA}" type="datetimeFigureOut">
              <a:rPr lang="en-US" smtClean="0"/>
              <a:t>4/4/2026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89B8F06-2CF5-8142-9004-C161692BF542}" type="slidenum">
              <a:rPr lang="en-US" smtClean="0"/>
              <a:t>‹#›</a:t>
            </a:fld>
            <a:endParaRPr lang="en-US"/>
          </a:p>
        </p:txBody>
      </p:sp>
    </p:spTree>
    <p:extLst>
      <p:ext uri="{BB962C8B-B14F-4D97-AF65-F5344CB8AC3E}">
        <p14:creationId xmlns:p14="http://schemas.microsoft.com/office/powerpoint/2010/main" val="1497091589"/>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1-05-10T04:06:27.088"/>
    </inkml:context>
    <inkml:brush xml:id="br0">
      <inkml:brushProperty name="width" value="0.05292" units="cm"/>
      <inkml:brushProperty name="height" value="0.05292" units="cm"/>
      <inkml:brushProperty name="color" value="#FF0000"/>
    </inkml:brush>
  </inkml:definitions>
  <inkml:trace contextRef="#ctx0" brushRef="#br0">16595 7541 0,'49'0'63,"1"0"-48,24 0 1,100 0-1,-100 24-15,1-24 16,-1 0-16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11.3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1,'4'0,"2"0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4:57.18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4:59.4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01.3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03.29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08.73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09.37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13.40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14.28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4-29T15:05:16.86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11,'0'-5,"0"-1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8-21T07:22:08.608"/>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614462362"/>
      </p:ext>
    </p:extLst>
  </p:cSld>
  <p:clrMap bg1="lt1" tx1="dk1" bg2="dk2" tx2="lt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277020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78248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258583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78248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37505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65440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08052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803244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521559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85376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615690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360545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39625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62898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591502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625780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83617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310638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62587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830827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251674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22898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228983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228983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228983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2516749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782480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704174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36484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886039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3954974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094667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121391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814642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782480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658286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272068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534185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976592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7304584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326301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6963742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940206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0422806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982288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931878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6919461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7431001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3120341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268541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285157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0125828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9930501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702272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2543417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679317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6495314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7033272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2516749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270531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026339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0447111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2852936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96769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7129743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928961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35912324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882010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277879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0567497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3" name="Shape 7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147842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
        <p:cNvGrpSpPr/>
        <p:nvPr/>
      </p:nvGrpSpPr>
      <p:grpSpPr>
        <a:xfrm>
          <a:off x="0" y="0"/>
          <a:ext cx="0" cy="0"/>
          <a:chOff x="0" y="0"/>
          <a:chExt cx="0" cy="0"/>
        </a:xfrm>
      </p:grpSpPr>
      <p:sp>
        <p:nvSpPr>
          <p:cNvPr id="9" name="Shape 9"/>
          <p:cNvSpPr txBox="1">
            <a:spLocks noGrp="1"/>
          </p:cNvSpPr>
          <p:nvPr>
            <p:ph type="ctrTitle"/>
          </p:nvPr>
        </p:nvSpPr>
        <p:spPr>
          <a:xfrm>
            <a:off x="914400" y="2111123"/>
            <a:ext cx="10363200" cy="1546500"/>
          </a:xfrm>
          <a:prstGeom prst="rect">
            <a:avLst/>
          </a:prstGeom>
        </p:spPr>
        <p:txBody>
          <a:bodyPr lIns="91425" tIns="91425" rIns="91425" bIns="91425" anchor="b" anchorCtr="0"/>
          <a:lstStyle>
            <a:lvl1pPr algn="ctr">
              <a:spcBef>
                <a:spcPts val="0"/>
              </a:spcBef>
              <a:buSzPct val="100000"/>
              <a:defRPr sz="4800"/>
            </a:lvl1pPr>
            <a:lvl2pPr algn="ctr">
              <a:spcBef>
                <a:spcPts val="0"/>
              </a:spcBef>
              <a:buSzPct val="100000"/>
              <a:defRPr sz="4800"/>
            </a:lvl2pPr>
            <a:lvl3pPr algn="ctr">
              <a:spcBef>
                <a:spcPts val="0"/>
              </a:spcBef>
              <a:buSzPct val="100000"/>
              <a:defRPr sz="4800"/>
            </a:lvl3pPr>
            <a:lvl4pPr algn="ctr">
              <a:spcBef>
                <a:spcPts val="0"/>
              </a:spcBef>
              <a:buSzPct val="100000"/>
              <a:defRPr sz="4800"/>
            </a:lvl4pPr>
            <a:lvl5pPr algn="ctr">
              <a:spcBef>
                <a:spcPts val="0"/>
              </a:spcBef>
              <a:buSzPct val="100000"/>
              <a:defRPr sz="4800"/>
            </a:lvl5pPr>
            <a:lvl6pPr algn="ctr">
              <a:spcBef>
                <a:spcPts val="0"/>
              </a:spcBef>
              <a:buSzPct val="100000"/>
              <a:defRPr sz="4800"/>
            </a:lvl6pPr>
            <a:lvl7pPr algn="ctr">
              <a:spcBef>
                <a:spcPts val="0"/>
              </a:spcBef>
              <a:buSzPct val="100000"/>
              <a:defRPr sz="4800"/>
            </a:lvl7pPr>
            <a:lvl8pPr algn="ctr">
              <a:spcBef>
                <a:spcPts val="0"/>
              </a:spcBef>
              <a:buSzPct val="100000"/>
              <a:defRPr sz="4800"/>
            </a:lvl8pPr>
            <a:lvl9pPr algn="ctr">
              <a:spcBef>
                <a:spcPts val="0"/>
              </a:spcBef>
              <a:buSzPct val="100000"/>
              <a:defRPr sz="4800"/>
            </a:lvl9pPr>
          </a:lstStyle>
          <a:p>
            <a:endParaRPr/>
          </a:p>
        </p:txBody>
      </p:sp>
      <p:sp>
        <p:nvSpPr>
          <p:cNvPr id="10" name="Shape 10"/>
          <p:cNvSpPr txBox="1">
            <a:spLocks noGrp="1"/>
          </p:cNvSpPr>
          <p:nvPr>
            <p:ph type="subTitle" idx="1"/>
          </p:nvPr>
        </p:nvSpPr>
        <p:spPr>
          <a:xfrm>
            <a:off x="914400" y="3786737"/>
            <a:ext cx="10363200" cy="1046400"/>
          </a:xfrm>
          <a:prstGeom prst="rect">
            <a:avLst/>
          </a:prstGeom>
        </p:spPr>
        <p:txBody>
          <a:bodyPr lIns="91425" tIns="91425" rIns="91425" bIns="91425" anchor="t" anchorCtr="0"/>
          <a:lstStyle>
            <a:lvl1pPr algn="ctr">
              <a:spcBef>
                <a:spcPts val="0"/>
              </a:spcBef>
              <a:buClr>
                <a:schemeClr val="dk2"/>
              </a:buClr>
              <a:buNone/>
              <a:defRPr>
                <a:solidFill>
                  <a:schemeClr val="dk2"/>
                </a:solidFill>
              </a:defRPr>
            </a:lvl1pPr>
            <a:lvl2pPr algn="ctr">
              <a:spcBef>
                <a:spcPts val="0"/>
              </a:spcBef>
              <a:buClr>
                <a:schemeClr val="dk2"/>
              </a:buClr>
              <a:buSzPct val="100000"/>
              <a:buNone/>
              <a:defRPr sz="3000">
                <a:solidFill>
                  <a:schemeClr val="dk2"/>
                </a:solidFill>
              </a:defRPr>
            </a:lvl2pPr>
            <a:lvl3pPr algn="ctr">
              <a:spcBef>
                <a:spcPts val="0"/>
              </a:spcBef>
              <a:buClr>
                <a:schemeClr val="dk2"/>
              </a:buClr>
              <a:buSzPct val="100000"/>
              <a:buNone/>
              <a:defRPr sz="3000">
                <a:solidFill>
                  <a:schemeClr val="dk2"/>
                </a:solidFill>
              </a:defRPr>
            </a:lvl3pPr>
            <a:lvl4pPr algn="ctr">
              <a:spcBef>
                <a:spcPts val="0"/>
              </a:spcBef>
              <a:buClr>
                <a:schemeClr val="dk2"/>
              </a:buClr>
              <a:buSzPct val="100000"/>
              <a:buNone/>
              <a:defRPr sz="3000">
                <a:solidFill>
                  <a:schemeClr val="dk2"/>
                </a:solidFill>
              </a:defRPr>
            </a:lvl4pPr>
            <a:lvl5pPr algn="ctr">
              <a:spcBef>
                <a:spcPts val="0"/>
              </a:spcBef>
              <a:buClr>
                <a:schemeClr val="dk2"/>
              </a:buClr>
              <a:buSzPct val="100000"/>
              <a:buNone/>
              <a:defRPr sz="3000">
                <a:solidFill>
                  <a:schemeClr val="dk2"/>
                </a:solidFill>
              </a:defRPr>
            </a:lvl5pPr>
            <a:lvl6pPr algn="ctr">
              <a:spcBef>
                <a:spcPts val="0"/>
              </a:spcBef>
              <a:buClr>
                <a:schemeClr val="dk2"/>
              </a:buClr>
              <a:buSzPct val="100000"/>
              <a:buNone/>
              <a:defRPr sz="3000">
                <a:solidFill>
                  <a:schemeClr val="dk2"/>
                </a:solidFill>
              </a:defRPr>
            </a:lvl6pPr>
            <a:lvl7pPr algn="ctr">
              <a:spcBef>
                <a:spcPts val="0"/>
              </a:spcBef>
              <a:buClr>
                <a:schemeClr val="dk2"/>
              </a:buClr>
              <a:buSzPct val="100000"/>
              <a:buNone/>
              <a:defRPr sz="3000">
                <a:solidFill>
                  <a:schemeClr val="dk2"/>
                </a:solidFill>
              </a:defRPr>
            </a:lvl7pPr>
            <a:lvl8pPr algn="ctr">
              <a:spcBef>
                <a:spcPts val="0"/>
              </a:spcBef>
              <a:buClr>
                <a:schemeClr val="dk2"/>
              </a:buClr>
              <a:buSzPct val="100000"/>
              <a:buNone/>
              <a:defRPr sz="3000">
                <a:solidFill>
                  <a:schemeClr val="dk2"/>
                </a:solidFill>
              </a:defRPr>
            </a:lvl8pPr>
            <a:lvl9pPr algn="ctr">
              <a:spcBef>
                <a:spcPts val="0"/>
              </a:spcBef>
              <a:buClr>
                <a:schemeClr val="dk2"/>
              </a:buClr>
              <a:buSzPct val="100000"/>
              <a:buNone/>
              <a:defRPr sz="3000">
                <a:solidFill>
                  <a:schemeClr val="dk2"/>
                </a:solidFill>
              </a:defRPr>
            </a:lvl9pPr>
          </a:lstStyle>
          <a:p>
            <a:endParaRPr/>
          </a:p>
        </p:txBody>
      </p:sp>
      <p:sp>
        <p:nvSpPr>
          <p:cNvPr id="11" name="Shape 11"/>
          <p:cNvSpPr txBox="1">
            <a:spLocks noGrp="1"/>
          </p:cNvSpPr>
          <p:nvPr>
            <p:ph type="sldNum" idx="12"/>
          </p:nvPr>
        </p:nvSpPr>
        <p:spPr>
          <a:xfrm>
            <a:off x="11409055" y="6333135"/>
            <a:ext cx="731599" cy="524699"/>
          </a:xfrm>
          <a:prstGeom prst="rect">
            <a:avLst/>
          </a:prstGeom>
        </p:spPr>
        <p:txBody>
          <a:bodyPr lIns="91425" tIns="91425" rIns="91425" bIns="91425" anchor="ctr" anchorCtr="0">
            <a:noAutofit/>
          </a:bodyPr>
          <a:lstStyle>
            <a:lvl1pPr>
              <a:spcBef>
                <a:spcPts val="0"/>
              </a:spcBef>
              <a:buNone/>
              <a:defRPr/>
            </a:lvl1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609600" y="274637"/>
            <a:ext cx="109728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8" name="Shape 18"/>
          <p:cNvSpPr txBox="1">
            <a:spLocks noGrp="1"/>
          </p:cNvSpPr>
          <p:nvPr>
            <p:ph type="body" idx="1"/>
          </p:nvPr>
        </p:nvSpPr>
        <p:spPr>
          <a:xfrm>
            <a:off x="609600" y="1600200"/>
            <a:ext cx="5326000" cy="49677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9" name="Shape 19"/>
          <p:cNvSpPr txBox="1">
            <a:spLocks noGrp="1"/>
          </p:cNvSpPr>
          <p:nvPr>
            <p:ph type="body" idx="2"/>
          </p:nvPr>
        </p:nvSpPr>
        <p:spPr>
          <a:xfrm>
            <a:off x="6256364" y="1600200"/>
            <a:ext cx="5326000" cy="49677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0" name="Shape 20"/>
          <p:cNvSpPr txBox="1">
            <a:spLocks noGrp="1"/>
          </p:cNvSpPr>
          <p:nvPr>
            <p:ph type="sldNum" idx="12"/>
          </p:nvPr>
        </p:nvSpPr>
        <p:spPr>
          <a:xfrm>
            <a:off x="11409055" y="6333135"/>
            <a:ext cx="731599" cy="524699"/>
          </a:xfrm>
          <a:prstGeom prst="rect">
            <a:avLst/>
          </a:prstGeom>
        </p:spPr>
        <p:txBody>
          <a:bodyPr lIns="91425" tIns="91425" rIns="91425" bIns="91425" anchor="ctr" anchorCtr="0">
            <a:noAutofit/>
          </a:bodyPr>
          <a:lstStyle>
            <a:lvl1pPr>
              <a:spcBef>
                <a:spcPts val="0"/>
              </a:spcBef>
              <a:buNone/>
              <a:defRPr/>
            </a:lvl1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609600" y="274637"/>
            <a:ext cx="109728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3" name="Shape 23"/>
          <p:cNvSpPr txBox="1">
            <a:spLocks noGrp="1"/>
          </p:cNvSpPr>
          <p:nvPr>
            <p:ph type="sldNum" idx="12"/>
          </p:nvPr>
        </p:nvSpPr>
        <p:spPr>
          <a:xfrm>
            <a:off x="11409055" y="6333135"/>
            <a:ext cx="731599" cy="524699"/>
          </a:xfrm>
          <a:prstGeom prst="rect">
            <a:avLst/>
          </a:prstGeom>
        </p:spPr>
        <p:txBody>
          <a:bodyPr lIns="91425" tIns="91425" rIns="91425" bIns="91425" anchor="ctr" anchorCtr="0">
            <a:noAutofit/>
          </a:bodyPr>
          <a:lstStyle>
            <a:lvl1pPr>
              <a:spcBef>
                <a:spcPts val="0"/>
              </a:spcBef>
              <a:buNone/>
              <a:defRPr/>
            </a:lvl1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endParaRPr lang="en-US"/>
          </a:p>
        </p:txBody>
      </p:sp>
      <p:sp>
        <p:nvSpPr>
          <p:cNvPr id="5" name="Rectangle 3"/>
          <p:cNvSpPr>
            <a:spLocks noGrp="1" noChangeArrowheads="1"/>
          </p:cNvSpPr>
          <p:nvPr>
            <p:ph type="ftr" sz="quarter" idx="11"/>
          </p:nvPr>
        </p:nvSpPr>
        <p:spPr>
          <a:ln/>
        </p:spPr>
        <p:txBody>
          <a:bodyPr/>
          <a:lstStyle>
            <a:lvl1pPr>
              <a:defRPr/>
            </a:lvl1pPr>
          </a:lstStyle>
          <a:p>
            <a:pPr>
              <a:defRPr/>
            </a:pPr>
            <a:endParaRPr lang="en-US"/>
          </a:p>
        </p:txBody>
      </p:sp>
      <p:sp>
        <p:nvSpPr>
          <p:cNvPr id="6" name="Rectangle 4"/>
          <p:cNvSpPr>
            <a:spLocks noGrp="1" noChangeArrowheads="1"/>
          </p:cNvSpPr>
          <p:nvPr>
            <p:ph type="sldNum" sz="quarter" idx="12"/>
          </p:nvPr>
        </p:nvSpPr>
        <p:spPr>
          <a:ln/>
        </p:spPr>
        <p:txBody>
          <a:bodyPr/>
          <a:lstStyle>
            <a:lvl1pPr>
              <a:defRPr/>
            </a:lvl1pPr>
          </a:lstStyle>
          <a:p>
            <a:pPr>
              <a:defRPr/>
            </a:pPr>
            <a:fld id="{C8FDF637-186F-4DEF-9FEC-68B9CF641A25}" type="slidenum">
              <a:rPr lang="en-US"/>
              <a:pPr>
                <a:defRPr/>
              </a:pPr>
              <a:t>‹#›</a:t>
            </a:fld>
            <a:endParaRPr lang="en-US"/>
          </a:p>
        </p:txBody>
      </p:sp>
    </p:spTree>
    <p:extLst>
      <p:ext uri="{BB962C8B-B14F-4D97-AF65-F5344CB8AC3E}">
        <p14:creationId xmlns:p14="http://schemas.microsoft.com/office/powerpoint/2010/main" val="240058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p>
        </p:txBody>
      </p:sp>
      <p:sp>
        <p:nvSpPr>
          <p:cNvPr id="3" name="Rectangle 3"/>
          <p:cNvSpPr>
            <a:spLocks noGrp="1" noChangeArrowheads="1"/>
          </p:cNvSpPr>
          <p:nvPr>
            <p:ph type="ftr" sz="quarter" idx="11"/>
          </p:nvPr>
        </p:nvSpPr>
        <p:spPr>
          <a:ln/>
        </p:spPr>
        <p:txBody>
          <a:bodyPr/>
          <a:lstStyle>
            <a:lvl1pPr>
              <a:defRPr/>
            </a:lvl1pPr>
          </a:lstStyle>
          <a:p>
            <a:pPr>
              <a:defRPr/>
            </a:pPr>
            <a:endParaRPr lang="en-US"/>
          </a:p>
        </p:txBody>
      </p:sp>
      <p:sp>
        <p:nvSpPr>
          <p:cNvPr id="4" name="Rectangle 4"/>
          <p:cNvSpPr>
            <a:spLocks noGrp="1" noChangeArrowheads="1"/>
          </p:cNvSpPr>
          <p:nvPr>
            <p:ph type="sldNum" sz="quarter" idx="12"/>
          </p:nvPr>
        </p:nvSpPr>
        <p:spPr>
          <a:ln/>
        </p:spPr>
        <p:txBody>
          <a:bodyPr/>
          <a:lstStyle>
            <a:lvl1pPr>
              <a:defRPr/>
            </a:lvl1pPr>
          </a:lstStyle>
          <a:p>
            <a:pPr>
              <a:defRPr/>
            </a:pPr>
            <a:fld id="{88C4E98B-C846-4C58-A4CD-8697F5F2B0DF}" type="slidenum">
              <a:rPr lang="en-US"/>
              <a:pPr>
                <a:defRPr/>
              </a:pPr>
              <a:t>‹#›</a:t>
            </a:fld>
            <a:endParaRPr lang="en-US"/>
          </a:p>
        </p:txBody>
      </p:sp>
    </p:spTree>
    <p:extLst>
      <p:ext uri="{BB962C8B-B14F-4D97-AF65-F5344CB8AC3E}">
        <p14:creationId xmlns:p14="http://schemas.microsoft.com/office/powerpoint/2010/main" val="192938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txBox="1">
            <a:spLocks noGrp="1"/>
          </p:cNvSpPr>
          <p:nvPr>
            <p:ph type="title"/>
          </p:nvPr>
        </p:nvSpPr>
        <p:spPr>
          <a:xfrm>
            <a:off x="609600" y="274637"/>
            <a:ext cx="109728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4" name="Shape 14"/>
          <p:cNvSpPr txBox="1">
            <a:spLocks noGrp="1"/>
          </p:cNvSpPr>
          <p:nvPr>
            <p:ph type="body" idx="1"/>
          </p:nvPr>
        </p:nvSpPr>
        <p:spPr>
          <a:xfrm>
            <a:off x="609600" y="1600200"/>
            <a:ext cx="10972800" cy="496770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5" name="Shape 15"/>
          <p:cNvSpPr txBox="1">
            <a:spLocks noGrp="1"/>
          </p:cNvSpPr>
          <p:nvPr>
            <p:ph type="sldNum" idx="12"/>
          </p:nvPr>
        </p:nvSpPr>
        <p:spPr>
          <a:xfrm>
            <a:off x="11409055" y="6333135"/>
            <a:ext cx="731599" cy="524699"/>
          </a:xfrm>
          <a:prstGeom prst="rect">
            <a:avLst/>
          </a:prstGeom>
        </p:spPr>
        <p:txBody>
          <a:bodyPr lIns="91425" tIns="91425" rIns="91425" bIns="91425" anchor="ctr" anchorCtr="0">
            <a:noAutofit/>
          </a:bodyPr>
          <a:lstStyle>
            <a:lvl1pPr>
              <a:spcBef>
                <a:spcPts val="0"/>
              </a:spcBef>
              <a:buNone/>
              <a:defRPr/>
            </a:lvl1pPr>
          </a:lstStyle>
          <a:p>
            <a:fld id="{00000000-1234-1234-1234-123412341234}" type="slidenum">
              <a:rPr lang="en" smtClean="0"/>
              <a:pPr/>
              <a:t>‹#›</a:t>
            </a:fld>
            <a:endParaRPr lang="en"/>
          </a:p>
        </p:txBody>
      </p:sp>
    </p:spTree>
    <p:extLst>
      <p:ext uri="{BB962C8B-B14F-4D97-AF65-F5344CB8AC3E}">
        <p14:creationId xmlns:p14="http://schemas.microsoft.com/office/powerpoint/2010/main" val="2251109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609600" y="274637"/>
            <a:ext cx="10972800" cy="1143000"/>
          </a:xfrm>
          <a:prstGeom prst="rect">
            <a:avLst/>
          </a:prstGeom>
          <a:noFill/>
          <a:ln>
            <a:noFill/>
          </a:ln>
        </p:spPr>
        <p:txBody>
          <a:bodyPr lIns="91425" tIns="91425" rIns="91425" bIns="91425" anchor="b" anchorCtr="0"/>
          <a:lstStyle>
            <a:lvl1pPr>
              <a:spcBef>
                <a:spcPts val="0"/>
              </a:spcBef>
              <a:buClr>
                <a:schemeClr val="dk1"/>
              </a:buClr>
              <a:buSzPct val="100000"/>
              <a:buNone/>
              <a:defRPr sz="3600" b="1">
                <a:solidFill>
                  <a:schemeClr val="dk1"/>
                </a:solidFill>
              </a:defRPr>
            </a:lvl1pPr>
            <a:lvl2pPr>
              <a:spcBef>
                <a:spcPts val="0"/>
              </a:spcBef>
              <a:buClr>
                <a:schemeClr val="dk1"/>
              </a:buClr>
              <a:buSzPct val="100000"/>
              <a:buNone/>
              <a:defRPr sz="3600" b="1">
                <a:solidFill>
                  <a:schemeClr val="dk1"/>
                </a:solidFill>
              </a:defRPr>
            </a:lvl2pPr>
            <a:lvl3pPr>
              <a:spcBef>
                <a:spcPts val="0"/>
              </a:spcBef>
              <a:buClr>
                <a:schemeClr val="dk1"/>
              </a:buClr>
              <a:buSzPct val="100000"/>
              <a:buNone/>
              <a:defRPr sz="3600" b="1">
                <a:solidFill>
                  <a:schemeClr val="dk1"/>
                </a:solidFill>
              </a:defRPr>
            </a:lvl3pPr>
            <a:lvl4pPr>
              <a:spcBef>
                <a:spcPts val="0"/>
              </a:spcBef>
              <a:buClr>
                <a:schemeClr val="dk1"/>
              </a:buClr>
              <a:buSzPct val="100000"/>
              <a:buNone/>
              <a:defRPr sz="3600" b="1">
                <a:solidFill>
                  <a:schemeClr val="dk1"/>
                </a:solidFill>
              </a:defRPr>
            </a:lvl4pPr>
            <a:lvl5pPr>
              <a:spcBef>
                <a:spcPts val="0"/>
              </a:spcBef>
              <a:buClr>
                <a:schemeClr val="dk1"/>
              </a:buClr>
              <a:buSzPct val="100000"/>
              <a:buNone/>
              <a:defRPr sz="3600" b="1">
                <a:solidFill>
                  <a:schemeClr val="dk1"/>
                </a:solidFill>
              </a:defRPr>
            </a:lvl5pPr>
            <a:lvl6pPr>
              <a:spcBef>
                <a:spcPts val="0"/>
              </a:spcBef>
              <a:buClr>
                <a:schemeClr val="dk1"/>
              </a:buClr>
              <a:buSzPct val="100000"/>
              <a:buNone/>
              <a:defRPr sz="3600" b="1">
                <a:solidFill>
                  <a:schemeClr val="dk1"/>
                </a:solidFill>
              </a:defRPr>
            </a:lvl6pPr>
            <a:lvl7pPr>
              <a:spcBef>
                <a:spcPts val="0"/>
              </a:spcBef>
              <a:buClr>
                <a:schemeClr val="dk1"/>
              </a:buClr>
              <a:buSzPct val="100000"/>
              <a:buNone/>
              <a:defRPr sz="3600" b="1">
                <a:solidFill>
                  <a:schemeClr val="dk1"/>
                </a:solidFill>
              </a:defRPr>
            </a:lvl7pPr>
            <a:lvl8pPr>
              <a:spcBef>
                <a:spcPts val="0"/>
              </a:spcBef>
              <a:buClr>
                <a:schemeClr val="dk1"/>
              </a:buClr>
              <a:buSzPct val="100000"/>
              <a:buNone/>
              <a:defRPr sz="3600" b="1">
                <a:solidFill>
                  <a:schemeClr val="dk1"/>
                </a:solidFill>
              </a:defRPr>
            </a:lvl8pPr>
            <a:lvl9pPr>
              <a:spcBef>
                <a:spcPts val="0"/>
              </a:spcBef>
              <a:buClr>
                <a:schemeClr val="dk1"/>
              </a:buClr>
              <a:buSzPct val="100000"/>
              <a:buNone/>
              <a:defRPr sz="3600" b="1">
                <a:solidFill>
                  <a:schemeClr val="dk1"/>
                </a:solidFill>
              </a:defRPr>
            </a:lvl9pPr>
          </a:lstStyle>
          <a:p>
            <a:endParaRPr/>
          </a:p>
        </p:txBody>
      </p:sp>
      <p:sp>
        <p:nvSpPr>
          <p:cNvPr id="6" name="Shape 6"/>
          <p:cNvSpPr txBox="1">
            <a:spLocks noGrp="1"/>
          </p:cNvSpPr>
          <p:nvPr>
            <p:ph type="body" idx="1"/>
          </p:nvPr>
        </p:nvSpPr>
        <p:spPr>
          <a:xfrm>
            <a:off x="609600" y="1600200"/>
            <a:ext cx="10972800" cy="4967700"/>
          </a:xfrm>
          <a:prstGeom prst="rect">
            <a:avLst/>
          </a:prstGeom>
          <a:noFill/>
          <a:ln>
            <a:noFill/>
          </a:ln>
        </p:spPr>
        <p:txBody>
          <a:bodyPr lIns="91425" tIns="91425" rIns="91425" bIns="91425" anchor="t" anchorCtr="0"/>
          <a:lstStyle>
            <a:lvl1pPr>
              <a:spcBef>
                <a:spcPts val="600"/>
              </a:spcBef>
              <a:buClr>
                <a:schemeClr val="dk1"/>
              </a:buClr>
              <a:buSzPct val="100000"/>
              <a:defRPr sz="3000">
                <a:solidFill>
                  <a:schemeClr val="dk1"/>
                </a:solidFill>
              </a:defRPr>
            </a:lvl1pPr>
            <a:lvl2pPr>
              <a:spcBef>
                <a:spcPts val="480"/>
              </a:spcBef>
              <a:buClr>
                <a:schemeClr val="dk1"/>
              </a:buClr>
              <a:buSzPct val="100000"/>
              <a:defRPr sz="2400">
                <a:solidFill>
                  <a:schemeClr val="dk1"/>
                </a:solidFill>
              </a:defRPr>
            </a:lvl2pPr>
            <a:lvl3pPr>
              <a:spcBef>
                <a:spcPts val="480"/>
              </a:spcBef>
              <a:buClr>
                <a:schemeClr val="dk1"/>
              </a:buClr>
              <a:buSzPct val="100000"/>
              <a:defRPr sz="2400">
                <a:solidFill>
                  <a:schemeClr val="dk1"/>
                </a:solidFill>
              </a:defRPr>
            </a:lvl3pPr>
            <a:lvl4pPr>
              <a:spcBef>
                <a:spcPts val="360"/>
              </a:spcBef>
              <a:buClr>
                <a:schemeClr val="dk1"/>
              </a:buClr>
              <a:buSzPct val="100000"/>
              <a:defRPr sz="1800">
                <a:solidFill>
                  <a:schemeClr val="dk1"/>
                </a:solidFill>
              </a:defRPr>
            </a:lvl4pPr>
            <a:lvl5pPr>
              <a:spcBef>
                <a:spcPts val="360"/>
              </a:spcBef>
              <a:buClr>
                <a:schemeClr val="dk1"/>
              </a:buClr>
              <a:buSzPct val="100000"/>
              <a:defRPr sz="1800">
                <a:solidFill>
                  <a:schemeClr val="dk1"/>
                </a:solidFill>
              </a:defRPr>
            </a:lvl5pPr>
            <a:lvl6pPr>
              <a:spcBef>
                <a:spcPts val="360"/>
              </a:spcBef>
              <a:buClr>
                <a:schemeClr val="dk1"/>
              </a:buClr>
              <a:buSzPct val="100000"/>
              <a:defRPr sz="1800">
                <a:solidFill>
                  <a:schemeClr val="dk1"/>
                </a:solidFill>
              </a:defRPr>
            </a:lvl6pPr>
            <a:lvl7pPr>
              <a:spcBef>
                <a:spcPts val="360"/>
              </a:spcBef>
              <a:buClr>
                <a:schemeClr val="dk1"/>
              </a:buClr>
              <a:buSzPct val="100000"/>
              <a:defRPr sz="1800">
                <a:solidFill>
                  <a:schemeClr val="dk1"/>
                </a:solidFill>
              </a:defRPr>
            </a:lvl7pPr>
            <a:lvl8pPr>
              <a:spcBef>
                <a:spcPts val="360"/>
              </a:spcBef>
              <a:buClr>
                <a:schemeClr val="dk1"/>
              </a:buClr>
              <a:buSzPct val="100000"/>
              <a:defRPr sz="1800">
                <a:solidFill>
                  <a:schemeClr val="dk1"/>
                </a:solidFill>
              </a:defRPr>
            </a:lvl8pPr>
            <a:lvl9pPr>
              <a:spcBef>
                <a:spcPts val="360"/>
              </a:spcBef>
              <a:buClr>
                <a:schemeClr val="dk1"/>
              </a:buClr>
              <a:buSzPct val="100000"/>
              <a:defRPr sz="1800">
                <a:solidFill>
                  <a:schemeClr val="dk1"/>
                </a:solidFill>
              </a:defRPr>
            </a:lvl9pPr>
          </a:lstStyle>
          <a:p>
            <a:endParaRPr/>
          </a:p>
        </p:txBody>
      </p:sp>
      <p:sp>
        <p:nvSpPr>
          <p:cNvPr id="7" name="Shape 7"/>
          <p:cNvSpPr txBox="1">
            <a:spLocks noGrp="1"/>
          </p:cNvSpPr>
          <p:nvPr>
            <p:ph type="sldNum" idx="12"/>
          </p:nvPr>
        </p:nvSpPr>
        <p:spPr>
          <a:xfrm>
            <a:off x="11409055" y="6333135"/>
            <a:ext cx="731599" cy="524699"/>
          </a:xfrm>
          <a:prstGeom prst="rect">
            <a:avLst/>
          </a:prstGeom>
          <a:noFill/>
          <a:ln>
            <a:noFill/>
          </a:ln>
        </p:spPr>
        <p:txBody>
          <a:bodyPr lIns="91425" tIns="91425" rIns="91425" bIns="91425" anchor="ctr" anchorCtr="0">
            <a:noAutofit/>
          </a:bodyPr>
          <a:lstStyle>
            <a:lvl1pPr algn="r">
              <a:spcBef>
                <a:spcPts val="0"/>
              </a:spcBef>
              <a:buNone/>
              <a:defRPr sz="1300">
                <a:solidFill>
                  <a:schemeClr val="dk1"/>
                </a:solidFill>
              </a:defRPr>
            </a:lvl1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5" r:id="rId4"/>
    <p:sldLayoutId id="2147483656" r:id="rId5"/>
    <p:sldLayoutId id="2147483657" r:id="rId6"/>
  </p:sldLayoutIdLst>
  <p:hf hd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22.wmf"/><Relationship Id="rId3" Type="http://schemas.openxmlformats.org/officeDocument/2006/relationships/image" Target="../media/image17.png"/><Relationship Id="rId7" Type="http://schemas.openxmlformats.org/officeDocument/2006/relationships/image" Target="../media/image19.wmf"/><Relationship Id="rId12"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20.wmf"/></Relationships>
</file>

<file path=ppt/slides/_rels/slide13.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3.bin"/><Relationship Id="rId3" Type="http://schemas.openxmlformats.org/officeDocument/2006/relationships/image" Target="../media/image17.png"/><Relationship Id="rId7" Type="http://schemas.openxmlformats.org/officeDocument/2006/relationships/oleObject" Target="../embeddings/oleObject4.bin"/><Relationship Id="rId12" Type="http://schemas.openxmlformats.org/officeDocument/2006/relationships/image" Target="../media/image22.wm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oleObject" Target="../embeddings/oleObject6.bin"/><Relationship Id="rId5" Type="http://schemas.openxmlformats.org/officeDocument/2006/relationships/image" Target="../media/image18.wmf"/><Relationship Id="rId15" Type="http://schemas.openxmlformats.org/officeDocument/2006/relationships/image" Target="../media/image23.png"/><Relationship Id="rId10" Type="http://schemas.openxmlformats.org/officeDocument/2006/relationships/image" Target="../media/image21.wmf"/><Relationship Id="rId4" Type="http://schemas.openxmlformats.org/officeDocument/2006/relationships/oleObject" Target="../embeddings/oleObject2.bin"/><Relationship Id="rId9" Type="http://schemas.openxmlformats.org/officeDocument/2006/relationships/oleObject" Target="../embeddings/oleObject5.bin"/><Relationship Id="rId14" Type="http://schemas.openxmlformats.org/officeDocument/2006/relationships/image" Target="../media/image19.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png"/><Relationship Id="rId7" Type="http://schemas.openxmlformats.org/officeDocument/2006/relationships/image" Target="../media/image22.w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oleObject" Target="../embeddings/oleObject6.bin"/><Relationship Id="rId5" Type="http://schemas.openxmlformats.org/officeDocument/2006/relationships/image" Target="../media/image24.emf"/><Relationship Id="rId4" Type="http://schemas.openxmlformats.org/officeDocument/2006/relationships/oleObject" Target="../embeddings/oleObject7.bin"/><Relationship Id="rId9" Type="http://schemas.openxmlformats.org/officeDocument/2006/relationships/image" Target="../media/image1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8.bin"/><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9.bin"/><Relationship Id="rId1" Type="http://schemas.openxmlformats.org/officeDocument/2006/relationships/slideLayout" Target="../slideLayouts/slideLayout5.xml"/><Relationship Id="rId6" Type="http://schemas.openxmlformats.org/officeDocument/2006/relationships/oleObject" Target="../embeddings/oleObject11.bin"/><Relationship Id="rId11" Type="http://schemas.openxmlformats.org/officeDocument/2006/relationships/image" Target="../media/image27.png"/><Relationship Id="rId5" Type="http://schemas.openxmlformats.org/officeDocument/2006/relationships/image" Target="../media/image28.wmf"/><Relationship Id="rId10" Type="http://schemas.openxmlformats.org/officeDocument/2006/relationships/customXml" Target="../ink/ink1.xml"/><Relationship Id="rId4" Type="http://schemas.openxmlformats.org/officeDocument/2006/relationships/oleObject" Target="../embeddings/oleObject10.bin"/><Relationship Id="rId9" Type="http://schemas.openxmlformats.org/officeDocument/2006/relationships/image" Target="../media/image30.wmf"/></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6.jpe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10.png"/><Relationship Id="rId5" Type="http://schemas.openxmlformats.org/officeDocument/2006/relationships/image" Target="../media/image500.png"/><Relationship Id="rId4" Type="http://schemas.openxmlformats.org/officeDocument/2006/relationships/image" Target="../media/image490.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40.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50.png"/></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00.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30.png"/><Relationship Id="rId5" Type="http://schemas.openxmlformats.org/officeDocument/2006/relationships/customXml" Target="../ink/ink2.xml"/><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9.xml"/><Relationship Id="rId3" Type="http://schemas.openxmlformats.org/officeDocument/2006/relationships/image" Target="../media/image3.png"/><Relationship Id="rId7" Type="http://schemas.openxmlformats.org/officeDocument/2006/relationships/image" Target="../media/image250.png"/><Relationship Id="rId12" Type="http://schemas.openxmlformats.org/officeDocument/2006/relationships/customXml" Target="../ink/ink8.xm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customXml" Target="../ink/ink7.xml"/><Relationship Id="rId5" Type="http://schemas.openxmlformats.org/officeDocument/2006/relationships/image" Target="../media/image57.png"/><Relationship Id="rId10" Type="http://schemas.openxmlformats.org/officeDocument/2006/relationships/customXml" Target="../ink/ink6.xml"/><Relationship Id="rId4" Type="http://schemas.openxmlformats.org/officeDocument/2006/relationships/image" Target="../media/image56.png"/><Relationship Id="rId9" Type="http://schemas.openxmlformats.org/officeDocument/2006/relationships/customXml" Target="../ink/ink5.xml"/><Relationship Id="rId14" Type="http://schemas.openxmlformats.org/officeDocument/2006/relationships/customXml" Target="../ink/ink10.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customXml" Target="../ink/ink11.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40.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562.png"/><Relationship Id="rId4" Type="http://schemas.openxmlformats.org/officeDocument/2006/relationships/image" Target="../media/image69.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560.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6.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67.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65.png"/><Relationship Id="rId4" Type="http://schemas.openxmlformats.org/officeDocument/2006/relationships/image" Target="../media/image76.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79.png"/></Relationships>
</file>

<file path=ppt/slides/_rels/slide9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customXml" Target="../ink/ink12.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85.png"/><Relationship Id="rId4" Type="http://schemas.openxmlformats.org/officeDocument/2006/relationships/image" Target="../media/image83.png"/></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90.emf"/><Relationship Id="rId4" Type="http://schemas.openxmlformats.org/officeDocument/2006/relationships/image" Target="../media/image89.png"/></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531.png"/><Relationship Id="rId5" Type="http://schemas.openxmlformats.org/officeDocument/2006/relationships/image" Target="../media/image530.png"/><Relationship Id="rId4" Type="http://schemas.openxmlformats.org/officeDocument/2006/relationships/image" Target="../media/image520.png"/></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92.png"/><Relationship Id="rId4" Type="http://schemas.openxmlformats.org/officeDocument/2006/relationships/image" Target="../media/image91.png"/></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92.png"/><Relationship Id="rId4" Type="http://schemas.openxmlformats.org/officeDocument/2006/relationships/image" Target="../media/image91.pn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5" name="TextBox 4">
            <a:extLst>
              <a:ext uri="{FF2B5EF4-FFF2-40B4-BE49-F238E27FC236}">
                <a16:creationId xmlns:a16="http://schemas.microsoft.com/office/drawing/2014/main" id="{3959CE77-3DC6-F34D-A3E1-527B87C67121}"/>
              </a:ext>
            </a:extLst>
          </p:cNvPr>
          <p:cNvSpPr txBox="1"/>
          <p:nvPr/>
        </p:nvSpPr>
        <p:spPr>
          <a:xfrm>
            <a:off x="2625487" y="3728682"/>
            <a:ext cx="9242298" cy="2610843"/>
          </a:xfrm>
          <a:prstGeom prst="rect">
            <a:avLst/>
          </a:prstGeom>
          <a:noFill/>
        </p:spPr>
        <p:txBody>
          <a:bodyPr wrap="square">
            <a:spAutoFit/>
          </a:bodyPr>
          <a:lstStyle/>
          <a:p>
            <a:pPr algn="r">
              <a:lnSpc>
                <a:spcPct val="150000"/>
              </a:lnSpc>
            </a:pPr>
            <a:r>
              <a:rPr lang="en-US" sz="2800" b="1" dirty="0">
                <a:latin typeface="Calibri" panose="020F0502020204030204" pitchFamily="34" charset="0"/>
                <a:ea typeface="Cambria"/>
                <a:cs typeface="Cambria"/>
                <a:sym typeface="Cambria"/>
              </a:rPr>
              <a:t>Faculty of Science, Technology and Architecture</a:t>
            </a:r>
          </a:p>
          <a:p>
            <a:pPr algn="r">
              <a:lnSpc>
                <a:spcPct val="150000"/>
              </a:lnSpc>
            </a:pPr>
            <a:r>
              <a:rPr lang="en-US" sz="2800" b="1" dirty="0">
                <a:latin typeface="Calibri" panose="020F0502020204030204" pitchFamily="34" charset="0"/>
                <a:ea typeface="Cambria"/>
                <a:cs typeface="Cambria"/>
                <a:sym typeface="Cambria"/>
              </a:rPr>
              <a:t>School of Physical and Biological Sciences</a:t>
            </a:r>
          </a:p>
          <a:p>
            <a:pPr algn="r">
              <a:lnSpc>
                <a:spcPct val="150000"/>
              </a:lnSpc>
            </a:pPr>
            <a:r>
              <a:rPr lang="en-US" sz="2800" b="1" dirty="0">
                <a:solidFill>
                  <a:srgbClr val="C00000"/>
                </a:solidFill>
                <a:latin typeface="Calibri" panose="020F0502020204030204" pitchFamily="34" charset="0"/>
                <a:ea typeface="Cambria"/>
                <a:cs typeface="Cambria"/>
                <a:sym typeface="Cambria"/>
              </a:rPr>
              <a:t>Department of Chemistry</a:t>
            </a:r>
          </a:p>
          <a:p>
            <a:pPr algn="r">
              <a:lnSpc>
                <a:spcPct val="150000"/>
              </a:lnSpc>
            </a:pPr>
            <a:r>
              <a:rPr lang="en-US" sz="2800" b="1" dirty="0">
                <a:solidFill>
                  <a:srgbClr val="FFC000"/>
                </a:solidFill>
                <a:latin typeface="Calibri" panose="020F0502020204030204" pitchFamily="34" charset="0"/>
                <a:ea typeface="Cambria"/>
                <a:cs typeface="Cambria"/>
                <a:sym typeface="Cambria"/>
              </a:rPr>
              <a:t>Manipal University Jaipur</a:t>
            </a:r>
          </a:p>
        </p:txBody>
      </p:sp>
      <p:sp>
        <p:nvSpPr>
          <p:cNvPr id="7" name="TextBox 6">
            <a:extLst>
              <a:ext uri="{FF2B5EF4-FFF2-40B4-BE49-F238E27FC236}">
                <a16:creationId xmlns:a16="http://schemas.microsoft.com/office/drawing/2014/main" id="{F597206A-BDE5-60E4-84F8-149EA7244F5A}"/>
              </a:ext>
            </a:extLst>
          </p:cNvPr>
          <p:cNvSpPr txBox="1"/>
          <p:nvPr/>
        </p:nvSpPr>
        <p:spPr>
          <a:xfrm>
            <a:off x="1457706" y="589334"/>
            <a:ext cx="8792718" cy="1003031"/>
          </a:xfrm>
          <a:prstGeom prst="rect">
            <a:avLst/>
          </a:prstGeom>
          <a:noFill/>
        </p:spPr>
        <p:txBody>
          <a:bodyPr wrap="square">
            <a:spAutoFit/>
          </a:bodyPr>
          <a:lstStyle/>
          <a:p>
            <a:pPr algn="ctr">
              <a:lnSpc>
                <a:spcPct val="150000"/>
              </a:lnSpc>
            </a:pPr>
            <a:r>
              <a:rPr lang="en-US" sz="4400" b="1" dirty="0">
                <a:solidFill>
                  <a:srgbClr val="0070C0"/>
                </a:solidFill>
                <a:latin typeface="Calibri" panose="020F0502020204030204" pitchFamily="34" charset="0"/>
                <a:ea typeface="Cambria"/>
                <a:cs typeface="Cambria"/>
                <a:sym typeface="Cambria"/>
              </a:rPr>
              <a:t>Engineering Chemistry(CHY1001)</a:t>
            </a:r>
          </a:p>
        </p:txBody>
      </p:sp>
      <p:sp>
        <p:nvSpPr>
          <p:cNvPr id="9" name="TextBox 8">
            <a:extLst>
              <a:ext uri="{FF2B5EF4-FFF2-40B4-BE49-F238E27FC236}">
                <a16:creationId xmlns:a16="http://schemas.microsoft.com/office/drawing/2014/main" id="{0A4CDF1B-639A-9339-3876-B1CC94E349C8}"/>
              </a:ext>
            </a:extLst>
          </p:cNvPr>
          <p:cNvSpPr txBox="1"/>
          <p:nvPr/>
        </p:nvSpPr>
        <p:spPr>
          <a:xfrm>
            <a:off x="2984754" y="1526384"/>
            <a:ext cx="6094476" cy="920252"/>
          </a:xfrm>
          <a:prstGeom prst="rect">
            <a:avLst/>
          </a:prstGeom>
          <a:noFill/>
        </p:spPr>
        <p:txBody>
          <a:bodyPr wrap="square">
            <a:spAutoFit/>
          </a:bodyPr>
          <a:lstStyle/>
          <a:p>
            <a:pPr algn="ctr">
              <a:lnSpc>
                <a:spcPct val="150000"/>
              </a:lnSpc>
            </a:pPr>
            <a:r>
              <a:rPr lang="en-US" sz="4000" b="1" dirty="0">
                <a:solidFill>
                  <a:srgbClr val="00B050"/>
                </a:solidFill>
                <a:latin typeface="Calibri" panose="020F0502020204030204" pitchFamily="34" charset="0"/>
                <a:ea typeface="Cambria"/>
                <a:cs typeface="Calibri" panose="020F0502020204030204" pitchFamily="34" charset="0"/>
                <a:sym typeface="Cambria"/>
              </a:rPr>
              <a:t>B.Tech. (Chemistry Cycle)</a:t>
            </a:r>
            <a:endParaRPr lang="en" sz="4000" b="1" dirty="0">
              <a:solidFill>
                <a:srgbClr val="00B050"/>
              </a:solidFill>
              <a:latin typeface="Calibri" panose="020F0502020204030204" pitchFamily="34" charset="0"/>
              <a:ea typeface="Cambria"/>
              <a:cs typeface="Calibri" panose="020F0502020204030204" pitchFamily="34" charset="0"/>
              <a:sym typeface="Cambria"/>
            </a:endParaRPr>
          </a:p>
        </p:txBody>
      </p:sp>
      <p:pic>
        <p:nvPicPr>
          <p:cNvPr id="2050" name="Picture 1157716568">
            <a:extLst>
              <a:ext uri="{FF2B5EF4-FFF2-40B4-BE49-F238E27FC236}">
                <a16:creationId xmlns:a16="http://schemas.microsoft.com/office/drawing/2014/main" id="{948C680C-FDE3-C4AA-1B84-D934CA61D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11" y="5258182"/>
            <a:ext cx="45529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358E573B-92C4-B911-0FBC-A59EF50B4880}"/>
              </a:ext>
            </a:extLst>
          </p:cNvPr>
          <p:cNvGrpSpPr/>
          <p:nvPr/>
        </p:nvGrpSpPr>
        <p:grpSpPr>
          <a:xfrm>
            <a:off x="3819525" y="2694758"/>
            <a:ext cx="4552950" cy="820890"/>
            <a:chOff x="3657600" y="2907792"/>
            <a:chExt cx="4552950" cy="820890"/>
          </a:xfrm>
        </p:grpSpPr>
        <p:sp>
          <p:nvSpPr>
            <p:cNvPr id="3" name="Rectangle: Rounded Corners 2">
              <a:extLst>
                <a:ext uri="{FF2B5EF4-FFF2-40B4-BE49-F238E27FC236}">
                  <a16:creationId xmlns:a16="http://schemas.microsoft.com/office/drawing/2014/main" id="{B05B80AA-F24A-1DEF-7FAF-DF6C202CD424}"/>
                </a:ext>
              </a:extLst>
            </p:cNvPr>
            <p:cNvSpPr/>
            <p:nvPr/>
          </p:nvSpPr>
          <p:spPr>
            <a:xfrm>
              <a:off x="3657600" y="2907792"/>
              <a:ext cx="4552950" cy="82089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1pPr>
              <a:lvl2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2pPr>
              <a:lvl3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3pPr>
              <a:lvl4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4pPr>
              <a:lvl5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5pPr>
              <a:lvl6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6pPr>
              <a:lvl7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7pPr>
              <a:lvl8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8pPr>
              <a:lvl9pPr marR="0" algn="l" rtl="0">
                <a:lnSpc>
                  <a:spcPct val="100000"/>
                </a:lnSpc>
                <a:spcBef>
                  <a:spcPts val="0"/>
                </a:spcBef>
                <a:spcAft>
                  <a:spcPts val="0"/>
                </a:spcAft>
                <a:buNone/>
                <a:defRPr sz="1400" b="0" i="0" u="none" strike="noStrike" cap="none" baseline="0">
                  <a:solidFill>
                    <a:schemeClr val="lt1"/>
                  </a:solidFill>
                  <a:latin typeface="+mn-lt"/>
                  <a:ea typeface="+mn-ea"/>
                  <a:cs typeface="+mn-cs"/>
                  <a:sym typeface="Arial"/>
                  <a:rtl val="0"/>
                </a:defRPr>
              </a:lvl9pPr>
            </a:lstStyle>
            <a:p>
              <a:pPr algn="ctr"/>
              <a:endParaRPr lang="en-US" dirty="0"/>
            </a:p>
          </p:txBody>
        </p:sp>
        <p:sp>
          <p:nvSpPr>
            <p:cNvPr id="4" name="TextBox 2">
              <a:extLst>
                <a:ext uri="{FF2B5EF4-FFF2-40B4-BE49-F238E27FC236}">
                  <a16:creationId xmlns:a16="http://schemas.microsoft.com/office/drawing/2014/main" id="{5C664DAB-3748-9795-4065-36C7967117F5}"/>
                </a:ext>
              </a:extLst>
            </p:cNvPr>
            <p:cNvSpPr txBox="1"/>
            <p:nvPr/>
          </p:nvSpPr>
          <p:spPr>
            <a:xfrm>
              <a:off x="4537038" y="2964294"/>
              <a:ext cx="2435282" cy="707886"/>
            </a:xfrm>
            <a:prstGeom prst="rect">
              <a:avLst/>
            </a:prstGeom>
            <a:noFill/>
          </p:spPr>
          <p:txBody>
            <a:bodyPr wrap="none" rtlCol="0">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sz="4000" b="1" dirty="0">
                  <a:solidFill>
                    <a:srgbClr val="7030A0"/>
                  </a:solidFill>
                </a:rPr>
                <a:t>Module-1</a:t>
              </a:r>
            </a:p>
          </p:txBody>
        </p:sp>
      </p:grpSp>
    </p:spTree>
    <p:extLst>
      <p:ext uri="{BB962C8B-B14F-4D97-AF65-F5344CB8AC3E}">
        <p14:creationId xmlns:p14="http://schemas.microsoft.com/office/powerpoint/2010/main" val="2005152313"/>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12" name="Shape 69">
            <a:extLst>
              <a:ext uri="{FF2B5EF4-FFF2-40B4-BE49-F238E27FC236}">
                <a16:creationId xmlns:a16="http://schemas.microsoft.com/office/drawing/2014/main" id="{A199037C-D1CD-4AB2-AFD8-4AE610DD024D}"/>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The water resource</a:t>
            </a:r>
            <a:r>
              <a:rPr lang="en-US" sz="2400" b="1" dirty="0">
                <a:solidFill>
                  <a:srgbClr val="0070C0"/>
                </a:solidFill>
                <a:latin typeface="Cambria" panose="02040503050406030204" pitchFamily="18" charset="0"/>
                <a:ea typeface="Calibri" panose="020F0502020204030204" pitchFamily="34" charset="0"/>
                <a:cs typeface="Times New Roman" panose="02020603050405020304" pitchFamily="18" charset="0"/>
              </a:rPr>
              <a:t>	</a:t>
            </a:r>
            <a:endParaRPr lang="en-US" sz="2400" dirty="0">
              <a:solidFill>
                <a:srgbClr val="0070C0"/>
              </a:solidFill>
              <a:latin typeface="Cambria" panose="02040503050406030204" pitchFamily="18" charset="0"/>
              <a:ea typeface="Calibri" panose="020F0502020204030204" pitchFamily="34" charset="0"/>
              <a:cs typeface="Times New Roman" panose="02020603050405020304" pitchFamily="18" charset="0"/>
            </a:endParaRPr>
          </a:p>
        </p:txBody>
      </p:sp>
      <p:pic>
        <p:nvPicPr>
          <p:cNvPr id="1026" name="Picture 2" descr="Salt Water and Freshwater Distribution on Earth | PBS LearningMedia">
            <a:extLst>
              <a:ext uri="{FF2B5EF4-FFF2-40B4-BE49-F238E27FC236}">
                <a16:creationId xmlns:a16="http://schemas.microsoft.com/office/drawing/2014/main" id="{3289A6DD-3B28-AC0C-BC9A-BA48DE5A3F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002" r="23688" b="-1314"/>
          <a:stretch>
            <a:fillRect/>
          </a:stretch>
        </p:blipFill>
        <p:spPr bwMode="auto">
          <a:xfrm>
            <a:off x="1490157" y="776794"/>
            <a:ext cx="9223548" cy="5714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333902"/>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7748DCB-37E6-0A40-BD43-F66B157105FE}"/>
              </a:ext>
            </a:extLst>
          </p:cNvPr>
          <p:cNvGrpSpPr/>
          <p:nvPr/>
        </p:nvGrpSpPr>
        <p:grpSpPr>
          <a:xfrm>
            <a:off x="2014725" y="2799954"/>
            <a:ext cx="8229600" cy="1169551"/>
            <a:chOff x="1981200" y="1994677"/>
            <a:chExt cx="8229600" cy="1169551"/>
          </a:xfrm>
        </p:grpSpPr>
        <p:sp>
          <p:nvSpPr>
            <p:cNvPr id="4" name="Rectangle 3"/>
            <p:cNvSpPr/>
            <p:nvPr/>
          </p:nvSpPr>
          <p:spPr>
            <a:xfrm>
              <a:off x="1981200" y="1994677"/>
              <a:ext cx="8229600" cy="1169551"/>
            </a:xfrm>
            <a:prstGeom prst="rect">
              <a:avLst/>
            </a:prstGeom>
          </p:spPr>
          <p:txBody>
            <a:bodyPr wrap="square">
              <a:spAutoFit/>
            </a:bodyPr>
            <a:lstStyle/>
            <a:p>
              <a:endParaRPr lang="en-IN" sz="3200" b="1" dirty="0">
                <a:solidFill>
                  <a:schemeClr val="accent6">
                    <a:lumMod val="75000"/>
                  </a:schemeClr>
                </a:solidFill>
              </a:endParaRPr>
            </a:p>
            <a:p>
              <a:endParaRPr lang="pt-BR" dirty="0"/>
            </a:p>
            <a:p>
              <a:r>
                <a:rPr lang="pt-BR" sz="2400" b="1" dirty="0">
                  <a:solidFill>
                    <a:srgbClr val="C00000"/>
                  </a:solidFill>
                </a:rPr>
                <a:t>C</a:t>
              </a:r>
              <a:r>
                <a:rPr lang="pt-BR" sz="2400" b="1" baseline="-25000" dirty="0">
                  <a:solidFill>
                    <a:srgbClr val="C00000"/>
                  </a:solidFill>
                </a:rPr>
                <a:t>17</a:t>
              </a:r>
              <a:r>
                <a:rPr lang="pt-BR" sz="2400" b="1" dirty="0">
                  <a:solidFill>
                    <a:srgbClr val="C00000"/>
                  </a:solidFill>
                </a:rPr>
                <a:t>H</a:t>
              </a:r>
              <a:r>
                <a:rPr lang="pt-BR" sz="2400" b="1" baseline="-25000" dirty="0">
                  <a:solidFill>
                    <a:srgbClr val="C00000"/>
                  </a:solidFill>
                </a:rPr>
                <a:t>35</a:t>
              </a:r>
              <a:r>
                <a:rPr lang="pt-BR" sz="2400" b="1" dirty="0">
                  <a:solidFill>
                    <a:srgbClr val="C00000"/>
                  </a:solidFill>
                </a:rPr>
                <a:t> COONa + H</a:t>
              </a:r>
              <a:r>
                <a:rPr lang="pt-BR" sz="2400" b="1" baseline="-25000" dirty="0">
                  <a:solidFill>
                    <a:srgbClr val="C00000"/>
                  </a:solidFill>
                </a:rPr>
                <a:t>2</a:t>
              </a:r>
              <a:r>
                <a:rPr lang="pt-BR" sz="2400" b="1" dirty="0">
                  <a:solidFill>
                    <a:srgbClr val="C00000"/>
                  </a:solidFill>
                </a:rPr>
                <a:t>O                    NaOH +  2C</a:t>
              </a:r>
              <a:r>
                <a:rPr lang="pt-BR" sz="2400" b="1" baseline="-25000" dirty="0">
                  <a:solidFill>
                    <a:srgbClr val="C00000"/>
                  </a:solidFill>
                </a:rPr>
                <a:t>17</a:t>
              </a:r>
              <a:r>
                <a:rPr lang="pt-BR" sz="2400" b="1" dirty="0">
                  <a:solidFill>
                    <a:srgbClr val="C00000"/>
                  </a:solidFill>
                </a:rPr>
                <a:t>H</a:t>
              </a:r>
              <a:r>
                <a:rPr lang="pt-BR" sz="2400" b="1" baseline="-25000" dirty="0">
                  <a:solidFill>
                    <a:srgbClr val="C00000"/>
                  </a:solidFill>
                </a:rPr>
                <a:t>35 </a:t>
              </a:r>
              <a:r>
                <a:rPr lang="pt-BR" sz="2400" b="1" dirty="0">
                  <a:solidFill>
                    <a:srgbClr val="C00000"/>
                  </a:solidFill>
                </a:rPr>
                <a:t>COOH</a:t>
              </a:r>
              <a:endParaRPr lang="en-IN" sz="2400" b="1" dirty="0">
                <a:solidFill>
                  <a:srgbClr val="C00000"/>
                </a:solidFill>
              </a:endParaRPr>
            </a:p>
          </p:txBody>
        </p:sp>
        <p:cxnSp>
          <p:nvCxnSpPr>
            <p:cNvPr id="5" name="Straight Arrow Connector 4"/>
            <p:cNvCxnSpPr/>
            <p:nvPr/>
          </p:nvCxnSpPr>
          <p:spPr>
            <a:xfrm>
              <a:off x="5311140" y="2889504"/>
              <a:ext cx="11430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3BDA74E4-A362-3915-9639-13BFE22C0DA1}"/>
              </a:ext>
            </a:extLst>
          </p:cNvPr>
          <p:cNvSpPr txBox="1"/>
          <p:nvPr/>
        </p:nvSpPr>
        <p:spPr>
          <a:xfrm>
            <a:off x="237744" y="744520"/>
            <a:ext cx="4213098" cy="584775"/>
          </a:xfrm>
          <a:prstGeom prst="rect">
            <a:avLst/>
          </a:prstGeom>
          <a:noFill/>
        </p:spPr>
        <p:txBody>
          <a:bodyPr wrap="square">
            <a:spAutoFit/>
          </a:bodyPr>
          <a:lstStyle/>
          <a:p>
            <a:r>
              <a:rPr lang="en-IN" sz="3200" b="1" dirty="0">
                <a:solidFill>
                  <a:schemeClr val="accent6">
                    <a:lumMod val="75000"/>
                  </a:schemeClr>
                </a:solidFill>
              </a:rPr>
              <a:t>Soft Water </a:t>
            </a:r>
          </a:p>
        </p:txBody>
      </p:sp>
      <p:sp>
        <p:nvSpPr>
          <p:cNvPr id="7" name="TextBox 6">
            <a:extLst>
              <a:ext uri="{FF2B5EF4-FFF2-40B4-BE49-F238E27FC236}">
                <a16:creationId xmlns:a16="http://schemas.microsoft.com/office/drawing/2014/main" id="{6B8D6B0B-7AEA-38C1-32E1-D4892AAAA8BF}"/>
              </a:ext>
            </a:extLst>
          </p:cNvPr>
          <p:cNvSpPr txBox="1"/>
          <p:nvPr/>
        </p:nvSpPr>
        <p:spPr>
          <a:xfrm>
            <a:off x="808860" y="1359852"/>
            <a:ext cx="10641330" cy="1815882"/>
          </a:xfrm>
          <a:prstGeom prst="rect">
            <a:avLst/>
          </a:prstGeom>
          <a:noFill/>
        </p:spPr>
        <p:txBody>
          <a:bodyPr wrap="square">
            <a:spAutoFit/>
          </a:bodyPr>
          <a:lstStyle/>
          <a:p>
            <a:pPr algn="just"/>
            <a:r>
              <a:rPr lang="en-IN" sz="2800" dirty="0">
                <a:solidFill>
                  <a:schemeClr val="tx1"/>
                </a:solidFill>
              </a:rPr>
              <a:t>The soft water when treated with soap produces more lather and consume less soap and this is due to the absence of dissolved salts of Ca &amp; Mg in water.</a:t>
            </a:r>
          </a:p>
          <a:p>
            <a:pPr algn="just"/>
            <a:endParaRPr lang="en-IN" sz="2800" dirty="0">
              <a:solidFill>
                <a:schemeClr val="tx1"/>
              </a:solidFill>
            </a:endParaRPr>
          </a:p>
        </p:txBody>
      </p:sp>
      <p:sp>
        <p:nvSpPr>
          <p:cNvPr id="9" name="TextBox 8">
            <a:extLst>
              <a:ext uri="{FF2B5EF4-FFF2-40B4-BE49-F238E27FC236}">
                <a16:creationId xmlns:a16="http://schemas.microsoft.com/office/drawing/2014/main" id="{7CF941C6-FFB3-9BB3-7D1E-6197475893AA}"/>
              </a:ext>
            </a:extLst>
          </p:cNvPr>
          <p:cNvSpPr txBox="1"/>
          <p:nvPr/>
        </p:nvSpPr>
        <p:spPr>
          <a:xfrm>
            <a:off x="775335" y="4553712"/>
            <a:ext cx="8095486" cy="461665"/>
          </a:xfrm>
          <a:prstGeom prst="rect">
            <a:avLst/>
          </a:prstGeom>
          <a:noFill/>
        </p:spPr>
        <p:txBody>
          <a:bodyPr wrap="none" rtlCol="0">
            <a:spAutoFit/>
          </a:bodyPr>
          <a:lstStyle/>
          <a:p>
            <a:r>
              <a:rPr lang="en-US" sz="2400" dirty="0"/>
              <a:t>Example: Rain water, Distilled water, Demineralized water</a:t>
            </a:r>
          </a:p>
        </p:txBody>
      </p:sp>
      <p:sp>
        <p:nvSpPr>
          <p:cNvPr id="10" name="TextBox 9">
            <a:extLst>
              <a:ext uri="{FF2B5EF4-FFF2-40B4-BE49-F238E27FC236}">
                <a16:creationId xmlns:a16="http://schemas.microsoft.com/office/drawing/2014/main" id="{78BDC72A-E257-A867-7E8D-8868309BC651}"/>
              </a:ext>
            </a:extLst>
          </p:cNvPr>
          <p:cNvSpPr txBox="1"/>
          <p:nvPr/>
        </p:nvSpPr>
        <p:spPr>
          <a:xfrm>
            <a:off x="4192138" y="152401"/>
            <a:ext cx="4647062" cy="461665"/>
          </a:xfrm>
          <a:prstGeom prst="rect">
            <a:avLst/>
          </a:prstGeom>
          <a:noFill/>
        </p:spPr>
        <p:txBody>
          <a:bodyPr wrap="square">
            <a:spAutoFit/>
          </a:bodyPr>
          <a:lstStyle/>
          <a:p>
            <a:r>
              <a:rPr lang="en-IN" sz="2400" b="1" dirty="0">
                <a:solidFill>
                  <a:srgbClr val="00B050"/>
                </a:solidFill>
              </a:rPr>
              <a:t>HARDNESS OF WATER</a:t>
            </a:r>
          </a:p>
        </p:txBody>
      </p:sp>
    </p:spTree>
    <p:extLst>
      <p:ext uri="{BB962C8B-B14F-4D97-AF65-F5344CB8AC3E}">
        <p14:creationId xmlns:p14="http://schemas.microsoft.com/office/powerpoint/2010/main" val="275448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21" name="Object 4"/>
          <p:cNvGraphicFramePr>
            <a:graphicFrameLocks noChangeAspect="1"/>
          </p:cNvGraphicFramePr>
          <p:nvPr>
            <p:extLst>
              <p:ext uri="{D42A27DB-BD31-4B8C-83A1-F6EECF244321}">
                <p14:modId xmlns:p14="http://schemas.microsoft.com/office/powerpoint/2010/main" val="1639202676"/>
              </p:ext>
            </p:extLst>
          </p:nvPr>
        </p:nvGraphicFramePr>
        <p:xfrm>
          <a:off x="1862087" y="2817920"/>
          <a:ext cx="8345906" cy="2046688"/>
        </p:xfrm>
        <a:graphic>
          <a:graphicData uri="http://schemas.openxmlformats.org/presentationml/2006/ole">
            <mc:AlternateContent xmlns:mc="http://schemas.openxmlformats.org/markup-compatibility/2006">
              <mc:Choice xmlns:v="urn:schemas-microsoft-com:vml" Requires="v">
                <p:oleObj name="CS ChemDraw Drawing" r:id="rId2" imgW="5105400" imgH="1171956" progId="ChemDraw.Document.6.0">
                  <p:embed/>
                </p:oleObj>
              </mc:Choice>
              <mc:Fallback>
                <p:oleObj name="CS ChemDraw Drawing" r:id="rId2" imgW="5105400" imgH="1171956" progId="ChemDraw.Document.6.0">
                  <p:embed/>
                  <p:pic>
                    <p:nvPicPr>
                      <p:cNvPr id="6042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087" y="2817920"/>
                        <a:ext cx="8345906" cy="2046688"/>
                      </a:xfrm>
                      <a:prstGeom prst="rect">
                        <a:avLst/>
                      </a:prstGeom>
                      <a:noFill/>
                    </p:spPr>
                  </p:pic>
                </p:oleObj>
              </mc:Fallback>
            </mc:AlternateContent>
          </a:graphicData>
        </a:graphic>
      </p:graphicFrame>
      <p:sp>
        <p:nvSpPr>
          <p:cNvPr id="60422" name="TextBox 6"/>
          <p:cNvSpPr txBox="1">
            <a:spLocks noChangeArrowheads="1"/>
          </p:cNvSpPr>
          <p:nvPr/>
        </p:nvSpPr>
        <p:spPr bwMode="auto">
          <a:xfrm>
            <a:off x="384048" y="5223808"/>
            <a:ext cx="11301984" cy="958660"/>
          </a:xfrm>
          <a:prstGeom prst="rect">
            <a:avLst/>
          </a:prstGeom>
          <a:noFill/>
          <a:ln w="9525">
            <a:noFill/>
            <a:miter lim="800000"/>
            <a:headEnd/>
            <a:tailEnd/>
          </a:ln>
        </p:spPr>
        <p:txBody>
          <a:bodyPr wrap="square">
            <a:spAutoFit/>
          </a:bodyPr>
          <a:lstStyle/>
          <a:p>
            <a:pPr>
              <a:lnSpc>
                <a:spcPct val="150000"/>
              </a:lnSpc>
            </a:pPr>
            <a:r>
              <a:rPr lang="en-US" altLang="en-US" sz="2000" b="1" dirty="0">
                <a:solidFill>
                  <a:srgbClr val="005400"/>
                </a:solidFill>
              </a:rPr>
              <a:t>Other metal ions such as Fe</a:t>
            </a:r>
            <a:r>
              <a:rPr lang="en-US" altLang="en-US" sz="2000" b="1" baseline="30000" dirty="0">
                <a:solidFill>
                  <a:srgbClr val="005400"/>
                </a:solidFill>
              </a:rPr>
              <a:t>2+</a:t>
            </a:r>
            <a:r>
              <a:rPr lang="en-US" altLang="en-US" sz="2000" b="1" dirty="0">
                <a:solidFill>
                  <a:srgbClr val="005400"/>
                </a:solidFill>
              </a:rPr>
              <a:t>, Mn</a:t>
            </a:r>
            <a:r>
              <a:rPr lang="en-US" altLang="en-US" sz="2000" b="1" baseline="30000" dirty="0">
                <a:solidFill>
                  <a:srgbClr val="005400"/>
                </a:solidFill>
              </a:rPr>
              <a:t>2+</a:t>
            </a:r>
            <a:r>
              <a:rPr lang="en-US" altLang="en-US" sz="2000" b="1" dirty="0">
                <a:solidFill>
                  <a:srgbClr val="005400"/>
                </a:solidFill>
              </a:rPr>
              <a:t>, Al</a:t>
            </a:r>
            <a:r>
              <a:rPr lang="en-US" altLang="en-US" sz="2000" b="1" baseline="30000" dirty="0">
                <a:solidFill>
                  <a:srgbClr val="005400"/>
                </a:solidFill>
              </a:rPr>
              <a:t>3+</a:t>
            </a:r>
            <a:r>
              <a:rPr lang="en-US" altLang="en-US" sz="2000" b="1" dirty="0">
                <a:solidFill>
                  <a:srgbClr val="005400"/>
                </a:solidFill>
              </a:rPr>
              <a:t> also contributing to hardness, but they are present in water only in traces </a:t>
            </a:r>
          </a:p>
        </p:txBody>
      </p:sp>
      <p:sp>
        <p:nvSpPr>
          <p:cNvPr id="7" name="TextBox 6">
            <a:extLst>
              <a:ext uri="{FF2B5EF4-FFF2-40B4-BE49-F238E27FC236}">
                <a16:creationId xmlns:a16="http://schemas.microsoft.com/office/drawing/2014/main" id="{CF9F5FED-787F-49F9-B165-9A1ED1941C0F}"/>
              </a:ext>
            </a:extLst>
          </p:cNvPr>
          <p:cNvSpPr txBox="1"/>
          <p:nvPr/>
        </p:nvSpPr>
        <p:spPr>
          <a:xfrm>
            <a:off x="637032" y="1080096"/>
            <a:ext cx="11177016" cy="1631216"/>
          </a:xfrm>
          <a:prstGeom prst="rect">
            <a:avLst/>
          </a:prstGeom>
          <a:noFill/>
        </p:spPr>
        <p:txBody>
          <a:bodyPr wrap="square">
            <a:spAutoFit/>
          </a:bodyPr>
          <a:lstStyle/>
          <a:p>
            <a:pPr marL="342900" indent="-342900" algn="just">
              <a:buFont typeface="Arial" panose="020B0604020202020204" pitchFamily="34" charset="0"/>
              <a:buChar char="•"/>
            </a:pPr>
            <a:r>
              <a:rPr lang="en-IN" sz="2000" b="1" dirty="0"/>
              <a:t>Contains bicarbonates, chlorides and sulphates of calcium &amp; magnesium.</a:t>
            </a:r>
          </a:p>
          <a:p>
            <a:pPr marL="342900" indent="-342900" algn="just">
              <a:buFont typeface="Arial" panose="020B0604020202020204" pitchFamily="34" charset="0"/>
              <a:buChar char="•"/>
            </a:pPr>
            <a:r>
              <a:rPr lang="en-IN" sz="2000" b="1" dirty="0"/>
              <a:t>Does not produce good lather or foam with soap.</a:t>
            </a:r>
          </a:p>
          <a:p>
            <a:pPr marL="342900" indent="-342900" algn="just">
              <a:buFont typeface="Arial" panose="020B0604020202020204" pitchFamily="34" charset="0"/>
              <a:buChar char="•"/>
            </a:pPr>
            <a:r>
              <a:rPr lang="en-IN" sz="2000" b="1" dirty="0"/>
              <a:t>Consume more soap [</a:t>
            </a:r>
            <a:r>
              <a:rPr lang="en-US" altLang="en-US" sz="2000" dirty="0">
                <a:latin typeface="Calibri"/>
                <a:cs typeface="Calibri"/>
              </a:rPr>
              <a:t>The soap consists of sodium salts of fatty acids such as </a:t>
            </a:r>
            <a:r>
              <a:rPr lang="en-US" altLang="en-US" sz="2000" dirty="0">
                <a:solidFill>
                  <a:srgbClr val="C00000"/>
                </a:solidFill>
                <a:latin typeface="Calibri"/>
                <a:cs typeface="Calibri"/>
              </a:rPr>
              <a:t>Oleic acid, Palmitic acid </a:t>
            </a:r>
            <a:r>
              <a:rPr lang="en-US" altLang="en-US" sz="2000" dirty="0">
                <a:latin typeface="Calibri"/>
                <a:cs typeface="Calibri"/>
              </a:rPr>
              <a:t>and </a:t>
            </a:r>
            <a:r>
              <a:rPr lang="en-US" altLang="en-US" sz="2000" dirty="0">
                <a:solidFill>
                  <a:srgbClr val="C00000"/>
                </a:solidFill>
                <a:latin typeface="Calibri"/>
                <a:cs typeface="Calibri"/>
              </a:rPr>
              <a:t>stearic acid</a:t>
            </a:r>
            <a:r>
              <a:rPr lang="en-US" altLang="en-US" sz="2000" dirty="0">
                <a:latin typeface="Calibri"/>
                <a:cs typeface="Calibri"/>
              </a:rPr>
              <a:t>. Calcium and magnesium react with the sodium salts of long chain fatty acid present in the  soap to form insoluble scums of calcium and magnesium soaps]</a:t>
            </a:r>
            <a:endParaRPr lang="en-US" altLang="en-US" sz="2000" b="1" dirty="0">
              <a:latin typeface="Calibri"/>
              <a:cs typeface="Calibri"/>
            </a:endParaRPr>
          </a:p>
        </p:txBody>
      </p:sp>
      <p:sp>
        <p:nvSpPr>
          <p:cNvPr id="9" name="TextBox 8">
            <a:extLst>
              <a:ext uri="{FF2B5EF4-FFF2-40B4-BE49-F238E27FC236}">
                <a16:creationId xmlns:a16="http://schemas.microsoft.com/office/drawing/2014/main" id="{EC5509B8-8D0A-4FCC-8DCB-4FA55858454A}"/>
              </a:ext>
            </a:extLst>
          </p:cNvPr>
          <p:cNvSpPr txBox="1"/>
          <p:nvPr/>
        </p:nvSpPr>
        <p:spPr>
          <a:xfrm>
            <a:off x="4192138" y="152401"/>
            <a:ext cx="4647062" cy="461665"/>
          </a:xfrm>
          <a:prstGeom prst="rect">
            <a:avLst/>
          </a:prstGeom>
          <a:noFill/>
        </p:spPr>
        <p:txBody>
          <a:bodyPr wrap="square">
            <a:spAutoFit/>
          </a:bodyPr>
          <a:lstStyle/>
          <a:p>
            <a:r>
              <a:rPr lang="en-IN" sz="2400" b="1" dirty="0">
                <a:solidFill>
                  <a:srgbClr val="00B050"/>
                </a:solidFill>
              </a:rPr>
              <a:t>HARDNESS OF WATER</a:t>
            </a:r>
          </a:p>
        </p:txBody>
      </p:sp>
      <p:sp>
        <p:nvSpPr>
          <p:cNvPr id="3" name="TextBox 2">
            <a:extLst>
              <a:ext uri="{FF2B5EF4-FFF2-40B4-BE49-F238E27FC236}">
                <a16:creationId xmlns:a16="http://schemas.microsoft.com/office/drawing/2014/main" id="{726E2000-EB19-8DFE-27A8-2024B1ED8E1E}"/>
              </a:ext>
            </a:extLst>
          </p:cNvPr>
          <p:cNvSpPr txBox="1"/>
          <p:nvPr/>
        </p:nvSpPr>
        <p:spPr>
          <a:xfrm>
            <a:off x="587502" y="556876"/>
            <a:ext cx="6094476" cy="523220"/>
          </a:xfrm>
          <a:prstGeom prst="rect">
            <a:avLst/>
          </a:prstGeom>
          <a:noFill/>
        </p:spPr>
        <p:txBody>
          <a:bodyPr wrap="square">
            <a:spAutoFit/>
          </a:bodyPr>
          <a:lstStyle/>
          <a:p>
            <a:pPr algn="just"/>
            <a:r>
              <a:rPr lang="en-IN" sz="2800" b="1" u="sng" dirty="0">
                <a:solidFill>
                  <a:srgbClr val="FFC000"/>
                </a:solidFill>
              </a:rPr>
              <a:t>Hard Water</a:t>
            </a:r>
          </a:p>
        </p:txBody>
      </p:sp>
    </p:spTree>
    <p:extLst>
      <p:ext uri="{BB962C8B-B14F-4D97-AF65-F5344CB8AC3E}">
        <p14:creationId xmlns:p14="http://schemas.microsoft.com/office/powerpoint/2010/main" val="2642853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4860" y="3561897"/>
            <a:ext cx="5311140" cy="1200329"/>
          </a:xfrm>
          <a:prstGeom prst="rect">
            <a:avLst/>
          </a:prstGeom>
        </p:spPr>
        <p:txBody>
          <a:bodyPr wrap="square">
            <a:spAutoFit/>
          </a:bodyPr>
          <a:lstStyle/>
          <a:p>
            <a:pPr algn="ctr"/>
            <a:r>
              <a:rPr lang="en-IN" sz="2400" b="1" dirty="0">
                <a:solidFill>
                  <a:srgbClr val="C00000"/>
                </a:solidFill>
              </a:rPr>
              <a:t>(1) Temporary Hardness</a:t>
            </a:r>
          </a:p>
          <a:p>
            <a:pPr algn="ctr"/>
            <a:r>
              <a:rPr lang="en-IN" sz="2400" dirty="0"/>
              <a:t>Calcium Bicarbonate Ca(HCO</a:t>
            </a:r>
            <a:r>
              <a:rPr lang="en-IN" sz="2400" baseline="-25000" dirty="0"/>
              <a:t>3</a:t>
            </a:r>
            <a:r>
              <a:rPr lang="en-IN" sz="2400" dirty="0"/>
              <a:t>)</a:t>
            </a:r>
            <a:r>
              <a:rPr lang="en-IN" sz="2400" baseline="-25000" dirty="0"/>
              <a:t>2</a:t>
            </a:r>
            <a:r>
              <a:rPr lang="en-IN" sz="2400" dirty="0"/>
              <a:t>       </a:t>
            </a:r>
          </a:p>
          <a:p>
            <a:pPr algn="ctr"/>
            <a:r>
              <a:rPr lang="en-IN" sz="2400" dirty="0"/>
              <a:t>Magnesium Bicarbonate Mg(HCO</a:t>
            </a:r>
            <a:r>
              <a:rPr lang="en-IN" sz="2400" baseline="-25000" dirty="0"/>
              <a:t>3</a:t>
            </a:r>
            <a:r>
              <a:rPr lang="en-IN" sz="2400" dirty="0"/>
              <a:t>)</a:t>
            </a:r>
            <a:r>
              <a:rPr lang="en-IN" sz="2400" baseline="-25000" dirty="0"/>
              <a:t>2</a:t>
            </a:r>
            <a:r>
              <a:rPr lang="en-IN" sz="2400" dirty="0"/>
              <a:t> </a:t>
            </a:r>
          </a:p>
        </p:txBody>
      </p:sp>
      <p:sp>
        <p:nvSpPr>
          <p:cNvPr id="3" name="TextBox 2">
            <a:extLst>
              <a:ext uri="{FF2B5EF4-FFF2-40B4-BE49-F238E27FC236}">
                <a16:creationId xmlns:a16="http://schemas.microsoft.com/office/drawing/2014/main" id="{6A3D7C57-81D2-6BDE-7FE8-BE6AF458A4C8}"/>
              </a:ext>
            </a:extLst>
          </p:cNvPr>
          <p:cNvSpPr txBox="1"/>
          <p:nvPr/>
        </p:nvSpPr>
        <p:spPr>
          <a:xfrm>
            <a:off x="1866900" y="0"/>
            <a:ext cx="8657082" cy="646331"/>
          </a:xfrm>
          <a:prstGeom prst="rect">
            <a:avLst/>
          </a:prstGeom>
          <a:noFill/>
        </p:spPr>
        <p:txBody>
          <a:bodyPr wrap="square">
            <a:spAutoFit/>
          </a:bodyPr>
          <a:lstStyle/>
          <a:p>
            <a:pPr algn="ctr"/>
            <a:r>
              <a:rPr lang="en-IN" sz="3600" b="1" dirty="0">
                <a:solidFill>
                  <a:srgbClr val="C00000"/>
                </a:solidFill>
              </a:rPr>
              <a:t>Hardness of water</a:t>
            </a:r>
          </a:p>
        </p:txBody>
      </p:sp>
      <p:pic>
        <p:nvPicPr>
          <p:cNvPr id="1026" name="Picture 2" descr="Hardness of Water - Causes, Types ...">
            <a:extLst>
              <a:ext uri="{FF2B5EF4-FFF2-40B4-BE49-F238E27FC236}">
                <a16:creationId xmlns:a16="http://schemas.microsoft.com/office/drawing/2014/main" id="{184FCF33-EDFF-77C3-663F-34E46013F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497" y="646331"/>
            <a:ext cx="9418112" cy="2869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4425F7-83D4-65D4-D455-CB7B63EBE919}"/>
              </a:ext>
            </a:extLst>
          </p:cNvPr>
          <p:cNvSpPr txBox="1"/>
          <p:nvPr/>
        </p:nvSpPr>
        <p:spPr>
          <a:xfrm>
            <a:off x="7171182" y="3429000"/>
            <a:ext cx="4514850" cy="1938992"/>
          </a:xfrm>
          <a:prstGeom prst="rect">
            <a:avLst/>
          </a:prstGeom>
          <a:noFill/>
        </p:spPr>
        <p:txBody>
          <a:bodyPr wrap="square">
            <a:spAutoFit/>
          </a:bodyPr>
          <a:lstStyle/>
          <a:p>
            <a:pPr algn="ctr"/>
            <a:r>
              <a:rPr lang="en-IN" sz="2400" b="1" dirty="0">
                <a:solidFill>
                  <a:srgbClr val="C00000"/>
                </a:solidFill>
              </a:rPr>
              <a:t>(2) Permanent Hardness</a:t>
            </a:r>
            <a:endParaRPr lang="en-IN" sz="2400" dirty="0"/>
          </a:p>
          <a:p>
            <a:pPr algn="ctr"/>
            <a:r>
              <a:rPr lang="en-IN" sz="2400" dirty="0"/>
              <a:t>Calcium Chloride (CaCl</a:t>
            </a:r>
            <a:r>
              <a:rPr lang="en-IN" sz="2400" baseline="-25000" dirty="0"/>
              <a:t>2</a:t>
            </a:r>
            <a:r>
              <a:rPr lang="en-IN" sz="2400" dirty="0"/>
              <a:t>)</a:t>
            </a:r>
            <a:endParaRPr lang="en-IN" sz="2400" dirty="0">
              <a:solidFill>
                <a:srgbClr val="114FFB"/>
              </a:solidFill>
            </a:endParaRPr>
          </a:p>
          <a:p>
            <a:pPr algn="ctr"/>
            <a:r>
              <a:rPr lang="en-IN" sz="2400" dirty="0"/>
              <a:t>Magnesium Chloride (MgCl</a:t>
            </a:r>
            <a:r>
              <a:rPr lang="en-IN" sz="2400" baseline="-25000" dirty="0"/>
              <a:t>2</a:t>
            </a:r>
            <a:r>
              <a:rPr lang="en-IN" sz="2400" dirty="0"/>
              <a:t>)</a:t>
            </a:r>
          </a:p>
          <a:p>
            <a:pPr algn="ctr"/>
            <a:r>
              <a:rPr lang="it-IT" sz="2400" dirty="0"/>
              <a:t>Calcium Sulphate (CaSO</a:t>
            </a:r>
            <a:r>
              <a:rPr lang="it-IT" sz="2400" baseline="-25000" dirty="0"/>
              <a:t>4</a:t>
            </a:r>
            <a:r>
              <a:rPr lang="it-IT" sz="2400" dirty="0"/>
              <a:t>)</a:t>
            </a:r>
          </a:p>
          <a:p>
            <a:pPr algn="ctr"/>
            <a:r>
              <a:rPr lang="en-IN" sz="2400" dirty="0"/>
              <a:t>Magnesium Sulphate (MgSO</a:t>
            </a:r>
            <a:r>
              <a:rPr lang="en-IN" sz="2400" baseline="-25000" dirty="0"/>
              <a:t>4</a:t>
            </a:r>
            <a:r>
              <a:rPr lang="en-IN" sz="2400" dirty="0"/>
              <a:t>)</a:t>
            </a:r>
          </a:p>
        </p:txBody>
      </p:sp>
    </p:spTree>
    <p:extLst>
      <p:ext uri="{BB962C8B-B14F-4D97-AF65-F5344CB8AC3E}">
        <p14:creationId xmlns:p14="http://schemas.microsoft.com/office/powerpoint/2010/main" val="340076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C9063833-A65F-4B41-A868-A0C487CF181F}"/>
              </a:ext>
            </a:extLst>
          </p:cNvPr>
          <p:cNvSpPr txBox="1"/>
          <p:nvPr/>
        </p:nvSpPr>
        <p:spPr>
          <a:xfrm>
            <a:off x="3895868" y="0"/>
            <a:ext cx="4653772" cy="489810"/>
          </a:xfrm>
          <a:prstGeom prst="rect">
            <a:avLst/>
          </a:prstGeom>
          <a:noFill/>
          <a:ln>
            <a:noFill/>
          </a:ln>
        </p:spPr>
        <p:txBody>
          <a:bodyPr lIns="91425" tIns="91425" rIns="91425" bIns="91425" anchor="t" anchorCtr="0">
            <a:noAutofit/>
          </a:bodyPr>
          <a:lstStyle/>
          <a:p>
            <a:r>
              <a:rPr lang="en-US" sz="3200"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Hardness of water</a:t>
            </a:r>
          </a:p>
          <a:p>
            <a:endParaRPr lang="en-US" sz="3200"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Shape 69">
            <a:extLst>
              <a:ext uri="{FF2B5EF4-FFF2-40B4-BE49-F238E27FC236}">
                <a16:creationId xmlns:a16="http://schemas.microsoft.com/office/drawing/2014/main" id="{9056BCCB-6AE0-4330-802B-E639CC3C2BF2}"/>
              </a:ext>
            </a:extLst>
          </p:cNvPr>
          <p:cNvSpPr txBox="1"/>
          <p:nvPr/>
        </p:nvSpPr>
        <p:spPr>
          <a:xfrm>
            <a:off x="324650" y="558373"/>
            <a:ext cx="11542700" cy="489810"/>
          </a:xfrm>
          <a:prstGeom prst="rect">
            <a:avLst/>
          </a:prstGeom>
          <a:noFill/>
          <a:ln>
            <a:noFill/>
          </a:ln>
        </p:spPr>
        <p:txBody>
          <a:bodyPr lIns="91425" tIns="91425" rIns="91425" bIns="91425" anchor="t" anchorCtr="0">
            <a:noAutofit/>
          </a:bodyPr>
          <a:lstStyle/>
          <a:p>
            <a:r>
              <a:rPr lang="en-US" sz="2800" b="1" dirty="0">
                <a:solidFill>
                  <a:srgbClr val="7030A0"/>
                </a:solidFill>
                <a:latin typeface="Calibri" panose="020F0502020204030204" pitchFamily="34" charset="0"/>
                <a:ea typeface="Calibri" panose="020F0502020204030204" pitchFamily="34" charset="0"/>
                <a:cs typeface="Times New Roman" panose="02020603050405020304" pitchFamily="18" charset="0"/>
              </a:rPr>
              <a:t>Temporary hardness (Carbonate Hardness) and the Process of Removal</a:t>
            </a:r>
            <a:endParaRPr lang="en-US" sz="2800" dirty="0">
              <a:solidFill>
                <a:srgbClr val="7030A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FAA5784-1B18-4B29-98DD-2251D22E4F5D}"/>
                  </a:ext>
                </a:extLst>
              </p:cNvPr>
              <p:cNvSpPr/>
              <p:nvPr/>
            </p:nvSpPr>
            <p:spPr>
              <a:xfrm>
                <a:off x="324650" y="1118209"/>
                <a:ext cx="11441252" cy="3282052"/>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Temporary hardness is caused by the presences of dissolved </a:t>
                </a:r>
                <a:r>
                  <a:rPr lang="en-US"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bicarbonate</a:t>
                </a:r>
                <a:r>
                  <a:rPr lang="en-US"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of </a:t>
                </a:r>
                <a:r>
                  <a:rPr lang="en-US"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calcium</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a:t>
                </a:r>
                <a:r>
                  <a:rPr lang="en-US"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magnesium</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a:t>
                </a:r>
                <a:r>
                  <a:rPr lang="en-US" sz="2000" dirty="0">
                    <a:latin typeface="Calibri" panose="020F0502020204030204" pitchFamily="34" charset="0"/>
                    <a:ea typeface="Calibri" panose="020F0502020204030204" pitchFamily="34" charset="0"/>
                    <a:cs typeface="Times New Roman" panose="02020603050405020304" pitchFamily="18" charset="0"/>
                  </a:rPr>
                  <a:t>other heavy metal ions </a:t>
                </a:r>
              </a:p>
              <a:p>
                <a:pPr marL="342900" lvl="0" indent="-342900" algn="just">
                  <a:spcAft>
                    <a:spcPts val="120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Temporary hardness is mostly </a:t>
                </a:r>
                <a:r>
                  <a:rPr lang="en-US" altLang="en-US" sz="2000" dirty="0">
                    <a:solidFill>
                      <a:srgbClr val="C00000"/>
                    </a:solidFill>
                    <a:latin typeface="Calibri" panose="020F0502020204030204" pitchFamily="34" charset="0"/>
                    <a:cs typeface="Calibri" panose="020F0502020204030204" pitchFamily="34" charset="0"/>
                  </a:rPr>
                  <a:t>destroyed by boiling</a:t>
                </a:r>
                <a:r>
                  <a:rPr lang="en-US" altLang="en-US" sz="2000" dirty="0">
                    <a:latin typeface="Calibri" panose="020F0502020204030204" pitchFamily="34" charset="0"/>
                    <a:cs typeface="Calibri" panose="020F0502020204030204" pitchFamily="34" charset="0"/>
                  </a:rPr>
                  <a:t> of water</a:t>
                </a:r>
              </a:p>
              <a:p>
                <a:pPr marL="342900" lvl="0" indent="-342900" algn="just">
                  <a:spcAft>
                    <a:spcPts val="1200"/>
                  </a:spcAft>
                  <a:buFont typeface="Arial" panose="020B0604020202020204" pitchFamily="34" charset="0"/>
                  <a:buChar char="•"/>
                </a:pPr>
                <a:r>
                  <a:rPr lang="en-US" altLang="en-US" sz="2000" dirty="0">
                    <a:latin typeface="Calibri" panose="020F0502020204030204" pitchFamily="34" charset="0"/>
                    <a:cs typeface="Calibri" panose="020F0502020204030204" pitchFamily="34" charset="0"/>
                  </a:rPr>
                  <a:t>During boiling bicarbonate are decomposed in the </a:t>
                </a:r>
                <a:r>
                  <a:rPr lang="en-US" altLang="en-US" sz="2000" dirty="0">
                    <a:solidFill>
                      <a:srgbClr val="C00000"/>
                    </a:solidFill>
                    <a:latin typeface="Calibri" panose="020F0502020204030204" pitchFamily="34" charset="0"/>
                    <a:cs typeface="Calibri" panose="020F0502020204030204" pitchFamily="34" charset="0"/>
                  </a:rPr>
                  <a:t>insoluble carbonate and hydroxide</a:t>
                </a:r>
                <a:r>
                  <a:rPr lang="en-US" altLang="en-US" sz="2000" dirty="0">
                    <a:latin typeface="Calibri" panose="020F0502020204030204" pitchFamily="34" charset="0"/>
                    <a:cs typeface="Calibri" panose="020F0502020204030204" pitchFamily="34" charset="0"/>
                  </a:rPr>
                  <a:t>, which are deposited at the bottom of the vessel</a:t>
                </a:r>
              </a:p>
              <a:p>
                <a:pPr lvl="0" algn="just">
                  <a:spcAft>
                    <a:spcPts val="1200"/>
                  </a:spcAft>
                </a:pPr>
                <a14:m>
                  <m:oMathPara xmlns:m="http://schemas.openxmlformats.org/officeDocument/2006/math">
                    <m:oMathParaPr>
                      <m:jc m:val="centerGroup"/>
                    </m:oMathParaPr>
                    <m:oMath xmlns:m="http://schemas.openxmlformats.org/officeDocument/2006/math">
                      <m:r>
                        <a:rPr lang="en-US" altLang="en-US" sz="2000" i="1" dirty="0" smtClean="0">
                          <a:latin typeface="Cambria Math" panose="02040503050406030204" pitchFamily="18" charset="0"/>
                          <a:cs typeface="Calibri" panose="020F0502020204030204" pitchFamily="34" charset="0"/>
                        </a:rPr>
                        <m:t>𝐶𝑎</m:t>
                      </m:r>
                      <m:sSub>
                        <m:sSubPr>
                          <m:ctrlPr>
                            <a:rPr lang="en-US" altLang="en-US" sz="2000" b="0" i="1" dirty="0" smtClean="0">
                              <a:latin typeface="Cambria Math" panose="02040503050406030204" pitchFamily="18" charset="0"/>
                              <a:cs typeface="Calibri" panose="020F0502020204030204" pitchFamily="34" charset="0"/>
                            </a:rPr>
                          </m:ctrlPr>
                        </m:sSubPr>
                        <m:e>
                          <m:d>
                            <m:dPr>
                              <m:ctrlPr>
                                <a:rPr lang="en-US" altLang="en-US" sz="2000" i="1" dirty="0" smtClean="0">
                                  <a:latin typeface="Cambria Math" panose="02040503050406030204" pitchFamily="18" charset="0"/>
                                  <a:cs typeface="Calibri" panose="020F0502020204030204" pitchFamily="34" charset="0"/>
                                </a:rPr>
                              </m:ctrlPr>
                            </m:dPr>
                            <m:e>
                              <m:r>
                                <a:rPr lang="en-US" altLang="en-US" sz="2000" i="1" dirty="0" smtClean="0">
                                  <a:latin typeface="Cambria Math" panose="02040503050406030204" pitchFamily="18" charset="0"/>
                                  <a:cs typeface="Calibri" panose="020F0502020204030204" pitchFamily="34" charset="0"/>
                                </a:rPr>
                                <m:t>𝐻𝐶</m:t>
                              </m:r>
                              <m:sSub>
                                <m:sSubPr>
                                  <m:ctrlPr>
                                    <a:rPr lang="en-US" altLang="en-US" sz="2000" b="0" i="1" dirty="0" smtClean="0">
                                      <a:latin typeface="Cambria Math" panose="02040503050406030204" pitchFamily="18" charset="0"/>
                                      <a:cs typeface="Calibri" panose="020F0502020204030204" pitchFamily="34" charset="0"/>
                                    </a:rPr>
                                  </m:ctrlPr>
                                </m:sSubPr>
                                <m:e>
                                  <m:r>
                                    <a:rPr lang="en-US" altLang="en-US" sz="2000" i="1" dirty="0" smtClean="0">
                                      <a:latin typeface="Cambria Math" panose="02040503050406030204" pitchFamily="18" charset="0"/>
                                      <a:cs typeface="Calibri" panose="020F0502020204030204" pitchFamily="34" charset="0"/>
                                    </a:rPr>
                                    <m:t>𝑂</m:t>
                                  </m:r>
                                </m:e>
                                <m:sub>
                                  <m:r>
                                    <a:rPr lang="en-US" altLang="en-US" sz="2000" i="1" dirty="0" smtClean="0">
                                      <a:latin typeface="Cambria Math" panose="02040503050406030204" pitchFamily="18" charset="0"/>
                                      <a:cs typeface="Calibri" panose="020F0502020204030204" pitchFamily="34" charset="0"/>
                                    </a:rPr>
                                    <m:t>3</m:t>
                                  </m:r>
                                </m:sub>
                              </m:sSub>
                            </m:e>
                          </m:d>
                        </m:e>
                        <m:sub>
                          <m:r>
                            <a:rPr lang="en-US" altLang="en-US" sz="2000" i="1" dirty="0" smtClean="0">
                              <a:latin typeface="Cambria Math" panose="02040503050406030204" pitchFamily="18" charset="0"/>
                              <a:cs typeface="Calibri" panose="020F0502020204030204" pitchFamily="34" charset="0"/>
                            </a:rPr>
                            <m:t>2</m:t>
                          </m:r>
                        </m:sub>
                      </m:sSub>
                      <m:groupChr>
                        <m:groupChrPr>
                          <m:chr m:val="→"/>
                          <m:vertJc m:val="bot"/>
                          <m:ctrlPr>
                            <a:rPr lang="en-US" altLang="en-US" sz="2000" i="1" dirty="0" smtClean="0">
                              <a:latin typeface="Cambria Math" panose="02040503050406030204" pitchFamily="18" charset="0"/>
                              <a:cs typeface="Calibri" panose="020F0502020204030204" pitchFamily="34" charset="0"/>
                            </a:rPr>
                          </m:ctrlPr>
                        </m:groupChrPr>
                        <m:e>
                          <m:r>
                            <m:rPr>
                              <m:brk m:alnAt="2"/>
                            </m:rPr>
                            <a:rPr lang="en-US" altLang="en-US" sz="2000" b="0" i="1" dirty="0" smtClean="0">
                              <a:latin typeface="Cambria Math" panose="02040503050406030204" pitchFamily="18" charset="0"/>
                              <a:cs typeface="Calibri" panose="020F0502020204030204" pitchFamily="34" charset="0"/>
                            </a:rPr>
                            <m:t>h</m:t>
                          </m:r>
                          <m:r>
                            <a:rPr lang="en-US" altLang="en-US" sz="2000" b="0" i="1" dirty="0" smtClean="0">
                              <a:latin typeface="Cambria Math" panose="02040503050406030204" pitchFamily="18" charset="0"/>
                              <a:cs typeface="Calibri" panose="020F0502020204030204" pitchFamily="34" charset="0"/>
                            </a:rPr>
                            <m:t>𝑒𝑎𝑡</m:t>
                          </m:r>
                        </m:e>
                      </m:groupChr>
                      <m:r>
                        <a:rPr lang="en-US" altLang="en-US" sz="2000" b="0" i="1" dirty="0" smtClean="0">
                          <a:latin typeface="Cambria Math" panose="02040503050406030204" pitchFamily="18" charset="0"/>
                          <a:cs typeface="Calibri" panose="020F0502020204030204" pitchFamily="34" charset="0"/>
                        </a:rPr>
                        <m:t>𝐶𝑎𝐶</m:t>
                      </m:r>
                      <m:sSub>
                        <m:sSubPr>
                          <m:ctrlPr>
                            <a:rPr lang="en-US" altLang="en-US" sz="2000" b="0" i="1" dirty="0" smtClean="0">
                              <a:latin typeface="Cambria Math" panose="02040503050406030204" pitchFamily="18" charset="0"/>
                              <a:cs typeface="Calibri" panose="020F0502020204030204" pitchFamily="34" charset="0"/>
                            </a:rPr>
                          </m:ctrlPr>
                        </m:sSubPr>
                        <m:e>
                          <m:r>
                            <a:rPr lang="en-US" altLang="en-US" sz="2000" b="0" i="1" dirty="0" smtClean="0">
                              <a:latin typeface="Cambria Math" panose="02040503050406030204" pitchFamily="18" charset="0"/>
                              <a:cs typeface="Calibri" panose="020F0502020204030204" pitchFamily="34" charset="0"/>
                            </a:rPr>
                            <m:t>𝑂</m:t>
                          </m:r>
                        </m:e>
                        <m:sub>
                          <m:r>
                            <a:rPr lang="en-US" altLang="en-US" sz="2000" b="0" i="1" dirty="0" smtClean="0">
                              <a:latin typeface="Cambria Math" panose="02040503050406030204" pitchFamily="18" charset="0"/>
                              <a:cs typeface="Calibri" panose="020F0502020204030204" pitchFamily="34" charset="0"/>
                            </a:rPr>
                            <m:t>3</m:t>
                          </m:r>
                        </m:sub>
                      </m:sSub>
                      <m:r>
                        <a:rPr lang="en-US" altLang="en-US" sz="2000" b="0" i="1" dirty="0" smtClean="0">
                          <a:latin typeface="Cambria Math" panose="02040503050406030204" pitchFamily="18" charset="0"/>
                          <a:cs typeface="Calibri" panose="020F0502020204030204" pitchFamily="34" charset="0"/>
                        </a:rPr>
                        <m:t>+</m:t>
                      </m:r>
                      <m:r>
                        <a:rPr lang="en-US" altLang="en-US" sz="2000" b="0" i="1" dirty="0" smtClean="0">
                          <a:latin typeface="Cambria Math" panose="02040503050406030204" pitchFamily="18" charset="0"/>
                          <a:cs typeface="Calibri" panose="020F0502020204030204" pitchFamily="34" charset="0"/>
                        </a:rPr>
                        <m:t>𝐶</m:t>
                      </m:r>
                      <m:sSub>
                        <m:sSubPr>
                          <m:ctrlPr>
                            <a:rPr lang="en-US" altLang="en-US" sz="2000" b="0" i="1" dirty="0" smtClean="0">
                              <a:latin typeface="Cambria Math" panose="02040503050406030204" pitchFamily="18" charset="0"/>
                              <a:cs typeface="Calibri" panose="020F0502020204030204" pitchFamily="34" charset="0"/>
                            </a:rPr>
                          </m:ctrlPr>
                        </m:sSubPr>
                        <m:e>
                          <m:r>
                            <a:rPr lang="en-US" altLang="en-US" sz="2000" b="0" i="1" dirty="0" smtClean="0">
                              <a:latin typeface="Cambria Math" panose="02040503050406030204" pitchFamily="18" charset="0"/>
                              <a:cs typeface="Calibri" panose="020F0502020204030204" pitchFamily="34" charset="0"/>
                            </a:rPr>
                            <m:t>𝑂</m:t>
                          </m:r>
                        </m:e>
                        <m:sub>
                          <m:r>
                            <a:rPr lang="en-US" altLang="en-US" sz="2000" b="0" i="1" dirty="0" smtClean="0">
                              <a:latin typeface="Cambria Math" panose="02040503050406030204" pitchFamily="18" charset="0"/>
                              <a:cs typeface="Calibri" panose="020F0502020204030204" pitchFamily="34" charset="0"/>
                            </a:rPr>
                            <m:t>2</m:t>
                          </m:r>
                        </m:sub>
                      </m:sSub>
                      <m:r>
                        <a:rPr lang="en-US" altLang="en-US" sz="2000" b="0" i="1" dirty="0" smtClean="0">
                          <a:latin typeface="Cambria Math" panose="02040503050406030204" pitchFamily="18" charset="0"/>
                          <a:cs typeface="Calibri" panose="020F0502020204030204" pitchFamily="34" charset="0"/>
                        </a:rPr>
                        <m:t>+</m:t>
                      </m:r>
                      <m:sSub>
                        <m:sSubPr>
                          <m:ctrlPr>
                            <a:rPr lang="en-US" altLang="en-US" sz="2000" b="0" i="1" dirty="0" smtClean="0">
                              <a:latin typeface="Cambria Math" panose="02040503050406030204" pitchFamily="18" charset="0"/>
                              <a:cs typeface="Calibri" panose="020F0502020204030204" pitchFamily="34" charset="0"/>
                            </a:rPr>
                          </m:ctrlPr>
                        </m:sSubPr>
                        <m:e>
                          <m:r>
                            <a:rPr lang="en-US" altLang="en-US" sz="2000" b="0" i="1" dirty="0" smtClean="0">
                              <a:latin typeface="Cambria Math" panose="02040503050406030204" pitchFamily="18" charset="0"/>
                              <a:cs typeface="Calibri" panose="020F0502020204030204" pitchFamily="34" charset="0"/>
                            </a:rPr>
                            <m:t>𝐻</m:t>
                          </m:r>
                        </m:e>
                        <m:sub>
                          <m:r>
                            <a:rPr lang="en-US" altLang="en-US" sz="2000" b="0" i="1" dirty="0" smtClean="0">
                              <a:latin typeface="Cambria Math" panose="02040503050406030204" pitchFamily="18" charset="0"/>
                              <a:cs typeface="Calibri" panose="020F0502020204030204" pitchFamily="34" charset="0"/>
                            </a:rPr>
                            <m:t>2</m:t>
                          </m:r>
                        </m:sub>
                      </m:sSub>
                      <m:r>
                        <a:rPr lang="en-US" altLang="en-US" sz="2000" b="0" i="1" dirty="0" smtClean="0">
                          <a:latin typeface="Cambria Math" panose="02040503050406030204" pitchFamily="18" charset="0"/>
                          <a:cs typeface="Calibri" panose="020F0502020204030204" pitchFamily="34" charset="0"/>
                        </a:rPr>
                        <m:t>𝑂</m:t>
                      </m:r>
                    </m:oMath>
                  </m:oMathPara>
                </a14:m>
                <a:endParaRPr lang="en-US" altLang="en-US" sz="2000" b="0" i="1" dirty="0">
                  <a:latin typeface="Cambria Math" panose="02040503050406030204" pitchFamily="18" charset="0"/>
                  <a:cs typeface="Calibri" panose="020F0502020204030204" pitchFamily="34" charset="0"/>
                </a:endParaRPr>
              </a:p>
              <a:p>
                <a:pPr lvl="0" algn="just">
                  <a:spcAft>
                    <a:spcPts val="1200"/>
                  </a:spcAft>
                </a:pPr>
                <a14:m>
                  <m:oMathPara xmlns:m="http://schemas.openxmlformats.org/officeDocument/2006/math">
                    <m:oMathParaPr>
                      <m:jc m:val="centerGroup"/>
                    </m:oMathParaPr>
                    <m:oMath xmlns:m="http://schemas.openxmlformats.org/officeDocument/2006/math">
                      <m:r>
                        <a:rPr lang="en-US" altLang="en-US" sz="2000" i="1" dirty="0" smtClean="0">
                          <a:latin typeface="Cambria Math" panose="02040503050406030204" pitchFamily="18" charset="0"/>
                          <a:cs typeface="Calibri" panose="020F0502020204030204" pitchFamily="34" charset="0"/>
                        </a:rPr>
                        <m:t> </m:t>
                      </m:r>
                    </m:oMath>
                  </m:oMathPara>
                </a14:m>
                <a:endParaRPr lang="en-US" altLang="en-US" sz="2000" dirty="0">
                  <a:latin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endParaRPr lang="en-US"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BFAA5784-1B18-4B29-98DD-2251D22E4F5D}"/>
                  </a:ext>
                </a:extLst>
              </p:cNvPr>
              <p:cNvSpPr>
                <a:spLocks noRot="1" noChangeAspect="1" noMove="1" noResize="1" noEditPoints="1" noAdjustHandles="1" noChangeArrowheads="1" noChangeShapeType="1" noTextEdit="1"/>
              </p:cNvSpPr>
              <p:nvPr/>
            </p:nvSpPr>
            <p:spPr>
              <a:xfrm>
                <a:off x="324650" y="1118209"/>
                <a:ext cx="11441252" cy="3282052"/>
              </a:xfrm>
              <a:prstGeom prst="rect">
                <a:avLst/>
              </a:prstGeom>
              <a:blipFill>
                <a:blip r:embed="rId4"/>
                <a:stretch>
                  <a:fillRect l="-479" t="-928" r="-586"/>
                </a:stretch>
              </a:blipFill>
            </p:spPr>
            <p:txBody>
              <a:bodyPr/>
              <a:lstStyle/>
              <a:p>
                <a:r>
                  <a:rPr lang="en-US">
                    <a:noFill/>
                  </a:rPr>
                  <a:t> </a:t>
                </a:r>
              </a:p>
            </p:txBody>
          </p:sp>
        </mc:Fallback>
      </mc:AlternateContent>
      <p:sp>
        <p:nvSpPr>
          <p:cNvPr id="13" name="Shape 69">
            <a:extLst>
              <a:ext uri="{FF2B5EF4-FFF2-40B4-BE49-F238E27FC236}">
                <a16:creationId xmlns:a16="http://schemas.microsoft.com/office/drawing/2014/main" id="{678FDCCE-8421-4B93-845B-6799DDC9C3C4}"/>
              </a:ext>
            </a:extLst>
          </p:cNvPr>
          <p:cNvSpPr txBox="1"/>
          <p:nvPr/>
        </p:nvSpPr>
        <p:spPr>
          <a:xfrm>
            <a:off x="324650" y="4922879"/>
            <a:ext cx="8379600"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Permanent hardness (Non-carbonate Hardness)</a:t>
            </a:r>
          </a:p>
          <a:p>
            <a:endParaRPr lang="en-US"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022FA8DC-1728-4D87-937A-99DE31538EBF}"/>
              </a:ext>
            </a:extLst>
          </p:cNvPr>
          <p:cNvSpPr/>
          <p:nvPr/>
        </p:nvSpPr>
        <p:spPr>
          <a:xfrm>
            <a:off x="324650" y="5478003"/>
            <a:ext cx="11441252" cy="707886"/>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This is due the presences of </a:t>
            </a:r>
            <a:r>
              <a:rPr lang="en-US"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chlorides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US"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nitrates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US"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and </a:t>
            </a:r>
            <a:r>
              <a:rPr lang="en-US" sz="2000" dirty="0" err="1">
                <a:solidFill>
                  <a:srgbClr val="C00000"/>
                </a:solidFill>
                <a:latin typeface="Calibri" panose="020F0502020204030204" pitchFamily="34" charset="0"/>
                <a:ea typeface="Calibri" panose="020F0502020204030204" pitchFamily="34" charset="0"/>
                <a:cs typeface="Times New Roman" panose="02020603050405020304" pitchFamily="18" charset="0"/>
              </a:rPr>
              <a:t>sulphates</a:t>
            </a:r>
            <a:r>
              <a:rPr lang="en-US" sz="2000" dirty="0">
                <a:latin typeface="Calibri" panose="020F0502020204030204" pitchFamily="34" charset="0"/>
                <a:ea typeface="Calibri" panose="020F0502020204030204" pitchFamily="34" charset="0"/>
                <a:cs typeface="Times New Roman" panose="02020603050405020304" pitchFamily="18" charset="0"/>
              </a:rPr>
              <a:t> of calcium, magnesium, iron and other heavy metal ions.</a:t>
            </a:r>
          </a:p>
        </p:txBody>
      </p:sp>
      <p:sp>
        <p:nvSpPr>
          <p:cNvPr id="5" name="TextBox 4">
            <a:extLst>
              <a:ext uri="{FF2B5EF4-FFF2-40B4-BE49-F238E27FC236}">
                <a16:creationId xmlns:a16="http://schemas.microsoft.com/office/drawing/2014/main" id="{478188A0-B296-2E74-9975-94698FD72A46}"/>
              </a:ext>
            </a:extLst>
          </p:cNvPr>
          <p:cNvSpPr txBox="1"/>
          <p:nvPr/>
        </p:nvSpPr>
        <p:spPr>
          <a:xfrm>
            <a:off x="3030226" y="3583413"/>
            <a:ext cx="7983537" cy="1220847"/>
          </a:xfrm>
          <a:prstGeom prst="rect">
            <a:avLst/>
          </a:prstGeom>
          <a:noFill/>
        </p:spPr>
        <p:txBody>
          <a:bodyPr wrap="square" rtlCol="0">
            <a:spAutoFit/>
          </a:bodyPr>
          <a:lstStyle/>
          <a:p>
            <a:r>
              <a:rPr lang="en-IN" sz="1800" dirty="0"/>
              <a:t>Mg(HCO</a:t>
            </a:r>
            <a:r>
              <a:rPr lang="en-IN" sz="1800" baseline="-25000" dirty="0"/>
              <a:t>3</a:t>
            </a:r>
            <a:r>
              <a:rPr lang="en-IN" sz="1800" dirty="0"/>
              <a:t>)</a:t>
            </a:r>
            <a:r>
              <a:rPr lang="en-IN" sz="1800" baseline="-25000" dirty="0"/>
              <a:t>2</a:t>
            </a:r>
            <a:r>
              <a:rPr lang="en-IN" sz="2800" dirty="0"/>
              <a:t>                 </a:t>
            </a:r>
            <a:r>
              <a:rPr lang="en-US" sz="2000" dirty="0">
                <a:latin typeface="Calibri" panose="020F0502020204030204" pitchFamily="34" charset="0"/>
              </a:rPr>
              <a:t>x</a:t>
            </a:r>
            <a:r>
              <a:rPr lang="en-US" sz="2000" dirty="0">
                <a:effectLst/>
                <a:latin typeface="Calibri" panose="020F0502020204030204" pitchFamily="34" charset="0"/>
                <a:ea typeface="Calibri" panose="020F0502020204030204" pitchFamily="34" charset="0"/>
              </a:rPr>
              <a:t>MgCO</a:t>
            </a:r>
            <a:r>
              <a:rPr lang="en-US" sz="2000" baseline="-25000" dirty="0">
                <a:effectLst/>
                <a:latin typeface="Calibri" panose="020F0502020204030204" pitchFamily="34" charset="0"/>
                <a:ea typeface="Calibri" panose="020F0502020204030204" pitchFamily="34" charset="0"/>
              </a:rPr>
              <a:t>3</a:t>
            </a:r>
            <a:r>
              <a:rPr lang="en-US" sz="2000" dirty="0">
                <a:effectLst/>
                <a:latin typeface="Calibri" panose="020F0502020204030204" pitchFamily="34" charset="0"/>
                <a:ea typeface="Calibri" panose="020F0502020204030204" pitchFamily="34" charset="0"/>
              </a:rPr>
              <a:t>∙ </a:t>
            </a:r>
            <a:r>
              <a:rPr lang="en-US" sz="2000" dirty="0" err="1">
                <a:effectLst/>
                <a:latin typeface="Calibri" panose="020F0502020204030204" pitchFamily="34" charset="0"/>
                <a:ea typeface="Calibri" panose="020F0502020204030204" pitchFamily="34" charset="0"/>
              </a:rPr>
              <a:t>yMg</a:t>
            </a:r>
            <a:r>
              <a:rPr lang="en-US" sz="2000" dirty="0">
                <a:effectLst/>
                <a:latin typeface="Calibri" panose="020F0502020204030204" pitchFamily="34" charset="0"/>
                <a:ea typeface="Calibri" panose="020F0502020204030204" pitchFamily="34" charset="0"/>
              </a:rPr>
              <a:t>(OH)</a:t>
            </a:r>
            <a:r>
              <a:rPr lang="en-US" sz="2000" baseline="-25000" dirty="0">
                <a:effectLst/>
                <a:latin typeface="Calibri" panose="020F0502020204030204" pitchFamily="34" charset="0"/>
                <a:ea typeface="Calibri" panose="020F0502020204030204" pitchFamily="34" charset="0"/>
              </a:rPr>
              <a:t>2</a:t>
            </a:r>
            <a:r>
              <a:rPr lang="en-US" sz="2000" dirty="0">
                <a:effectLst/>
                <a:latin typeface="Calibri" panose="020F0502020204030204" pitchFamily="34" charset="0"/>
                <a:ea typeface="Calibri" panose="020F0502020204030204" pitchFamily="34" charset="0"/>
              </a:rPr>
              <a:t>∙zH</a:t>
            </a:r>
            <a:r>
              <a:rPr lang="en-US" sz="2000" baseline="-25000" dirty="0">
                <a:effectLst/>
                <a:latin typeface="Calibri" panose="020F0502020204030204" pitchFamily="34" charset="0"/>
                <a:ea typeface="Calibri" panose="020F0502020204030204" pitchFamily="34" charset="0"/>
              </a:rPr>
              <a:t>2</a:t>
            </a:r>
            <a:r>
              <a:rPr lang="en-US" sz="2000" dirty="0">
                <a:effectLst/>
                <a:latin typeface="Calibri" panose="020F0502020204030204" pitchFamily="34" charset="0"/>
                <a:ea typeface="Calibri" panose="020F0502020204030204" pitchFamily="34" charset="0"/>
              </a:rPr>
              <a:t>O + </a:t>
            </a:r>
            <a:r>
              <a:rPr lang="en-US" sz="2000" dirty="0" err="1">
                <a:effectLst/>
                <a:latin typeface="Calibri" panose="020F0502020204030204" pitchFamily="34" charset="0"/>
                <a:ea typeface="Calibri" panose="020F0502020204030204" pitchFamily="34" charset="0"/>
              </a:rPr>
              <a:t>aMgO</a:t>
            </a:r>
            <a:r>
              <a:rPr lang="en-US" sz="2000" dirty="0">
                <a:effectLst/>
                <a:latin typeface="Calibri" panose="020F0502020204030204" pitchFamily="34" charset="0"/>
                <a:ea typeface="Calibri" panose="020F0502020204030204" pitchFamily="34" charset="0"/>
              </a:rPr>
              <a:t> + bH</a:t>
            </a:r>
            <a:r>
              <a:rPr lang="en-US" sz="2000" baseline="-25000" dirty="0">
                <a:effectLst/>
                <a:latin typeface="Calibri" panose="020F0502020204030204" pitchFamily="34" charset="0"/>
                <a:ea typeface="Calibri" panose="020F0502020204030204" pitchFamily="34" charset="0"/>
              </a:rPr>
              <a:t>2</a:t>
            </a:r>
            <a:r>
              <a:rPr lang="en-US" sz="2000" dirty="0">
                <a:effectLst/>
                <a:latin typeface="Calibri" panose="020F0502020204030204" pitchFamily="34" charset="0"/>
                <a:ea typeface="Calibri" panose="020F0502020204030204" pitchFamily="34" charset="0"/>
              </a:rPr>
              <a:t>O + cCO</a:t>
            </a:r>
            <a:r>
              <a:rPr lang="en-US" sz="2000" baseline="-25000" dirty="0">
                <a:effectLst/>
                <a:latin typeface="Calibri" panose="020F0502020204030204" pitchFamily="34" charset="0"/>
                <a:ea typeface="Calibri" panose="020F0502020204030204" pitchFamily="34" charset="0"/>
              </a:rPr>
              <a:t>2</a:t>
            </a:r>
          </a:p>
          <a:p>
            <a:endParaRPr lang="en-US" sz="2000" baseline="-25000" dirty="0">
              <a:latin typeface="Calibri" panose="020F0502020204030204" pitchFamily="34" charset="0"/>
              <a:ea typeface="Calibri" panose="020F0502020204030204" pitchFamily="34" charset="0"/>
            </a:endParaRPr>
          </a:p>
          <a:p>
            <a:r>
              <a:rPr lang="en-US" sz="3200" baseline="-25000" dirty="0">
                <a:effectLst/>
                <a:latin typeface="Calibri" panose="020F0502020204030204" pitchFamily="34" charset="0"/>
                <a:ea typeface="Calibri" panose="020F0502020204030204" pitchFamily="34" charset="0"/>
              </a:rPr>
              <a:t>Here, x, y</a:t>
            </a:r>
            <a:r>
              <a:rPr lang="en-US" sz="3200" baseline="-25000" dirty="0">
                <a:latin typeface="Calibri" panose="020F0502020204030204" pitchFamily="34" charset="0"/>
                <a:ea typeface="Calibri" panose="020F0502020204030204" pitchFamily="34" charset="0"/>
              </a:rPr>
              <a:t>, z, and a, b, c vary as per the decomposition conditions</a:t>
            </a:r>
            <a:r>
              <a:rPr lang="en-US" sz="3200" dirty="0">
                <a:effectLst/>
                <a:latin typeface="Calibri" panose="020F0502020204030204" pitchFamily="34" charset="0"/>
                <a:ea typeface="Calibri" panose="020F0502020204030204" pitchFamily="34" charset="0"/>
              </a:rPr>
              <a:t> </a:t>
            </a:r>
            <a:endParaRPr lang="en-IN" sz="3200" dirty="0"/>
          </a:p>
        </p:txBody>
      </p:sp>
      <p:cxnSp>
        <p:nvCxnSpPr>
          <p:cNvPr id="7" name="Straight Arrow Connector 6">
            <a:extLst>
              <a:ext uri="{FF2B5EF4-FFF2-40B4-BE49-F238E27FC236}">
                <a16:creationId xmlns:a16="http://schemas.microsoft.com/office/drawing/2014/main" id="{1E1EC37E-6540-7600-CC27-32C95A2EB8FA}"/>
              </a:ext>
            </a:extLst>
          </p:cNvPr>
          <p:cNvCxnSpPr/>
          <p:nvPr/>
        </p:nvCxnSpPr>
        <p:spPr>
          <a:xfrm>
            <a:off x="4514450" y="3950208"/>
            <a:ext cx="1136542"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9370788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6953588-DB41-401A-8A9D-F8B01CCACD1B}"/>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Measurement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203AAE8-72AF-4194-B5AA-031F675269F5}"/>
              </a:ext>
            </a:extLst>
          </p:cNvPr>
          <p:cNvSpPr/>
          <p:nvPr/>
        </p:nvSpPr>
        <p:spPr>
          <a:xfrm>
            <a:off x="324650" y="626236"/>
            <a:ext cx="11413260" cy="830997"/>
          </a:xfrm>
          <a:prstGeom prst="rect">
            <a:avLst/>
          </a:prstGeom>
        </p:spPr>
        <p:txBody>
          <a:bodyPr wrap="square" lIns="91440" tIns="45720" rIns="91440" bIns="45720" anchor="t">
            <a:spAutoFit/>
          </a:bodyPr>
          <a:lstStyle/>
          <a:p>
            <a:pPr algn="just">
              <a:spcAft>
                <a:spcPts val="1200"/>
              </a:spcAft>
            </a:pPr>
            <a:r>
              <a:rPr lang="en-US" altLang="en-US" sz="2400" dirty="0">
                <a:latin typeface="Calibri"/>
                <a:cs typeface="Calibri"/>
              </a:rPr>
              <a:t>Hardness is expressed in terms of </a:t>
            </a:r>
            <a:r>
              <a:rPr lang="en-US" altLang="en-US" sz="2400" b="1" i="1" dirty="0">
                <a:solidFill>
                  <a:srgbClr val="FF0000"/>
                </a:solidFill>
                <a:latin typeface="Calibri"/>
                <a:cs typeface="Calibri"/>
              </a:rPr>
              <a:t>equivalent of calcium carbonate</a:t>
            </a:r>
            <a:r>
              <a:rPr lang="en-US" altLang="en-US" sz="2400" dirty="0">
                <a:latin typeface="Calibri"/>
                <a:cs typeface="Calibri"/>
              </a:rPr>
              <a:t> because it is an </a:t>
            </a:r>
            <a:r>
              <a:rPr lang="en-US" altLang="en-US" sz="2400" b="1" dirty="0">
                <a:latin typeface="Calibri"/>
                <a:cs typeface="Calibri"/>
              </a:rPr>
              <a:t>insoluble salt </a:t>
            </a:r>
            <a:r>
              <a:rPr lang="en-US" altLang="en-US" sz="2400" dirty="0">
                <a:latin typeface="Calibri"/>
                <a:cs typeface="Calibri"/>
              </a:rPr>
              <a:t>that can be most easily precipitated in water treatment</a:t>
            </a:r>
            <a:endParaRPr lang="en-US" sz="2400" b="1" dirty="0">
              <a:solidFill>
                <a:schemeClr val="bg1"/>
              </a:solidFill>
              <a:latin typeface="Calibri"/>
              <a:ea typeface="Calibri" panose="020F0502020204030204" pitchFamily="34" charset="0"/>
              <a:cs typeface="Calibri"/>
            </a:endParaRPr>
          </a:p>
        </p:txBody>
      </p:sp>
      <p:graphicFrame>
        <p:nvGraphicFramePr>
          <p:cNvPr id="7" name="Table 6">
            <a:extLst>
              <a:ext uri="{FF2B5EF4-FFF2-40B4-BE49-F238E27FC236}">
                <a16:creationId xmlns:a16="http://schemas.microsoft.com/office/drawing/2014/main" id="{6138D373-97EE-4A70-85DF-ECE6076DBEB0}"/>
              </a:ext>
            </a:extLst>
          </p:cNvPr>
          <p:cNvGraphicFramePr>
            <a:graphicFrameLocks noGrp="1"/>
          </p:cNvGraphicFramePr>
          <p:nvPr/>
        </p:nvGraphicFramePr>
        <p:xfrm>
          <a:off x="253998" y="1598133"/>
          <a:ext cx="6526645" cy="4887613"/>
        </p:xfrm>
        <a:graphic>
          <a:graphicData uri="http://schemas.openxmlformats.org/drawingml/2006/table">
            <a:tbl>
              <a:tblPr firstRow="1" bandRow="1">
                <a:tableStyleId>{5940675A-B579-460E-94D1-54222C63F5DA}</a:tableStyleId>
              </a:tblPr>
              <a:tblGrid>
                <a:gridCol w="1305329">
                  <a:extLst>
                    <a:ext uri="{9D8B030D-6E8A-4147-A177-3AD203B41FA5}">
                      <a16:colId xmlns:a16="http://schemas.microsoft.com/office/drawing/2014/main" val="20000"/>
                    </a:ext>
                  </a:extLst>
                </a:gridCol>
                <a:gridCol w="1044263">
                  <a:extLst>
                    <a:ext uri="{9D8B030D-6E8A-4147-A177-3AD203B41FA5}">
                      <a16:colId xmlns:a16="http://schemas.microsoft.com/office/drawing/2014/main" val="20001"/>
                    </a:ext>
                  </a:extLst>
                </a:gridCol>
                <a:gridCol w="1370595">
                  <a:extLst>
                    <a:ext uri="{9D8B030D-6E8A-4147-A177-3AD203B41FA5}">
                      <a16:colId xmlns:a16="http://schemas.microsoft.com/office/drawing/2014/main" val="20002"/>
                    </a:ext>
                  </a:extLst>
                </a:gridCol>
                <a:gridCol w="2806458">
                  <a:extLst>
                    <a:ext uri="{9D8B030D-6E8A-4147-A177-3AD203B41FA5}">
                      <a16:colId xmlns:a16="http://schemas.microsoft.com/office/drawing/2014/main" val="20003"/>
                    </a:ext>
                  </a:extLst>
                </a:gridCol>
              </a:tblGrid>
              <a:tr h="922498">
                <a:tc>
                  <a:txBody>
                    <a:bodyPr/>
                    <a:lstStyle/>
                    <a:p>
                      <a:pPr algn="ctr"/>
                      <a:r>
                        <a:rPr lang="en-US" sz="1800" b="1" dirty="0">
                          <a:latin typeface="Calibri"/>
                          <a:cs typeface="Calibri"/>
                        </a:rPr>
                        <a:t>Dissolved salt</a:t>
                      </a:r>
                    </a:p>
                  </a:txBody>
                  <a:tcPr/>
                </a:tc>
                <a:tc>
                  <a:txBody>
                    <a:bodyPr/>
                    <a:lstStyle/>
                    <a:p>
                      <a:pPr algn="ctr"/>
                      <a:r>
                        <a:rPr lang="en-US" sz="1800" b="1" dirty="0">
                          <a:latin typeface="Calibri"/>
                          <a:cs typeface="Calibri"/>
                        </a:rPr>
                        <a:t>Molar Mass</a:t>
                      </a:r>
                    </a:p>
                  </a:txBody>
                  <a:tcPr/>
                </a:tc>
                <a:tc>
                  <a:txBody>
                    <a:bodyPr/>
                    <a:lstStyle/>
                    <a:p>
                      <a:pPr algn="ctr"/>
                      <a:r>
                        <a:rPr lang="en-US" sz="1800" b="1" dirty="0">
                          <a:latin typeface="Calibri"/>
                          <a:cs typeface="Calibri"/>
                        </a:rPr>
                        <a:t>Chemical</a:t>
                      </a:r>
                      <a:r>
                        <a:rPr lang="en-US" sz="1800" b="1" baseline="0" dirty="0">
                          <a:latin typeface="Calibri"/>
                          <a:cs typeface="Calibri"/>
                        </a:rPr>
                        <a:t> equivalent</a:t>
                      </a:r>
                      <a:endParaRPr lang="en-US" sz="1800" b="1" dirty="0">
                        <a:latin typeface="Calibri"/>
                        <a:cs typeface="Calibri"/>
                      </a:endParaRPr>
                    </a:p>
                  </a:txBody>
                  <a:tcPr/>
                </a:tc>
                <a:tc>
                  <a:txBody>
                    <a:bodyPr/>
                    <a:lstStyle/>
                    <a:p>
                      <a:pPr algn="ctr"/>
                      <a:r>
                        <a:rPr lang="en-US" sz="1800" b="1" dirty="0">
                          <a:latin typeface="Calibri"/>
                          <a:cs typeface="Calibri"/>
                        </a:rPr>
                        <a:t>Multiplication</a:t>
                      </a:r>
                      <a:r>
                        <a:rPr lang="en-US" sz="1800" b="1" baseline="0" dirty="0">
                          <a:latin typeface="Calibri"/>
                          <a:cs typeface="Calibri"/>
                        </a:rPr>
                        <a:t> factor for converting into equivalent of CaCO</a:t>
                      </a:r>
                      <a:r>
                        <a:rPr lang="en-US" sz="1800" b="1" baseline="-25000" dirty="0">
                          <a:latin typeface="Calibri"/>
                          <a:cs typeface="Calibri"/>
                        </a:rPr>
                        <a:t>3</a:t>
                      </a:r>
                    </a:p>
                  </a:txBody>
                  <a:tcPr/>
                </a:tc>
                <a:extLst>
                  <a:ext uri="{0D108BD9-81ED-4DB2-BD59-A6C34878D82A}">
                    <a16:rowId xmlns:a16="http://schemas.microsoft.com/office/drawing/2014/main" val="10000"/>
                  </a:ext>
                </a:extLst>
              </a:tr>
              <a:tr h="566445">
                <a:tc>
                  <a:txBody>
                    <a:bodyPr/>
                    <a:lstStyle/>
                    <a:p>
                      <a:pPr algn="ctr"/>
                      <a:r>
                        <a:rPr lang="en-US" sz="1800" dirty="0">
                          <a:latin typeface="Calibri"/>
                          <a:cs typeface="Calibri"/>
                        </a:rPr>
                        <a:t>Ca(HCO</a:t>
                      </a:r>
                      <a:r>
                        <a:rPr lang="en-US" sz="1800" baseline="-25000" dirty="0">
                          <a:latin typeface="Calibri"/>
                          <a:cs typeface="Calibri"/>
                        </a:rPr>
                        <a:t>3</a:t>
                      </a:r>
                      <a:r>
                        <a:rPr lang="en-US" sz="1800" dirty="0">
                          <a:latin typeface="Calibri"/>
                          <a:cs typeface="Calibri"/>
                        </a:rPr>
                        <a:t>)</a:t>
                      </a:r>
                      <a:r>
                        <a:rPr lang="en-US" sz="1800" baseline="-25000" dirty="0">
                          <a:latin typeface="Calibri"/>
                          <a:cs typeface="Calibri"/>
                        </a:rPr>
                        <a:t>2</a:t>
                      </a:r>
                    </a:p>
                  </a:txBody>
                  <a:tcPr/>
                </a:tc>
                <a:tc>
                  <a:txBody>
                    <a:bodyPr/>
                    <a:lstStyle/>
                    <a:p>
                      <a:pPr algn="ctr"/>
                      <a:r>
                        <a:rPr lang="en-US" sz="1800" dirty="0">
                          <a:latin typeface="Calibri"/>
                          <a:cs typeface="Calibri"/>
                        </a:rPr>
                        <a:t>162</a:t>
                      </a:r>
                    </a:p>
                  </a:txBody>
                  <a:tcPr/>
                </a:tc>
                <a:tc>
                  <a:txBody>
                    <a:bodyPr/>
                    <a:lstStyle/>
                    <a:p>
                      <a:pPr algn="ctr"/>
                      <a:r>
                        <a:rPr lang="en-US" sz="1800" dirty="0">
                          <a:latin typeface="Calibri"/>
                          <a:cs typeface="Calibri"/>
                        </a:rPr>
                        <a:t>81</a:t>
                      </a:r>
                    </a:p>
                  </a:txBody>
                  <a:tcPr/>
                </a:tc>
                <a:tc>
                  <a:txBody>
                    <a:bodyPr/>
                    <a:lstStyle/>
                    <a:p>
                      <a:pPr algn="ctr"/>
                      <a:r>
                        <a:rPr lang="en-US" sz="1800" dirty="0">
                          <a:latin typeface="Calibri"/>
                          <a:cs typeface="Calibri"/>
                        </a:rPr>
                        <a:t>100/162</a:t>
                      </a:r>
                    </a:p>
                  </a:txBody>
                  <a:tcPr/>
                </a:tc>
                <a:extLst>
                  <a:ext uri="{0D108BD9-81ED-4DB2-BD59-A6C34878D82A}">
                    <a16:rowId xmlns:a16="http://schemas.microsoft.com/office/drawing/2014/main" val="10001"/>
                  </a:ext>
                </a:extLst>
              </a:tr>
              <a:tr h="566445">
                <a:tc>
                  <a:txBody>
                    <a:bodyPr/>
                    <a:lstStyle/>
                    <a:p>
                      <a:pPr algn="ctr"/>
                      <a:r>
                        <a:rPr lang="en-US" sz="1800" dirty="0">
                          <a:latin typeface="Calibri"/>
                          <a:cs typeface="Calibri"/>
                        </a:rPr>
                        <a:t>Mg(HCO</a:t>
                      </a:r>
                      <a:r>
                        <a:rPr lang="en-US" sz="1800" baseline="-25000" dirty="0">
                          <a:latin typeface="Calibri"/>
                          <a:cs typeface="Calibri"/>
                        </a:rPr>
                        <a:t>3</a:t>
                      </a:r>
                      <a:r>
                        <a:rPr lang="en-US" sz="1800" dirty="0">
                          <a:latin typeface="Calibri"/>
                          <a:cs typeface="Calibri"/>
                        </a:rPr>
                        <a:t>)</a:t>
                      </a:r>
                      <a:r>
                        <a:rPr lang="en-US" sz="1800" baseline="-25000" dirty="0">
                          <a:latin typeface="Calibri"/>
                          <a:cs typeface="Calibri"/>
                        </a:rPr>
                        <a:t>2</a:t>
                      </a:r>
                    </a:p>
                  </a:txBody>
                  <a:tcPr/>
                </a:tc>
                <a:tc>
                  <a:txBody>
                    <a:bodyPr/>
                    <a:lstStyle/>
                    <a:p>
                      <a:pPr algn="ctr"/>
                      <a:r>
                        <a:rPr lang="en-US" sz="1800" dirty="0">
                          <a:latin typeface="Calibri"/>
                          <a:cs typeface="Calibri"/>
                        </a:rPr>
                        <a:t>146</a:t>
                      </a:r>
                    </a:p>
                  </a:txBody>
                  <a:tcPr/>
                </a:tc>
                <a:tc>
                  <a:txBody>
                    <a:bodyPr/>
                    <a:lstStyle/>
                    <a:p>
                      <a:pPr algn="ctr"/>
                      <a:r>
                        <a:rPr lang="en-US" sz="1800" dirty="0">
                          <a:latin typeface="Calibri"/>
                          <a:cs typeface="Calibri"/>
                        </a:rPr>
                        <a:t>73</a:t>
                      </a:r>
                    </a:p>
                  </a:txBody>
                  <a:tcPr/>
                </a:tc>
                <a:tc>
                  <a:txBody>
                    <a:bodyPr/>
                    <a:lstStyle/>
                    <a:p>
                      <a:pPr algn="ctr"/>
                      <a:r>
                        <a:rPr lang="en-US" sz="1800" dirty="0">
                          <a:latin typeface="Calibri"/>
                          <a:cs typeface="Calibri"/>
                        </a:rPr>
                        <a:t>100/146</a:t>
                      </a:r>
                    </a:p>
                  </a:txBody>
                  <a:tcPr/>
                </a:tc>
                <a:extLst>
                  <a:ext uri="{0D108BD9-81ED-4DB2-BD59-A6C34878D82A}">
                    <a16:rowId xmlns:a16="http://schemas.microsoft.com/office/drawing/2014/main" val="10002"/>
                  </a:ext>
                </a:extLst>
              </a:tr>
              <a:tr h="566445">
                <a:tc>
                  <a:txBody>
                    <a:bodyPr/>
                    <a:lstStyle/>
                    <a:p>
                      <a:pPr algn="ctr"/>
                      <a:r>
                        <a:rPr lang="en-US" sz="1800" dirty="0">
                          <a:latin typeface="Calibri"/>
                          <a:cs typeface="Calibri"/>
                        </a:rPr>
                        <a:t>CaSO</a:t>
                      </a:r>
                      <a:r>
                        <a:rPr lang="en-US" sz="1800" baseline="-25000" dirty="0">
                          <a:latin typeface="Calibri"/>
                          <a:cs typeface="Calibri"/>
                        </a:rPr>
                        <a:t>4</a:t>
                      </a:r>
                    </a:p>
                  </a:txBody>
                  <a:tcPr/>
                </a:tc>
                <a:tc>
                  <a:txBody>
                    <a:bodyPr/>
                    <a:lstStyle/>
                    <a:p>
                      <a:pPr algn="ctr"/>
                      <a:r>
                        <a:rPr lang="en-US" sz="1800" dirty="0">
                          <a:latin typeface="Calibri"/>
                          <a:cs typeface="Calibri"/>
                        </a:rPr>
                        <a:t>136</a:t>
                      </a:r>
                    </a:p>
                  </a:txBody>
                  <a:tcPr/>
                </a:tc>
                <a:tc>
                  <a:txBody>
                    <a:bodyPr/>
                    <a:lstStyle/>
                    <a:p>
                      <a:pPr algn="ctr"/>
                      <a:r>
                        <a:rPr lang="en-US" sz="1800" dirty="0">
                          <a:latin typeface="Calibri"/>
                          <a:cs typeface="Calibri"/>
                        </a:rPr>
                        <a:t>68</a:t>
                      </a:r>
                    </a:p>
                  </a:txBody>
                  <a:tcPr/>
                </a:tc>
                <a:tc>
                  <a:txBody>
                    <a:bodyPr/>
                    <a:lstStyle/>
                    <a:p>
                      <a:pPr algn="ctr"/>
                      <a:r>
                        <a:rPr lang="en-US" sz="1800" dirty="0">
                          <a:latin typeface="Calibri"/>
                          <a:cs typeface="Calibri"/>
                        </a:rPr>
                        <a:t>100/136</a:t>
                      </a:r>
                    </a:p>
                  </a:txBody>
                  <a:tcPr/>
                </a:tc>
                <a:extLst>
                  <a:ext uri="{0D108BD9-81ED-4DB2-BD59-A6C34878D82A}">
                    <a16:rowId xmlns:a16="http://schemas.microsoft.com/office/drawing/2014/main" val="10003"/>
                  </a:ext>
                </a:extLst>
              </a:tr>
              <a:tr h="566445">
                <a:tc>
                  <a:txBody>
                    <a:bodyPr/>
                    <a:lstStyle/>
                    <a:p>
                      <a:pPr algn="ctr"/>
                      <a:r>
                        <a:rPr lang="en-US" sz="1800" dirty="0">
                          <a:latin typeface="Calibri"/>
                          <a:cs typeface="Calibri"/>
                        </a:rPr>
                        <a:t>CaCl</a:t>
                      </a:r>
                      <a:r>
                        <a:rPr lang="en-US" sz="1800" baseline="-25000" dirty="0">
                          <a:latin typeface="Calibri"/>
                          <a:cs typeface="Calibri"/>
                        </a:rPr>
                        <a:t>2</a:t>
                      </a:r>
                    </a:p>
                  </a:txBody>
                  <a:tcPr/>
                </a:tc>
                <a:tc>
                  <a:txBody>
                    <a:bodyPr/>
                    <a:lstStyle/>
                    <a:p>
                      <a:pPr algn="ctr"/>
                      <a:r>
                        <a:rPr lang="en-US" sz="1800" dirty="0">
                          <a:latin typeface="Calibri"/>
                          <a:cs typeface="Calibri"/>
                        </a:rPr>
                        <a:t>111</a:t>
                      </a:r>
                    </a:p>
                  </a:txBody>
                  <a:tcPr/>
                </a:tc>
                <a:tc>
                  <a:txBody>
                    <a:bodyPr/>
                    <a:lstStyle/>
                    <a:p>
                      <a:pPr algn="ctr"/>
                      <a:r>
                        <a:rPr lang="en-US" sz="1800" dirty="0">
                          <a:latin typeface="Calibri"/>
                          <a:cs typeface="Calibri"/>
                        </a:rPr>
                        <a:t>55.5</a:t>
                      </a:r>
                    </a:p>
                  </a:txBody>
                  <a:tcPr/>
                </a:tc>
                <a:tc>
                  <a:txBody>
                    <a:bodyPr/>
                    <a:lstStyle/>
                    <a:p>
                      <a:pPr algn="ctr"/>
                      <a:r>
                        <a:rPr lang="en-US" sz="1800" dirty="0">
                          <a:latin typeface="Calibri"/>
                          <a:cs typeface="Calibri"/>
                        </a:rPr>
                        <a:t>100/111</a:t>
                      </a:r>
                    </a:p>
                  </a:txBody>
                  <a:tcPr/>
                </a:tc>
                <a:extLst>
                  <a:ext uri="{0D108BD9-81ED-4DB2-BD59-A6C34878D82A}">
                    <a16:rowId xmlns:a16="http://schemas.microsoft.com/office/drawing/2014/main" val="10004"/>
                  </a:ext>
                </a:extLst>
              </a:tr>
              <a:tr h="566445">
                <a:tc>
                  <a:txBody>
                    <a:bodyPr/>
                    <a:lstStyle/>
                    <a:p>
                      <a:pPr algn="ctr"/>
                      <a:r>
                        <a:rPr lang="en-US" sz="1800" dirty="0">
                          <a:latin typeface="Calibri"/>
                          <a:cs typeface="Calibri"/>
                        </a:rPr>
                        <a:t>MgSO</a:t>
                      </a:r>
                      <a:r>
                        <a:rPr lang="en-US" sz="1800" baseline="-25000" dirty="0">
                          <a:latin typeface="Calibri"/>
                          <a:cs typeface="Calibri"/>
                        </a:rPr>
                        <a:t>4</a:t>
                      </a:r>
                    </a:p>
                  </a:txBody>
                  <a:tcPr/>
                </a:tc>
                <a:tc>
                  <a:txBody>
                    <a:bodyPr/>
                    <a:lstStyle/>
                    <a:p>
                      <a:pPr algn="ctr"/>
                      <a:r>
                        <a:rPr lang="en-US" sz="1800" dirty="0">
                          <a:latin typeface="Calibri"/>
                          <a:cs typeface="Calibri"/>
                        </a:rPr>
                        <a:t>120</a:t>
                      </a:r>
                    </a:p>
                  </a:txBody>
                  <a:tcPr/>
                </a:tc>
                <a:tc>
                  <a:txBody>
                    <a:bodyPr/>
                    <a:lstStyle/>
                    <a:p>
                      <a:pPr algn="ctr"/>
                      <a:r>
                        <a:rPr lang="en-US" sz="1800" dirty="0">
                          <a:latin typeface="Calibri"/>
                          <a:cs typeface="Calibri"/>
                        </a:rPr>
                        <a:t>60</a:t>
                      </a:r>
                    </a:p>
                  </a:txBody>
                  <a:tcPr/>
                </a:tc>
                <a:tc>
                  <a:txBody>
                    <a:bodyPr/>
                    <a:lstStyle/>
                    <a:p>
                      <a:pPr algn="ctr"/>
                      <a:r>
                        <a:rPr lang="en-US" sz="1800" dirty="0">
                          <a:latin typeface="Calibri"/>
                          <a:cs typeface="Calibri"/>
                        </a:rPr>
                        <a:t>100/120</a:t>
                      </a:r>
                    </a:p>
                  </a:txBody>
                  <a:tcPr/>
                </a:tc>
                <a:extLst>
                  <a:ext uri="{0D108BD9-81ED-4DB2-BD59-A6C34878D82A}">
                    <a16:rowId xmlns:a16="http://schemas.microsoft.com/office/drawing/2014/main" val="10005"/>
                  </a:ext>
                </a:extLst>
              </a:tr>
              <a:tr h="566445">
                <a:tc>
                  <a:txBody>
                    <a:bodyPr/>
                    <a:lstStyle/>
                    <a:p>
                      <a:pPr algn="ctr"/>
                      <a:r>
                        <a:rPr lang="en-US" sz="1800" dirty="0">
                          <a:latin typeface="Calibri"/>
                          <a:cs typeface="Calibri"/>
                        </a:rPr>
                        <a:t>MgCl</a:t>
                      </a:r>
                      <a:r>
                        <a:rPr lang="en-US" sz="1800" baseline="-25000" dirty="0">
                          <a:latin typeface="Calibri"/>
                          <a:cs typeface="Calibri"/>
                        </a:rPr>
                        <a:t>2</a:t>
                      </a:r>
                    </a:p>
                  </a:txBody>
                  <a:tcPr/>
                </a:tc>
                <a:tc>
                  <a:txBody>
                    <a:bodyPr/>
                    <a:lstStyle/>
                    <a:p>
                      <a:pPr algn="ctr"/>
                      <a:r>
                        <a:rPr lang="en-US" sz="1800" dirty="0">
                          <a:latin typeface="Calibri"/>
                          <a:cs typeface="Calibri"/>
                        </a:rPr>
                        <a:t>95</a:t>
                      </a:r>
                    </a:p>
                  </a:txBody>
                  <a:tcPr/>
                </a:tc>
                <a:tc>
                  <a:txBody>
                    <a:bodyPr/>
                    <a:lstStyle/>
                    <a:p>
                      <a:pPr algn="ctr"/>
                      <a:r>
                        <a:rPr lang="en-US" sz="1800" dirty="0">
                          <a:latin typeface="Calibri"/>
                          <a:cs typeface="Calibri"/>
                        </a:rPr>
                        <a:t>47.5</a:t>
                      </a:r>
                    </a:p>
                  </a:txBody>
                  <a:tcPr/>
                </a:tc>
                <a:tc>
                  <a:txBody>
                    <a:bodyPr/>
                    <a:lstStyle/>
                    <a:p>
                      <a:pPr algn="ctr"/>
                      <a:r>
                        <a:rPr lang="en-US" sz="1800" dirty="0">
                          <a:latin typeface="Calibri"/>
                          <a:cs typeface="Calibri"/>
                        </a:rPr>
                        <a:t>100/95</a:t>
                      </a:r>
                    </a:p>
                  </a:txBody>
                  <a:tcPr/>
                </a:tc>
                <a:extLst>
                  <a:ext uri="{0D108BD9-81ED-4DB2-BD59-A6C34878D82A}">
                    <a16:rowId xmlns:a16="http://schemas.microsoft.com/office/drawing/2014/main" val="10006"/>
                  </a:ext>
                </a:extLst>
              </a:tr>
              <a:tr h="566445">
                <a:tc>
                  <a:txBody>
                    <a:bodyPr/>
                    <a:lstStyle/>
                    <a:p>
                      <a:pPr algn="ctr"/>
                      <a:r>
                        <a:rPr lang="en-US" sz="1800" dirty="0">
                          <a:latin typeface="Calibri"/>
                          <a:cs typeface="Calibri"/>
                        </a:rPr>
                        <a:t>MgCO</a:t>
                      </a:r>
                      <a:r>
                        <a:rPr lang="en-US" sz="1800" baseline="-25000" dirty="0">
                          <a:latin typeface="Calibri"/>
                          <a:cs typeface="Calibri"/>
                        </a:rPr>
                        <a:t>3</a:t>
                      </a:r>
                    </a:p>
                  </a:txBody>
                  <a:tcPr/>
                </a:tc>
                <a:tc>
                  <a:txBody>
                    <a:bodyPr/>
                    <a:lstStyle/>
                    <a:p>
                      <a:pPr algn="ctr"/>
                      <a:r>
                        <a:rPr lang="en-US" sz="1800" dirty="0">
                          <a:latin typeface="Calibri"/>
                          <a:cs typeface="Calibri"/>
                        </a:rPr>
                        <a:t>84</a:t>
                      </a:r>
                    </a:p>
                  </a:txBody>
                  <a:tcPr/>
                </a:tc>
                <a:tc>
                  <a:txBody>
                    <a:bodyPr/>
                    <a:lstStyle/>
                    <a:p>
                      <a:pPr algn="ctr"/>
                      <a:r>
                        <a:rPr lang="en-US" sz="1800" dirty="0">
                          <a:latin typeface="Calibri"/>
                          <a:cs typeface="Calibri"/>
                        </a:rPr>
                        <a:t>42</a:t>
                      </a:r>
                    </a:p>
                  </a:txBody>
                  <a:tcPr/>
                </a:tc>
                <a:tc>
                  <a:txBody>
                    <a:bodyPr/>
                    <a:lstStyle/>
                    <a:p>
                      <a:pPr algn="ctr"/>
                      <a:r>
                        <a:rPr lang="en-US" sz="1800" dirty="0">
                          <a:latin typeface="Calibri"/>
                          <a:cs typeface="Calibri"/>
                        </a:rPr>
                        <a:t>100/84</a:t>
                      </a:r>
                    </a:p>
                  </a:txBody>
                  <a:tcP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ABE9907-B87F-4C1C-B179-3EA5091DDAEF}"/>
                  </a:ext>
                </a:extLst>
              </p:cNvPr>
              <p:cNvSpPr/>
              <p:nvPr/>
            </p:nvSpPr>
            <p:spPr>
              <a:xfrm>
                <a:off x="6773622" y="2582035"/>
                <a:ext cx="5273926" cy="2093778"/>
              </a:xfrm>
              <a:prstGeom prst="rect">
                <a:avLst/>
              </a:prstGeom>
            </p:spPr>
            <p:txBody>
              <a:bodyPr wrap="square">
                <a:spAutoFit/>
              </a:bodyPr>
              <a:lstStyle/>
              <a:p>
                <a:pPr algn="just">
                  <a:spcAft>
                    <a:spcPts val="1200"/>
                  </a:spcAft>
                </a:pPr>
                <a14:m>
                  <m:oMathPara xmlns:m="http://schemas.openxmlformats.org/officeDocument/2006/math">
                    <m:oMathParaPr>
                      <m:jc m:val="centerGroup"/>
                    </m:oMathParaPr>
                    <m:oMath xmlns:m="http://schemas.openxmlformats.org/officeDocument/2006/math">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Equivalent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CaCO</m:t>
                          </m:r>
                        </m:e>
                        <m: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3</m:t>
                          </m:r>
                        </m:sub>
                      </m:s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Mass</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salt</m:t>
                      </m:r>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f>
                        <m:f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Equivalent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weight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CaCO</m:t>
                              </m:r>
                            </m:e>
                            <m: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3</m:t>
                              </m:r>
                            </m:sub>
                          </m:sSub>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b="1" i="1" dirty="0">
                              <a:solidFill>
                                <a:srgbClr val="FF0000"/>
                              </a:solidFill>
                              <a:latin typeface="Cambria Math" panose="02040503050406030204" pitchFamily="18" charset="0"/>
                              <a:ea typeface="Calibri" panose="020F0502020204030204" pitchFamily="34" charset="0"/>
                              <a:cs typeface="Calibri" panose="020F0502020204030204" pitchFamily="34" charset="0"/>
                            </a:rPr>
                            <m:t>𝟓𝟎</m:t>
                          </m:r>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num>
                        <m:den>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Equivalent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weight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salt</m:t>
                          </m:r>
                        </m:den>
                      </m:f>
                    </m:oMath>
                  </m:oMathPara>
                </a14:m>
                <a:endParaRPr lang="en-US" altLang="en-US" sz="1800" dirty="0">
                  <a:latin typeface="Calibri" panose="020F0502020204030204" pitchFamily="34" charset="0"/>
                  <a:cs typeface="Calibri" panose="020F0502020204030204" pitchFamily="34" charset="0"/>
                </a:endParaRPr>
              </a:p>
              <a:p>
                <a:pPr algn="just">
                  <a:spcAft>
                    <a:spcPts val="1200"/>
                  </a:spcAft>
                </a:pPr>
                <a14:m>
                  <m:oMathPara xmlns:m="http://schemas.openxmlformats.org/officeDocument/2006/math">
                    <m:oMathParaPr>
                      <m:jc m:val="centerGroup"/>
                    </m:oMathParaPr>
                    <m:oMath xmlns:m="http://schemas.openxmlformats.org/officeDocument/2006/math">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Equivalent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CaCO</m:t>
                          </m:r>
                        </m:e>
                        <m: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3</m:t>
                          </m:r>
                        </m:sub>
                      </m:s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Mass</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p>
                        <m:sSup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p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salt</m:t>
                          </m:r>
                        </m:e>
                        <m:sup>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sup>
                      </m:sSup>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f>
                        <m:f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Molecular</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weight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CaCO</m:t>
                              </m:r>
                            </m:e>
                            <m:sub>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3</m:t>
                              </m:r>
                            </m:sub>
                          </m:sSub>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b="1" i="1" dirty="0">
                              <a:solidFill>
                                <a:srgbClr val="FF0000"/>
                              </a:solidFill>
                              <a:latin typeface="Cambria Math" panose="02040503050406030204" pitchFamily="18" charset="0"/>
                              <a:ea typeface="Calibri" panose="020F0502020204030204" pitchFamily="34" charset="0"/>
                              <a:cs typeface="Calibri" panose="020F0502020204030204" pitchFamily="34" charset="0"/>
                            </a:rPr>
                            <m:t>𝟏𝟎𝟎</m:t>
                          </m:r>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num>
                        <m:den>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Molecular</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weight</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of</m:t>
                          </m:r>
                          <m: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 </m:t>
                          </m:r>
                          <m:sSup>
                            <m:sSupPr>
                              <m:ctrlP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ctrlPr>
                            </m:sSupPr>
                            <m:e>
                              <m:r>
                                <m:rPr>
                                  <m:sty m:val="p"/>
                                </m:rPr>
                                <a:rPr lang="en-US" sz="1800" dirty="0">
                                  <a:solidFill>
                                    <a:schemeClr val="tx1"/>
                                  </a:solidFill>
                                  <a:latin typeface="Cambria Math" panose="02040503050406030204" pitchFamily="18" charset="0"/>
                                  <a:ea typeface="Calibri" panose="020F0502020204030204" pitchFamily="34" charset="0"/>
                                  <a:cs typeface="Calibri" panose="020F0502020204030204" pitchFamily="34" charset="0"/>
                                </a:rPr>
                                <m:t>salt</m:t>
                              </m:r>
                            </m:e>
                            <m:sup>
                              <m:r>
                                <a:rPr lang="en-US" sz="1800" i="1" dirty="0">
                                  <a:solidFill>
                                    <a:schemeClr val="tx1"/>
                                  </a:solidFill>
                                  <a:latin typeface="Cambria Math" panose="02040503050406030204" pitchFamily="18" charset="0"/>
                                  <a:ea typeface="Calibri" panose="020F0502020204030204" pitchFamily="34" charset="0"/>
                                  <a:cs typeface="Calibri" panose="020F0502020204030204" pitchFamily="34" charset="0"/>
                                </a:rPr>
                                <m:t>∗</m:t>
                              </m:r>
                            </m:sup>
                          </m:sSup>
                        </m:den>
                      </m:f>
                    </m:oMath>
                  </m:oMathPara>
                </a14:m>
                <a:endParaRPr lang="en-US" sz="18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Rectangle 8">
                <a:extLst>
                  <a:ext uri="{FF2B5EF4-FFF2-40B4-BE49-F238E27FC236}">
                    <a16:creationId xmlns:a16="http://schemas.microsoft.com/office/drawing/2014/main" id="{0ABE9907-B87F-4C1C-B179-3EA5091DDAEF}"/>
                  </a:ext>
                </a:extLst>
              </p:cNvPr>
              <p:cNvSpPr>
                <a:spLocks noRot="1" noChangeAspect="1" noMove="1" noResize="1" noEditPoints="1" noAdjustHandles="1" noChangeArrowheads="1" noChangeShapeType="1" noTextEdit="1"/>
              </p:cNvSpPr>
              <p:nvPr/>
            </p:nvSpPr>
            <p:spPr>
              <a:xfrm>
                <a:off x="6773622" y="2582035"/>
                <a:ext cx="5273926" cy="209377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186961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908E69-C4C4-8FCD-99A3-814DB98D0AD7}"/>
              </a:ext>
            </a:extLst>
          </p:cNvPr>
          <p:cNvSpPr>
            <a:spLocks noGrp="1"/>
          </p:cNvSpPr>
          <p:nvPr>
            <p:ph type="ftr" sz="quarter" idx="11"/>
          </p:nvPr>
        </p:nvSpPr>
        <p:spPr/>
        <p:txBody>
          <a:bodyPr/>
          <a:lstStyle/>
          <a:p>
            <a:pPr>
              <a:defRPr/>
            </a:pPr>
            <a:endParaRPr lang="en-US"/>
          </a:p>
        </p:txBody>
      </p:sp>
      <p:sp>
        <p:nvSpPr>
          <p:cNvPr id="3" name="Slide Number Placeholder 2">
            <a:extLst>
              <a:ext uri="{FF2B5EF4-FFF2-40B4-BE49-F238E27FC236}">
                <a16:creationId xmlns:a16="http://schemas.microsoft.com/office/drawing/2014/main" id="{4E928651-F03F-EA46-F97C-C807B1D63402}"/>
              </a:ext>
            </a:extLst>
          </p:cNvPr>
          <p:cNvSpPr>
            <a:spLocks noGrp="1"/>
          </p:cNvSpPr>
          <p:nvPr>
            <p:ph type="sldNum" sz="quarter" idx="12"/>
          </p:nvPr>
        </p:nvSpPr>
        <p:spPr/>
        <p:txBody>
          <a:bodyPr/>
          <a:lstStyle/>
          <a:p>
            <a:pPr>
              <a:defRPr/>
            </a:pPr>
            <a:fld id="{88C4E98B-C846-4C58-A4CD-8697F5F2B0DF}" type="slidenum">
              <a:rPr lang="en-US" smtClean="0"/>
              <a:pPr>
                <a:defRPr/>
              </a:pPr>
              <a:t>7</a:t>
            </a:fld>
            <a:endParaRPr lang="en-US"/>
          </a:p>
        </p:txBody>
      </p:sp>
      <p:pic>
        <p:nvPicPr>
          <p:cNvPr id="5" name="Picture 4">
            <a:extLst>
              <a:ext uri="{FF2B5EF4-FFF2-40B4-BE49-F238E27FC236}">
                <a16:creationId xmlns:a16="http://schemas.microsoft.com/office/drawing/2014/main" id="{F124602A-550B-F52D-5DE9-9AF44F42795D}"/>
              </a:ext>
            </a:extLst>
          </p:cNvPr>
          <p:cNvPicPr>
            <a:picLocks noChangeAspect="1"/>
          </p:cNvPicPr>
          <p:nvPr/>
        </p:nvPicPr>
        <p:blipFill>
          <a:blip r:embed="rId2"/>
          <a:stretch>
            <a:fillRect/>
          </a:stretch>
        </p:blipFill>
        <p:spPr>
          <a:xfrm>
            <a:off x="448450" y="685911"/>
            <a:ext cx="5000625" cy="1190625"/>
          </a:xfrm>
          <a:prstGeom prst="rect">
            <a:avLst/>
          </a:prstGeom>
        </p:spPr>
      </p:pic>
      <p:pic>
        <p:nvPicPr>
          <p:cNvPr id="7" name="Picture 6">
            <a:extLst>
              <a:ext uri="{FF2B5EF4-FFF2-40B4-BE49-F238E27FC236}">
                <a16:creationId xmlns:a16="http://schemas.microsoft.com/office/drawing/2014/main" id="{75E0A36B-FAEF-3516-47A7-51F75909BC4A}"/>
              </a:ext>
            </a:extLst>
          </p:cNvPr>
          <p:cNvPicPr>
            <a:picLocks noChangeAspect="1"/>
          </p:cNvPicPr>
          <p:nvPr/>
        </p:nvPicPr>
        <p:blipFill>
          <a:blip r:embed="rId3"/>
          <a:stretch>
            <a:fillRect/>
          </a:stretch>
        </p:blipFill>
        <p:spPr>
          <a:xfrm>
            <a:off x="448450" y="2328641"/>
            <a:ext cx="5502884" cy="2652824"/>
          </a:xfrm>
          <a:prstGeom prst="rect">
            <a:avLst/>
          </a:prstGeom>
        </p:spPr>
      </p:pic>
      <p:pic>
        <p:nvPicPr>
          <p:cNvPr id="9" name="Picture 8">
            <a:extLst>
              <a:ext uri="{FF2B5EF4-FFF2-40B4-BE49-F238E27FC236}">
                <a16:creationId xmlns:a16="http://schemas.microsoft.com/office/drawing/2014/main" id="{AF89A8AD-2905-3EF7-A3BD-A69EBA398F2C}"/>
              </a:ext>
            </a:extLst>
          </p:cNvPr>
          <p:cNvPicPr>
            <a:picLocks noChangeAspect="1"/>
          </p:cNvPicPr>
          <p:nvPr/>
        </p:nvPicPr>
        <p:blipFill>
          <a:blip r:embed="rId4"/>
          <a:stretch>
            <a:fillRect/>
          </a:stretch>
        </p:blipFill>
        <p:spPr>
          <a:xfrm>
            <a:off x="6256172" y="1967023"/>
            <a:ext cx="5737163" cy="3014442"/>
          </a:xfrm>
          <a:prstGeom prst="rect">
            <a:avLst/>
          </a:prstGeom>
        </p:spPr>
      </p:pic>
      <p:sp>
        <p:nvSpPr>
          <p:cNvPr id="11" name="TextBox 10">
            <a:extLst>
              <a:ext uri="{FF2B5EF4-FFF2-40B4-BE49-F238E27FC236}">
                <a16:creationId xmlns:a16="http://schemas.microsoft.com/office/drawing/2014/main" id="{08CFC5E1-9C5D-F9CA-7D0A-39653BD984B2}"/>
              </a:ext>
            </a:extLst>
          </p:cNvPr>
          <p:cNvSpPr txBox="1"/>
          <p:nvPr/>
        </p:nvSpPr>
        <p:spPr>
          <a:xfrm>
            <a:off x="4255682" y="659613"/>
            <a:ext cx="6150934" cy="307777"/>
          </a:xfrm>
          <a:prstGeom prst="rect">
            <a:avLst/>
          </a:prstGeom>
          <a:noFill/>
        </p:spPr>
        <p:txBody>
          <a:bodyPr wrap="square">
            <a:spAutoFit/>
          </a:bodyPr>
          <a:lstStyle/>
          <a:p>
            <a:pPr algn="ctr"/>
            <a:r>
              <a:rPr lang="en-IN" sz="1400" b="1" dirty="0">
                <a:solidFill>
                  <a:srgbClr val="FF0000"/>
                </a:solidFill>
              </a:rPr>
              <a:t>EXAMPLE</a:t>
            </a:r>
          </a:p>
        </p:txBody>
      </p:sp>
    </p:spTree>
    <p:extLst>
      <p:ext uri="{BB962C8B-B14F-4D97-AF65-F5344CB8AC3E}">
        <p14:creationId xmlns:p14="http://schemas.microsoft.com/office/powerpoint/2010/main" val="124714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69"/>
          <p:cNvSpPr txBox="1"/>
          <p:nvPr/>
        </p:nvSpPr>
        <p:spPr>
          <a:xfrm>
            <a:off x="1848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Units of Hardness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86882" y="68563"/>
            <a:ext cx="1672045" cy="489810"/>
          </a:xfrm>
          <a:prstGeom prst="rect">
            <a:avLst/>
          </a:prstGeom>
        </p:spPr>
      </p:pic>
      <p:sp>
        <p:nvSpPr>
          <p:cNvPr id="5" name="Rectangle 4"/>
          <p:cNvSpPr/>
          <p:nvPr/>
        </p:nvSpPr>
        <p:spPr>
          <a:xfrm>
            <a:off x="1848650" y="623687"/>
            <a:ext cx="8410276" cy="3077766"/>
          </a:xfrm>
          <a:prstGeom prst="rect">
            <a:avLst/>
          </a:prstGeom>
        </p:spPr>
        <p:txBody>
          <a:bodyPr wrap="square">
            <a:spAutoFit/>
          </a:bodyPr>
          <a:lstStyle/>
          <a:p>
            <a:pPr marL="342900" indent="-342900" algn="just">
              <a:spcAft>
                <a:spcPts val="1200"/>
              </a:spcAft>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ppm</a:t>
            </a:r>
          </a:p>
          <a:p>
            <a:pPr marL="342900" indent="-342900" algn="just">
              <a:spcAft>
                <a:spcPts val="1200"/>
              </a:spcAft>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mg/L</a:t>
            </a:r>
          </a:p>
          <a:p>
            <a:pPr marL="342900" indent="-342900" algn="just">
              <a:spcAft>
                <a:spcPts val="1200"/>
              </a:spcAft>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Degree Clarke (</a:t>
            </a:r>
            <a:r>
              <a:rPr lang="en-US" altLang="en-US" sz="2400" b="1" dirty="0">
                <a:latin typeface="Calibri" panose="020F0502020204030204" pitchFamily="34" charset="0"/>
                <a:cs typeface="Calibri" panose="020F0502020204030204" pitchFamily="34" charset="0"/>
              </a:rPr>
              <a:t>°</a:t>
            </a:r>
            <a:r>
              <a:rPr lang="en-US" sz="2400" b="1" dirty="0">
                <a:latin typeface="Calibri" panose="020F0502020204030204" pitchFamily="34" charset="0"/>
                <a:ea typeface="Calibri" panose="020F0502020204030204" pitchFamily="34" charset="0"/>
                <a:cs typeface="Calibri" panose="020F0502020204030204" pitchFamily="34" charset="0"/>
              </a:rPr>
              <a:t>Cl)</a:t>
            </a:r>
          </a:p>
          <a:p>
            <a:pPr marL="342900" indent="-342900" algn="just">
              <a:spcAft>
                <a:spcPts val="1200"/>
              </a:spcAft>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Degree French (</a:t>
            </a:r>
            <a:r>
              <a:rPr lang="en-US" altLang="en-US" sz="2400" b="1" dirty="0">
                <a:latin typeface="Calibri" panose="020F0502020204030204" pitchFamily="34" charset="0"/>
                <a:cs typeface="Calibri" panose="020F0502020204030204" pitchFamily="34" charset="0"/>
              </a:rPr>
              <a:t>°</a:t>
            </a:r>
            <a:r>
              <a:rPr lang="en-US" sz="2400" b="1" dirty="0">
                <a:latin typeface="Calibri" panose="020F0502020204030204" pitchFamily="34" charset="0"/>
                <a:ea typeface="Calibri" panose="020F0502020204030204" pitchFamily="34" charset="0"/>
                <a:cs typeface="Calibri" panose="020F0502020204030204" pitchFamily="34" charset="0"/>
              </a:rPr>
              <a:t>Fr)</a:t>
            </a:r>
          </a:p>
          <a:p>
            <a:pPr marL="342900" indent="-342900" algn="just">
              <a:spcAft>
                <a:spcPts val="1200"/>
              </a:spcAf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altLang="en-US" sz="2400" dirty="0">
                <a:latin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B7CAA4F-DD32-C0DD-3A54-E6CBB3051828}"/>
              </a:ext>
            </a:extLst>
          </p:cNvPr>
          <p:cNvPicPr>
            <a:picLocks noChangeAspect="1"/>
          </p:cNvPicPr>
          <p:nvPr/>
        </p:nvPicPr>
        <p:blipFill>
          <a:blip r:embed="rId3"/>
          <a:stretch>
            <a:fillRect/>
          </a:stretch>
        </p:blipFill>
        <p:spPr>
          <a:xfrm>
            <a:off x="3026664" y="2827037"/>
            <a:ext cx="6464024" cy="3700653"/>
          </a:xfrm>
          <a:prstGeom prst="rect">
            <a:avLst/>
          </a:prstGeom>
          <a:noFill/>
        </p:spPr>
      </p:pic>
    </p:spTree>
    <p:extLst>
      <p:ext uri="{BB962C8B-B14F-4D97-AF65-F5344CB8AC3E}">
        <p14:creationId xmlns:p14="http://schemas.microsoft.com/office/powerpoint/2010/main" val="311895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E068196-B0C2-3BFC-28FD-D312625551B5}"/>
              </a:ext>
            </a:extLst>
          </p:cNvPr>
          <p:cNvSpPr>
            <a:spLocks noGrp="1"/>
          </p:cNvSpPr>
          <p:nvPr>
            <p:ph type="ftr" sz="quarter" idx="11"/>
          </p:nvPr>
        </p:nvSpPr>
        <p:spPr/>
        <p:txBody>
          <a:bodyPr/>
          <a:lstStyle/>
          <a:p>
            <a:pPr>
              <a:defRPr/>
            </a:pPr>
            <a:endParaRPr lang="en-US"/>
          </a:p>
        </p:txBody>
      </p:sp>
      <p:sp>
        <p:nvSpPr>
          <p:cNvPr id="3" name="Slide Number Placeholder 2">
            <a:extLst>
              <a:ext uri="{FF2B5EF4-FFF2-40B4-BE49-F238E27FC236}">
                <a16:creationId xmlns:a16="http://schemas.microsoft.com/office/drawing/2014/main" id="{46AC6F2A-0792-4358-934D-3D985489A0C2}"/>
              </a:ext>
            </a:extLst>
          </p:cNvPr>
          <p:cNvSpPr>
            <a:spLocks noGrp="1"/>
          </p:cNvSpPr>
          <p:nvPr>
            <p:ph type="sldNum" sz="quarter" idx="12"/>
          </p:nvPr>
        </p:nvSpPr>
        <p:spPr/>
        <p:txBody>
          <a:bodyPr/>
          <a:lstStyle/>
          <a:p>
            <a:pPr>
              <a:defRPr/>
            </a:pPr>
            <a:fld id="{88C4E98B-C846-4C58-A4CD-8697F5F2B0DF}" type="slidenum">
              <a:rPr lang="en-US" smtClean="0"/>
              <a:pPr>
                <a:defRPr/>
              </a:pPr>
              <a:t>9</a:t>
            </a:fld>
            <a:endParaRPr lang="en-US"/>
          </a:p>
        </p:txBody>
      </p:sp>
      <p:pic>
        <p:nvPicPr>
          <p:cNvPr id="5" name="Picture 4">
            <a:extLst>
              <a:ext uri="{FF2B5EF4-FFF2-40B4-BE49-F238E27FC236}">
                <a16:creationId xmlns:a16="http://schemas.microsoft.com/office/drawing/2014/main" id="{59007D40-68C0-BAB5-3F97-195B59F83EBD}"/>
              </a:ext>
            </a:extLst>
          </p:cNvPr>
          <p:cNvPicPr>
            <a:picLocks noChangeAspect="1"/>
          </p:cNvPicPr>
          <p:nvPr/>
        </p:nvPicPr>
        <p:blipFill>
          <a:blip r:embed="rId2"/>
          <a:stretch>
            <a:fillRect/>
          </a:stretch>
        </p:blipFill>
        <p:spPr>
          <a:xfrm>
            <a:off x="1872659" y="799878"/>
            <a:ext cx="7277100" cy="1047750"/>
          </a:xfrm>
          <a:prstGeom prst="rect">
            <a:avLst/>
          </a:prstGeom>
        </p:spPr>
      </p:pic>
      <p:pic>
        <p:nvPicPr>
          <p:cNvPr id="7" name="Picture 6">
            <a:extLst>
              <a:ext uri="{FF2B5EF4-FFF2-40B4-BE49-F238E27FC236}">
                <a16:creationId xmlns:a16="http://schemas.microsoft.com/office/drawing/2014/main" id="{F878F982-88F5-BB39-F1BA-2495F02DB455}"/>
              </a:ext>
            </a:extLst>
          </p:cNvPr>
          <p:cNvPicPr>
            <a:picLocks noChangeAspect="1"/>
          </p:cNvPicPr>
          <p:nvPr/>
        </p:nvPicPr>
        <p:blipFill>
          <a:blip r:embed="rId3"/>
          <a:stretch>
            <a:fillRect/>
          </a:stretch>
        </p:blipFill>
        <p:spPr>
          <a:xfrm>
            <a:off x="2424112" y="2297628"/>
            <a:ext cx="7343775" cy="3857625"/>
          </a:xfrm>
          <a:prstGeom prst="rect">
            <a:avLst/>
          </a:prstGeom>
        </p:spPr>
      </p:pic>
    </p:spTree>
    <p:extLst>
      <p:ext uri="{BB962C8B-B14F-4D97-AF65-F5344CB8AC3E}">
        <p14:creationId xmlns:p14="http://schemas.microsoft.com/office/powerpoint/2010/main" val="332087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A2A2B5-779B-3B6C-CB35-4E8EC7FDFEC4}"/>
              </a:ext>
            </a:extLst>
          </p:cNvPr>
          <p:cNvSpPr>
            <a:spLocks noGrp="1"/>
          </p:cNvSpPr>
          <p:nvPr>
            <p:ph type="ftr" sz="quarter" idx="11"/>
          </p:nvPr>
        </p:nvSpPr>
        <p:spPr/>
        <p:txBody>
          <a:bodyPr/>
          <a:lstStyle/>
          <a:p>
            <a:pPr>
              <a:defRPr/>
            </a:pPr>
            <a:endParaRPr lang="en-US"/>
          </a:p>
        </p:txBody>
      </p:sp>
      <p:sp>
        <p:nvSpPr>
          <p:cNvPr id="3" name="Slide Number Placeholder 2">
            <a:extLst>
              <a:ext uri="{FF2B5EF4-FFF2-40B4-BE49-F238E27FC236}">
                <a16:creationId xmlns:a16="http://schemas.microsoft.com/office/drawing/2014/main" id="{86042FEC-D0F0-E2AB-69E1-0947278A39DE}"/>
              </a:ext>
            </a:extLst>
          </p:cNvPr>
          <p:cNvSpPr>
            <a:spLocks noGrp="1"/>
          </p:cNvSpPr>
          <p:nvPr>
            <p:ph type="sldNum" sz="quarter" idx="12"/>
          </p:nvPr>
        </p:nvSpPr>
        <p:spPr/>
        <p:txBody>
          <a:bodyPr/>
          <a:lstStyle/>
          <a:p>
            <a:pPr>
              <a:defRPr/>
            </a:pPr>
            <a:fld id="{88C4E98B-C846-4C58-A4CD-8697F5F2B0DF}" type="slidenum">
              <a:rPr lang="en-US" smtClean="0"/>
              <a:pPr>
                <a:defRPr/>
              </a:pPr>
              <a:t>10</a:t>
            </a:fld>
            <a:endParaRPr lang="en-US"/>
          </a:p>
        </p:txBody>
      </p:sp>
      <p:pic>
        <p:nvPicPr>
          <p:cNvPr id="5" name="Picture 4">
            <a:extLst>
              <a:ext uri="{FF2B5EF4-FFF2-40B4-BE49-F238E27FC236}">
                <a16:creationId xmlns:a16="http://schemas.microsoft.com/office/drawing/2014/main" id="{590631E1-D4D2-520A-9BD7-525135718BC6}"/>
              </a:ext>
            </a:extLst>
          </p:cNvPr>
          <p:cNvPicPr>
            <a:picLocks noChangeAspect="1"/>
          </p:cNvPicPr>
          <p:nvPr/>
        </p:nvPicPr>
        <p:blipFill>
          <a:blip r:embed="rId2"/>
          <a:srcRect b="13305"/>
          <a:stretch>
            <a:fillRect/>
          </a:stretch>
        </p:blipFill>
        <p:spPr>
          <a:xfrm>
            <a:off x="1126633" y="689077"/>
            <a:ext cx="9917995" cy="5665324"/>
          </a:xfrm>
          <a:prstGeom prst="rect">
            <a:avLst/>
          </a:prstGeom>
        </p:spPr>
      </p:pic>
    </p:spTree>
    <p:extLst>
      <p:ext uri="{BB962C8B-B14F-4D97-AF65-F5344CB8AC3E}">
        <p14:creationId xmlns:p14="http://schemas.microsoft.com/office/powerpoint/2010/main" val="1307503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grpSp>
        <p:nvGrpSpPr>
          <p:cNvPr id="10" name="Group 9">
            <a:extLst>
              <a:ext uri="{FF2B5EF4-FFF2-40B4-BE49-F238E27FC236}">
                <a16:creationId xmlns:a16="http://schemas.microsoft.com/office/drawing/2014/main" id="{7BA1D49A-29F4-4C44-94FA-1D308C34A6E1}"/>
              </a:ext>
            </a:extLst>
          </p:cNvPr>
          <p:cNvGrpSpPr/>
          <p:nvPr/>
        </p:nvGrpSpPr>
        <p:grpSpPr>
          <a:xfrm>
            <a:off x="2141031" y="1013619"/>
            <a:ext cx="5487620" cy="5262939"/>
            <a:chOff x="1900236" y="1163261"/>
            <a:chExt cx="5487620" cy="5262939"/>
          </a:xfrm>
        </p:grpSpPr>
        <p:pic>
          <p:nvPicPr>
            <p:cNvPr id="11" name="Picture 2" descr="Image result for eriochrome black t">
              <a:extLst>
                <a:ext uri="{FF2B5EF4-FFF2-40B4-BE49-F238E27FC236}">
                  <a16:creationId xmlns:a16="http://schemas.microsoft.com/office/drawing/2014/main" id="{6DB55798-87FB-41D4-A9F8-BA41C0A21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558" y="1163261"/>
              <a:ext cx="2477311" cy="1940561"/>
            </a:xfrm>
            <a:prstGeom prst="rect">
              <a:avLst/>
            </a:prstGeom>
            <a:noFill/>
            <a:extLst>
              <a:ext uri="{909E8E84-426E-40DD-AFC4-6F175D3DCCD1}">
                <a14:hiddenFill xmlns:a14="http://schemas.microsoft.com/office/drawing/2010/main">
                  <a:solidFill>
                    <a:srgbClr val="FFFFFF"/>
                  </a:solidFill>
                </a14:hiddenFill>
              </a:ext>
            </a:extLst>
          </p:spPr>
        </p:pic>
        <p:sp>
          <p:nvSpPr>
            <p:cNvPr id="12" name="Down Arrow 3">
              <a:extLst>
                <a:ext uri="{FF2B5EF4-FFF2-40B4-BE49-F238E27FC236}">
                  <a16:creationId xmlns:a16="http://schemas.microsoft.com/office/drawing/2014/main" id="{7CCB97A2-0B53-44E5-A731-7AA62372DB35}"/>
                </a:ext>
              </a:extLst>
            </p:cNvPr>
            <p:cNvSpPr>
              <a:spLocks noChangeArrowheads="1"/>
            </p:cNvSpPr>
            <p:nvPr/>
          </p:nvSpPr>
          <p:spPr bwMode="auto">
            <a:xfrm>
              <a:off x="5297916" y="2948726"/>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grpSp>
          <p:nvGrpSpPr>
            <p:cNvPr id="13" name="Group 12">
              <a:extLst>
                <a:ext uri="{FF2B5EF4-FFF2-40B4-BE49-F238E27FC236}">
                  <a16:creationId xmlns:a16="http://schemas.microsoft.com/office/drawing/2014/main" id="{D0B55ADB-BDF1-4048-9F0A-05C0DBA51982}"/>
                </a:ext>
              </a:extLst>
            </p:cNvPr>
            <p:cNvGrpSpPr>
              <a:grpSpLocks/>
            </p:cNvGrpSpPr>
            <p:nvPr/>
          </p:nvGrpSpPr>
          <p:grpSpPr bwMode="auto">
            <a:xfrm>
              <a:off x="1900236" y="3684944"/>
              <a:ext cx="5487620" cy="2741256"/>
              <a:chOff x="4343400" y="917217"/>
              <a:chExt cx="4762718" cy="2740383"/>
            </a:xfrm>
          </p:grpSpPr>
          <p:sp>
            <p:nvSpPr>
              <p:cNvPr id="14" name="Rectangle 15">
                <a:extLst>
                  <a:ext uri="{FF2B5EF4-FFF2-40B4-BE49-F238E27FC236}">
                    <a16:creationId xmlns:a16="http://schemas.microsoft.com/office/drawing/2014/main" id="{0B77A76B-6047-436E-9E61-D90BFEDF6FC3}"/>
                  </a:ext>
                </a:extLst>
              </p:cNvPr>
              <p:cNvSpPr>
                <a:spLocks noChangeArrowheads="1"/>
              </p:cNvSpPr>
              <p:nvPr/>
            </p:nvSpPr>
            <p:spPr bwMode="auto">
              <a:xfrm>
                <a:off x="4343400" y="1295400"/>
                <a:ext cx="3810000" cy="2362200"/>
              </a:xfrm>
              <a:prstGeom prst="rect">
                <a:avLst/>
              </a:prstGeom>
              <a:solidFill>
                <a:schemeClr val="bg1"/>
              </a:solidFill>
              <a:ln w="12700" algn="ctr">
                <a:solidFill>
                  <a:schemeClr val="bg1"/>
                </a:solidFill>
                <a:round/>
                <a:headEnd type="none" w="sm" len="sm"/>
                <a:tailEnd type="none" w="sm" len="sm"/>
              </a:ln>
            </p:spPr>
            <p:txBody>
              <a:bodyPr/>
              <a:lstStyle/>
              <a:p>
                <a:endParaRPr lang="en-US" altLang="en-US"/>
              </a:p>
            </p:txBody>
          </p:sp>
          <p:graphicFrame>
            <p:nvGraphicFramePr>
              <p:cNvPr id="15" name="Object 16">
                <a:extLst>
                  <a:ext uri="{FF2B5EF4-FFF2-40B4-BE49-F238E27FC236}">
                    <a16:creationId xmlns:a16="http://schemas.microsoft.com/office/drawing/2014/main" id="{F5D2D726-5AE7-4969-B655-E21B40612C4A}"/>
                  </a:ext>
                </a:extLst>
              </p:cNvPr>
              <p:cNvGraphicFramePr>
                <a:graphicFrameLocks noChangeAspect="1"/>
              </p:cNvGraphicFramePr>
              <p:nvPr/>
            </p:nvGraphicFramePr>
            <p:xfrm>
              <a:off x="5569168" y="917217"/>
              <a:ext cx="3536950" cy="2436813"/>
            </p:xfrm>
            <a:graphic>
              <a:graphicData uri="http://schemas.openxmlformats.org/presentationml/2006/ole">
                <mc:AlternateContent xmlns:mc="http://schemas.openxmlformats.org/markup-compatibility/2006">
                  <mc:Choice xmlns:v="urn:schemas-microsoft-com:vml" Requires="v">
                    <p:oleObj name="CS ChemDraw Drawing" r:id="rId4" imgW="3538728" imgH="2345436" progId="ChemDraw.Document.6.0">
                      <p:embed/>
                    </p:oleObj>
                  </mc:Choice>
                  <mc:Fallback>
                    <p:oleObj name="CS ChemDraw Drawing" r:id="rId4" imgW="3538728" imgH="2345436" progId="ChemDraw.Document.6.0">
                      <p:embed/>
                      <p:pic>
                        <p:nvPicPr>
                          <p:cNvPr id="15" name="Object 16">
                            <a:extLst>
                              <a:ext uri="{FF2B5EF4-FFF2-40B4-BE49-F238E27FC236}">
                                <a16:creationId xmlns:a16="http://schemas.microsoft.com/office/drawing/2014/main" id="{F5D2D726-5AE7-4969-B655-E21B40612C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9168" y="917217"/>
                            <a:ext cx="3536950" cy="2436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4" name="Shape 69">
            <a:extLst>
              <a:ext uri="{FF2B5EF4-FFF2-40B4-BE49-F238E27FC236}">
                <a16:creationId xmlns:a16="http://schemas.microsoft.com/office/drawing/2014/main" id="{754F9F64-033D-441B-AD35-94CB9C32F721}"/>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EDTA method</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FE6D7A84-212B-425C-ADAC-C4C849A607F0}"/>
              </a:ext>
            </a:extLst>
          </p:cNvPr>
          <p:cNvGrpSpPr/>
          <p:nvPr/>
        </p:nvGrpSpPr>
        <p:grpSpPr>
          <a:xfrm>
            <a:off x="532174" y="795498"/>
            <a:ext cx="1990533" cy="4955170"/>
            <a:chOff x="532174" y="795498"/>
            <a:chExt cx="1990533" cy="4955170"/>
          </a:xfrm>
        </p:grpSpPr>
        <p:sp>
          <p:nvSpPr>
            <p:cNvPr id="6" name="Rectangle 5">
              <a:extLst>
                <a:ext uri="{FF2B5EF4-FFF2-40B4-BE49-F238E27FC236}">
                  <a16:creationId xmlns:a16="http://schemas.microsoft.com/office/drawing/2014/main" id="{373E8C5B-9823-4E9C-BB9E-51EE97D1EF9A}"/>
                </a:ext>
              </a:extLst>
            </p:cNvPr>
            <p:cNvSpPr/>
            <p:nvPr/>
          </p:nvSpPr>
          <p:spPr>
            <a:xfrm>
              <a:off x="532174" y="795498"/>
              <a:ext cx="1990533" cy="2308324"/>
            </a:xfrm>
            <a:prstGeom prst="rect">
              <a:avLst/>
            </a:prstGeom>
          </p:spPr>
          <p:txBody>
            <a:bodyPr wrap="square">
              <a:spAutoFit/>
            </a:bodyPr>
            <a:lstStyle/>
            <a:p>
              <a:pPr algn="ctr"/>
              <a:r>
                <a:rPr lang="en-US" altLang="en-US" sz="2400" dirty="0">
                  <a:solidFill>
                    <a:schemeClr val="tx1"/>
                  </a:solidFill>
                  <a:latin typeface="Calibri" panose="020F0502020204030204" pitchFamily="34" charset="0"/>
                  <a:cs typeface="Calibri" panose="020F0502020204030204" pitchFamily="34" charset="0"/>
                </a:rPr>
                <a:t>Hard water</a:t>
              </a:r>
            </a:p>
            <a:p>
              <a:pPr algn="ctr"/>
              <a:r>
                <a:rPr lang="en-US" altLang="en-US" sz="2400" dirty="0">
                  <a:solidFill>
                    <a:schemeClr val="tx1"/>
                  </a:solidFill>
                  <a:latin typeface="Calibri" panose="020F0502020204030204" pitchFamily="34" charset="0"/>
                  <a:cs typeface="Calibri" panose="020F0502020204030204" pitchFamily="34" charset="0"/>
                </a:rPr>
                <a:t>+ </a:t>
              </a:r>
            </a:p>
            <a:p>
              <a:pPr algn="ctr"/>
              <a:r>
                <a:rPr lang="en-US" altLang="en-US" sz="2400" b="1" dirty="0">
                  <a:solidFill>
                    <a:srgbClr val="0070C0"/>
                  </a:solidFill>
                  <a:latin typeface="Calibri" panose="020F0502020204030204" pitchFamily="34" charset="0"/>
                  <a:cs typeface="Calibri" panose="020F0502020204030204" pitchFamily="34" charset="0"/>
                </a:rPr>
                <a:t>EBT Indicator</a:t>
              </a:r>
            </a:p>
            <a:p>
              <a:pPr algn="ctr"/>
              <a:r>
                <a:rPr lang="en-IN" altLang="en-US" sz="2400" b="1" dirty="0">
                  <a:solidFill>
                    <a:schemeClr val="tx1"/>
                  </a:solidFill>
                  <a:latin typeface="Calibri" panose="020F0502020204030204" pitchFamily="34" charset="0"/>
                  <a:cs typeface="Calibri" panose="020F0502020204030204" pitchFamily="34" charset="0"/>
                </a:rPr>
                <a:t>+</a:t>
              </a:r>
            </a:p>
            <a:p>
              <a:pPr algn="ctr"/>
              <a:r>
                <a:rPr lang="en-US" altLang="en-US" sz="2400" dirty="0">
                  <a:latin typeface="Calibri" panose="020F0502020204030204" pitchFamily="34" charset="0"/>
                  <a:cs typeface="Calibri" panose="020F0502020204030204" pitchFamily="34" charset="0"/>
                </a:rPr>
                <a:t>10 pH buffer solution</a:t>
              </a:r>
            </a:p>
          </p:txBody>
        </p:sp>
        <p:graphicFrame>
          <p:nvGraphicFramePr>
            <p:cNvPr id="7" name="Object 6">
              <a:extLst>
                <a:ext uri="{FF2B5EF4-FFF2-40B4-BE49-F238E27FC236}">
                  <a16:creationId xmlns:a16="http://schemas.microsoft.com/office/drawing/2014/main" id="{BAD18A11-B9D4-4675-B83C-EB348BAAF12C}"/>
                </a:ext>
              </a:extLst>
            </p:cNvPr>
            <p:cNvGraphicFramePr>
              <a:graphicFrameLocks noChangeAspect="1"/>
            </p:cNvGraphicFramePr>
            <p:nvPr/>
          </p:nvGraphicFramePr>
          <p:xfrm>
            <a:off x="1038490" y="4021881"/>
            <a:ext cx="977900" cy="1728787"/>
          </p:xfrm>
          <a:graphic>
            <a:graphicData uri="http://schemas.openxmlformats.org/presentationml/2006/ole">
              <mc:AlternateContent xmlns:mc="http://schemas.openxmlformats.org/markup-compatibility/2006">
                <mc:Choice xmlns:v="urn:schemas-microsoft-com:vml" Requires="v">
                  <p:oleObj name="CS ChemDraw Drawing" r:id="rId6" imgW="978408" imgH="1728216" progId="ChemDraw.Document.6.0">
                    <p:embed/>
                  </p:oleObj>
                </mc:Choice>
                <mc:Fallback>
                  <p:oleObj name="CS ChemDraw Drawing" r:id="rId6" imgW="978408" imgH="1728216" progId="ChemDraw.Document.6.0">
                    <p:embed/>
                    <p:pic>
                      <p:nvPicPr>
                        <p:cNvPr id="7" name="Object 6">
                          <a:extLst>
                            <a:ext uri="{FF2B5EF4-FFF2-40B4-BE49-F238E27FC236}">
                              <a16:creationId xmlns:a16="http://schemas.microsoft.com/office/drawing/2014/main" id="{BAD18A11-B9D4-4675-B83C-EB348BAAF1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8490" y="4021881"/>
                          <a:ext cx="977900" cy="172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Down Arrow 3">
              <a:extLst>
                <a:ext uri="{FF2B5EF4-FFF2-40B4-BE49-F238E27FC236}">
                  <a16:creationId xmlns:a16="http://schemas.microsoft.com/office/drawing/2014/main" id="{29F7A62B-B71C-47CC-A872-A68135EDFDBF}"/>
                </a:ext>
              </a:extLst>
            </p:cNvPr>
            <p:cNvSpPr>
              <a:spLocks noChangeArrowheads="1"/>
            </p:cNvSpPr>
            <p:nvPr/>
          </p:nvSpPr>
          <p:spPr bwMode="auto">
            <a:xfrm>
              <a:off x="1413140" y="3221476"/>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grpSp>
      <p:grpSp>
        <p:nvGrpSpPr>
          <p:cNvPr id="16" name="Group 15">
            <a:extLst>
              <a:ext uri="{FF2B5EF4-FFF2-40B4-BE49-F238E27FC236}">
                <a16:creationId xmlns:a16="http://schemas.microsoft.com/office/drawing/2014/main" id="{CB3DE794-25F6-4A8E-9672-0E4B9353DBCB}"/>
              </a:ext>
            </a:extLst>
          </p:cNvPr>
          <p:cNvGrpSpPr/>
          <p:nvPr/>
        </p:nvGrpSpPr>
        <p:grpSpPr>
          <a:xfrm>
            <a:off x="8042533" y="801116"/>
            <a:ext cx="3112453" cy="5678642"/>
            <a:chOff x="685219" y="808864"/>
            <a:chExt cx="3112453" cy="5678642"/>
          </a:xfrm>
        </p:grpSpPr>
        <p:grpSp>
          <p:nvGrpSpPr>
            <p:cNvPr id="17" name="Group 16">
              <a:extLst>
                <a:ext uri="{FF2B5EF4-FFF2-40B4-BE49-F238E27FC236}">
                  <a16:creationId xmlns:a16="http://schemas.microsoft.com/office/drawing/2014/main" id="{964BF972-972B-4B48-9EF2-702A72C4FBC5}"/>
                </a:ext>
              </a:extLst>
            </p:cNvPr>
            <p:cNvGrpSpPr>
              <a:grpSpLocks/>
            </p:cNvGrpSpPr>
            <p:nvPr/>
          </p:nvGrpSpPr>
          <p:grpSpPr bwMode="auto">
            <a:xfrm>
              <a:off x="689347" y="808864"/>
              <a:ext cx="3108325" cy="3531649"/>
              <a:chOff x="5929313" y="110145"/>
              <a:chExt cx="3108325" cy="3531651"/>
            </a:xfrm>
          </p:grpSpPr>
          <p:graphicFrame>
            <p:nvGraphicFramePr>
              <p:cNvPr id="21" name="Object 18">
                <a:extLst>
                  <a:ext uri="{FF2B5EF4-FFF2-40B4-BE49-F238E27FC236}">
                    <a16:creationId xmlns:a16="http://schemas.microsoft.com/office/drawing/2014/main" id="{2EF4DA5D-7079-4B85-A5EB-51EAAAC1CB3C}"/>
                  </a:ext>
                </a:extLst>
              </p:cNvPr>
              <p:cNvGraphicFramePr>
                <a:graphicFrameLocks noChangeAspect="1"/>
              </p:cNvGraphicFramePr>
              <p:nvPr/>
            </p:nvGraphicFramePr>
            <p:xfrm>
              <a:off x="7329486" y="909853"/>
              <a:ext cx="412750" cy="2731943"/>
            </p:xfrm>
            <a:graphic>
              <a:graphicData uri="http://schemas.openxmlformats.org/presentationml/2006/ole">
                <mc:AlternateContent xmlns:mc="http://schemas.openxmlformats.org/markup-compatibility/2006">
                  <mc:Choice xmlns:v="urn:schemas-microsoft-com:vml" Requires="v">
                    <p:oleObj name="MDLDrawObject Class" r:id="rId8" imgW="454152" imgH="3005328" progId="MDLDrawOLE.MDLDrawObject.1">
                      <p:embed/>
                    </p:oleObj>
                  </mc:Choice>
                  <mc:Fallback>
                    <p:oleObj name="MDLDrawObject Class" r:id="rId8" imgW="454152" imgH="3005328" progId="MDLDrawOLE.MDLDrawObject.1">
                      <p:embed/>
                      <p:pic>
                        <p:nvPicPr>
                          <p:cNvPr id="21" name="Object 18">
                            <a:extLst>
                              <a:ext uri="{FF2B5EF4-FFF2-40B4-BE49-F238E27FC236}">
                                <a16:creationId xmlns:a16="http://schemas.microsoft.com/office/drawing/2014/main" id="{2EF4DA5D-7079-4B85-A5EB-51EAAAC1CB3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9486" y="909853"/>
                            <a:ext cx="412750" cy="27319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9">
                <a:extLst>
                  <a:ext uri="{FF2B5EF4-FFF2-40B4-BE49-F238E27FC236}">
                    <a16:creationId xmlns:a16="http://schemas.microsoft.com/office/drawing/2014/main" id="{427B9A03-7477-4DE2-B2E1-0E130E6F958A}"/>
                  </a:ext>
                </a:extLst>
              </p:cNvPr>
              <p:cNvGraphicFramePr>
                <a:graphicFrameLocks noChangeAspect="1"/>
              </p:cNvGraphicFramePr>
              <p:nvPr/>
            </p:nvGraphicFramePr>
            <p:xfrm>
              <a:off x="5929313" y="110145"/>
              <a:ext cx="3108325" cy="674688"/>
            </p:xfrm>
            <a:graphic>
              <a:graphicData uri="http://schemas.openxmlformats.org/presentationml/2006/ole">
                <mc:AlternateContent xmlns:mc="http://schemas.openxmlformats.org/markup-compatibility/2006">
                  <mc:Choice xmlns:v="urn:schemas-microsoft-com:vml" Requires="v">
                    <p:oleObj name="MDLDrawObject Class" r:id="rId10" imgW="3108960" imgH="675132" progId="MDLDrawOLE.MDLDrawObject.1">
                      <p:embed/>
                    </p:oleObj>
                  </mc:Choice>
                  <mc:Fallback>
                    <p:oleObj name="MDLDrawObject Class" r:id="rId10" imgW="3108960" imgH="675132" progId="MDLDrawOLE.MDLDrawObject.1">
                      <p:embed/>
                      <p:pic>
                        <p:nvPicPr>
                          <p:cNvPr id="22" name="Object 19">
                            <a:extLst>
                              <a:ext uri="{FF2B5EF4-FFF2-40B4-BE49-F238E27FC236}">
                                <a16:creationId xmlns:a16="http://schemas.microsoft.com/office/drawing/2014/main" id="{427B9A03-7477-4DE2-B2E1-0E130E6F958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29313" y="110145"/>
                            <a:ext cx="3108325" cy="67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Object 17">
              <a:extLst>
                <a:ext uri="{FF2B5EF4-FFF2-40B4-BE49-F238E27FC236}">
                  <a16:creationId xmlns:a16="http://schemas.microsoft.com/office/drawing/2014/main" id="{5DB89FCB-FF08-4BBB-A8FF-4BCBB05E7E67}"/>
                </a:ext>
              </a:extLst>
            </p:cNvPr>
            <p:cNvGraphicFramePr>
              <a:graphicFrameLocks noChangeAspect="1"/>
            </p:cNvGraphicFramePr>
            <p:nvPr/>
          </p:nvGraphicFramePr>
          <p:xfrm>
            <a:off x="2654672" y="4466617"/>
            <a:ext cx="1143000" cy="2020888"/>
          </p:xfrm>
          <a:graphic>
            <a:graphicData uri="http://schemas.openxmlformats.org/presentationml/2006/ole">
              <mc:AlternateContent xmlns:mc="http://schemas.openxmlformats.org/markup-compatibility/2006">
                <mc:Choice xmlns:v="urn:schemas-microsoft-com:vml" Requires="v">
                  <p:oleObj name="CS ChemDraw Drawing" r:id="rId12" imgW="976884" imgH="1728216" progId="ChemDraw.Document.6.0">
                    <p:embed/>
                  </p:oleObj>
                </mc:Choice>
                <mc:Fallback>
                  <p:oleObj name="CS ChemDraw Drawing" r:id="rId12" imgW="976884" imgH="1728216" progId="ChemDraw.Document.6.0">
                    <p:embed/>
                    <p:pic>
                      <p:nvPicPr>
                        <p:cNvPr id="18" name="Object 17">
                          <a:extLst>
                            <a:ext uri="{FF2B5EF4-FFF2-40B4-BE49-F238E27FC236}">
                              <a16:creationId xmlns:a16="http://schemas.microsoft.com/office/drawing/2014/main" id="{5DB89FCB-FF08-4BBB-A8FF-4BCBB05E7E6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54672" y="4466617"/>
                          <a:ext cx="1143000" cy="202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a:extLst>
                <a:ext uri="{FF2B5EF4-FFF2-40B4-BE49-F238E27FC236}">
                  <a16:creationId xmlns:a16="http://schemas.microsoft.com/office/drawing/2014/main" id="{4DC54D3C-9B7F-4D5E-8282-E2CFE35C5FAC}"/>
                </a:ext>
              </a:extLst>
            </p:cNvPr>
            <p:cNvGraphicFramePr>
              <a:graphicFrameLocks noChangeAspect="1"/>
            </p:cNvGraphicFramePr>
            <p:nvPr/>
          </p:nvGraphicFramePr>
          <p:xfrm>
            <a:off x="685219" y="4469164"/>
            <a:ext cx="1141689" cy="2018342"/>
          </p:xfrm>
          <a:graphic>
            <a:graphicData uri="http://schemas.openxmlformats.org/presentationml/2006/ole">
              <mc:AlternateContent xmlns:mc="http://schemas.openxmlformats.org/markup-compatibility/2006">
                <mc:Choice xmlns:v="urn:schemas-microsoft-com:vml" Requires="v">
                  <p:oleObj name="CS ChemDraw Drawing" r:id="rId6" imgW="978408" imgH="1728216" progId="ChemDraw.Document.6.0">
                    <p:embed/>
                  </p:oleObj>
                </mc:Choice>
                <mc:Fallback>
                  <p:oleObj name="CS ChemDraw Drawing" r:id="rId6" imgW="978408" imgH="1728216" progId="ChemDraw.Document.6.0">
                    <p:embed/>
                    <p:pic>
                      <p:nvPicPr>
                        <p:cNvPr id="19" name="Object 18">
                          <a:extLst>
                            <a:ext uri="{FF2B5EF4-FFF2-40B4-BE49-F238E27FC236}">
                              <a16:creationId xmlns:a16="http://schemas.microsoft.com/office/drawing/2014/main" id="{4DC54D3C-9B7F-4D5E-8282-E2CFE35C5F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219" y="4469164"/>
                          <a:ext cx="1141689" cy="2018342"/>
                        </a:xfrm>
                        <a:prstGeom prst="rect">
                          <a:avLst/>
                        </a:prstGeom>
                        <a:noFill/>
                      </p:spPr>
                    </p:pic>
                  </p:oleObj>
                </mc:Fallback>
              </mc:AlternateContent>
            </a:graphicData>
          </a:graphic>
        </p:graphicFrame>
        <p:sp>
          <p:nvSpPr>
            <p:cNvPr id="20" name="Down Arrow 3">
              <a:extLst>
                <a:ext uri="{FF2B5EF4-FFF2-40B4-BE49-F238E27FC236}">
                  <a16:creationId xmlns:a16="http://schemas.microsoft.com/office/drawing/2014/main" id="{21EC14C1-27DB-4858-ABA9-CFC78850A15B}"/>
                </a:ext>
              </a:extLst>
            </p:cNvPr>
            <p:cNvSpPr>
              <a:spLocks noChangeArrowheads="1"/>
            </p:cNvSpPr>
            <p:nvPr/>
          </p:nvSpPr>
          <p:spPr bwMode="auto">
            <a:xfrm rot="16200000">
              <a:off x="2129209" y="5022884"/>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grpSp>
      <p:sp>
        <p:nvSpPr>
          <p:cNvPr id="24" name="TextBox 23">
            <a:extLst>
              <a:ext uri="{FF2B5EF4-FFF2-40B4-BE49-F238E27FC236}">
                <a16:creationId xmlns:a16="http://schemas.microsoft.com/office/drawing/2014/main" id="{C903AD8D-F2DD-5CCD-DD83-7CEFEEE76E3F}"/>
              </a:ext>
            </a:extLst>
          </p:cNvPr>
          <p:cNvSpPr txBox="1"/>
          <p:nvPr/>
        </p:nvSpPr>
        <p:spPr>
          <a:xfrm>
            <a:off x="6096000" y="2179257"/>
            <a:ext cx="786581" cy="400110"/>
          </a:xfrm>
          <a:prstGeom prst="rect">
            <a:avLst/>
          </a:prstGeom>
          <a:noFill/>
        </p:spPr>
        <p:txBody>
          <a:bodyPr wrap="square">
            <a:spAutoFit/>
          </a:bodyPr>
          <a:lstStyle/>
          <a:p>
            <a:pPr algn="ctr"/>
            <a:r>
              <a:rPr lang="en-US" altLang="en-US" sz="2000" b="1" dirty="0">
                <a:solidFill>
                  <a:srgbClr val="0070C0"/>
                </a:solidFill>
                <a:latin typeface="Calibri" panose="020F0502020204030204" pitchFamily="34" charset="0"/>
                <a:cs typeface="Calibri" panose="020F0502020204030204" pitchFamily="34" charset="0"/>
              </a:rPr>
              <a:t>Blue</a:t>
            </a:r>
            <a:endParaRPr lang="en-IN" sz="2000" dirty="0"/>
          </a:p>
        </p:txBody>
      </p:sp>
      <p:sp>
        <p:nvSpPr>
          <p:cNvPr id="25" name="TextBox 24">
            <a:extLst>
              <a:ext uri="{FF2B5EF4-FFF2-40B4-BE49-F238E27FC236}">
                <a16:creationId xmlns:a16="http://schemas.microsoft.com/office/drawing/2014/main" id="{373D37EB-F398-092C-67BC-FD57E7630AB2}"/>
              </a:ext>
            </a:extLst>
          </p:cNvPr>
          <p:cNvSpPr txBox="1"/>
          <p:nvPr/>
        </p:nvSpPr>
        <p:spPr>
          <a:xfrm>
            <a:off x="5815780" y="5356241"/>
            <a:ext cx="1347020" cy="400110"/>
          </a:xfrm>
          <a:prstGeom prst="rect">
            <a:avLst/>
          </a:prstGeom>
          <a:noFill/>
        </p:spPr>
        <p:txBody>
          <a:bodyPr wrap="square">
            <a:spAutoFit/>
          </a:bodyPr>
          <a:lstStyle/>
          <a:p>
            <a:pPr algn="ctr"/>
            <a:r>
              <a:rPr lang="en-US" altLang="en-US" sz="2000" b="1" dirty="0">
                <a:solidFill>
                  <a:srgbClr val="C00000"/>
                </a:solidFill>
                <a:latin typeface="Calibri" panose="020F0502020204030204" pitchFamily="34" charset="0"/>
                <a:cs typeface="Calibri" panose="020F0502020204030204" pitchFamily="34" charset="0"/>
              </a:rPr>
              <a:t>Wine Red</a:t>
            </a:r>
            <a:endParaRPr lang="en-IN" sz="2000" dirty="0">
              <a:solidFill>
                <a:srgbClr val="C00000"/>
              </a:solidFill>
            </a:endParaRPr>
          </a:p>
        </p:txBody>
      </p:sp>
    </p:spTree>
    <p:extLst>
      <p:ext uri="{BB962C8B-B14F-4D97-AF65-F5344CB8AC3E}">
        <p14:creationId xmlns:p14="http://schemas.microsoft.com/office/powerpoint/2010/main" val="39235852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grpSp>
        <p:nvGrpSpPr>
          <p:cNvPr id="10" name="Group 9">
            <a:extLst>
              <a:ext uri="{FF2B5EF4-FFF2-40B4-BE49-F238E27FC236}">
                <a16:creationId xmlns:a16="http://schemas.microsoft.com/office/drawing/2014/main" id="{7BA1D49A-29F4-4C44-94FA-1D308C34A6E1}"/>
              </a:ext>
            </a:extLst>
          </p:cNvPr>
          <p:cNvGrpSpPr/>
          <p:nvPr/>
        </p:nvGrpSpPr>
        <p:grpSpPr>
          <a:xfrm>
            <a:off x="2141031" y="1013619"/>
            <a:ext cx="5487620" cy="5262939"/>
            <a:chOff x="1900236" y="1163261"/>
            <a:chExt cx="5487620" cy="5262939"/>
          </a:xfrm>
        </p:grpSpPr>
        <p:pic>
          <p:nvPicPr>
            <p:cNvPr id="11" name="Picture 2" descr="Image result for eriochrome black t">
              <a:extLst>
                <a:ext uri="{FF2B5EF4-FFF2-40B4-BE49-F238E27FC236}">
                  <a16:creationId xmlns:a16="http://schemas.microsoft.com/office/drawing/2014/main" id="{6DB55798-87FB-41D4-A9F8-BA41C0A21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558" y="1163261"/>
              <a:ext cx="2477311" cy="1940561"/>
            </a:xfrm>
            <a:prstGeom prst="rect">
              <a:avLst/>
            </a:prstGeom>
            <a:noFill/>
            <a:extLst>
              <a:ext uri="{909E8E84-426E-40DD-AFC4-6F175D3DCCD1}">
                <a14:hiddenFill xmlns:a14="http://schemas.microsoft.com/office/drawing/2010/main">
                  <a:solidFill>
                    <a:srgbClr val="FFFFFF"/>
                  </a:solidFill>
                </a14:hiddenFill>
              </a:ext>
            </a:extLst>
          </p:spPr>
        </p:pic>
        <p:sp>
          <p:nvSpPr>
            <p:cNvPr id="12" name="Down Arrow 3">
              <a:extLst>
                <a:ext uri="{FF2B5EF4-FFF2-40B4-BE49-F238E27FC236}">
                  <a16:creationId xmlns:a16="http://schemas.microsoft.com/office/drawing/2014/main" id="{7CCB97A2-0B53-44E5-A731-7AA62372DB35}"/>
                </a:ext>
              </a:extLst>
            </p:cNvPr>
            <p:cNvSpPr>
              <a:spLocks noChangeArrowheads="1"/>
            </p:cNvSpPr>
            <p:nvPr/>
          </p:nvSpPr>
          <p:spPr bwMode="auto">
            <a:xfrm rot="10800000">
              <a:off x="5297916" y="2948726"/>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grpSp>
          <p:nvGrpSpPr>
            <p:cNvPr id="13" name="Group 12">
              <a:extLst>
                <a:ext uri="{FF2B5EF4-FFF2-40B4-BE49-F238E27FC236}">
                  <a16:creationId xmlns:a16="http://schemas.microsoft.com/office/drawing/2014/main" id="{D0B55ADB-BDF1-4048-9F0A-05C0DBA51982}"/>
                </a:ext>
              </a:extLst>
            </p:cNvPr>
            <p:cNvGrpSpPr>
              <a:grpSpLocks/>
            </p:cNvGrpSpPr>
            <p:nvPr/>
          </p:nvGrpSpPr>
          <p:grpSpPr bwMode="auto">
            <a:xfrm>
              <a:off x="1900236" y="3684944"/>
              <a:ext cx="5487620" cy="2741256"/>
              <a:chOff x="4343400" y="917217"/>
              <a:chExt cx="4762718" cy="2740383"/>
            </a:xfrm>
          </p:grpSpPr>
          <p:sp>
            <p:nvSpPr>
              <p:cNvPr id="14" name="Rectangle 15">
                <a:extLst>
                  <a:ext uri="{FF2B5EF4-FFF2-40B4-BE49-F238E27FC236}">
                    <a16:creationId xmlns:a16="http://schemas.microsoft.com/office/drawing/2014/main" id="{0B77A76B-6047-436E-9E61-D90BFEDF6FC3}"/>
                  </a:ext>
                </a:extLst>
              </p:cNvPr>
              <p:cNvSpPr>
                <a:spLocks noChangeArrowheads="1"/>
              </p:cNvSpPr>
              <p:nvPr/>
            </p:nvSpPr>
            <p:spPr bwMode="auto">
              <a:xfrm>
                <a:off x="4343400" y="1295400"/>
                <a:ext cx="3810000" cy="2362200"/>
              </a:xfrm>
              <a:prstGeom prst="rect">
                <a:avLst/>
              </a:prstGeom>
              <a:solidFill>
                <a:schemeClr val="bg1"/>
              </a:solidFill>
              <a:ln w="12700" algn="ctr">
                <a:solidFill>
                  <a:schemeClr val="bg1"/>
                </a:solidFill>
                <a:round/>
                <a:headEnd type="none" w="sm" len="sm"/>
                <a:tailEnd type="none" w="sm" len="sm"/>
              </a:ln>
            </p:spPr>
            <p:txBody>
              <a:bodyPr/>
              <a:lstStyle/>
              <a:p>
                <a:endParaRPr lang="en-US" altLang="en-US"/>
              </a:p>
            </p:txBody>
          </p:sp>
          <p:graphicFrame>
            <p:nvGraphicFramePr>
              <p:cNvPr id="15" name="Object 16">
                <a:extLst>
                  <a:ext uri="{FF2B5EF4-FFF2-40B4-BE49-F238E27FC236}">
                    <a16:creationId xmlns:a16="http://schemas.microsoft.com/office/drawing/2014/main" id="{F5D2D726-5AE7-4969-B655-E21B40612C4A}"/>
                  </a:ext>
                </a:extLst>
              </p:cNvPr>
              <p:cNvGraphicFramePr>
                <a:graphicFrameLocks noChangeAspect="1"/>
              </p:cNvGraphicFramePr>
              <p:nvPr/>
            </p:nvGraphicFramePr>
            <p:xfrm>
              <a:off x="5569168" y="917217"/>
              <a:ext cx="3536950" cy="2436813"/>
            </p:xfrm>
            <a:graphic>
              <a:graphicData uri="http://schemas.openxmlformats.org/presentationml/2006/ole">
                <mc:AlternateContent xmlns:mc="http://schemas.openxmlformats.org/markup-compatibility/2006">
                  <mc:Choice xmlns:v="urn:schemas-microsoft-com:vml" Requires="v">
                    <p:oleObj name="CS ChemDraw Drawing" r:id="rId4" imgW="3538728" imgH="2345436" progId="ChemDraw.Document.6.0">
                      <p:embed/>
                    </p:oleObj>
                  </mc:Choice>
                  <mc:Fallback>
                    <p:oleObj name="CS ChemDraw Drawing" r:id="rId4" imgW="3538728" imgH="2345436" progId="ChemDraw.Document.6.0">
                      <p:embed/>
                      <p:pic>
                        <p:nvPicPr>
                          <p:cNvPr id="15" name="Object 16">
                            <a:extLst>
                              <a:ext uri="{FF2B5EF4-FFF2-40B4-BE49-F238E27FC236}">
                                <a16:creationId xmlns:a16="http://schemas.microsoft.com/office/drawing/2014/main" id="{F5D2D726-5AE7-4969-B655-E21B40612C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9168" y="917217"/>
                            <a:ext cx="3536950" cy="2436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6"/>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754F9F64-033D-441B-AD35-94CB9C32F721}"/>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EDTA method</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16" name="Group 15">
            <a:extLst>
              <a:ext uri="{FF2B5EF4-FFF2-40B4-BE49-F238E27FC236}">
                <a16:creationId xmlns:a16="http://schemas.microsoft.com/office/drawing/2014/main" id="{CB3DE794-25F6-4A8E-9672-0E4B9353DBCB}"/>
              </a:ext>
            </a:extLst>
          </p:cNvPr>
          <p:cNvGrpSpPr/>
          <p:nvPr/>
        </p:nvGrpSpPr>
        <p:grpSpPr>
          <a:xfrm>
            <a:off x="8042533" y="801116"/>
            <a:ext cx="3112453" cy="5678642"/>
            <a:chOff x="685219" y="808864"/>
            <a:chExt cx="3112453" cy="5678642"/>
          </a:xfrm>
        </p:grpSpPr>
        <p:grpSp>
          <p:nvGrpSpPr>
            <p:cNvPr id="17" name="Group 16">
              <a:extLst>
                <a:ext uri="{FF2B5EF4-FFF2-40B4-BE49-F238E27FC236}">
                  <a16:creationId xmlns:a16="http://schemas.microsoft.com/office/drawing/2014/main" id="{964BF972-972B-4B48-9EF2-702A72C4FBC5}"/>
                </a:ext>
              </a:extLst>
            </p:cNvPr>
            <p:cNvGrpSpPr>
              <a:grpSpLocks/>
            </p:cNvGrpSpPr>
            <p:nvPr/>
          </p:nvGrpSpPr>
          <p:grpSpPr bwMode="auto">
            <a:xfrm>
              <a:off x="689347" y="808864"/>
              <a:ext cx="3108325" cy="3531649"/>
              <a:chOff x="5929313" y="110145"/>
              <a:chExt cx="3108325" cy="3531651"/>
            </a:xfrm>
          </p:grpSpPr>
          <p:graphicFrame>
            <p:nvGraphicFramePr>
              <p:cNvPr id="21" name="Object 18">
                <a:extLst>
                  <a:ext uri="{FF2B5EF4-FFF2-40B4-BE49-F238E27FC236}">
                    <a16:creationId xmlns:a16="http://schemas.microsoft.com/office/drawing/2014/main" id="{2EF4DA5D-7079-4B85-A5EB-51EAAAC1CB3C}"/>
                  </a:ext>
                </a:extLst>
              </p:cNvPr>
              <p:cNvGraphicFramePr>
                <a:graphicFrameLocks noChangeAspect="1"/>
              </p:cNvGraphicFramePr>
              <p:nvPr/>
            </p:nvGraphicFramePr>
            <p:xfrm>
              <a:off x="7329486" y="909853"/>
              <a:ext cx="412750" cy="2731943"/>
            </p:xfrm>
            <a:graphic>
              <a:graphicData uri="http://schemas.openxmlformats.org/presentationml/2006/ole">
                <mc:AlternateContent xmlns:mc="http://schemas.openxmlformats.org/markup-compatibility/2006">
                  <mc:Choice xmlns:v="urn:schemas-microsoft-com:vml" Requires="v">
                    <p:oleObj name="MDLDrawObject Class" r:id="rId7" imgW="454152" imgH="3005328" progId="MDLDrawOLE.MDLDrawObject.1">
                      <p:embed/>
                    </p:oleObj>
                  </mc:Choice>
                  <mc:Fallback>
                    <p:oleObj name="MDLDrawObject Class" r:id="rId7" imgW="454152" imgH="3005328" progId="MDLDrawOLE.MDLDrawObject.1">
                      <p:embed/>
                      <p:pic>
                        <p:nvPicPr>
                          <p:cNvPr id="21" name="Object 18">
                            <a:extLst>
                              <a:ext uri="{FF2B5EF4-FFF2-40B4-BE49-F238E27FC236}">
                                <a16:creationId xmlns:a16="http://schemas.microsoft.com/office/drawing/2014/main" id="{2EF4DA5D-7079-4B85-A5EB-51EAAAC1CB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29486" y="909853"/>
                            <a:ext cx="412750" cy="27319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9">
                <a:extLst>
                  <a:ext uri="{FF2B5EF4-FFF2-40B4-BE49-F238E27FC236}">
                    <a16:creationId xmlns:a16="http://schemas.microsoft.com/office/drawing/2014/main" id="{427B9A03-7477-4DE2-B2E1-0E130E6F958A}"/>
                  </a:ext>
                </a:extLst>
              </p:cNvPr>
              <p:cNvGraphicFramePr>
                <a:graphicFrameLocks noChangeAspect="1"/>
              </p:cNvGraphicFramePr>
              <p:nvPr/>
            </p:nvGraphicFramePr>
            <p:xfrm>
              <a:off x="5929313" y="110145"/>
              <a:ext cx="3108325" cy="674688"/>
            </p:xfrm>
            <a:graphic>
              <a:graphicData uri="http://schemas.openxmlformats.org/presentationml/2006/ole">
                <mc:AlternateContent xmlns:mc="http://schemas.openxmlformats.org/markup-compatibility/2006">
                  <mc:Choice xmlns:v="urn:schemas-microsoft-com:vml" Requires="v">
                    <p:oleObj name="MDLDrawObject Class" r:id="rId9" imgW="3108960" imgH="675132" progId="MDLDrawOLE.MDLDrawObject.1">
                      <p:embed/>
                    </p:oleObj>
                  </mc:Choice>
                  <mc:Fallback>
                    <p:oleObj name="MDLDrawObject Class" r:id="rId9" imgW="3108960" imgH="675132" progId="MDLDrawOLE.MDLDrawObject.1">
                      <p:embed/>
                      <p:pic>
                        <p:nvPicPr>
                          <p:cNvPr id="22" name="Object 19">
                            <a:extLst>
                              <a:ext uri="{FF2B5EF4-FFF2-40B4-BE49-F238E27FC236}">
                                <a16:creationId xmlns:a16="http://schemas.microsoft.com/office/drawing/2014/main" id="{427B9A03-7477-4DE2-B2E1-0E130E6F958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29313" y="110145"/>
                            <a:ext cx="3108325" cy="67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Object 17">
              <a:extLst>
                <a:ext uri="{FF2B5EF4-FFF2-40B4-BE49-F238E27FC236}">
                  <a16:creationId xmlns:a16="http://schemas.microsoft.com/office/drawing/2014/main" id="{5DB89FCB-FF08-4BBB-A8FF-4BCBB05E7E67}"/>
                </a:ext>
              </a:extLst>
            </p:cNvPr>
            <p:cNvGraphicFramePr>
              <a:graphicFrameLocks noChangeAspect="1"/>
            </p:cNvGraphicFramePr>
            <p:nvPr/>
          </p:nvGraphicFramePr>
          <p:xfrm>
            <a:off x="2654672" y="4466617"/>
            <a:ext cx="1143000" cy="2020888"/>
          </p:xfrm>
          <a:graphic>
            <a:graphicData uri="http://schemas.openxmlformats.org/presentationml/2006/ole">
              <mc:AlternateContent xmlns:mc="http://schemas.openxmlformats.org/markup-compatibility/2006">
                <mc:Choice xmlns:v="urn:schemas-microsoft-com:vml" Requires="v">
                  <p:oleObj name="CS ChemDraw Drawing" r:id="rId11" imgW="976884" imgH="1728216" progId="ChemDraw.Document.6.0">
                    <p:embed/>
                  </p:oleObj>
                </mc:Choice>
                <mc:Fallback>
                  <p:oleObj name="CS ChemDraw Drawing" r:id="rId11" imgW="976884" imgH="1728216" progId="ChemDraw.Document.6.0">
                    <p:embed/>
                    <p:pic>
                      <p:nvPicPr>
                        <p:cNvPr id="18" name="Object 17">
                          <a:extLst>
                            <a:ext uri="{FF2B5EF4-FFF2-40B4-BE49-F238E27FC236}">
                              <a16:creationId xmlns:a16="http://schemas.microsoft.com/office/drawing/2014/main" id="{5DB89FCB-FF08-4BBB-A8FF-4BCBB05E7E6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4672" y="4466617"/>
                          <a:ext cx="1143000" cy="202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a:extLst>
                <a:ext uri="{FF2B5EF4-FFF2-40B4-BE49-F238E27FC236}">
                  <a16:creationId xmlns:a16="http://schemas.microsoft.com/office/drawing/2014/main" id="{4DC54D3C-9B7F-4D5E-8282-E2CFE35C5FAC}"/>
                </a:ext>
              </a:extLst>
            </p:cNvPr>
            <p:cNvGraphicFramePr>
              <a:graphicFrameLocks noChangeAspect="1"/>
            </p:cNvGraphicFramePr>
            <p:nvPr/>
          </p:nvGraphicFramePr>
          <p:xfrm>
            <a:off x="685219" y="4469164"/>
            <a:ext cx="1141689" cy="2018342"/>
          </p:xfrm>
          <a:graphic>
            <a:graphicData uri="http://schemas.openxmlformats.org/presentationml/2006/ole">
              <mc:AlternateContent xmlns:mc="http://schemas.openxmlformats.org/markup-compatibility/2006">
                <mc:Choice xmlns:v="urn:schemas-microsoft-com:vml" Requires="v">
                  <p:oleObj name="CS ChemDraw Drawing" r:id="rId13" imgW="978408" imgH="1728216" progId="ChemDraw.Document.6.0">
                    <p:embed/>
                  </p:oleObj>
                </mc:Choice>
                <mc:Fallback>
                  <p:oleObj name="CS ChemDraw Drawing" r:id="rId13" imgW="978408" imgH="1728216" progId="ChemDraw.Document.6.0">
                    <p:embed/>
                    <p:pic>
                      <p:nvPicPr>
                        <p:cNvPr id="19" name="Object 18">
                          <a:extLst>
                            <a:ext uri="{FF2B5EF4-FFF2-40B4-BE49-F238E27FC236}">
                              <a16:creationId xmlns:a16="http://schemas.microsoft.com/office/drawing/2014/main" id="{4DC54D3C-9B7F-4D5E-8282-E2CFE35C5FA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5219" y="4469164"/>
                          <a:ext cx="1141689" cy="2018342"/>
                        </a:xfrm>
                        <a:prstGeom prst="rect">
                          <a:avLst/>
                        </a:prstGeom>
                        <a:noFill/>
                      </p:spPr>
                    </p:pic>
                  </p:oleObj>
                </mc:Fallback>
              </mc:AlternateContent>
            </a:graphicData>
          </a:graphic>
        </p:graphicFrame>
        <p:sp>
          <p:nvSpPr>
            <p:cNvPr id="20" name="Down Arrow 3">
              <a:extLst>
                <a:ext uri="{FF2B5EF4-FFF2-40B4-BE49-F238E27FC236}">
                  <a16:creationId xmlns:a16="http://schemas.microsoft.com/office/drawing/2014/main" id="{21EC14C1-27DB-4858-ABA9-CFC78850A15B}"/>
                </a:ext>
              </a:extLst>
            </p:cNvPr>
            <p:cNvSpPr>
              <a:spLocks noChangeArrowheads="1"/>
            </p:cNvSpPr>
            <p:nvPr/>
          </p:nvSpPr>
          <p:spPr bwMode="auto">
            <a:xfrm rot="16200000">
              <a:off x="2129209" y="5022884"/>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grpSp>
      <p:sp>
        <p:nvSpPr>
          <p:cNvPr id="5" name="TextBox 4">
            <a:extLst>
              <a:ext uri="{FF2B5EF4-FFF2-40B4-BE49-F238E27FC236}">
                <a16:creationId xmlns:a16="http://schemas.microsoft.com/office/drawing/2014/main" id="{459A7F3A-DCEC-7AFF-BE19-84DF1903E4B4}"/>
              </a:ext>
            </a:extLst>
          </p:cNvPr>
          <p:cNvSpPr txBox="1"/>
          <p:nvPr/>
        </p:nvSpPr>
        <p:spPr>
          <a:xfrm>
            <a:off x="6096000" y="2179257"/>
            <a:ext cx="786581" cy="400110"/>
          </a:xfrm>
          <a:prstGeom prst="rect">
            <a:avLst/>
          </a:prstGeom>
          <a:noFill/>
        </p:spPr>
        <p:txBody>
          <a:bodyPr wrap="square">
            <a:spAutoFit/>
          </a:bodyPr>
          <a:lstStyle/>
          <a:p>
            <a:pPr algn="ctr"/>
            <a:r>
              <a:rPr lang="en-US" altLang="en-US" sz="2000" b="1" dirty="0">
                <a:solidFill>
                  <a:srgbClr val="0070C0"/>
                </a:solidFill>
                <a:latin typeface="Calibri" panose="020F0502020204030204" pitchFamily="34" charset="0"/>
                <a:cs typeface="Calibri" panose="020F0502020204030204" pitchFamily="34" charset="0"/>
              </a:rPr>
              <a:t>Blue</a:t>
            </a:r>
            <a:endParaRPr lang="en-IN" sz="2000" dirty="0"/>
          </a:p>
        </p:txBody>
      </p:sp>
      <p:sp>
        <p:nvSpPr>
          <p:cNvPr id="6" name="TextBox 5">
            <a:extLst>
              <a:ext uri="{FF2B5EF4-FFF2-40B4-BE49-F238E27FC236}">
                <a16:creationId xmlns:a16="http://schemas.microsoft.com/office/drawing/2014/main" id="{379FC776-BE56-A0F2-EB3B-0BA9D479476F}"/>
              </a:ext>
            </a:extLst>
          </p:cNvPr>
          <p:cNvSpPr txBox="1"/>
          <p:nvPr/>
        </p:nvSpPr>
        <p:spPr>
          <a:xfrm>
            <a:off x="5815780" y="5356241"/>
            <a:ext cx="1347020" cy="400110"/>
          </a:xfrm>
          <a:prstGeom prst="rect">
            <a:avLst/>
          </a:prstGeom>
          <a:noFill/>
        </p:spPr>
        <p:txBody>
          <a:bodyPr wrap="square">
            <a:spAutoFit/>
          </a:bodyPr>
          <a:lstStyle/>
          <a:p>
            <a:pPr algn="ctr"/>
            <a:r>
              <a:rPr lang="en-US" altLang="en-US" sz="2000" b="1" dirty="0">
                <a:solidFill>
                  <a:srgbClr val="C00000"/>
                </a:solidFill>
                <a:latin typeface="Calibri" panose="020F0502020204030204" pitchFamily="34" charset="0"/>
                <a:cs typeface="Calibri" panose="020F0502020204030204" pitchFamily="34" charset="0"/>
              </a:rPr>
              <a:t>Wine Red</a:t>
            </a:r>
            <a:endParaRPr lang="en-IN" sz="2000" dirty="0">
              <a:solidFill>
                <a:srgbClr val="C00000"/>
              </a:solidFill>
            </a:endParaRPr>
          </a:p>
        </p:txBody>
      </p:sp>
      <p:pic>
        <p:nvPicPr>
          <p:cNvPr id="1026" name="Picture 2" descr="inorganic chemistry - Why is edta in its calcium complex still a tetraanion  at pH 10? - Chemistry Stack Exchange">
            <a:extLst>
              <a:ext uri="{FF2B5EF4-FFF2-40B4-BE49-F238E27FC236}">
                <a16:creationId xmlns:a16="http://schemas.microsoft.com/office/drawing/2014/main" id="{3F883A45-25E1-C241-EAD8-26EAC3DD081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3541" y="1408109"/>
            <a:ext cx="2647950" cy="409575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4EA5862D-30E6-79B5-AAAD-88220F85353F}"/>
              </a:ext>
            </a:extLst>
          </p:cNvPr>
          <p:cNvCxnSpPr>
            <a:cxnSpLocks/>
          </p:cNvCxnSpPr>
          <p:nvPr/>
        </p:nvCxnSpPr>
        <p:spPr>
          <a:xfrm flipH="1" flipV="1">
            <a:off x="2224719" y="3423013"/>
            <a:ext cx="3235448" cy="133354"/>
          </a:xfrm>
          <a:prstGeom prst="straightConnector1">
            <a:avLst/>
          </a:prstGeom>
          <a:ln w="28575">
            <a:solidFill>
              <a:schemeClr val="accent6">
                <a:lumMod val="40000"/>
                <a:lumOff val="60000"/>
              </a:schemeClr>
            </a:solidFill>
            <a:tailEnd type="triangle"/>
          </a:ln>
        </p:spPr>
        <p:style>
          <a:lnRef idx="1">
            <a:schemeClr val="dk1"/>
          </a:lnRef>
          <a:fillRef idx="0">
            <a:schemeClr val="dk1"/>
          </a:fillRef>
          <a:effectRef idx="0">
            <a:schemeClr val="dk1"/>
          </a:effectRef>
          <a:fontRef idx="minor">
            <a:schemeClr val="tx1"/>
          </a:fontRef>
        </p:style>
      </p:cxnSp>
      <p:sp>
        <p:nvSpPr>
          <p:cNvPr id="24" name="Oval 23">
            <a:extLst>
              <a:ext uri="{FF2B5EF4-FFF2-40B4-BE49-F238E27FC236}">
                <a16:creationId xmlns:a16="http://schemas.microsoft.com/office/drawing/2014/main" id="{E0D8DC39-3662-9144-C583-9FE418D2D732}"/>
              </a:ext>
            </a:extLst>
          </p:cNvPr>
          <p:cNvSpPr/>
          <p:nvPr/>
        </p:nvSpPr>
        <p:spPr>
          <a:xfrm>
            <a:off x="5485744" y="3406454"/>
            <a:ext cx="599768" cy="371530"/>
          </a:xfrm>
          <a:prstGeom prst="ellipse">
            <a:avLst/>
          </a:prstGeom>
          <a:no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DAB52B55-A10D-01DE-79F5-0D6925D76373}"/>
              </a:ext>
            </a:extLst>
          </p:cNvPr>
          <p:cNvSpPr/>
          <p:nvPr/>
        </p:nvSpPr>
        <p:spPr>
          <a:xfrm>
            <a:off x="1572820" y="3069389"/>
            <a:ext cx="599768" cy="584548"/>
          </a:xfrm>
          <a:prstGeom prst="ellipse">
            <a:avLst/>
          </a:prstGeom>
          <a:no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56401577"/>
      </p:ext>
    </p:extLst>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754F9F64-033D-441B-AD35-94CB9C32F721}"/>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EDTA titration</a:t>
            </a:r>
            <a:endParaRPr lang="en-US" sz="24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55870B3-D137-43DB-A733-DFB403CF096C}"/>
              </a:ext>
            </a:extLst>
          </p:cNvPr>
          <p:cNvSpPr/>
          <p:nvPr/>
        </p:nvSpPr>
        <p:spPr>
          <a:xfrm>
            <a:off x="324649" y="623687"/>
            <a:ext cx="11282633" cy="5940088"/>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EDTA:</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EDTA is a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weak acid</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 is not dissociated. It needs basic medium to release H</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ions and become charged</a:t>
            </a: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Hexadentate ligand –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binds via 6 locations</a:t>
            </a: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has lone pair,</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COO</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has negative charge</a:t>
            </a:r>
          </a:p>
          <a:p>
            <a:pPr marL="342900" lvl="0" indent="-342900" algn="just">
              <a:spcAft>
                <a:spcPts val="1200"/>
              </a:spcAft>
              <a:buFont typeface="Arial" panose="020B0604020202020204" pitchFamily="34" charset="0"/>
              <a:buChar char="•"/>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Basic Buffer solution</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pH = 10</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Made with NH</a:t>
            </a:r>
            <a:r>
              <a:rPr lang="en-IN"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4</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Cl + NH</a:t>
            </a:r>
            <a:r>
              <a:rPr lang="en-IN"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4</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OH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Helps EDTA to lose H</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ions </a:t>
            </a: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Colour change</a:t>
            </a: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Initially </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wine-red</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because of </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metal-EBT complex</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(weak in nature)</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After titration, </a:t>
            </a:r>
            <a:r>
              <a:rPr lang="en-IN"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blue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because of </a:t>
            </a:r>
            <a:r>
              <a:rPr lang="en-IN"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free EBT indicator</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Metal-EDTA complex</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colourless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(strong complex).</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Star: 5 Points 1">
            <a:extLst>
              <a:ext uri="{FF2B5EF4-FFF2-40B4-BE49-F238E27FC236}">
                <a16:creationId xmlns:a16="http://schemas.microsoft.com/office/drawing/2014/main" id="{31BB0DE2-85DB-EA1C-DB63-2815D2378520}"/>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Object 6">
            <a:extLst>
              <a:ext uri="{FF2B5EF4-FFF2-40B4-BE49-F238E27FC236}">
                <a16:creationId xmlns:a16="http://schemas.microsoft.com/office/drawing/2014/main" id="{CC28FFFB-AC9E-1D0F-496B-C4E4B88602A5}"/>
              </a:ext>
            </a:extLst>
          </p:cNvPr>
          <p:cNvGraphicFramePr>
            <a:graphicFrameLocks noChangeAspect="1"/>
          </p:cNvGraphicFramePr>
          <p:nvPr/>
        </p:nvGraphicFramePr>
        <p:xfrm>
          <a:off x="5584115" y="1895170"/>
          <a:ext cx="2914650" cy="1800225"/>
        </p:xfrm>
        <a:graphic>
          <a:graphicData uri="http://schemas.openxmlformats.org/presentationml/2006/ole">
            <mc:AlternateContent xmlns:mc="http://schemas.openxmlformats.org/markup-compatibility/2006">
              <mc:Choice xmlns:v="urn:schemas-microsoft-com:vml" Requires="v">
                <p:oleObj name="MDLDrawObject Class" r:id="rId4" imgW="2914243" imgH="1800225" progId="MDLDrawOLE.MDLDrawObject.1">
                  <p:embed/>
                </p:oleObj>
              </mc:Choice>
              <mc:Fallback>
                <p:oleObj name="MDLDrawObject Class" r:id="rId4" imgW="2914243" imgH="1800225" progId="MDLDrawOLE.MDLDrawObject.1">
                  <p:embed/>
                  <p:pic>
                    <p:nvPicPr>
                      <p:cNvPr id="7" name="Object 6">
                        <a:extLst>
                          <a:ext uri="{FF2B5EF4-FFF2-40B4-BE49-F238E27FC236}">
                            <a16:creationId xmlns:a16="http://schemas.microsoft.com/office/drawing/2014/main" id="{CC28FFFB-AC9E-1D0F-496B-C4E4B88602A5}"/>
                          </a:ext>
                        </a:extLst>
                      </p:cNvPr>
                      <p:cNvPicPr/>
                      <p:nvPr/>
                    </p:nvPicPr>
                    <p:blipFill>
                      <a:blip r:embed="rId5"/>
                      <a:stretch>
                        <a:fillRect/>
                      </a:stretch>
                    </p:blipFill>
                    <p:spPr>
                      <a:xfrm>
                        <a:off x="5584115" y="1895170"/>
                        <a:ext cx="2914650" cy="1800225"/>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F628CD17-8A80-EEB9-8BBD-BE1BE7A174A7}"/>
              </a:ext>
            </a:extLst>
          </p:cNvPr>
          <p:cNvCxnSpPr>
            <a:cxnSpLocks/>
          </p:cNvCxnSpPr>
          <p:nvPr/>
        </p:nvCxnSpPr>
        <p:spPr>
          <a:xfrm>
            <a:off x="6194323" y="2712170"/>
            <a:ext cx="324464" cy="3244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D82C361-2A60-863C-3528-6A8CDAA559FB}"/>
              </a:ext>
            </a:extLst>
          </p:cNvPr>
          <p:cNvCxnSpPr>
            <a:cxnSpLocks/>
          </p:cNvCxnSpPr>
          <p:nvPr/>
        </p:nvCxnSpPr>
        <p:spPr>
          <a:xfrm flipH="1" flipV="1">
            <a:off x="7423355" y="2549176"/>
            <a:ext cx="325226" cy="3252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2137D25E-BED9-A17B-C87C-24D802F67FB4}"/>
              </a:ext>
            </a:extLst>
          </p:cNvPr>
          <p:cNvCxnSpPr>
            <a:cxnSpLocks/>
          </p:cNvCxnSpPr>
          <p:nvPr/>
        </p:nvCxnSpPr>
        <p:spPr>
          <a:xfrm flipH="1" flipV="1">
            <a:off x="8336152" y="2207668"/>
            <a:ext cx="325226" cy="3252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0DA00BE4-EFC3-DD77-9BC5-85014621CCFE}"/>
              </a:ext>
            </a:extLst>
          </p:cNvPr>
          <p:cNvCxnSpPr>
            <a:cxnSpLocks/>
          </p:cNvCxnSpPr>
          <p:nvPr/>
        </p:nvCxnSpPr>
        <p:spPr>
          <a:xfrm flipH="1" flipV="1">
            <a:off x="7443781" y="3627604"/>
            <a:ext cx="325226" cy="32522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F688070-7D87-0DB2-0F48-1D590DC7F328}"/>
              </a:ext>
            </a:extLst>
          </p:cNvPr>
          <p:cNvCxnSpPr>
            <a:cxnSpLocks/>
          </p:cNvCxnSpPr>
          <p:nvPr/>
        </p:nvCxnSpPr>
        <p:spPr>
          <a:xfrm>
            <a:off x="6154994" y="1637735"/>
            <a:ext cx="324464" cy="3244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3A8278F-D93B-9205-DA72-C5221180A626}"/>
              </a:ext>
            </a:extLst>
          </p:cNvPr>
          <p:cNvCxnSpPr>
            <a:cxnSpLocks/>
          </p:cNvCxnSpPr>
          <p:nvPr/>
        </p:nvCxnSpPr>
        <p:spPr>
          <a:xfrm>
            <a:off x="5289755" y="3040915"/>
            <a:ext cx="324464" cy="3244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aphicFrame>
        <p:nvGraphicFramePr>
          <p:cNvPr id="20" name="Object 19">
            <a:extLst>
              <a:ext uri="{FF2B5EF4-FFF2-40B4-BE49-F238E27FC236}">
                <a16:creationId xmlns:a16="http://schemas.microsoft.com/office/drawing/2014/main" id="{8420067C-5E19-8B0B-BE40-9005B2C35285}"/>
              </a:ext>
            </a:extLst>
          </p:cNvPr>
          <p:cNvGraphicFramePr>
            <a:graphicFrameLocks noChangeAspect="1"/>
          </p:cNvGraphicFramePr>
          <p:nvPr/>
        </p:nvGraphicFramePr>
        <p:xfrm>
          <a:off x="10011986" y="4458869"/>
          <a:ext cx="1143000" cy="2020888"/>
        </p:xfrm>
        <a:graphic>
          <a:graphicData uri="http://schemas.openxmlformats.org/presentationml/2006/ole">
            <mc:AlternateContent xmlns:mc="http://schemas.openxmlformats.org/markup-compatibility/2006">
              <mc:Choice xmlns:v="urn:schemas-microsoft-com:vml" Requires="v">
                <p:oleObj name="CS ChemDraw Drawing" r:id="rId6" imgW="976884" imgH="1728216" progId="ChemDraw.Document.6.0">
                  <p:embed/>
                </p:oleObj>
              </mc:Choice>
              <mc:Fallback>
                <p:oleObj name="CS ChemDraw Drawing" r:id="rId6" imgW="976884" imgH="1728216" progId="ChemDraw.Document.6.0">
                  <p:embed/>
                  <p:pic>
                    <p:nvPicPr>
                      <p:cNvPr id="20" name="Object 19">
                        <a:extLst>
                          <a:ext uri="{FF2B5EF4-FFF2-40B4-BE49-F238E27FC236}">
                            <a16:creationId xmlns:a16="http://schemas.microsoft.com/office/drawing/2014/main" id="{8420067C-5E19-8B0B-BE40-9005B2C352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11986" y="4458869"/>
                        <a:ext cx="1143000" cy="202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a:extLst>
              <a:ext uri="{FF2B5EF4-FFF2-40B4-BE49-F238E27FC236}">
                <a16:creationId xmlns:a16="http://schemas.microsoft.com/office/drawing/2014/main" id="{07C5B54A-4830-2676-D271-9FD85D147CD5}"/>
              </a:ext>
            </a:extLst>
          </p:cNvPr>
          <p:cNvGraphicFramePr>
            <a:graphicFrameLocks noChangeAspect="1"/>
          </p:cNvGraphicFramePr>
          <p:nvPr/>
        </p:nvGraphicFramePr>
        <p:xfrm>
          <a:off x="8042533" y="4461416"/>
          <a:ext cx="1141689" cy="2018342"/>
        </p:xfrm>
        <a:graphic>
          <a:graphicData uri="http://schemas.openxmlformats.org/presentationml/2006/ole">
            <mc:AlternateContent xmlns:mc="http://schemas.openxmlformats.org/markup-compatibility/2006">
              <mc:Choice xmlns:v="urn:schemas-microsoft-com:vml" Requires="v">
                <p:oleObj name="CS ChemDraw Drawing" r:id="rId8" imgW="978408" imgH="1728216" progId="ChemDraw.Document.6.0">
                  <p:embed/>
                </p:oleObj>
              </mc:Choice>
              <mc:Fallback>
                <p:oleObj name="CS ChemDraw Drawing" r:id="rId8" imgW="978408" imgH="1728216" progId="ChemDraw.Document.6.0">
                  <p:embed/>
                  <p:pic>
                    <p:nvPicPr>
                      <p:cNvPr id="21" name="Object 20">
                        <a:extLst>
                          <a:ext uri="{FF2B5EF4-FFF2-40B4-BE49-F238E27FC236}">
                            <a16:creationId xmlns:a16="http://schemas.microsoft.com/office/drawing/2014/main" id="{07C5B54A-4830-2676-D271-9FD85D147C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42533" y="4461416"/>
                        <a:ext cx="1141689" cy="2018342"/>
                      </a:xfrm>
                      <a:prstGeom prst="rect">
                        <a:avLst/>
                      </a:prstGeom>
                      <a:noFill/>
                    </p:spPr>
                  </p:pic>
                </p:oleObj>
              </mc:Fallback>
            </mc:AlternateContent>
          </a:graphicData>
        </a:graphic>
      </p:graphicFrame>
      <p:sp>
        <p:nvSpPr>
          <p:cNvPr id="22" name="Down Arrow 3">
            <a:extLst>
              <a:ext uri="{FF2B5EF4-FFF2-40B4-BE49-F238E27FC236}">
                <a16:creationId xmlns:a16="http://schemas.microsoft.com/office/drawing/2014/main" id="{B91D1484-6702-44EB-CA94-28BE8FC17375}"/>
              </a:ext>
            </a:extLst>
          </p:cNvPr>
          <p:cNvSpPr>
            <a:spLocks noChangeArrowheads="1"/>
          </p:cNvSpPr>
          <p:nvPr/>
        </p:nvSpPr>
        <p:spPr bwMode="auto">
          <a:xfrm rot="16200000">
            <a:off x="9486523" y="5015136"/>
            <a:ext cx="228600" cy="533400"/>
          </a:xfrm>
          <a:prstGeom prst="downArrow">
            <a:avLst>
              <a:gd name="adj1" fmla="val 50000"/>
              <a:gd name="adj2" fmla="val 50005"/>
            </a:avLst>
          </a:prstGeom>
          <a:solidFill>
            <a:schemeClr val="accent1"/>
          </a:solidFill>
          <a:ln w="12700" algn="ctr">
            <a:solidFill>
              <a:schemeClr val="tx1"/>
            </a:solidFill>
            <a:round/>
            <a:headEnd type="none" w="sm" len="sm"/>
            <a:tailEnd type="none" w="sm" len="sm"/>
          </a:ln>
          <a:effectLst/>
        </p:spPr>
        <p:txBody>
          <a:bodyPr/>
          <a:lstStyle/>
          <a:p>
            <a:endParaRPr lang="en-US" altLang="en-US"/>
          </a:p>
        </p:txBody>
      </p:sp>
    </p:spTree>
    <p:extLst>
      <p:ext uri="{BB962C8B-B14F-4D97-AF65-F5344CB8AC3E}">
        <p14:creationId xmlns:p14="http://schemas.microsoft.com/office/powerpoint/2010/main" val="2864322688"/>
      </p:ext>
    </p:extLst>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280FF3-207F-4865-A830-4488D107F5BC}"/>
              </a:ext>
            </a:extLst>
          </p:cNvPr>
          <p:cNvSpPr txBox="1"/>
          <p:nvPr/>
        </p:nvSpPr>
        <p:spPr>
          <a:xfrm>
            <a:off x="3009900" y="73343"/>
            <a:ext cx="5867400" cy="523220"/>
          </a:xfrm>
          <a:prstGeom prst="rect">
            <a:avLst/>
          </a:prstGeom>
          <a:noFill/>
        </p:spPr>
        <p:txBody>
          <a:bodyPr wrap="square">
            <a:spAutoFit/>
          </a:bodyPr>
          <a:lstStyle/>
          <a:p>
            <a:r>
              <a:rPr lang="en-US" sz="2800" b="1" i="1" dirty="0">
                <a:solidFill>
                  <a:srgbClr val="FF0000"/>
                </a:solidFill>
                <a:latin typeface="Times New Roman" panose="02020603050405020304" pitchFamily="18" charset="0"/>
              </a:rPr>
              <a:t>Various steps involved in this method </a:t>
            </a:r>
            <a:endParaRPr lang="en-IN" sz="2800" dirty="0">
              <a:solidFill>
                <a:srgbClr val="FF0000"/>
              </a:solidFill>
            </a:endParaRPr>
          </a:p>
        </p:txBody>
      </p:sp>
      <p:sp>
        <p:nvSpPr>
          <p:cNvPr id="5" name="TextBox 4">
            <a:extLst>
              <a:ext uri="{FF2B5EF4-FFF2-40B4-BE49-F238E27FC236}">
                <a16:creationId xmlns:a16="http://schemas.microsoft.com/office/drawing/2014/main" id="{7F339F76-EA85-42B2-9FB2-E1FDB45C0A7C}"/>
              </a:ext>
            </a:extLst>
          </p:cNvPr>
          <p:cNvSpPr txBox="1"/>
          <p:nvPr/>
        </p:nvSpPr>
        <p:spPr>
          <a:xfrm>
            <a:off x="1121664" y="637966"/>
            <a:ext cx="8382000" cy="1908215"/>
          </a:xfrm>
          <a:prstGeom prst="rect">
            <a:avLst/>
          </a:prstGeom>
          <a:noFill/>
        </p:spPr>
        <p:txBody>
          <a:bodyPr wrap="square">
            <a:spAutoFit/>
          </a:bodyPr>
          <a:lstStyle/>
          <a:p>
            <a:pPr marL="457200" indent="-457200">
              <a:buAutoNum type="arabicPeriod"/>
            </a:pPr>
            <a:r>
              <a:rPr lang="en-US" sz="2400" b="1" u="sng" dirty="0">
                <a:solidFill>
                  <a:srgbClr val="0070C0"/>
                </a:solidFill>
                <a:latin typeface="Times New Roman" panose="02020603050405020304" pitchFamily="18" charset="0"/>
              </a:rPr>
              <a:t>Standardization of EDTA solution:</a:t>
            </a:r>
            <a:r>
              <a:rPr lang="en-US" sz="2400" b="1" dirty="0">
                <a:solidFill>
                  <a:srgbClr val="0070C0"/>
                </a:solidFill>
                <a:latin typeface="Times New Roman" panose="02020603050405020304" pitchFamily="18" charset="0"/>
              </a:rPr>
              <a:t> </a:t>
            </a:r>
          </a:p>
          <a:p>
            <a:endParaRPr lang="en-US" b="1" dirty="0">
              <a:solidFill>
                <a:srgbClr val="0070C0"/>
              </a:solidFill>
              <a:latin typeface="Times New Roman" panose="02020603050405020304" pitchFamily="18" charset="0"/>
            </a:endParaRPr>
          </a:p>
          <a:p>
            <a:pPr algn="just"/>
            <a:r>
              <a:rPr lang="en-US" sz="2000" dirty="0">
                <a:latin typeface="Times New Roman" panose="02020603050405020304" pitchFamily="18" charset="0"/>
              </a:rPr>
              <a:t>Rinse and fill the burette with EDTA solution. Pipette out V</a:t>
            </a:r>
            <a:r>
              <a:rPr lang="en-US" sz="2000" baseline="-25000" dirty="0">
                <a:latin typeface="Times New Roman" panose="02020603050405020304" pitchFamily="18" charset="0"/>
              </a:rPr>
              <a:t>1</a:t>
            </a:r>
            <a:r>
              <a:rPr lang="en-US" sz="2000" dirty="0">
                <a:latin typeface="Times New Roman" panose="02020603050405020304" pitchFamily="18" charset="0"/>
              </a:rPr>
              <a:t> ml of standard hard water (M</a:t>
            </a:r>
            <a:r>
              <a:rPr lang="en-US" sz="2000" baseline="-25000" dirty="0">
                <a:latin typeface="Times New Roman" panose="02020603050405020304" pitchFamily="18" charset="0"/>
              </a:rPr>
              <a:t>1</a:t>
            </a:r>
            <a:r>
              <a:rPr lang="en-US" sz="2000" dirty="0">
                <a:latin typeface="Times New Roman" panose="02020603050405020304" pitchFamily="18" charset="0"/>
              </a:rPr>
              <a:t>) in a conical flask. Add 4-5 ml of buffer solution and 2 drops of EBT indicator. Titrate with EDTA solution till wine-red </a:t>
            </a:r>
            <a:r>
              <a:rPr lang="en-US" sz="2000" dirty="0" err="1">
                <a:latin typeface="Times New Roman" panose="02020603050405020304" pitchFamily="18" charset="0"/>
              </a:rPr>
              <a:t>colour</a:t>
            </a:r>
            <a:r>
              <a:rPr lang="en-US" sz="2000" dirty="0">
                <a:latin typeface="Times New Roman" panose="02020603050405020304" pitchFamily="18" charset="0"/>
              </a:rPr>
              <a:t> changes to clear blue. Let volume used by ‘V</a:t>
            </a:r>
            <a:r>
              <a:rPr lang="en-US" sz="2000" baseline="-25000" dirty="0">
                <a:latin typeface="Times New Roman" panose="02020603050405020304" pitchFamily="18" charset="0"/>
              </a:rPr>
              <a:t>2</a:t>
            </a:r>
            <a:r>
              <a:rPr lang="en-US" sz="2000" dirty="0">
                <a:latin typeface="Times New Roman" panose="02020603050405020304" pitchFamily="18" charset="0"/>
              </a:rPr>
              <a:t>’ ml.</a:t>
            </a:r>
          </a:p>
        </p:txBody>
      </p:sp>
      <p:sp>
        <p:nvSpPr>
          <p:cNvPr id="7" name="TextBox 6">
            <a:extLst>
              <a:ext uri="{FF2B5EF4-FFF2-40B4-BE49-F238E27FC236}">
                <a16:creationId xmlns:a16="http://schemas.microsoft.com/office/drawing/2014/main" id="{42A846F8-12C1-4FDF-8ED4-2AD75E795A74}"/>
              </a:ext>
            </a:extLst>
          </p:cNvPr>
          <p:cNvSpPr txBox="1"/>
          <p:nvPr/>
        </p:nvSpPr>
        <p:spPr>
          <a:xfrm>
            <a:off x="2810256" y="2874333"/>
            <a:ext cx="6438900" cy="461665"/>
          </a:xfrm>
          <a:prstGeom prst="rect">
            <a:avLst/>
          </a:prstGeom>
          <a:noFill/>
        </p:spPr>
        <p:txBody>
          <a:bodyPr wrap="square">
            <a:spAutoFit/>
          </a:bodyPr>
          <a:lstStyle/>
          <a:p>
            <a:r>
              <a:rPr lang="en-IN" sz="2400" b="1" dirty="0">
                <a:highlight>
                  <a:srgbClr val="00FF00"/>
                </a:highlight>
              </a:rPr>
              <a:t>M</a:t>
            </a:r>
            <a:r>
              <a:rPr lang="en-IN" sz="2400" b="1" baseline="-25000" dirty="0">
                <a:highlight>
                  <a:srgbClr val="00FF00"/>
                </a:highlight>
              </a:rPr>
              <a:t>1</a:t>
            </a:r>
            <a:r>
              <a:rPr lang="en-IN" sz="2400" b="1" dirty="0">
                <a:highlight>
                  <a:srgbClr val="00FF00"/>
                </a:highlight>
              </a:rPr>
              <a:t>.V</a:t>
            </a:r>
            <a:r>
              <a:rPr lang="en-IN" sz="2400" b="1" baseline="-25000" dirty="0">
                <a:highlight>
                  <a:srgbClr val="00FF00"/>
                </a:highlight>
              </a:rPr>
              <a:t>1</a:t>
            </a:r>
            <a:r>
              <a:rPr lang="en-IN" sz="2400" b="1" dirty="0">
                <a:highlight>
                  <a:srgbClr val="00FF00"/>
                </a:highlight>
              </a:rPr>
              <a:t> = M</a:t>
            </a:r>
            <a:r>
              <a:rPr lang="en-IN" sz="2400" b="1" baseline="-25000" dirty="0">
                <a:highlight>
                  <a:srgbClr val="00FF00"/>
                </a:highlight>
              </a:rPr>
              <a:t>2</a:t>
            </a:r>
            <a:r>
              <a:rPr lang="en-IN" sz="2400" b="1" dirty="0">
                <a:highlight>
                  <a:srgbClr val="00FF00"/>
                </a:highlight>
              </a:rPr>
              <a:t>.V</a:t>
            </a:r>
            <a:r>
              <a:rPr lang="en-IN" sz="2400" b="1" baseline="-25000" dirty="0">
                <a:highlight>
                  <a:srgbClr val="00FF00"/>
                </a:highlight>
              </a:rPr>
              <a:t>2</a:t>
            </a:r>
            <a:r>
              <a:rPr lang="en-IN" sz="2400" b="1" dirty="0">
                <a:highlight>
                  <a:srgbClr val="00FF00"/>
                </a:highlight>
              </a:rPr>
              <a:t>     »     M</a:t>
            </a:r>
            <a:r>
              <a:rPr lang="en-IN" sz="2400" b="1" baseline="-25000" dirty="0">
                <a:highlight>
                  <a:srgbClr val="00FF00"/>
                </a:highlight>
              </a:rPr>
              <a:t>2</a:t>
            </a:r>
            <a:r>
              <a:rPr lang="en-IN" sz="2400" b="1" dirty="0">
                <a:highlight>
                  <a:srgbClr val="00FF00"/>
                </a:highlight>
              </a:rPr>
              <a:t> = (M</a:t>
            </a:r>
            <a:r>
              <a:rPr lang="en-IN" sz="2400" b="1" baseline="-25000" dirty="0">
                <a:highlight>
                  <a:srgbClr val="00FF00"/>
                </a:highlight>
              </a:rPr>
              <a:t>1</a:t>
            </a:r>
            <a:r>
              <a:rPr lang="en-IN" sz="2400" b="1" dirty="0">
                <a:highlight>
                  <a:srgbClr val="00FF00"/>
                </a:highlight>
              </a:rPr>
              <a:t>.V</a:t>
            </a:r>
            <a:r>
              <a:rPr lang="en-IN" sz="2400" b="1" baseline="-25000" dirty="0">
                <a:highlight>
                  <a:srgbClr val="00FF00"/>
                </a:highlight>
              </a:rPr>
              <a:t>1</a:t>
            </a:r>
            <a:r>
              <a:rPr lang="en-IN" sz="2400" b="1" dirty="0">
                <a:highlight>
                  <a:srgbClr val="00FF00"/>
                </a:highlight>
              </a:rPr>
              <a:t>)/V</a:t>
            </a:r>
            <a:r>
              <a:rPr lang="en-IN" sz="2400" b="1" baseline="-25000" dirty="0">
                <a:highlight>
                  <a:srgbClr val="00FF00"/>
                </a:highlight>
              </a:rPr>
              <a:t>2</a:t>
            </a:r>
            <a:r>
              <a:rPr lang="en-IN" sz="2400" b="1" dirty="0">
                <a:highlight>
                  <a:srgbClr val="00FF00"/>
                </a:highlight>
              </a:rPr>
              <a:t>  </a:t>
            </a:r>
            <a:endParaRPr lang="en-IN" b="1" dirty="0">
              <a:highlight>
                <a:srgbClr val="00FF00"/>
              </a:highlight>
            </a:endParaRPr>
          </a:p>
        </p:txBody>
      </p:sp>
      <p:sp>
        <p:nvSpPr>
          <p:cNvPr id="9" name="TextBox 8">
            <a:extLst>
              <a:ext uri="{FF2B5EF4-FFF2-40B4-BE49-F238E27FC236}">
                <a16:creationId xmlns:a16="http://schemas.microsoft.com/office/drawing/2014/main" id="{7D3792C2-DAED-4AF8-8491-7EECA15EB232}"/>
              </a:ext>
            </a:extLst>
          </p:cNvPr>
          <p:cNvSpPr txBox="1"/>
          <p:nvPr/>
        </p:nvSpPr>
        <p:spPr>
          <a:xfrm>
            <a:off x="2057400" y="3910585"/>
            <a:ext cx="8077200" cy="1323439"/>
          </a:xfrm>
          <a:prstGeom prst="rect">
            <a:avLst/>
          </a:prstGeom>
          <a:noFill/>
        </p:spPr>
        <p:txBody>
          <a:bodyPr wrap="square">
            <a:spAutoFit/>
          </a:bodyPr>
          <a:lstStyle/>
          <a:p>
            <a:r>
              <a:rPr lang="en-US" sz="2000" b="1" dirty="0">
                <a:latin typeface="Times New Roman" panose="02020603050405020304" pitchFamily="18" charset="0"/>
              </a:rPr>
              <a:t>Where, M</a:t>
            </a:r>
            <a:r>
              <a:rPr lang="en-US" sz="2000" b="1" baseline="-25000" dirty="0">
                <a:latin typeface="Times New Roman" panose="02020603050405020304" pitchFamily="18" charset="0"/>
              </a:rPr>
              <a:t>1</a:t>
            </a:r>
            <a:r>
              <a:rPr lang="en-US" sz="2000" b="1" dirty="0">
                <a:latin typeface="Times New Roman" panose="02020603050405020304" pitchFamily="18" charset="0"/>
              </a:rPr>
              <a:t> = Molarity of Standard Hard water, </a:t>
            </a:r>
          </a:p>
          <a:p>
            <a:r>
              <a:rPr lang="en-US" sz="2000" b="1" dirty="0">
                <a:latin typeface="Times New Roman" panose="02020603050405020304" pitchFamily="18" charset="0"/>
              </a:rPr>
              <a:t>	 V</a:t>
            </a:r>
            <a:r>
              <a:rPr lang="en-US" sz="2000" b="1" baseline="-25000" dirty="0">
                <a:latin typeface="Times New Roman" panose="02020603050405020304" pitchFamily="18" charset="0"/>
              </a:rPr>
              <a:t>1</a:t>
            </a:r>
            <a:r>
              <a:rPr lang="en-US" sz="2000" b="1" dirty="0">
                <a:latin typeface="Times New Roman" panose="02020603050405020304" pitchFamily="18" charset="0"/>
              </a:rPr>
              <a:t> = Volume of Standard Hard water, </a:t>
            </a:r>
          </a:p>
          <a:p>
            <a:r>
              <a:rPr lang="en-IN" sz="2000" b="1" dirty="0">
                <a:latin typeface="Times New Roman" panose="02020603050405020304" pitchFamily="18" charset="0"/>
              </a:rPr>
              <a:t>	 M</a:t>
            </a:r>
            <a:r>
              <a:rPr lang="en-IN" sz="2000" b="1" baseline="-25000" dirty="0">
                <a:latin typeface="Times New Roman" panose="02020603050405020304" pitchFamily="18" charset="0"/>
              </a:rPr>
              <a:t>2</a:t>
            </a:r>
            <a:r>
              <a:rPr lang="en-IN" sz="2000" b="1" dirty="0">
                <a:latin typeface="Times New Roman" panose="02020603050405020304" pitchFamily="18" charset="0"/>
              </a:rPr>
              <a:t> = Molarity of EDTA, </a:t>
            </a:r>
          </a:p>
          <a:p>
            <a:r>
              <a:rPr lang="en-IN" sz="2000" b="1" dirty="0">
                <a:latin typeface="Times New Roman" panose="02020603050405020304" pitchFamily="18" charset="0"/>
              </a:rPr>
              <a:t>	 V</a:t>
            </a:r>
            <a:r>
              <a:rPr lang="en-IN" sz="2000" b="1" baseline="-25000" dirty="0">
                <a:latin typeface="Times New Roman" panose="02020603050405020304" pitchFamily="18" charset="0"/>
              </a:rPr>
              <a:t>2</a:t>
            </a:r>
            <a:r>
              <a:rPr lang="en-IN" sz="2000" b="1" dirty="0">
                <a:latin typeface="Times New Roman" panose="02020603050405020304" pitchFamily="18" charset="0"/>
              </a:rPr>
              <a:t> = Volume of EDTA </a:t>
            </a:r>
            <a:endParaRPr lang="en-IN" sz="2000" b="1" dirty="0"/>
          </a:p>
        </p:txBody>
      </p:sp>
    </p:spTree>
    <p:extLst>
      <p:ext uri="{BB962C8B-B14F-4D97-AF65-F5344CB8AC3E}">
        <p14:creationId xmlns:p14="http://schemas.microsoft.com/office/powerpoint/2010/main" val="8686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AC8E26-2028-4324-8E84-3BA9374D9C72}"/>
              </a:ext>
            </a:extLst>
          </p:cNvPr>
          <p:cNvSpPr txBox="1"/>
          <p:nvPr/>
        </p:nvSpPr>
        <p:spPr>
          <a:xfrm>
            <a:off x="945255" y="935331"/>
            <a:ext cx="10570464" cy="1231106"/>
          </a:xfrm>
          <a:prstGeom prst="rect">
            <a:avLst/>
          </a:prstGeom>
          <a:noFill/>
        </p:spPr>
        <p:txBody>
          <a:bodyPr wrap="square">
            <a:spAutoFit/>
          </a:bodyPr>
          <a:lstStyle/>
          <a:p>
            <a:pPr algn="just"/>
            <a:endParaRPr lang="en-US" b="1" dirty="0">
              <a:solidFill>
                <a:srgbClr val="0070C0"/>
              </a:solidFill>
              <a:latin typeface="Times New Roman" panose="02020603050405020304" pitchFamily="18" charset="0"/>
            </a:endParaRPr>
          </a:p>
          <a:p>
            <a:pPr algn="just"/>
            <a:r>
              <a:rPr lang="en-US" sz="2000" dirty="0">
                <a:latin typeface="Times New Roman" panose="02020603050405020304" pitchFamily="18" charset="0"/>
              </a:rPr>
              <a:t>Rinse and fill the burette with EDTA solution. Pipette out sample water (V</a:t>
            </a:r>
            <a:r>
              <a:rPr lang="en-US" sz="2000" baseline="-25000" dirty="0">
                <a:latin typeface="Times New Roman" panose="02020603050405020304" pitchFamily="18" charset="0"/>
              </a:rPr>
              <a:t>3</a:t>
            </a:r>
            <a:r>
              <a:rPr lang="en-US" sz="2000" dirty="0">
                <a:latin typeface="Times New Roman" panose="02020603050405020304" pitchFamily="18" charset="0"/>
              </a:rPr>
              <a:t>) in a conical flask. Add 4-5 ml of buffer solution and 2 drops indicator. Titrate with EDTA solution till wine-red </a:t>
            </a:r>
            <a:r>
              <a:rPr lang="en-US" sz="2000" dirty="0" err="1">
                <a:latin typeface="Times New Roman" panose="02020603050405020304" pitchFamily="18" charset="0"/>
              </a:rPr>
              <a:t>colour</a:t>
            </a:r>
            <a:r>
              <a:rPr lang="en-US" sz="2000" dirty="0">
                <a:latin typeface="Times New Roman" panose="02020603050405020304" pitchFamily="18" charset="0"/>
              </a:rPr>
              <a:t> changes to clear blue. Let volume used by ‘V</a:t>
            </a:r>
            <a:r>
              <a:rPr lang="en-US" sz="2000" baseline="-25000" dirty="0">
                <a:latin typeface="Times New Roman" panose="02020603050405020304" pitchFamily="18" charset="0"/>
              </a:rPr>
              <a:t>4</a:t>
            </a:r>
            <a:r>
              <a:rPr lang="en-US" sz="2000" dirty="0">
                <a:latin typeface="Times New Roman" panose="02020603050405020304" pitchFamily="18" charset="0"/>
              </a:rPr>
              <a:t>’ ml.</a:t>
            </a:r>
          </a:p>
        </p:txBody>
      </p:sp>
      <p:sp>
        <p:nvSpPr>
          <p:cNvPr id="5" name="TextBox 4">
            <a:extLst>
              <a:ext uri="{FF2B5EF4-FFF2-40B4-BE49-F238E27FC236}">
                <a16:creationId xmlns:a16="http://schemas.microsoft.com/office/drawing/2014/main" id="{966A4A80-6C60-4D01-A826-D3640B92300B}"/>
              </a:ext>
            </a:extLst>
          </p:cNvPr>
          <p:cNvSpPr txBox="1"/>
          <p:nvPr/>
        </p:nvSpPr>
        <p:spPr>
          <a:xfrm>
            <a:off x="3411087" y="2536042"/>
            <a:ext cx="5638800" cy="461665"/>
          </a:xfrm>
          <a:prstGeom prst="rect">
            <a:avLst/>
          </a:prstGeom>
          <a:noFill/>
        </p:spPr>
        <p:txBody>
          <a:bodyPr wrap="square">
            <a:spAutoFit/>
          </a:bodyPr>
          <a:lstStyle/>
          <a:p>
            <a:r>
              <a:rPr lang="en-IN" sz="2400" b="1" dirty="0">
                <a:highlight>
                  <a:srgbClr val="00FF00"/>
                </a:highlight>
              </a:rPr>
              <a:t>M</a:t>
            </a:r>
            <a:r>
              <a:rPr lang="en-IN" sz="2400" b="1" baseline="-25000" dirty="0">
                <a:highlight>
                  <a:srgbClr val="00FF00"/>
                </a:highlight>
              </a:rPr>
              <a:t>3</a:t>
            </a:r>
            <a:r>
              <a:rPr lang="en-IN" sz="2400" b="1" dirty="0">
                <a:highlight>
                  <a:srgbClr val="00FF00"/>
                </a:highlight>
              </a:rPr>
              <a:t>.V</a:t>
            </a:r>
            <a:r>
              <a:rPr lang="en-IN" sz="2400" b="1" baseline="-25000" dirty="0">
                <a:highlight>
                  <a:srgbClr val="00FF00"/>
                </a:highlight>
              </a:rPr>
              <a:t>3</a:t>
            </a:r>
            <a:r>
              <a:rPr lang="en-IN" sz="2400" b="1" dirty="0">
                <a:highlight>
                  <a:srgbClr val="00FF00"/>
                </a:highlight>
              </a:rPr>
              <a:t> = M</a:t>
            </a:r>
            <a:r>
              <a:rPr lang="en-IN" sz="2400" b="1" baseline="-25000" dirty="0">
                <a:highlight>
                  <a:srgbClr val="00FF00"/>
                </a:highlight>
              </a:rPr>
              <a:t>4</a:t>
            </a:r>
            <a:r>
              <a:rPr lang="en-IN" sz="2400" b="1" dirty="0">
                <a:highlight>
                  <a:srgbClr val="00FF00"/>
                </a:highlight>
              </a:rPr>
              <a:t>.V</a:t>
            </a:r>
            <a:r>
              <a:rPr lang="en-IN" sz="2400" b="1" baseline="-25000" dirty="0">
                <a:highlight>
                  <a:srgbClr val="00FF00"/>
                </a:highlight>
              </a:rPr>
              <a:t>4       </a:t>
            </a:r>
            <a:r>
              <a:rPr lang="en-IN" sz="2400" b="1" dirty="0">
                <a:highlight>
                  <a:srgbClr val="00FF00"/>
                </a:highlight>
              </a:rPr>
              <a:t>»    M</a:t>
            </a:r>
            <a:r>
              <a:rPr lang="en-IN" sz="2400" b="1" baseline="-25000" dirty="0">
                <a:highlight>
                  <a:srgbClr val="00FF00"/>
                </a:highlight>
              </a:rPr>
              <a:t>3</a:t>
            </a:r>
            <a:r>
              <a:rPr lang="en-IN" sz="2400" b="1" dirty="0">
                <a:highlight>
                  <a:srgbClr val="00FF00"/>
                </a:highlight>
              </a:rPr>
              <a:t> = (M</a:t>
            </a:r>
            <a:r>
              <a:rPr lang="en-IN" sz="2400" b="1" baseline="-25000" dirty="0">
                <a:highlight>
                  <a:srgbClr val="00FF00"/>
                </a:highlight>
              </a:rPr>
              <a:t>2</a:t>
            </a:r>
            <a:r>
              <a:rPr lang="en-IN" sz="2400" b="1" dirty="0">
                <a:highlight>
                  <a:srgbClr val="00FF00"/>
                </a:highlight>
              </a:rPr>
              <a:t>.V</a:t>
            </a:r>
            <a:r>
              <a:rPr lang="en-IN" sz="2400" b="1" baseline="-25000" dirty="0">
                <a:highlight>
                  <a:srgbClr val="00FF00"/>
                </a:highlight>
              </a:rPr>
              <a:t>4</a:t>
            </a:r>
            <a:r>
              <a:rPr lang="en-IN" sz="2400" b="1" dirty="0">
                <a:highlight>
                  <a:srgbClr val="00FF00"/>
                </a:highlight>
              </a:rPr>
              <a:t>)/V</a:t>
            </a:r>
            <a:r>
              <a:rPr lang="en-IN" sz="2400" b="1" baseline="-25000" dirty="0">
                <a:highlight>
                  <a:srgbClr val="00FF00"/>
                </a:highlight>
              </a:rPr>
              <a:t>3</a:t>
            </a:r>
            <a:r>
              <a:rPr lang="en-IN" sz="2400" b="1" dirty="0">
                <a:highlight>
                  <a:srgbClr val="00FF00"/>
                </a:highlight>
              </a:rPr>
              <a:t> </a:t>
            </a:r>
            <a:endParaRPr lang="en-IN" b="1" dirty="0">
              <a:highlight>
                <a:srgbClr val="00FF00"/>
              </a:highlight>
            </a:endParaRPr>
          </a:p>
        </p:txBody>
      </p:sp>
      <p:sp>
        <p:nvSpPr>
          <p:cNvPr id="7" name="TextBox 6">
            <a:extLst>
              <a:ext uri="{FF2B5EF4-FFF2-40B4-BE49-F238E27FC236}">
                <a16:creationId xmlns:a16="http://schemas.microsoft.com/office/drawing/2014/main" id="{F9713F18-7969-44EE-AC0E-16B7EC8CBF13}"/>
              </a:ext>
            </a:extLst>
          </p:cNvPr>
          <p:cNvSpPr txBox="1"/>
          <p:nvPr/>
        </p:nvSpPr>
        <p:spPr>
          <a:xfrm>
            <a:off x="2057400" y="3198574"/>
            <a:ext cx="8077200" cy="1323439"/>
          </a:xfrm>
          <a:prstGeom prst="rect">
            <a:avLst/>
          </a:prstGeom>
          <a:noFill/>
        </p:spPr>
        <p:txBody>
          <a:bodyPr wrap="square">
            <a:spAutoFit/>
          </a:bodyPr>
          <a:lstStyle/>
          <a:p>
            <a:r>
              <a:rPr lang="en-US" sz="2000" b="1" dirty="0">
                <a:latin typeface="Times New Roman" panose="02020603050405020304" pitchFamily="18" charset="0"/>
              </a:rPr>
              <a:t>Where, 	 M</a:t>
            </a:r>
            <a:r>
              <a:rPr lang="en-US" sz="2000" b="1" baseline="-25000" dirty="0">
                <a:latin typeface="Times New Roman" panose="02020603050405020304" pitchFamily="18" charset="0"/>
              </a:rPr>
              <a:t>3</a:t>
            </a:r>
            <a:r>
              <a:rPr lang="en-US" sz="2000" b="1" dirty="0">
                <a:latin typeface="Times New Roman" panose="02020603050405020304" pitchFamily="18" charset="0"/>
              </a:rPr>
              <a:t> = Molarity of Sample Hard water, </a:t>
            </a:r>
          </a:p>
          <a:p>
            <a:r>
              <a:rPr lang="en-US" sz="2000" b="1" dirty="0">
                <a:latin typeface="Times New Roman" panose="02020603050405020304" pitchFamily="18" charset="0"/>
              </a:rPr>
              <a:t>	 V</a:t>
            </a:r>
            <a:r>
              <a:rPr lang="en-US" sz="2000" b="1" baseline="-25000" dirty="0">
                <a:latin typeface="Times New Roman" panose="02020603050405020304" pitchFamily="18" charset="0"/>
              </a:rPr>
              <a:t>3</a:t>
            </a:r>
            <a:r>
              <a:rPr lang="en-US" sz="2000" b="1" dirty="0">
                <a:latin typeface="Times New Roman" panose="02020603050405020304" pitchFamily="18" charset="0"/>
              </a:rPr>
              <a:t> = Volume of Sample Hard water, </a:t>
            </a:r>
          </a:p>
          <a:p>
            <a:r>
              <a:rPr lang="en-IN" sz="2000" b="1" dirty="0">
                <a:latin typeface="Times New Roman" panose="02020603050405020304" pitchFamily="18" charset="0"/>
              </a:rPr>
              <a:t>	 </a:t>
            </a:r>
            <a:r>
              <a:rPr lang="en-IN" sz="2000" b="1" dirty="0">
                <a:solidFill>
                  <a:srgbClr val="CF0E30"/>
                </a:solidFill>
                <a:latin typeface="Times New Roman" panose="02020603050405020304" pitchFamily="18" charset="0"/>
              </a:rPr>
              <a:t>M</a:t>
            </a:r>
            <a:r>
              <a:rPr lang="en-IN" sz="2000" b="1" baseline="-25000" dirty="0">
                <a:solidFill>
                  <a:srgbClr val="CF0E30"/>
                </a:solidFill>
                <a:latin typeface="Times New Roman" panose="02020603050405020304" pitchFamily="18" charset="0"/>
              </a:rPr>
              <a:t>4</a:t>
            </a:r>
            <a:r>
              <a:rPr lang="en-IN" sz="2000" b="1" dirty="0">
                <a:solidFill>
                  <a:srgbClr val="CF0E30"/>
                </a:solidFill>
                <a:latin typeface="Times New Roman" panose="02020603050405020304" pitchFamily="18" charset="0"/>
              </a:rPr>
              <a:t> = Molarity of EDTA = M</a:t>
            </a:r>
            <a:r>
              <a:rPr lang="en-IN" sz="2000" b="1" baseline="-25000" dirty="0">
                <a:solidFill>
                  <a:srgbClr val="CF0E30"/>
                </a:solidFill>
                <a:latin typeface="Times New Roman" panose="02020603050405020304" pitchFamily="18" charset="0"/>
              </a:rPr>
              <a:t>2</a:t>
            </a:r>
            <a:r>
              <a:rPr lang="en-IN" sz="2000" b="1" dirty="0">
                <a:latin typeface="Times New Roman" panose="02020603050405020304" pitchFamily="18" charset="0"/>
              </a:rPr>
              <a:t>, </a:t>
            </a:r>
          </a:p>
          <a:p>
            <a:r>
              <a:rPr lang="en-IN" sz="2000" b="1" dirty="0">
                <a:latin typeface="Times New Roman" panose="02020603050405020304" pitchFamily="18" charset="0"/>
              </a:rPr>
              <a:t>	 V</a:t>
            </a:r>
            <a:r>
              <a:rPr lang="en-IN" sz="2000" b="1" baseline="-25000" dirty="0">
                <a:latin typeface="Times New Roman" panose="02020603050405020304" pitchFamily="18" charset="0"/>
              </a:rPr>
              <a:t>4</a:t>
            </a:r>
            <a:r>
              <a:rPr lang="en-IN" sz="2000" b="1" dirty="0">
                <a:latin typeface="Times New Roman" panose="02020603050405020304" pitchFamily="18" charset="0"/>
              </a:rPr>
              <a:t> = Volume of EDTA </a:t>
            </a:r>
            <a:endParaRPr lang="en-IN" sz="2000" b="1" dirty="0"/>
          </a:p>
        </p:txBody>
      </p:sp>
      <p:sp>
        <p:nvSpPr>
          <p:cNvPr id="9" name="TextBox 8">
            <a:extLst>
              <a:ext uri="{FF2B5EF4-FFF2-40B4-BE49-F238E27FC236}">
                <a16:creationId xmlns:a16="http://schemas.microsoft.com/office/drawing/2014/main" id="{0CDAA9BE-E211-45C6-A676-11145EAE4938}"/>
              </a:ext>
            </a:extLst>
          </p:cNvPr>
          <p:cNvSpPr txBox="1"/>
          <p:nvPr/>
        </p:nvSpPr>
        <p:spPr>
          <a:xfrm>
            <a:off x="1925187" y="4839697"/>
            <a:ext cx="9440805" cy="1015663"/>
          </a:xfrm>
          <a:prstGeom prst="rect">
            <a:avLst/>
          </a:prstGeom>
          <a:noFill/>
        </p:spPr>
        <p:txBody>
          <a:bodyPr wrap="square">
            <a:spAutoFit/>
          </a:bodyPr>
          <a:lstStyle/>
          <a:p>
            <a:r>
              <a:rPr lang="en-US" sz="2000" b="1" dirty="0">
                <a:highlight>
                  <a:srgbClr val="00FF00"/>
                </a:highlight>
                <a:latin typeface="Times New Roman" panose="02020603050405020304" pitchFamily="18" charset="0"/>
              </a:rPr>
              <a:t>Total Hardness </a:t>
            </a:r>
            <a:r>
              <a:rPr lang="en-US" sz="2000" b="1" dirty="0">
                <a:latin typeface="Times New Roman" panose="02020603050405020304" pitchFamily="18" charset="0"/>
              </a:rPr>
              <a:t>= M</a:t>
            </a:r>
            <a:r>
              <a:rPr lang="en-US" sz="2000" b="1" baseline="-25000" dirty="0">
                <a:latin typeface="Times New Roman" panose="02020603050405020304" pitchFamily="18" charset="0"/>
              </a:rPr>
              <a:t>3</a:t>
            </a:r>
            <a:r>
              <a:rPr lang="en-US" sz="2000" b="1" dirty="0">
                <a:latin typeface="Times New Roman" panose="02020603050405020304" pitchFamily="18" charset="0"/>
              </a:rPr>
              <a:t> </a:t>
            </a:r>
            <a:r>
              <a:rPr lang="en-US" sz="2000" b="1" dirty="0">
                <a:latin typeface="Cambria Math" panose="02040503050406030204" pitchFamily="18" charset="0"/>
              </a:rPr>
              <a:t>× </a:t>
            </a:r>
            <a:r>
              <a:rPr lang="en-US" sz="2000" b="1" dirty="0">
                <a:latin typeface="Times New Roman" panose="02020603050405020304" pitchFamily="18" charset="0"/>
              </a:rPr>
              <a:t>Molecular weight of CaCO</a:t>
            </a:r>
            <a:r>
              <a:rPr lang="en-US" sz="2000" b="1" baseline="-25000" dirty="0">
                <a:latin typeface="Times New Roman" panose="02020603050405020304" pitchFamily="18" charset="0"/>
              </a:rPr>
              <a:t>3</a:t>
            </a:r>
            <a:r>
              <a:rPr lang="en-US" sz="2000" b="1" dirty="0">
                <a:latin typeface="Times New Roman" panose="02020603050405020304" pitchFamily="18" charset="0"/>
              </a:rPr>
              <a:t> (100) × One </a:t>
            </a:r>
            <a:r>
              <a:rPr lang="en-US" sz="2000" b="1" dirty="0" err="1">
                <a:latin typeface="Times New Roman" panose="02020603050405020304" pitchFamily="18" charset="0"/>
              </a:rPr>
              <a:t>Litre</a:t>
            </a:r>
            <a:r>
              <a:rPr lang="en-US" sz="2000" b="1" dirty="0">
                <a:latin typeface="Times New Roman" panose="02020603050405020304" pitchFamily="18" charset="0"/>
              </a:rPr>
              <a:t> (1000ml) </a:t>
            </a:r>
          </a:p>
          <a:p>
            <a:r>
              <a:rPr lang="en-IN" sz="2000" b="1" dirty="0">
                <a:latin typeface="Times New Roman" panose="02020603050405020304" pitchFamily="18" charset="0"/>
              </a:rPr>
              <a:t>	   </a:t>
            </a:r>
          </a:p>
          <a:p>
            <a:r>
              <a:rPr lang="en-IN" sz="2000" b="1" dirty="0">
                <a:latin typeface="Times New Roman" panose="02020603050405020304" pitchFamily="18" charset="0"/>
              </a:rPr>
              <a:t>	           = M</a:t>
            </a:r>
            <a:r>
              <a:rPr lang="en-IN" sz="2000" b="1" baseline="-25000" dirty="0">
                <a:latin typeface="Times New Roman" panose="02020603050405020304" pitchFamily="18" charset="0"/>
              </a:rPr>
              <a:t>3</a:t>
            </a:r>
            <a:r>
              <a:rPr lang="en-IN" sz="2000" b="1" dirty="0">
                <a:latin typeface="Times New Roman" panose="02020603050405020304" pitchFamily="18" charset="0"/>
              </a:rPr>
              <a:t> × 10</a:t>
            </a:r>
            <a:r>
              <a:rPr lang="en-IN" sz="2000" b="1" baseline="30000" dirty="0">
                <a:latin typeface="Times New Roman" panose="02020603050405020304" pitchFamily="18" charset="0"/>
              </a:rPr>
              <a:t>5</a:t>
            </a:r>
            <a:r>
              <a:rPr lang="en-IN" sz="2000" b="1" dirty="0">
                <a:latin typeface="Times New Roman" panose="02020603050405020304" pitchFamily="18" charset="0"/>
              </a:rPr>
              <a:t> ppm </a:t>
            </a:r>
            <a:endParaRPr lang="en-IN" sz="2000" b="1" dirty="0"/>
          </a:p>
        </p:txBody>
      </p:sp>
      <p:sp>
        <p:nvSpPr>
          <p:cNvPr id="2" name="TextBox 1">
            <a:extLst>
              <a:ext uri="{FF2B5EF4-FFF2-40B4-BE49-F238E27FC236}">
                <a16:creationId xmlns:a16="http://schemas.microsoft.com/office/drawing/2014/main" id="{631D591F-45D2-D0BA-B8D8-11D9516359BB}"/>
              </a:ext>
            </a:extLst>
          </p:cNvPr>
          <p:cNvSpPr txBox="1"/>
          <p:nvPr/>
        </p:nvSpPr>
        <p:spPr>
          <a:xfrm>
            <a:off x="855726" y="537380"/>
            <a:ext cx="8571738" cy="523220"/>
          </a:xfrm>
          <a:prstGeom prst="rect">
            <a:avLst/>
          </a:prstGeom>
          <a:noFill/>
        </p:spPr>
        <p:txBody>
          <a:bodyPr wrap="square">
            <a:spAutoFit/>
          </a:bodyPr>
          <a:lstStyle/>
          <a:p>
            <a:pPr algn="just"/>
            <a:r>
              <a:rPr lang="en-US" sz="2800" b="1" u="sng" dirty="0">
                <a:solidFill>
                  <a:srgbClr val="0070C0"/>
                </a:solidFill>
                <a:latin typeface="Times New Roman" panose="02020603050405020304" pitchFamily="18" charset="0"/>
              </a:rPr>
              <a:t> 2. Determination of Total Hardness:</a:t>
            </a:r>
            <a:r>
              <a:rPr lang="en-US" sz="2800" b="1" dirty="0">
                <a:solidFill>
                  <a:srgbClr val="0070C0"/>
                </a:solidFill>
                <a:latin typeface="Times New Roman" panose="02020603050405020304" pitchFamily="18" charset="0"/>
              </a:rPr>
              <a:t> </a:t>
            </a:r>
          </a:p>
        </p:txBody>
      </p:sp>
    </p:spTree>
    <p:extLst>
      <p:ext uri="{BB962C8B-B14F-4D97-AF65-F5344CB8AC3E}">
        <p14:creationId xmlns:p14="http://schemas.microsoft.com/office/powerpoint/2010/main" val="1870051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97895C-7CEF-4656-A22A-D90F01A3DF0B}"/>
              </a:ext>
            </a:extLst>
          </p:cNvPr>
          <p:cNvSpPr txBox="1"/>
          <p:nvPr/>
        </p:nvSpPr>
        <p:spPr>
          <a:xfrm>
            <a:off x="853059" y="1056882"/>
            <a:ext cx="10586085" cy="1631216"/>
          </a:xfrm>
          <a:prstGeom prst="rect">
            <a:avLst/>
          </a:prstGeom>
          <a:noFill/>
        </p:spPr>
        <p:txBody>
          <a:bodyPr wrap="square">
            <a:spAutoFit/>
          </a:bodyPr>
          <a:lstStyle/>
          <a:p>
            <a:pPr algn="just"/>
            <a:r>
              <a:rPr lang="en-US" sz="2000" dirty="0">
                <a:latin typeface="Times New Roman" panose="02020603050405020304" pitchFamily="18" charset="0"/>
              </a:rPr>
              <a:t>Take 100 ml of sample water in 250 ml beaker. Boil it to remove temporary hardness to about half of its volume and cool to room temperature, filter through filter paper to remove insoluble salts.</a:t>
            </a:r>
          </a:p>
          <a:p>
            <a:pPr algn="just"/>
            <a:r>
              <a:rPr lang="en-US" sz="2000" dirty="0">
                <a:latin typeface="Times New Roman" panose="02020603050405020304" pitchFamily="18" charset="0"/>
              </a:rPr>
              <a:t>Make up the volume to the original 100ml by adding distilled water. Now Pipette out this solution (V</a:t>
            </a:r>
            <a:r>
              <a:rPr lang="en-US" sz="2000" baseline="-25000" dirty="0">
                <a:latin typeface="Times New Roman" panose="02020603050405020304" pitchFamily="18" charset="0"/>
              </a:rPr>
              <a:t>3</a:t>
            </a:r>
            <a:r>
              <a:rPr lang="en-US" sz="2000" dirty="0">
                <a:latin typeface="Times New Roman" panose="02020603050405020304" pitchFamily="18" charset="0"/>
              </a:rPr>
              <a:t> ml) in a conical flask. Add 4-5 ml of buffer solution and 2 drops indicator. Titrate with EDTA solution till wine-red </a:t>
            </a:r>
            <a:r>
              <a:rPr lang="en-US" sz="2000" dirty="0" err="1">
                <a:latin typeface="Times New Roman" panose="02020603050405020304" pitchFamily="18" charset="0"/>
              </a:rPr>
              <a:t>colour</a:t>
            </a:r>
            <a:r>
              <a:rPr lang="en-US" sz="2000" dirty="0">
                <a:latin typeface="Times New Roman" panose="02020603050405020304" pitchFamily="18" charset="0"/>
              </a:rPr>
              <a:t> changes to clear blue. Let volume used by ‘V</a:t>
            </a:r>
            <a:r>
              <a:rPr lang="en-US" sz="2000" baseline="-25000" dirty="0">
                <a:latin typeface="Times New Roman" panose="02020603050405020304" pitchFamily="18" charset="0"/>
              </a:rPr>
              <a:t>4</a:t>
            </a:r>
            <a:r>
              <a:rPr lang="en-US" sz="2000" dirty="0">
                <a:latin typeface="Times New Roman" panose="02020603050405020304" pitchFamily="18" charset="0"/>
              </a:rPr>
              <a:t>’ ml. </a:t>
            </a:r>
          </a:p>
        </p:txBody>
      </p:sp>
      <p:sp>
        <p:nvSpPr>
          <p:cNvPr id="5" name="TextBox 4">
            <a:extLst>
              <a:ext uri="{FF2B5EF4-FFF2-40B4-BE49-F238E27FC236}">
                <a16:creationId xmlns:a16="http://schemas.microsoft.com/office/drawing/2014/main" id="{D5C30A22-E678-405D-A36E-4FA0D8298887}"/>
              </a:ext>
            </a:extLst>
          </p:cNvPr>
          <p:cNvSpPr txBox="1"/>
          <p:nvPr/>
        </p:nvSpPr>
        <p:spPr>
          <a:xfrm>
            <a:off x="2895975" y="2755873"/>
            <a:ext cx="5638800" cy="461665"/>
          </a:xfrm>
          <a:prstGeom prst="rect">
            <a:avLst/>
          </a:prstGeom>
          <a:noFill/>
        </p:spPr>
        <p:txBody>
          <a:bodyPr wrap="square">
            <a:spAutoFit/>
          </a:bodyPr>
          <a:lstStyle/>
          <a:p>
            <a:r>
              <a:rPr lang="en-IN" sz="2400" b="1" dirty="0">
                <a:highlight>
                  <a:srgbClr val="00FF00"/>
                </a:highlight>
              </a:rPr>
              <a:t>M</a:t>
            </a:r>
            <a:r>
              <a:rPr lang="en-IN" sz="2400" b="1" baseline="-25000" dirty="0">
                <a:highlight>
                  <a:srgbClr val="00FF00"/>
                </a:highlight>
              </a:rPr>
              <a:t>3</a:t>
            </a:r>
            <a:r>
              <a:rPr lang="en-IN" sz="2400" b="1" dirty="0">
                <a:highlight>
                  <a:srgbClr val="00FF00"/>
                </a:highlight>
              </a:rPr>
              <a:t>.V</a:t>
            </a:r>
            <a:r>
              <a:rPr lang="en-IN" sz="2400" b="1" baseline="-25000" dirty="0">
                <a:highlight>
                  <a:srgbClr val="00FF00"/>
                </a:highlight>
              </a:rPr>
              <a:t>3</a:t>
            </a:r>
            <a:r>
              <a:rPr lang="en-IN" sz="2400" b="1" dirty="0">
                <a:highlight>
                  <a:srgbClr val="00FF00"/>
                </a:highlight>
              </a:rPr>
              <a:t> = M</a:t>
            </a:r>
            <a:r>
              <a:rPr lang="en-IN" sz="2400" b="1" baseline="-25000" dirty="0">
                <a:highlight>
                  <a:srgbClr val="00FF00"/>
                </a:highlight>
              </a:rPr>
              <a:t>4</a:t>
            </a:r>
            <a:r>
              <a:rPr lang="en-IN" sz="2400" b="1" dirty="0">
                <a:highlight>
                  <a:srgbClr val="00FF00"/>
                </a:highlight>
              </a:rPr>
              <a:t>.V</a:t>
            </a:r>
            <a:r>
              <a:rPr lang="en-IN" sz="2400" b="1" baseline="-25000" dirty="0">
                <a:highlight>
                  <a:srgbClr val="00FF00"/>
                </a:highlight>
              </a:rPr>
              <a:t>4       </a:t>
            </a:r>
            <a:r>
              <a:rPr lang="en-IN" sz="2400" b="1" dirty="0">
                <a:highlight>
                  <a:srgbClr val="00FF00"/>
                </a:highlight>
              </a:rPr>
              <a:t>»    M</a:t>
            </a:r>
            <a:r>
              <a:rPr lang="en-IN" sz="2400" b="1" baseline="-25000" dirty="0">
                <a:highlight>
                  <a:srgbClr val="00FF00"/>
                </a:highlight>
              </a:rPr>
              <a:t>3</a:t>
            </a:r>
            <a:r>
              <a:rPr lang="en-IN" sz="2400" b="1" dirty="0">
                <a:highlight>
                  <a:srgbClr val="00FF00"/>
                </a:highlight>
              </a:rPr>
              <a:t> = (M</a:t>
            </a:r>
            <a:r>
              <a:rPr lang="en-IN" sz="2400" b="1" baseline="-25000" dirty="0">
                <a:highlight>
                  <a:srgbClr val="00FF00"/>
                </a:highlight>
              </a:rPr>
              <a:t>2</a:t>
            </a:r>
            <a:r>
              <a:rPr lang="en-IN" sz="2400" b="1" dirty="0">
                <a:highlight>
                  <a:srgbClr val="00FF00"/>
                </a:highlight>
              </a:rPr>
              <a:t>.V</a:t>
            </a:r>
            <a:r>
              <a:rPr lang="en-IN" sz="2400" b="1" baseline="-25000" dirty="0">
                <a:highlight>
                  <a:srgbClr val="00FF00"/>
                </a:highlight>
              </a:rPr>
              <a:t>4</a:t>
            </a:r>
            <a:r>
              <a:rPr lang="en-IN" sz="2400" b="1" dirty="0">
                <a:highlight>
                  <a:srgbClr val="00FF00"/>
                </a:highlight>
              </a:rPr>
              <a:t>)/V</a:t>
            </a:r>
            <a:r>
              <a:rPr lang="en-IN" sz="2400" b="1" baseline="-25000" dirty="0">
                <a:highlight>
                  <a:srgbClr val="00FF00"/>
                </a:highlight>
              </a:rPr>
              <a:t>3</a:t>
            </a:r>
            <a:r>
              <a:rPr lang="en-IN" sz="2400" b="1" dirty="0">
                <a:highlight>
                  <a:srgbClr val="00FF00"/>
                </a:highlight>
              </a:rPr>
              <a:t> </a:t>
            </a:r>
            <a:endParaRPr lang="en-IN" b="1" dirty="0">
              <a:highlight>
                <a:srgbClr val="00FF00"/>
              </a:highlight>
            </a:endParaRPr>
          </a:p>
        </p:txBody>
      </p:sp>
      <p:sp>
        <p:nvSpPr>
          <p:cNvPr id="7" name="TextBox 6">
            <a:extLst>
              <a:ext uri="{FF2B5EF4-FFF2-40B4-BE49-F238E27FC236}">
                <a16:creationId xmlns:a16="http://schemas.microsoft.com/office/drawing/2014/main" id="{799A529D-9F70-4968-BCBD-F09CE392DDA7}"/>
              </a:ext>
            </a:extLst>
          </p:cNvPr>
          <p:cNvSpPr txBox="1"/>
          <p:nvPr/>
        </p:nvSpPr>
        <p:spPr>
          <a:xfrm>
            <a:off x="1880616" y="3257484"/>
            <a:ext cx="8077200" cy="1200329"/>
          </a:xfrm>
          <a:prstGeom prst="rect">
            <a:avLst/>
          </a:prstGeom>
          <a:noFill/>
        </p:spPr>
        <p:txBody>
          <a:bodyPr wrap="square">
            <a:spAutoFit/>
          </a:bodyPr>
          <a:lstStyle/>
          <a:p>
            <a:r>
              <a:rPr lang="en-US" sz="1800" b="1" dirty="0">
                <a:latin typeface="Times New Roman" panose="02020603050405020304" pitchFamily="18" charset="0"/>
              </a:rPr>
              <a:t>Where, 	 M</a:t>
            </a:r>
            <a:r>
              <a:rPr lang="en-US" sz="1800" b="1" baseline="-25000" dirty="0">
                <a:latin typeface="Times New Roman" panose="02020603050405020304" pitchFamily="18" charset="0"/>
              </a:rPr>
              <a:t>3</a:t>
            </a:r>
            <a:r>
              <a:rPr lang="en-US" sz="1800" b="1" dirty="0">
                <a:latin typeface="Times New Roman" panose="02020603050405020304" pitchFamily="18" charset="0"/>
              </a:rPr>
              <a:t> = Molarity of Permanent Hard water, </a:t>
            </a:r>
          </a:p>
          <a:p>
            <a:r>
              <a:rPr lang="en-US" sz="1800" b="1" dirty="0">
                <a:latin typeface="Times New Roman" panose="02020603050405020304" pitchFamily="18" charset="0"/>
              </a:rPr>
              <a:t>	 V</a:t>
            </a:r>
            <a:r>
              <a:rPr lang="en-US" sz="1800" b="1" baseline="-25000" dirty="0">
                <a:latin typeface="Times New Roman" panose="02020603050405020304" pitchFamily="18" charset="0"/>
              </a:rPr>
              <a:t>3</a:t>
            </a:r>
            <a:r>
              <a:rPr lang="en-US" sz="1800" b="1" dirty="0">
                <a:latin typeface="Times New Roman" panose="02020603050405020304" pitchFamily="18" charset="0"/>
              </a:rPr>
              <a:t> = Volume of Permanent Hard water, </a:t>
            </a:r>
          </a:p>
          <a:p>
            <a:r>
              <a:rPr lang="en-IN" sz="1800" b="1" dirty="0">
                <a:latin typeface="Times New Roman" panose="02020603050405020304" pitchFamily="18" charset="0"/>
              </a:rPr>
              <a:t>	 </a:t>
            </a:r>
            <a:r>
              <a:rPr lang="en-IN" sz="1800" b="1" dirty="0">
                <a:solidFill>
                  <a:srgbClr val="CF0E30"/>
                </a:solidFill>
                <a:latin typeface="Times New Roman" panose="02020603050405020304" pitchFamily="18" charset="0"/>
              </a:rPr>
              <a:t>M</a:t>
            </a:r>
            <a:r>
              <a:rPr lang="en-IN" sz="1800" b="1" baseline="-25000" dirty="0">
                <a:solidFill>
                  <a:srgbClr val="CF0E30"/>
                </a:solidFill>
                <a:latin typeface="Times New Roman" panose="02020603050405020304" pitchFamily="18" charset="0"/>
              </a:rPr>
              <a:t>4</a:t>
            </a:r>
            <a:r>
              <a:rPr lang="en-IN" sz="1800" b="1" dirty="0">
                <a:solidFill>
                  <a:srgbClr val="CF0E30"/>
                </a:solidFill>
                <a:latin typeface="Times New Roman" panose="02020603050405020304" pitchFamily="18" charset="0"/>
              </a:rPr>
              <a:t> = Molarity of EDTA = M</a:t>
            </a:r>
            <a:r>
              <a:rPr lang="en-IN" sz="1800" b="1" baseline="-25000" dirty="0">
                <a:solidFill>
                  <a:srgbClr val="CF0E30"/>
                </a:solidFill>
                <a:latin typeface="Times New Roman" panose="02020603050405020304" pitchFamily="18" charset="0"/>
              </a:rPr>
              <a:t>2</a:t>
            </a:r>
            <a:r>
              <a:rPr lang="en-IN" sz="1800" b="1" dirty="0">
                <a:latin typeface="Times New Roman" panose="02020603050405020304" pitchFamily="18" charset="0"/>
              </a:rPr>
              <a:t>, </a:t>
            </a:r>
          </a:p>
          <a:p>
            <a:r>
              <a:rPr lang="en-IN" sz="1800" b="1" dirty="0">
                <a:latin typeface="Times New Roman" panose="02020603050405020304" pitchFamily="18" charset="0"/>
              </a:rPr>
              <a:t>	 V</a:t>
            </a:r>
            <a:r>
              <a:rPr lang="en-IN" sz="1800" b="1" baseline="-25000" dirty="0">
                <a:latin typeface="Times New Roman" panose="02020603050405020304" pitchFamily="18" charset="0"/>
              </a:rPr>
              <a:t>4</a:t>
            </a:r>
            <a:r>
              <a:rPr lang="en-IN" sz="1800" b="1" dirty="0">
                <a:latin typeface="Times New Roman" panose="02020603050405020304" pitchFamily="18" charset="0"/>
              </a:rPr>
              <a:t> = Volume of EDTA </a:t>
            </a:r>
            <a:endParaRPr lang="en-IN" sz="1800" b="1" dirty="0"/>
          </a:p>
        </p:txBody>
      </p:sp>
      <p:sp>
        <p:nvSpPr>
          <p:cNvPr id="9" name="TextBox 8">
            <a:extLst>
              <a:ext uri="{FF2B5EF4-FFF2-40B4-BE49-F238E27FC236}">
                <a16:creationId xmlns:a16="http://schemas.microsoft.com/office/drawing/2014/main" id="{DC9498FD-5B4A-4735-92F4-ED0BE18D6745}"/>
              </a:ext>
            </a:extLst>
          </p:cNvPr>
          <p:cNvSpPr txBox="1"/>
          <p:nvPr/>
        </p:nvSpPr>
        <p:spPr>
          <a:xfrm>
            <a:off x="1147572" y="4514047"/>
            <a:ext cx="9896856" cy="1015663"/>
          </a:xfrm>
          <a:prstGeom prst="rect">
            <a:avLst/>
          </a:prstGeom>
          <a:noFill/>
        </p:spPr>
        <p:txBody>
          <a:bodyPr wrap="square">
            <a:spAutoFit/>
          </a:bodyPr>
          <a:lstStyle/>
          <a:p>
            <a:r>
              <a:rPr lang="en-US" sz="2000" b="1" dirty="0">
                <a:latin typeface="Times New Roman" panose="02020603050405020304" pitchFamily="18" charset="0"/>
              </a:rPr>
              <a:t>Permanent Hardness = M</a:t>
            </a:r>
            <a:r>
              <a:rPr lang="en-US" sz="2000" b="1" baseline="-25000" dirty="0">
                <a:latin typeface="Times New Roman" panose="02020603050405020304" pitchFamily="18" charset="0"/>
              </a:rPr>
              <a:t>3</a:t>
            </a:r>
            <a:r>
              <a:rPr lang="en-US" sz="2000" b="1" dirty="0">
                <a:latin typeface="Times New Roman" panose="02020603050405020304" pitchFamily="18" charset="0"/>
              </a:rPr>
              <a:t> </a:t>
            </a:r>
            <a:r>
              <a:rPr lang="en-US" sz="2000" b="1" dirty="0">
                <a:latin typeface="Cambria Math" panose="02040503050406030204" pitchFamily="18" charset="0"/>
              </a:rPr>
              <a:t>× </a:t>
            </a:r>
            <a:r>
              <a:rPr lang="en-US" sz="2000" b="1" dirty="0">
                <a:latin typeface="Times New Roman" panose="02020603050405020304" pitchFamily="18" charset="0"/>
              </a:rPr>
              <a:t>Molecular weight of CaCO</a:t>
            </a:r>
            <a:r>
              <a:rPr lang="en-US" sz="2000" b="1" baseline="-25000" dirty="0">
                <a:latin typeface="Times New Roman" panose="02020603050405020304" pitchFamily="18" charset="0"/>
              </a:rPr>
              <a:t>3</a:t>
            </a:r>
            <a:r>
              <a:rPr lang="en-US" sz="2000" b="1" dirty="0">
                <a:latin typeface="Times New Roman" panose="02020603050405020304" pitchFamily="18" charset="0"/>
              </a:rPr>
              <a:t> (100) × One </a:t>
            </a:r>
            <a:r>
              <a:rPr lang="en-US" sz="2000" b="1" dirty="0" err="1">
                <a:latin typeface="Times New Roman" panose="02020603050405020304" pitchFamily="18" charset="0"/>
              </a:rPr>
              <a:t>Litre</a:t>
            </a:r>
            <a:r>
              <a:rPr lang="en-US" sz="2000" b="1" dirty="0">
                <a:latin typeface="Times New Roman" panose="02020603050405020304" pitchFamily="18" charset="0"/>
              </a:rPr>
              <a:t> (1000ml) </a:t>
            </a:r>
          </a:p>
          <a:p>
            <a:r>
              <a:rPr lang="en-IN" sz="2000" b="1" dirty="0">
                <a:latin typeface="Times New Roman" panose="02020603050405020304" pitchFamily="18" charset="0"/>
              </a:rPr>
              <a:t>			</a:t>
            </a:r>
          </a:p>
          <a:p>
            <a:r>
              <a:rPr lang="en-IN" sz="2000" b="1" dirty="0">
                <a:latin typeface="Times New Roman" panose="02020603050405020304" pitchFamily="18" charset="0"/>
              </a:rPr>
              <a:t>		  = M</a:t>
            </a:r>
            <a:r>
              <a:rPr lang="en-IN" sz="2000" b="1" baseline="-25000" dirty="0">
                <a:latin typeface="Times New Roman" panose="02020603050405020304" pitchFamily="18" charset="0"/>
              </a:rPr>
              <a:t>3</a:t>
            </a:r>
            <a:r>
              <a:rPr lang="en-IN" sz="2000" b="1" dirty="0">
                <a:latin typeface="Times New Roman" panose="02020603050405020304" pitchFamily="18" charset="0"/>
              </a:rPr>
              <a:t> × 10</a:t>
            </a:r>
            <a:r>
              <a:rPr lang="en-IN" sz="2000" b="1" baseline="30000" dirty="0">
                <a:latin typeface="Times New Roman" panose="02020603050405020304" pitchFamily="18" charset="0"/>
              </a:rPr>
              <a:t>5</a:t>
            </a:r>
            <a:r>
              <a:rPr lang="en-IN" sz="2000" b="1" dirty="0">
                <a:latin typeface="Times New Roman" panose="02020603050405020304" pitchFamily="18" charset="0"/>
              </a:rPr>
              <a:t> ppm </a:t>
            </a:r>
            <a:endParaRPr lang="en-IN" sz="2000" b="1" dirty="0"/>
          </a:p>
        </p:txBody>
      </p:sp>
      <p:sp>
        <p:nvSpPr>
          <p:cNvPr id="4" name="TextBox 3">
            <a:extLst>
              <a:ext uri="{FF2B5EF4-FFF2-40B4-BE49-F238E27FC236}">
                <a16:creationId xmlns:a16="http://schemas.microsoft.com/office/drawing/2014/main" id="{68A4F12C-1638-C4E3-12C2-CDA31DA35558}"/>
              </a:ext>
            </a:extLst>
          </p:cNvPr>
          <p:cNvSpPr txBox="1"/>
          <p:nvPr/>
        </p:nvSpPr>
        <p:spPr>
          <a:xfrm>
            <a:off x="853059" y="493424"/>
            <a:ext cx="8571738" cy="523220"/>
          </a:xfrm>
          <a:prstGeom prst="rect">
            <a:avLst/>
          </a:prstGeom>
          <a:noFill/>
        </p:spPr>
        <p:txBody>
          <a:bodyPr wrap="square">
            <a:spAutoFit/>
          </a:bodyPr>
          <a:lstStyle/>
          <a:p>
            <a:pPr algn="just"/>
            <a:r>
              <a:rPr lang="en-US" sz="2800" b="1" u="sng" dirty="0">
                <a:solidFill>
                  <a:srgbClr val="0070C0"/>
                </a:solidFill>
                <a:latin typeface="Times New Roman" panose="02020603050405020304" pitchFamily="18" charset="0"/>
              </a:rPr>
              <a:t> 3. Determination of Permanent Hardness:</a:t>
            </a:r>
            <a:r>
              <a:rPr lang="en-US" sz="2800" b="1" dirty="0">
                <a:solidFill>
                  <a:srgbClr val="0070C0"/>
                </a:solidFill>
                <a:latin typeface="Times New Roman" panose="02020603050405020304" pitchFamily="18" charset="0"/>
              </a:rPr>
              <a:t> </a:t>
            </a:r>
          </a:p>
        </p:txBody>
      </p:sp>
      <p:sp>
        <p:nvSpPr>
          <p:cNvPr id="6" name="TextBox 5">
            <a:extLst>
              <a:ext uri="{FF2B5EF4-FFF2-40B4-BE49-F238E27FC236}">
                <a16:creationId xmlns:a16="http://schemas.microsoft.com/office/drawing/2014/main" id="{6CDC5857-80B7-4F64-B625-58571DF5B472}"/>
              </a:ext>
            </a:extLst>
          </p:cNvPr>
          <p:cNvSpPr txBox="1"/>
          <p:nvPr/>
        </p:nvSpPr>
        <p:spPr>
          <a:xfrm>
            <a:off x="853058" y="5526181"/>
            <a:ext cx="10284333" cy="830997"/>
          </a:xfrm>
          <a:prstGeom prst="rect">
            <a:avLst/>
          </a:prstGeom>
          <a:noFill/>
        </p:spPr>
        <p:txBody>
          <a:bodyPr wrap="square">
            <a:spAutoFit/>
          </a:bodyPr>
          <a:lstStyle/>
          <a:p>
            <a:r>
              <a:rPr lang="en-US" sz="2400" b="1" dirty="0">
                <a:solidFill>
                  <a:srgbClr val="0070C0"/>
                </a:solidFill>
                <a:latin typeface="Times New Roman" panose="02020603050405020304" pitchFamily="18" charset="0"/>
              </a:rPr>
              <a:t>4. Determination of Temporary Hardness: </a:t>
            </a:r>
          </a:p>
          <a:p>
            <a:r>
              <a:rPr lang="en-US" sz="2400" dirty="0">
                <a:latin typeface="Times New Roman" panose="02020603050405020304" pitchFamily="18" charset="0"/>
              </a:rPr>
              <a:t>Temporary Hardness = Total Hardness - Permanent Hardness </a:t>
            </a:r>
            <a:endParaRPr lang="en-IN" dirty="0"/>
          </a:p>
        </p:txBody>
      </p:sp>
    </p:spTree>
    <p:extLst>
      <p:ext uri="{BB962C8B-B14F-4D97-AF65-F5344CB8AC3E}">
        <p14:creationId xmlns:p14="http://schemas.microsoft.com/office/powerpoint/2010/main" val="2046039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FC783A-756D-9486-C73A-6A9A6ADA4BEF}"/>
              </a:ext>
            </a:extLst>
          </p:cNvPr>
          <p:cNvPicPr>
            <a:picLocks noChangeAspect="1"/>
          </p:cNvPicPr>
          <p:nvPr/>
        </p:nvPicPr>
        <p:blipFill>
          <a:blip r:embed="rId2"/>
          <a:stretch>
            <a:fillRect/>
          </a:stretch>
        </p:blipFill>
        <p:spPr>
          <a:xfrm>
            <a:off x="2331719" y="934422"/>
            <a:ext cx="7767909" cy="5226900"/>
          </a:xfrm>
          <a:prstGeom prst="rect">
            <a:avLst/>
          </a:prstGeom>
          <a:ln w="57150">
            <a:solidFill>
              <a:schemeClr val="accent4">
                <a:lumMod val="85000"/>
                <a:lumOff val="15000"/>
              </a:schemeClr>
            </a:solidFill>
          </a:ln>
        </p:spPr>
      </p:pic>
      <p:sp>
        <p:nvSpPr>
          <p:cNvPr id="2" name="TextBox 1">
            <a:extLst>
              <a:ext uri="{FF2B5EF4-FFF2-40B4-BE49-F238E27FC236}">
                <a16:creationId xmlns:a16="http://schemas.microsoft.com/office/drawing/2014/main" id="{40BA1395-182F-88D4-2615-78BE79909072}"/>
              </a:ext>
            </a:extLst>
          </p:cNvPr>
          <p:cNvSpPr txBox="1"/>
          <p:nvPr/>
        </p:nvSpPr>
        <p:spPr>
          <a:xfrm>
            <a:off x="3449824" y="0"/>
            <a:ext cx="4875053" cy="584775"/>
          </a:xfrm>
          <a:prstGeom prst="rect">
            <a:avLst/>
          </a:prstGeom>
          <a:noFill/>
        </p:spPr>
        <p:txBody>
          <a:bodyPr wrap="none" rtlCol="0">
            <a:spAutoFit/>
          </a:bodyPr>
          <a:lstStyle/>
          <a:p>
            <a:r>
              <a:rPr lang="en-US" sz="3200" b="1" dirty="0">
                <a:solidFill>
                  <a:srgbClr val="00B050"/>
                </a:solidFill>
              </a:rPr>
              <a:t>Softening of Hard Water</a:t>
            </a:r>
          </a:p>
        </p:txBody>
      </p:sp>
    </p:spTree>
    <p:extLst>
      <p:ext uri="{BB962C8B-B14F-4D97-AF65-F5344CB8AC3E}">
        <p14:creationId xmlns:p14="http://schemas.microsoft.com/office/powerpoint/2010/main" val="2456619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E682C630-6916-4E8D-A6C6-A4030216A29B}"/>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Water softening</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B2D62DAA-E36F-4DEF-B80E-3C93FA1D1B46}"/>
              </a:ext>
            </a:extLst>
          </p:cNvPr>
          <p:cNvSpPr/>
          <p:nvPr/>
        </p:nvSpPr>
        <p:spPr>
          <a:xfrm>
            <a:off x="430384" y="771171"/>
            <a:ext cx="11189154" cy="5192732"/>
          </a:xfrm>
          <a:prstGeom prst="rect">
            <a:avLst/>
          </a:prstGeom>
        </p:spPr>
        <p:txBody>
          <a:bodyPr wrap="square" lIns="91440" tIns="45720" rIns="91440" bIns="45720" anchor="t">
            <a:spAutoFit/>
          </a:bodyPr>
          <a:lstStyle/>
          <a:p>
            <a:pPr lvl="0" algn="just">
              <a:spcAft>
                <a:spcPts val="1200"/>
              </a:spcAft>
            </a:pPr>
            <a:r>
              <a:rPr lang="en-IN" sz="2400" dirty="0">
                <a:latin typeface="Calibri"/>
                <a:ea typeface="Calibri"/>
                <a:cs typeface="Times New Roman"/>
              </a:rPr>
              <a:t>Removal of hardness  – </a:t>
            </a:r>
          </a:p>
          <a:p>
            <a:pPr lvl="0" algn="just">
              <a:spcAft>
                <a:spcPts val="1200"/>
              </a:spcAft>
            </a:pPr>
            <a:r>
              <a:rPr lang="en-IN" sz="2400" dirty="0">
                <a:solidFill>
                  <a:schemeClr val="tx1"/>
                </a:solidFill>
                <a:latin typeface="Calibri"/>
                <a:ea typeface="Calibri"/>
                <a:cs typeface="Times New Roman"/>
              </a:rPr>
              <a:t>Hardness is …</a:t>
            </a:r>
          </a:p>
          <a:p>
            <a:pPr marL="342900" lvl="0" indent="-342900" algn="just">
              <a:spcAft>
                <a:spcPts val="1200"/>
              </a:spcAft>
              <a:buFont typeface="Arial" panose="020B0604020202020204" pitchFamily="34" charset="0"/>
              <a:buChar char="•"/>
            </a:pPr>
            <a:r>
              <a:rPr lang="en-IN" sz="2400" dirty="0">
                <a:solidFill>
                  <a:schemeClr val="tx1"/>
                </a:solidFill>
                <a:latin typeface="Calibri"/>
                <a:ea typeface="Calibri"/>
                <a:cs typeface="Times New Roman"/>
              </a:rPr>
              <a:t>Primarily </a:t>
            </a:r>
            <a:r>
              <a:rPr lang="en-IN" sz="2400" b="1" dirty="0">
                <a:solidFill>
                  <a:schemeClr val="tx1"/>
                </a:solidFill>
                <a:latin typeface="Calibri"/>
                <a:ea typeface="Calibri"/>
                <a:cs typeface="Times New Roman"/>
              </a:rPr>
              <a:t>Ca</a:t>
            </a:r>
            <a:r>
              <a:rPr lang="en-IN" sz="2400" dirty="0">
                <a:solidFill>
                  <a:schemeClr val="tx1"/>
                </a:solidFill>
                <a:latin typeface="Calibri"/>
                <a:ea typeface="Calibri"/>
                <a:cs typeface="Times New Roman"/>
              </a:rPr>
              <a:t>, </a:t>
            </a:r>
            <a:r>
              <a:rPr lang="en-IN" sz="2400" b="1" dirty="0">
                <a:solidFill>
                  <a:schemeClr val="tx1"/>
                </a:solidFill>
                <a:latin typeface="Calibri"/>
                <a:ea typeface="Calibri"/>
                <a:cs typeface="Times New Roman"/>
              </a:rPr>
              <a:t>Mg</a:t>
            </a:r>
          </a:p>
          <a:p>
            <a:pPr marL="342900" lvl="0" indent="-342900" algn="just">
              <a:spcAft>
                <a:spcPts val="1200"/>
              </a:spcAft>
              <a:buFont typeface="Arial" panose="020B0604020202020204" pitchFamily="34" charset="0"/>
              <a:buChar char="•"/>
            </a:pPr>
            <a:r>
              <a:rPr lang="en-IN" sz="2400" dirty="0">
                <a:solidFill>
                  <a:schemeClr val="tx1"/>
                </a:solidFill>
                <a:latin typeface="Calibri"/>
                <a:ea typeface="Calibri"/>
                <a:cs typeface="Times New Roman"/>
              </a:rPr>
              <a:t>and </a:t>
            </a:r>
            <a:r>
              <a:rPr lang="en-IN" sz="2400" b="1" dirty="0">
                <a:solidFill>
                  <a:schemeClr val="tx1"/>
                </a:solidFill>
                <a:latin typeface="Calibri"/>
                <a:ea typeface="Calibri"/>
                <a:cs typeface="Times New Roman"/>
              </a:rPr>
              <a:t>Fe</a:t>
            </a:r>
            <a:r>
              <a:rPr lang="en-IN" sz="2400" dirty="0">
                <a:solidFill>
                  <a:schemeClr val="tx1"/>
                </a:solidFill>
                <a:latin typeface="Calibri"/>
                <a:ea typeface="Calibri"/>
                <a:cs typeface="Times New Roman"/>
              </a:rPr>
              <a:t>, </a:t>
            </a:r>
            <a:r>
              <a:rPr lang="en-IN" sz="2400" b="1" dirty="0">
                <a:solidFill>
                  <a:schemeClr val="tx1"/>
                </a:solidFill>
                <a:latin typeface="Calibri"/>
                <a:ea typeface="Calibri"/>
                <a:cs typeface="Times New Roman"/>
              </a:rPr>
              <a:t>Mn</a:t>
            </a:r>
            <a:r>
              <a:rPr lang="en-IN" sz="2400" dirty="0">
                <a:solidFill>
                  <a:schemeClr val="tx1"/>
                </a:solidFill>
                <a:latin typeface="Calibri"/>
                <a:ea typeface="Calibri"/>
                <a:cs typeface="Times New Roman"/>
              </a:rPr>
              <a:t>, </a:t>
            </a:r>
            <a:r>
              <a:rPr lang="en-IN" sz="2400" b="1" dirty="0">
                <a:solidFill>
                  <a:schemeClr val="tx1"/>
                </a:solidFill>
                <a:latin typeface="Calibri"/>
                <a:ea typeface="Calibri"/>
                <a:cs typeface="Times New Roman"/>
              </a:rPr>
              <a:t>Al</a:t>
            </a:r>
            <a:r>
              <a:rPr lang="en-IN" sz="2400" dirty="0">
                <a:solidFill>
                  <a:schemeClr val="tx1"/>
                </a:solidFill>
                <a:latin typeface="Calibri"/>
                <a:ea typeface="Calibri"/>
                <a:cs typeface="Times New Roman"/>
              </a:rPr>
              <a:t> salts</a:t>
            </a:r>
          </a:p>
          <a:p>
            <a:pPr lvl="0" algn="just">
              <a:spcAft>
                <a:spcPts val="1200"/>
              </a:spcAft>
            </a:pPr>
            <a:r>
              <a:rPr lang="en-IN" sz="2400" dirty="0">
                <a:solidFill>
                  <a:schemeClr val="tx1"/>
                </a:solidFill>
                <a:latin typeface="Calibri"/>
                <a:ea typeface="Calibri"/>
                <a:cs typeface="Times New Roman"/>
              </a:rPr>
              <a:t>Ions like </a:t>
            </a:r>
            <a:r>
              <a:rPr lang="en-IN" sz="2400" b="1" dirty="0">
                <a:solidFill>
                  <a:schemeClr val="tx1"/>
                </a:solidFill>
                <a:latin typeface="Calibri"/>
                <a:ea typeface="Calibri"/>
                <a:cs typeface="Times New Roman"/>
              </a:rPr>
              <a:t>Na</a:t>
            </a:r>
            <a:r>
              <a:rPr lang="en-IN" sz="2400" b="1" baseline="30000" dirty="0">
                <a:solidFill>
                  <a:schemeClr val="tx1"/>
                </a:solidFill>
                <a:latin typeface="Calibri"/>
                <a:ea typeface="Calibri"/>
                <a:cs typeface="Times New Roman"/>
              </a:rPr>
              <a:t>+</a:t>
            </a:r>
            <a:r>
              <a:rPr lang="en-IN" sz="2400" dirty="0">
                <a:solidFill>
                  <a:schemeClr val="tx1"/>
                </a:solidFill>
                <a:latin typeface="Calibri"/>
                <a:ea typeface="Calibri"/>
                <a:cs typeface="Times New Roman"/>
              </a:rPr>
              <a:t>/</a:t>
            </a:r>
            <a:r>
              <a:rPr lang="en-IN" sz="2400" b="1" dirty="0">
                <a:solidFill>
                  <a:schemeClr val="tx1"/>
                </a:solidFill>
                <a:latin typeface="Calibri"/>
                <a:ea typeface="Calibri"/>
                <a:cs typeface="Times New Roman"/>
              </a:rPr>
              <a:t>K</a:t>
            </a:r>
            <a:r>
              <a:rPr lang="en-IN" sz="2400" b="1" baseline="30000" dirty="0">
                <a:solidFill>
                  <a:schemeClr val="tx1"/>
                </a:solidFill>
                <a:latin typeface="Calibri"/>
                <a:ea typeface="Calibri"/>
                <a:cs typeface="Times New Roman"/>
              </a:rPr>
              <a:t>+</a:t>
            </a:r>
            <a:r>
              <a:rPr lang="en-IN" sz="2400" dirty="0">
                <a:solidFill>
                  <a:schemeClr val="tx1"/>
                </a:solidFill>
                <a:latin typeface="Calibri"/>
                <a:ea typeface="Calibri"/>
                <a:cs typeface="Times New Roman"/>
              </a:rPr>
              <a:t>/</a:t>
            </a:r>
            <a:r>
              <a:rPr lang="en-IN" sz="2400" b="1" dirty="0">
                <a:solidFill>
                  <a:schemeClr val="tx1"/>
                </a:solidFill>
                <a:latin typeface="Calibri"/>
                <a:ea typeface="Calibri"/>
                <a:cs typeface="Times New Roman"/>
              </a:rPr>
              <a:t>NH</a:t>
            </a:r>
            <a:r>
              <a:rPr lang="en-IN" sz="2400" b="1" baseline="-25000" dirty="0">
                <a:solidFill>
                  <a:schemeClr val="tx1"/>
                </a:solidFill>
                <a:latin typeface="Calibri"/>
                <a:ea typeface="Calibri"/>
                <a:cs typeface="Times New Roman"/>
              </a:rPr>
              <a:t>4</a:t>
            </a:r>
            <a:r>
              <a:rPr lang="en-IN" sz="2400" b="1" baseline="30000" dirty="0">
                <a:solidFill>
                  <a:schemeClr val="tx1"/>
                </a:solidFill>
                <a:latin typeface="Calibri"/>
                <a:ea typeface="Calibri"/>
                <a:cs typeface="Times New Roman"/>
              </a:rPr>
              <a:t>+</a:t>
            </a:r>
            <a:r>
              <a:rPr lang="en-IN" sz="2400" dirty="0">
                <a:solidFill>
                  <a:schemeClr val="tx1"/>
                </a:solidFill>
                <a:latin typeface="Calibri"/>
                <a:ea typeface="Calibri"/>
                <a:cs typeface="Times New Roman"/>
              </a:rPr>
              <a:t> do </a:t>
            </a:r>
            <a:r>
              <a:rPr lang="en-IN" sz="2400" dirty="0">
                <a:solidFill>
                  <a:srgbClr val="FF0000"/>
                </a:solidFill>
                <a:latin typeface="Calibri"/>
                <a:ea typeface="Calibri"/>
                <a:cs typeface="Times New Roman"/>
              </a:rPr>
              <a:t>NOT</a:t>
            </a:r>
            <a:r>
              <a:rPr lang="en-IN" sz="2400" dirty="0">
                <a:solidFill>
                  <a:schemeClr val="tx1"/>
                </a:solidFill>
                <a:latin typeface="Calibri"/>
                <a:ea typeface="Calibri"/>
                <a:cs typeface="Times New Roman"/>
              </a:rPr>
              <a:t> cause hardness</a:t>
            </a:r>
          </a:p>
          <a:p>
            <a:pPr marL="342900" lvl="0" indent="-342900" algn="just">
              <a:spcAft>
                <a:spcPts val="1200"/>
              </a:spcAft>
              <a:buFont typeface="Arial" panose="020B0604020202020204" pitchFamily="34" charset="0"/>
              <a:buChar char="•"/>
            </a:pPr>
            <a:endParaRPr lang="en-IN" sz="24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400" b="1" dirty="0">
                <a:solidFill>
                  <a:srgbClr val="0070C0"/>
                </a:solidFill>
                <a:latin typeface="Calibri"/>
                <a:ea typeface="Calibri"/>
                <a:cs typeface="Times New Roman"/>
              </a:rPr>
              <a:t>How do we remove hardness?</a:t>
            </a:r>
          </a:p>
          <a:p>
            <a:pPr marL="342900" lvl="0" indent="-342900" algn="just">
              <a:spcAft>
                <a:spcPts val="1200"/>
              </a:spcAft>
              <a:buFont typeface="Arial" panose="020B0604020202020204" pitchFamily="34" charset="0"/>
              <a:buChar char="•"/>
            </a:pPr>
            <a:r>
              <a:rPr lang="en-IN" sz="2400" b="1" dirty="0">
                <a:solidFill>
                  <a:schemeClr val="tx1"/>
                </a:solidFill>
                <a:latin typeface="Calibri"/>
                <a:ea typeface="Calibri"/>
                <a:cs typeface="Times New Roman"/>
              </a:rPr>
              <a:t>Ion exchange</a:t>
            </a:r>
            <a:r>
              <a:rPr lang="en-IN" sz="2400" dirty="0">
                <a:solidFill>
                  <a:schemeClr val="tx1"/>
                </a:solidFill>
                <a:latin typeface="Calibri"/>
                <a:ea typeface="Calibri"/>
                <a:cs typeface="Times New Roman"/>
              </a:rPr>
              <a:t> of Ca/Mg with ions H</a:t>
            </a:r>
            <a:r>
              <a:rPr lang="en-IN" sz="2400" baseline="30000" dirty="0">
                <a:solidFill>
                  <a:schemeClr val="tx1"/>
                </a:solidFill>
                <a:latin typeface="Calibri"/>
                <a:ea typeface="Calibri"/>
                <a:cs typeface="Times New Roman"/>
              </a:rPr>
              <a:t>+</a:t>
            </a:r>
            <a:r>
              <a:rPr lang="en-IN" sz="2400" dirty="0">
                <a:solidFill>
                  <a:schemeClr val="tx1"/>
                </a:solidFill>
                <a:latin typeface="Calibri"/>
                <a:ea typeface="Calibri"/>
                <a:cs typeface="Times New Roman"/>
              </a:rPr>
              <a:t>/OH</a:t>
            </a:r>
            <a:r>
              <a:rPr lang="en-IN" sz="2400" baseline="30000" dirty="0">
                <a:solidFill>
                  <a:schemeClr val="tx1"/>
                </a:solidFill>
                <a:latin typeface="Calibri"/>
                <a:ea typeface="Calibri"/>
                <a:cs typeface="Times New Roman"/>
              </a:rPr>
              <a:t>-</a:t>
            </a:r>
            <a:r>
              <a:rPr lang="en-IN" sz="2400" dirty="0">
                <a:solidFill>
                  <a:schemeClr val="tx1"/>
                </a:solidFill>
                <a:latin typeface="Calibri"/>
                <a:ea typeface="Calibri"/>
                <a:cs typeface="Times New Roman"/>
              </a:rPr>
              <a:t> </a:t>
            </a:r>
            <a:r>
              <a:rPr lang="en-IN" sz="2400" dirty="0">
                <a:solidFill>
                  <a:schemeClr val="tx1"/>
                </a:solidFill>
                <a:latin typeface="Calibri"/>
                <a:ea typeface="Calibri"/>
                <a:cs typeface="Times New Roman"/>
                <a:sym typeface="Wingdings" panose="05000000000000000000" pitchFamily="2" charset="2"/>
              </a:rPr>
              <a:t> </a:t>
            </a:r>
            <a:r>
              <a:rPr lang="en-IN" sz="2400" b="1" dirty="0">
                <a:solidFill>
                  <a:srgbClr val="FF0000"/>
                </a:solidFill>
                <a:latin typeface="Calibri"/>
                <a:ea typeface="Calibri"/>
                <a:cs typeface="Times New Roman"/>
                <a:sym typeface="Wingdings" panose="05000000000000000000" pitchFamily="2" charset="2"/>
              </a:rPr>
              <a:t>Ion exchange resin process</a:t>
            </a:r>
            <a:endParaRPr lang="en-IN" sz="2400" b="1" dirty="0">
              <a:solidFill>
                <a:srgbClr val="FF0000"/>
              </a:solidFill>
              <a:latin typeface="Calibri"/>
              <a:ea typeface="Calibri"/>
              <a:cs typeface="Times New Roman"/>
            </a:endParaRPr>
          </a:p>
          <a:p>
            <a:pPr marL="342900" lvl="0" indent="-342900" algn="just">
              <a:spcAft>
                <a:spcPts val="1200"/>
              </a:spcAft>
              <a:buFont typeface="Arial" panose="020B0604020202020204" pitchFamily="34" charset="0"/>
              <a:buChar char="•"/>
            </a:pPr>
            <a:r>
              <a:rPr lang="en-IN" sz="2400" b="1" dirty="0">
                <a:solidFill>
                  <a:schemeClr val="tx1"/>
                </a:solidFill>
                <a:latin typeface="Calibri"/>
                <a:ea typeface="Calibri"/>
                <a:cs typeface="Times New Roman"/>
              </a:rPr>
              <a:t>Ion exchange</a:t>
            </a:r>
            <a:r>
              <a:rPr lang="en-IN" sz="2400" dirty="0">
                <a:solidFill>
                  <a:schemeClr val="tx1"/>
                </a:solidFill>
                <a:latin typeface="Calibri"/>
                <a:ea typeface="Calibri"/>
                <a:cs typeface="Times New Roman"/>
              </a:rPr>
              <a:t> of Ca/Mg with Na </a:t>
            </a:r>
            <a:r>
              <a:rPr lang="en-IN" sz="2400" dirty="0">
                <a:solidFill>
                  <a:schemeClr val="tx1"/>
                </a:solidFill>
                <a:latin typeface="Calibri"/>
                <a:ea typeface="Calibri"/>
                <a:cs typeface="Times New Roman"/>
                <a:sym typeface="Wingdings" panose="05000000000000000000" pitchFamily="2" charset="2"/>
              </a:rPr>
              <a:t> </a:t>
            </a:r>
            <a:r>
              <a:rPr lang="en-IN" sz="2400" b="1" dirty="0">
                <a:solidFill>
                  <a:srgbClr val="FF0000"/>
                </a:solidFill>
                <a:latin typeface="Calibri"/>
                <a:ea typeface="Calibri"/>
                <a:cs typeface="Times New Roman"/>
              </a:rPr>
              <a:t>Zeolite process</a:t>
            </a:r>
            <a:r>
              <a:rPr lang="en-IN" sz="2400" dirty="0">
                <a:solidFill>
                  <a:srgbClr val="FF0000"/>
                </a:solidFill>
                <a:latin typeface="Calibri"/>
                <a:ea typeface="Calibri"/>
                <a:cs typeface="Times New Roman"/>
              </a:rPr>
              <a:t>  </a:t>
            </a:r>
          </a:p>
          <a:p>
            <a:pPr marL="342900" indent="-342900" algn="just">
              <a:spcAft>
                <a:spcPts val="1200"/>
              </a:spcAft>
              <a:buFont typeface="Arial" panose="020B0604020202020204" pitchFamily="34" charset="0"/>
              <a:buChar char="•"/>
            </a:pPr>
            <a:r>
              <a:rPr lang="en-IN" sz="2400" b="1" dirty="0">
                <a:solidFill>
                  <a:schemeClr val="tx1"/>
                </a:solidFill>
                <a:latin typeface="Calibri"/>
                <a:ea typeface="Calibri"/>
                <a:cs typeface="Times New Roman"/>
              </a:rPr>
              <a:t>Precipitation</a:t>
            </a:r>
            <a:r>
              <a:rPr lang="en-IN" sz="2400" dirty="0">
                <a:solidFill>
                  <a:schemeClr val="tx1"/>
                </a:solidFill>
                <a:latin typeface="Calibri"/>
                <a:ea typeface="Calibri"/>
                <a:cs typeface="Times New Roman"/>
              </a:rPr>
              <a:t> of Ca and Mg</a:t>
            </a:r>
            <a:r>
              <a:rPr lang="en-US" sz="2400" dirty="0">
                <a:solidFill>
                  <a:schemeClr val="tx1"/>
                </a:solidFill>
                <a:latin typeface="Calibri"/>
                <a:ea typeface="Calibri"/>
                <a:cs typeface="Times New Roman"/>
              </a:rPr>
              <a:t> </a:t>
            </a:r>
            <a:r>
              <a:rPr lang="en-US" sz="2400" dirty="0">
                <a:solidFill>
                  <a:schemeClr val="tx1"/>
                </a:solidFill>
                <a:latin typeface="Calibri"/>
                <a:ea typeface="Calibri"/>
                <a:cs typeface="Times New Roman"/>
                <a:sym typeface="Wingdings" panose="05000000000000000000" pitchFamily="2" charset="2"/>
              </a:rPr>
              <a:t> </a:t>
            </a:r>
            <a:r>
              <a:rPr lang="en-US" sz="2400" b="1" dirty="0">
                <a:solidFill>
                  <a:srgbClr val="FF0000"/>
                </a:solidFill>
                <a:latin typeface="Calibri"/>
                <a:ea typeface="Calibri"/>
                <a:cs typeface="Times New Roman"/>
                <a:sym typeface="Wingdings" panose="05000000000000000000" pitchFamily="2" charset="2"/>
              </a:rPr>
              <a:t>Soda-Lime process</a:t>
            </a:r>
            <a:endParaRPr lang="en-IN" sz="2400" b="1" dirty="0">
              <a:solidFill>
                <a:srgbClr val="FF0000"/>
              </a:solidFill>
              <a:latin typeface="Calibri"/>
              <a:ea typeface="Calibri"/>
              <a:cs typeface="Times New Roman"/>
            </a:endParaRPr>
          </a:p>
        </p:txBody>
      </p:sp>
    </p:spTree>
    <p:extLst>
      <p:ext uri="{BB962C8B-B14F-4D97-AF65-F5344CB8AC3E}">
        <p14:creationId xmlns:p14="http://schemas.microsoft.com/office/powerpoint/2010/main" val="1912700651"/>
      </p:ext>
    </p:extLst>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1"/>
          <p:cNvSpPr txBox="1">
            <a:spLocks noChangeArrowheads="1"/>
          </p:cNvSpPr>
          <p:nvPr/>
        </p:nvSpPr>
        <p:spPr bwMode="auto">
          <a:xfrm>
            <a:off x="3962401" y="168562"/>
            <a:ext cx="3502025" cy="523875"/>
          </a:xfrm>
          <a:prstGeom prst="rect">
            <a:avLst/>
          </a:prstGeom>
          <a:noFill/>
          <a:ln w="9525">
            <a:noFill/>
            <a:miter lim="800000"/>
            <a:headEnd/>
            <a:tailEnd/>
          </a:ln>
        </p:spPr>
        <p:txBody>
          <a:bodyPr wrap="none">
            <a:spAutoFit/>
          </a:bodyPr>
          <a:lstStyle/>
          <a:p>
            <a:r>
              <a:rPr lang="en-US" altLang="en-US" sz="2800" b="1">
                <a:solidFill>
                  <a:srgbClr val="005400"/>
                </a:solidFill>
              </a:rPr>
              <a:t>Lime-Soda process</a:t>
            </a:r>
          </a:p>
        </p:txBody>
      </p:sp>
      <p:sp>
        <p:nvSpPr>
          <p:cNvPr id="71683" name="TextBox 2"/>
          <p:cNvSpPr txBox="1">
            <a:spLocks noChangeArrowheads="1"/>
          </p:cNvSpPr>
          <p:nvPr/>
        </p:nvSpPr>
        <p:spPr bwMode="auto">
          <a:xfrm>
            <a:off x="961707" y="701330"/>
            <a:ext cx="10268586" cy="769938"/>
          </a:xfrm>
          <a:prstGeom prst="rect">
            <a:avLst/>
          </a:prstGeom>
          <a:noFill/>
          <a:ln w="9525">
            <a:noFill/>
            <a:miter lim="800000"/>
            <a:headEnd/>
            <a:tailEnd/>
          </a:ln>
        </p:spPr>
        <p:txBody>
          <a:bodyPr wrap="square">
            <a:spAutoFit/>
          </a:bodyPr>
          <a:lstStyle/>
          <a:p>
            <a:pPr algn="ctr"/>
            <a:r>
              <a:rPr lang="en-US" altLang="en-US" sz="2200" i="1" dirty="0">
                <a:solidFill>
                  <a:srgbClr val="C00000"/>
                </a:solidFill>
              </a:rPr>
              <a:t>In this process, all the soluble hardness-causing impurities are converted </a:t>
            </a:r>
          </a:p>
          <a:p>
            <a:pPr algn="ctr"/>
            <a:r>
              <a:rPr lang="en-US" altLang="en-US" sz="2200" i="1" dirty="0">
                <a:solidFill>
                  <a:srgbClr val="C00000"/>
                </a:solidFill>
              </a:rPr>
              <a:t>into insoluble precipitates which may be removed by setting and filtration. </a:t>
            </a:r>
          </a:p>
        </p:txBody>
      </p:sp>
      <p:sp>
        <p:nvSpPr>
          <p:cNvPr id="71684" name="Rectangle 3"/>
          <p:cNvSpPr>
            <a:spLocks noChangeArrowheads="1"/>
          </p:cNvSpPr>
          <p:nvPr/>
        </p:nvSpPr>
        <p:spPr bwMode="auto">
          <a:xfrm>
            <a:off x="1606977" y="1631438"/>
            <a:ext cx="8839200" cy="1631950"/>
          </a:xfrm>
          <a:prstGeom prst="rect">
            <a:avLst/>
          </a:prstGeom>
          <a:noFill/>
          <a:ln w="9525">
            <a:noFill/>
            <a:miter lim="800000"/>
            <a:headEnd/>
            <a:tailEnd/>
          </a:ln>
        </p:spPr>
        <p:txBody>
          <a:bodyPr>
            <a:spAutoFit/>
          </a:bodyPr>
          <a:lstStyle/>
          <a:p>
            <a:pPr algn="just"/>
            <a:r>
              <a:rPr lang="en-US" altLang="en-US" sz="2000" dirty="0"/>
              <a:t>In the lime soda process, calculated amount of </a:t>
            </a:r>
            <a:r>
              <a:rPr lang="en-US" altLang="en-US" sz="2000" u="sng" dirty="0"/>
              <a:t>lime Ca(OH)</a:t>
            </a:r>
            <a:r>
              <a:rPr lang="en-US" altLang="en-US" sz="2000" u="sng" baseline="-25000" dirty="0"/>
              <a:t>2</a:t>
            </a:r>
            <a:r>
              <a:rPr lang="en-US" altLang="en-US" sz="2000" dirty="0"/>
              <a:t> and </a:t>
            </a:r>
            <a:r>
              <a:rPr lang="en-US" altLang="en-US" sz="2000" u="sng" dirty="0"/>
              <a:t>soda Na</a:t>
            </a:r>
            <a:r>
              <a:rPr lang="en-US" altLang="en-US" sz="2000" u="sng" baseline="-25000" dirty="0"/>
              <a:t>2</a:t>
            </a:r>
            <a:r>
              <a:rPr lang="en-US" altLang="en-US" sz="2000" u="sng" dirty="0"/>
              <a:t>CO</a:t>
            </a:r>
            <a:r>
              <a:rPr lang="en-US" altLang="en-US" sz="2000" u="sng" baseline="-25000" dirty="0"/>
              <a:t>3</a:t>
            </a:r>
            <a:r>
              <a:rPr lang="en-US" altLang="en-US" sz="2000" dirty="0"/>
              <a:t> is added in the hard water. The soluble calcium and magnesium salts in water are converted into insoluble compound such as calcium carbonate and magnesium hydroxide which may removed by setting and filtration. </a:t>
            </a:r>
          </a:p>
        </p:txBody>
      </p:sp>
      <p:sp>
        <p:nvSpPr>
          <p:cNvPr id="71686" name="TextBox 5"/>
          <p:cNvSpPr txBox="1">
            <a:spLocks noChangeArrowheads="1"/>
          </p:cNvSpPr>
          <p:nvPr/>
        </p:nvSpPr>
        <p:spPr bwMode="auto">
          <a:xfrm>
            <a:off x="1619250" y="3189576"/>
            <a:ext cx="4852988" cy="369887"/>
          </a:xfrm>
          <a:prstGeom prst="rect">
            <a:avLst/>
          </a:prstGeom>
          <a:noFill/>
          <a:ln w="9525">
            <a:noFill/>
            <a:miter lim="800000"/>
            <a:headEnd/>
            <a:tailEnd/>
          </a:ln>
        </p:spPr>
        <p:txBody>
          <a:bodyPr wrap="none">
            <a:spAutoFit/>
          </a:bodyPr>
          <a:lstStyle/>
          <a:p>
            <a:r>
              <a:rPr lang="en-US" altLang="en-US" sz="1800" b="1" dirty="0">
                <a:solidFill>
                  <a:srgbClr val="180BC5"/>
                </a:solidFill>
              </a:rPr>
              <a:t>(</a:t>
            </a:r>
            <a:r>
              <a:rPr lang="en-US" altLang="en-US" sz="1800" b="1" dirty="0" err="1">
                <a:solidFill>
                  <a:srgbClr val="180BC5"/>
                </a:solidFill>
              </a:rPr>
              <a:t>i</a:t>
            </a:r>
            <a:r>
              <a:rPr lang="en-US" altLang="en-US" sz="1800" b="1" dirty="0">
                <a:solidFill>
                  <a:srgbClr val="180BC5"/>
                </a:solidFill>
              </a:rPr>
              <a:t>) Lime removes the temporary hardness: </a:t>
            </a:r>
          </a:p>
        </p:txBody>
      </p:sp>
      <p:sp>
        <p:nvSpPr>
          <p:cNvPr id="71687" name="TextBox 6"/>
          <p:cNvSpPr txBox="1">
            <a:spLocks noChangeArrowheads="1"/>
          </p:cNvSpPr>
          <p:nvPr/>
        </p:nvSpPr>
        <p:spPr bwMode="auto">
          <a:xfrm>
            <a:off x="1676401" y="4599276"/>
            <a:ext cx="6442075" cy="369887"/>
          </a:xfrm>
          <a:prstGeom prst="rect">
            <a:avLst/>
          </a:prstGeom>
          <a:noFill/>
          <a:ln w="9525">
            <a:noFill/>
            <a:miter lim="800000"/>
            <a:headEnd/>
            <a:tailEnd/>
          </a:ln>
        </p:spPr>
        <p:txBody>
          <a:bodyPr wrap="none">
            <a:spAutoFit/>
          </a:bodyPr>
          <a:lstStyle/>
          <a:p>
            <a:r>
              <a:rPr lang="en-US" altLang="en-US" sz="1800" b="1">
                <a:solidFill>
                  <a:srgbClr val="180BC5"/>
                </a:solidFill>
              </a:rPr>
              <a:t>(ii) Lime removes the permanent magnesium hardness: </a:t>
            </a:r>
          </a:p>
        </p:txBody>
      </p:sp>
      <p:graphicFrame>
        <p:nvGraphicFramePr>
          <p:cNvPr id="71688" name="Object 7"/>
          <p:cNvGraphicFramePr>
            <a:graphicFrameLocks noChangeAspect="1"/>
          </p:cNvGraphicFramePr>
          <p:nvPr/>
        </p:nvGraphicFramePr>
        <p:xfrm>
          <a:off x="3175000" y="5192296"/>
          <a:ext cx="6146800" cy="1143000"/>
        </p:xfrm>
        <a:graphic>
          <a:graphicData uri="http://schemas.openxmlformats.org/presentationml/2006/ole">
            <mc:AlternateContent xmlns:mc="http://schemas.openxmlformats.org/markup-compatibility/2006">
              <mc:Choice xmlns:v="urn:schemas-microsoft-com:vml" Requires="v">
                <p:oleObj name="CS ChemDraw Drawing" r:id="rId2" imgW="4226052" imgH="787908" progId="ChemDraw.Document.6.0">
                  <p:embed/>
                </p:oleObj>
              </mc:Choice>
              <mc:Fallback>
                <p:oleObj name="CS ChemDraw Drawing" r:id="rId2" imgW="4226052" imgH="787908" progId="ChemDraw.Document.6.0">
                  <p:embed/>
                  <p:pic>
                    <p:nvPicPr>
                      <p:cNvPr id="7168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00" y="5192296"/>
                        <a:ext cx="61468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5" name="Straight Arrow Connector 4">
            <a:extLst>
              <a:ext uri="{FF2B5EF4-FFF2-40B4-BE49-F238E27FC236}">
                <a16:creationId xmlns:a16="http://schemas.microsoft.com/office/drawing/2014/main" id="{C334F34E-3601-89EA-79B9-93E517F37D09}"/>
              </a:ext>
            </a:extLst>
          </p:cNvPr>
          <p:cNvCxnSpPr>
            <a:cxnSpLocks/>
          </p:cNvCxnSpPr>
          <p:nvPr/>
        </p:nvCxnSpPr>
        <p:spPr>
          <a:xfrm>
            <a:off x="4343400" y="3749962"/>
            <a:ext cx="14271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94B84DC7-A7C8-EF97-0B9A-3531EA8F1601}"/>
              </a:ext>
            </a:extLst>
          </p:cNvPr>
          <p:cNvCxnSpPr>
            <a:cxnSpLocks/>
          </p:cNvCxnSpPr>
          <p:nvPr/>
        </p:nvCxnSpPr>
        <p:spPr>
          <a:xfrm>
            <a:off x="4373562" y="4206864"/>
            <a:ext cx="14457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D524413E-FB16-2A1D-A2E0-84F87AC9D13A}"/>
              </a:ext>
            </a:extLst>
          </p:cNvPr>
          <p:cNvCxnSpPr/>
          <p:nvPr/>
        </p:nvCxnSpPr>
        <p:spPr>
          <a:xfrm>
            <a:off x="6705600" y="3646775"/>
            <a:ext cx="0" cy="171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0EEB5322-F80A-FF20-AAB5-B40CD70F9F7F}"/>
              </a:ext>
            </a:extLst>
          </p:cNvPr>
          <p:cNvCxnSpPr/>
          <p:nvPr/>
        </p:nvCxnSpPr>
        <p:spPr>
          <a:xfrm>
            <a:off x="6781800" y="4121139"/>
            <a:ext cx="0" cy="171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5">
            <a:extLst>
              <a:ext uri="{FF2B5EF4-FFF2-40B4-BE49-F238E27FC236}">
                <a16:creationId xmlns:a16="http://schemas.microsoft.com/office/drawing/2014/main" id="{6998E487-A2E0-E7A9-9693-755D3B4C7D14}"/>
              </a:ext>
            </a:extLst>
          </p:cNvPr>
          <p:cNvSpPr>
            <a:spLocks noChangeArrowheads="1"/>
          </p:cNvSpPr>
          <p:nvPr/>
        </p:nvSpPr>
        <p:spPr bwMode="auto">
          <a:xfrm>
            <a:off x="1676401" y="471874"/>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6">
            <a:extLst>
              <a:ext uri="{FF2B5EF4-FFF2-40B4-BE49-F238E27FC236}">
                <a16:creationId xmlns:a16="http://schemas.microsoft.com/office/drawing/2014/main" id="{C27DBB58-5E0C-09EE-CD94-4EDE2652B41A}"/>
              </a:ext>
            </a:extLst>
          </p:cNvPr>
          <p:cNvSpPr>
            <a:spLocks noChangeArrowheads="1"/>
          </p:cNvSpPr>
          <p:nvPr/>
        </p:nvSpPr>
        <p:spPr bwMode="auto">
          <a:xfrm>
            <a:off x="1905000" y="3554699"/>
            <a:ext cx="58993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Ca(HCO</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3</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2</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 Ca(OH)</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2  </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2CaCO</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3 </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  2H₂O</a:t>
            </a:r>
            <a:endParaRPr lang="en-US" altLang="en-US" sz="1600" dirty="0">
              <a:solidFill>
                <a:schemeClr val="tx1"/>
              </a:solidFill>
              <a:latin typeface="Arial" panose="020B0604020202020204" pitchFamily="34" charset="0"/>
            </a:endParaRPr>
          </a:p>
          <a:p>
            <a:pPr eaLnBrk="0" fontAlgn="base" hangingPunct="0">
              <a:spcBef>
                <a:spcPct val="0"/>
              </a:spcBef>
              <a:spcAft>
                <a:spcPct val="0"/>
              </a:spcAft>
            </a:pPr>
            <a:endParaRPr lang="en-US" altLang="en-US" sz="1600" dirty="0">
              <a:solidFill>
                <a:schemeClr val="tx1"/>
              </a:solidFill>
              <a:latin typeface="Arial" panose="020B0604020202020204" pitchFamily="34" charset="0"/>
            </a:endParaRPr>
          </a:p>
        </p:txBody>
      </p:sp>
      <p:sp>
        <p:nvSpPr>
          <p:cNvPr id="11" name="Rectangle 7">
            <a:extLst>
              <a:ext uri="{FF2B5EF4-FFF2-40B4-BE49-F238E27FC236}">
                <a16:creationId xmlns:a16="http://schemas.microsoft.com/office/drawing/2014/main" id="{E2E082B4-484F-716F-8535-69EDFCC64D7C}"/>
              </a:ext>
            </a:extLst>
          </p:cNvPr>
          <p:cNvSpPr>
            <a:spLocks noChangeArrowheads="1"/>
          </p:cNvSpPr>
          <p:nvPr/>
        </p:nvSpPr>
        <p:spPr bwMode="auto">
          <a:xfrm>
            <a:off x="1905000" y="4037587"/>
            <a:ext cx="68483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Mg(HCO</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3</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2</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+ 2Ca(OH)</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2  </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Mg(OH)</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2       </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+ 2CaCO</a:t>
            </a:r>
            <a:r>
              <a:rPr lang="en-US" altLang="en-US" sz="1600" baseline="-30000" dirty="0">
                <a:solidFill>
                  <a:schemeClr val="tx1"/>
                </a:solidFill>
                <a:latin typeface="Arial" panose="020B0604020202020204" pitchFamily="34" charset="0"/>
                <a:ea typeface="Cambria" panose="02040503050406030204" pitchFamily="18" charset="0"/>
                <a:cs typeface="Cambria" panose="02040503050406030204" pitchFamily="18" charset="0"/>
              </a:rPr>
              <a:t>3</a:t>
            </a:r>
            <a:r>
              <a:rPr lang="en-US" altLang="en-US" sz="1600" dirty="0">
                <a:solidFill>
                  <a:schemeClr val="tx1"/>
                </a:solidFill>
                <a:latin typeface="Arial" panose="020B0604020202020204" pitchFamily="34" charset="0"/>
                <a:ea typeface="Cambria" panose="02040503050406030204" pitchFamily="18" charset="0"/>
                <a:cs typeface="Cambria" panose="02040503050406030204" pitchFamily="18" charset="0"/>
              </a:rPr>
              <a:t> + 2H₂O</a:t>
            </a:r>
            <a:endParaRPr lang="en-US" altLang="en-US" sz="1600" dirty="0">
              <a:solidFill>
                <a:schemeClr val="tx1"/>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Box 4"/>
          <p:cNvSpPr txBox="1">
            <a:spLocks noChangeArrowheads="1"/>
          </p:cNvSpPr>
          <p:nvPr/>
        </p:nvSpPr>
        <p:spPr bwMode="auto">
          <a:xfrm>
            <a:off x="1676401" y="591013"/>
            <a:ext cx="6608763" cy="369888"/>
          </a:xfrm>
          <a:prstGeom prst="rect">
            <a:avLst/>
          </a:prstGeom>
          <a:noFill/>
          <a:ln w="9525">
            <a:noFill/>
            <a:miter lim="800000"/>
            <a:headEnd/>
            <a:tailEnd/>
          </a:ln>
        </p:spPr>
        <p:txBody>
          <a:bodyPr wrap="none">
            <a:spAutoFit/>
          </a:bodyPr>
          <a:lstStyle/>
          <a:p>
            <a:r>
              <a:rPr lang="en-US" altLang="en-US" sz="1800" b="1">
                <a:solidFill>
                  <a:srgbClr val="180BC5"/>
                </a:solidFill>
              </a:rPr>
              <a:t>(iii) Lime removes the dissolved iron and aluminum salts: </a:t>
            </a:r>
          </a:p>
        </p:txBody>
      </p:sp>
      <p:graphicFrame>
        <p:nvGraphicFramePr>
          <p:cNvPr id="72707" name="Object 5"/>
          <p:cNvGraphicFramePr>
            <a:graphicFrameLocks noChangeAspect="1"/>
          </p:cNvGraphicFramePr>
          <p:nvPr/>
        </p:nvGraphicFramePr>
        <p:xfrm>
          <a:off x="2819401" y="972013"/>
          <a:ext cx="6505575" cy="1066800"/>
        </p:xfrm>
        <a:graphic>
          <a:graphicData uri="http://schemas.openxmlformats.org/presentationml/2006/ole">
            <mc:AlternateContent xmlns:mc="http://schemas.openxmlformats.org/markup-compatibility/2006">
              <mc:Choice xmlns:v="urn:schemas-microsoft-com:vml" Requires="v">
                <p:oleObj name="CS ChemDraw Drawing" r:id="rId2" imgW="4512564" imgH="740664" progId="ChemDraw.Document.6.0">
                  <p:embed/>
                </p:oleObj>
              </mc:Choice>
              <mc:Fallback>
                <p:oleObj name="CS ChemDraw Drawing" r:id="rId2" imgW="4512564" imgH="740664" progId="ChemDraw.Document.6.0">
                  <p:embed/>
                  <p:pic>
                    <p:nvPicPr>
                      <p:cNvPr id="7270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972013"/>
                        <a:ext cx="6505575"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08" name="TextBox 6"/>
          <p:cNvSpPr txBox="1">
            <a:spLocks noChangeArrowheads="1"/>
          </p:cNvSpPr>
          <p:nvPr/>
        </p:nvSpPr>
        <p:spPr bwMode="auto">
          <a:xfrm>
            <a:off x="1630364" y="1973727"/>
            <a:ext cx="4313237" cy="369887"/>
          </a:xfrm>
          <a:prstGeom prst="rect">
            <a:avLst/>
          </a:prstGeom>
          <a:noFill/>
          <a:ln w="9525">
            <a:noFill/>
            <a:miter lim="800000"/>
            <a:headEnd/>
            <a:tailEnd/>
          </a:ln>
        </p:spPr>
        <p:txBody>
          <a:bodyPr wrap="none">
            <a:spAutoFit/>
          </a:bodyPr>
          <a:lstStyle/>
          <a:p>
            <a:r>
              <a:rPr lang="en-US" altLang="en-US" sz="1800" b="1">
                <a:solidFill>
                  <a:srgbClr val="180BC5"/>
                </a:solidFill>
              </a:rPr>
              <a:t>(iv) Lime removes free mineral acids: </a:t>
            </a:r>
          </a:p>
        </p:txBody>
      </p:sp>
      <p:graphicFrame>
        <p:nvGraphicFramePr>
          <p:cNvPr id="72709" name="Object 7"/>
          <p:cNvGraphicFramePr>
            <a:graphicFrameLocks noChangeAspect="1"/>
          </p:cNvGraphicFramePr>
          <p:nvPr/>
        </p:nvGraphicFramePr>
        <p:xfrm>
          <a:off x="2971800" y="2343613"/>
          <a:ext cx="6027738" cy="1017588"/>
        </p:xfrm>
        <a:graphic>
          <a:graphicData uri="http://schemas.openxmlformats.org/presentationml/2006/ole">
            <mc:AlternateContent xmlns:mc="http://schemas.openxmlformats.org/markup-compatibility/2006">
              <mc:Choice xmlns:v="urn:schemas-microsoft-com:vml" Requires="v">
                <p:oleObj name="CS ChemDraw Drawing" r:id="rId4" imgW="3930396" imgH="664464" progId="ChemDraw.Document.6.0">
                  <p:embed/>
                </p:oleObj>
              </mc:Choice>
              <mc:Fallback>
                <p:oleObj name="CS ChemDraw Drawing" r:id="rId4" imgW="3930396" imgH="664464" progId="ChemDraw.Document.6.0">
                  <p:embed/>
                  <p:pic>
                    <p:nvPicPr>
                      <p:cNvPr id="7270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343613"/>
                        <a:ext cx="6027738"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0" name="TextBox 8"/>
          <p:cNvSpPr txBox="1">
            <a:spLocks noChangeArrowheads="1"/>
          </p:cNvSpPr>
          <p:nvPr/>
        </p:nvSpPr>
        <p:spPr bwMode="auto">
          <a:xfrm>
            <a:off x="1676400" y="3562813"/>
            <a:ext cx="4878388" cy="369888"/>
          </a:xfrm>
          <a:prstGeom prst="rect">
            <a:avLst/>
          </a:prstGeom>
          <a:noFill/>
          <a:ln w="9525">
            <a:noFill/>
            <a:miter lim="800000"/>
            <a:headEnd/>
            <a:tailEnd/>
          </a:ln>
        </p:spPr>
        <p:txBody>
          <a:bodyPr wrap="none">
            <a:spAutoFit/>
          </a:bodyPr>
          <a:lstStyle/>
          <a:p>
            <a:r>
              <a:rPr lang="en-US" altLang="en-US" sz="1800" b="1" dirty="0">
                <a:solidFill>
                  <a:srgbClr val="180BC5"/>
                </a:solidFill>
              </a:rPr>
              <a:t>(v) Lime removes dissolved CO</a:t>
            </a:r>
            <a:r>
              <a:rPr lang="en-US" altLang="en-US" sz="1800" b="1" baseline="-25000" dirty="0">
                <a:solidFill>
                  <a:srgbClr val="180BC5"/>
                </a:solidFill>
              </a:rPr>
              <a:t>2</a:t>
            </a:r>
            <a:r>
              <a:rPr lang="en-US" altLang="en-US" sz="1800" b="1" dirty="0">
                <a:solidFill>
                  <a:srgbClr val="180BC5"/>
                </a:solidFill>
              </a:rPr>
              <a:t> and H</a:t>
            </a:r>
            <a:r>
              <a:rPr lang="en-US" altLang="en-US" sz="1800" b="1" baseline="-25000" dirty="0">
                <a:solidFill>
                  <a:srgbClr val="180BC5"/>
                </a:solidFill>
              </a:rPr>
              <a:t>2</a:t>
            </a:r>
            <a:r>
              <a:rPr lang="en-US" altLang="en-US" sz="1800" b="1" dirty="0">
                <a:solidFill>
                  <a:srgbClr val="180BC5"/>
                </a:solidFill>
              </a:rPr>
              <a:t>S: </a:t>
            </a:r>
          </a:p>
        </p:txBody>
      </p:sp>
      <p:graphicFrame>
        <p:nvGraphicFramePr>
          <p:cNvPr id="72711" name="Object 9"/>
          <p:cNvGraphicFramePr>
            <a:graphicFrameLocks noChangeAspect="1"/>
          </p:cNvGraphicFramePr>
          <p:nvPr/>
        </p:nvGraphicFramePr>
        <p:xfrm>
          <a:off x="3294064" y="3867613"/>
          <a:ext cx="5545137" cy="1143000"/>
        </p:xfrm>
        <a:graphic>
          <a:graphicData uri="http://schemas.openxmlformats.org/presentationml/2006/ole">
            <mc:AlternateContent xmlns:mc="http://schemas.openxmlformats.org/markup-compatibility/2006">
              <mc:Choice xmlns:v="urn:schemas-microsoft-com:vml" Requires="v">
                <p:oleObj name="CS ChemDraw Drawing" r:id="rId6" imgW="3857244" imgH="795528" progId="ChemDraw.Document.6.0">
                  <p:embed/>
                </p:oleObj>
              </mc:Choice>
              <mc:Fallback>
                <p:oleObj name="CS ChemDraw Drawing" r:id="rId6" imgW="3857244" imgH="795528" progId="ChemDraw.Document.6.0">
                  <p:embed/>
                  <p:pic>
                    <p:nvPicPr>
                      <p:cNvPr id="7271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4064" y="3867613"/>
                        <a:ext cx="5545137"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2" name="TextBox 10"/>
          <p:cNvSpPr txBox="1">
            <a:spLocks noChangeArrowheads="1"/>
          </p:cNvSpPr>
          <p:nvPr/>
        </p:nvSpPr>
        <p:spPr bwMode="auto">
          <a:xfrm>
            <a:off x="1657350" y="4934413"/>
            <a:ext cx="6045200" cy="369888"/>
          </a:xfrm>
          <a:prstGeom prst="rect">
            <a:avLst/>
          </a:prstGeom>
          <a:noFill/>
          <a:ln w="9525">
            <a:noFill/>
            <a:miter lim="800000"/>
            <a:headEnd/>
            <a:tailEnd/>
          </a:ln>
        </p:spPr>
        <p:txBody>
          <a:bodyPr wrap="none">
            <a:spAutoFit/>
          </a:bodyPr>
          <a:lstStyle/>
          <a:p>
            <a:r>
              <a:rPr lang="en-US" altLang="en-US" sz="1800" b="1" dirty="0">
                <a:solidFill>
                  <a:srgbClr val="FF0000"/>
                </a:solidFill>
              </a:rPr>
              <a:t>(vi) Soda removes all calcium permanent hardness: </a:t>
            </a:r>
          </a:p>
        </p:txBody>
      </p:sp>
      <p:graphicFrame>
        <p:nvGraphicFramePr>
          <p:cNvPr id="72713" name="Object 11"/>
          <p:cNvGraphicFramePr>
            <a:graphicFrameLocks noChangeAspect="1"/>
          </p:cNvGraphicFramePr>
          <p:nvPr/>
        </p:nvGraphicFramePr>
        <p:xfrm>
          <a:off x="2895600" y="5467813"/>
          <a:ext cx="6370638" cy="1143000"/>
        </p:xfrm>
        <a:graphic>
          <a:graphicData uri="http://schemas.openxmlformats.org/presentationml/2006/ole">
            <mc:AlternateContent xmlns:mc="http://schemas.openxmlformats.org/markup-compatibility/2006">
              <mc:Choice xmlns:v="urn:schemas-microsoft-com:vml" Requires="v">
                <p:oleObj name="CS ChemDraw Drawing" r:id="rId8" imgW="4184904" imgH="752856" progId="ChemDraw.Document.6.0">
                  <p:embed/>
                </p:oleObj>
              </mc:Choice>
              <mc:Fallback>
                <p:oleObj name="CS ChemDraw Drawing" r:id="rId8" imgW="4184904" imgH="752856" progId="ChemDraw.Document.6.0">
                  <p:embed/>
                  <p:pic>
                    <p:nvPicPr>
                      <p:cNvPr id="72713"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5467813"/>
                        <a:ext cx="637063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10">
            <p14:nvContentPartPr>
              <p14:cNvPr id="2" name="Ink 1">
                <a:extLst>
                  <a:ext uri="{FF2B5EF4-FFF2-40B4-BE49-F238E27FC236}">
                    <a16:creationId xmlns:a16="http://schemas.microsoft.com/office/drawing/2014/main" id="{576DECBF-899E-4831-99DC-E6583F24EFBB}"/>
                  </a:ext>
                </a:extLst>
              </p14:cNvPr>
              <p14:cNvContentPartPr/>
              <p14:nvPr/>
            </p14:nvContentPartPr>
            <p14:xfrm>
              <a:off x="7498200" y="3305773"/>
              <a:ext cx="205560" cy="9000"/>
            </p14:xfrm>
          </p:contentPart>
        </mc:Choice>
        <mc:Fallback xmlns="">
          <p:pic>
            <p:nvPicPr>
              <p:cNvPr id="2" name="Ink 1">
                <a:extLst>
                  <a:ext uri="{FF2B5EF4-FFF2-40B4-BE49-F238E27FC236}">
                    <a16:creationId xmlns:a16="http://schemas.microsoft.com/office/drawing/2014/main" id="{576DECBF-899E-4831-99DC-E6583F24EFBB}"/>
                  </a:ext>
                </a:extLst>
              </p:cNvPr>
              <p:cNvPicPr/>
              <p:nvPr/>
            </p:nvPicPr>
            <p:blipFill>
              <a:blip r:embed="rId11"/>
              <a:stretch>
                <a:fillRect/>
              </a:stretch>
            </p:blipFill>
            <p:spPr>
              <a:xfrm>
                <a:off x="7488840" y="3296413"/>
                <a:ext cx="224280" cy="2772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4C37F83-AEAA-1FF0-B642-5BEB54FB451D}"/>
              </a:ext>
            </a:extLst>
          </p:cNvPr>
          <p:cNvSpPr>
            <a:spLocks noGrp="1"/>
          </p:cNvSpPr>
          <p:nvPr>
            <p:ph type="ftr" sz="quarter" idx="11"/>
          </p:nvPr>
        </p:nvSpPr>
        <p:spPr/>
        <p:txBody>
          <a:bodyPr/>
          <a:lstStyle/>
          <a:p>
            <a:pPr>
              <a:defRPr/>
            </a:pPr>
            <a:endParaRPr lang="en-US" dirty="0"/>
          </a:p>
        </p:txBody>
      </p:sp>
      <p:sp>
        <p:nvSpPr>
          <p:cNvPr id="3" name="Slide Number Placeholder 2">
            <a:extLst>
              <a:ext uri="{FF2B5EF4-FFF2-40B4-BE49-F238E27FC236}">
                <a16:creationId xmlns:a16="http://schemas.microsoft.com/office/drawing/2014/main" id="{629DC1A4-F154-99FB-F127-18C33E5458B8}"/>
              </a:ext>
            </a:extLst>
          </p:cNvPr>
          <p:cNvSpPr>
            <a:spLocks noGrp="1"/>
          </p:cNvSpPr>
          <p:nvPr>
            <p:ph type="sldNum" sz="quarter" idx="12"/>
          </p:nvPr>
        </p:nvSpPr>
        <p:spPr/>
        <p:txBody>
          <a:bodyPr/>
          <a:lstStyle/>
          <a:p>
            <a:pPr>
              <a:defRPr/>
            </a:pPr>
            <a:fld id="{88C4E98B-C846-4C58-A4CD-8697F5F2B0DF}" type="slidenum">
              <a:rPr lang="en-US" smtClean="0"/>
              <a:pPr>
                <a:defRPr/>
              </a:pPr>
              <a:t>21</a:t>
            </a:fld>
            <a:endParaRPr lang="en-US"/>
          </a:p>
        </p:txBody>
      </p:sp>
      <p:pic>
        <p:nvPicPr>
          <p:cNvPr id="7" name="Picture 6">
            <a:extLst>
              <a:ext uri="{FF2B5EF4-FFF2-40B4-BE49-F238E27FC236}">
                <a16:creationId xmlns:a16="http://schemas.microsoft.com/office/drawing/2014/main" id="{FC8CD4CA-CF4E-180E-EE09-E40A335F5729}"/>
              </a:ext>
            </a:extLst>
          </p:cNvPr>
          <p:cNvPicPr>
            <a:picLocks noChangeAspect="1"/>
          </p:cNvPicPr>
          <p:nvPr/>
        </p:nvPicPr>
        <p:blipFill>
          <a:blip r:embed="rId2"/>
          <a:srcRect t="9980"/>
          <a:stretch>
            <a:fillRect/>
          </a:stretch>
        </p:blipFill>
        <p:spPr>
          <a:xfrm>
            <a:off x="1044917" y="1005840"/>
            <a:ext cx="10230295" cy="4270248"/>
          </a:xfrm>
          <a:prstGeom prst="rect">
            <a:avLst/>
          </a:prstGeom>
        </p:spPr>
      </p:pic>
    </p:spTree>
    <p:extLst>
      <p:ext uri="{BB962C8B-B14F-4D97-AF65-F5344CB8AC3E}">
        <p14:creationId xmlns:p14="http://schemas.microsoft.com/office/powerpoint/2010/main" val="3893946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E81DDE9-C29C-4B69-B464-26C440CBE9C8}"/>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Lime-Soda process</a:t>
            </a:r>
          </a:p>
        </p:txBody>
      </p:sp>
      <p:sp>
        <p:nvSpPr>
          <p:cNvPr id="5" name="Shape 69">
            <a:extLst>
              <a:ext uri="{FF2B5EF4-FFF2-40B4-BE49-F238E27FC236}">
                <a16:creationId xmlns:a16="http://schemas.microsoft.com/office/drawing/2014/main" id="{518FE703-E3CE-4D28-9B7E-DD89ED788B10}"/>
              </a:ext>
            </a:extLst>
          </p:cNvPr>
          <p:cNvSpPr txBox="1"/>
          <p:nvPr/>
        </p:nvSpPr>
        <p:spPr>
          <a:xfrm>
            <a:off x="352704" y="693758"/>
            <a:ext cx="8379600" cy="489810"/>
          </a:xfrm>
          <a:prstGeom prst="rect">
            <a:avLst/>
          </a:prstGeom>
          <a:noFill/>
          <a:ln>
            <a:noFill/>
          </a:ln>
        </p:spPr>
        <p:txBody>
          <a:bodyPr lIns="91425" tIns="91425" rIns="91425" bIns="91425" anchor="t" anchorCtr="0">
            <a:noAutofit/>
          </a:bodyPr>
          <a:lstStyle/>
          <a:p>
            <a:r>
              <a:rPr lang="it-IT"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Intermittent Cold Lime Soda Softener</a:t>
            </a:r>
          </a:p>
        </p:txBody>
      </p:sp>
      <p:pic>
        <p:nvPicPr>
          <p:cNvPr id="6" name="Picture 5">
            <a:extLst>
              <a:ext uri="{FF2B5EF4-FFF2-40B4-BE49-F238E27FC236}">
                <a16:creationId xmlns:a16="http://schemas.microsoft.com/office/drawing/2014/main" id="{EE80C409-00A0-4C79-A654-74BBBAF8AE42}"/>
              </a:ext>
            </a:extLst>
          </p:cNvPr>
          <p:cNvPicPr>
            <a:picLocks noChangeAspect="1"/>
          </p:cNvPicPr>
          <p:nvPr/>
        </p:nvPicPr>
        <p:blipFill rotWithShape="1">
          <a:blip r:embed="rId4">
            <a:extLst>
              <a:ext uri="{28A0092B-C50C-407E-A947-70E740481C1C}">
                <a14:useLocalDpi xmlns:a14="http://schemas.microsoft.com/office/drawing/2010/main" val="0"/>
              </a:ext>
            </a:extLst>
          </a:blip>
          <a:srcRect l="10572" t="20191" r="8143" b="56762"/>
          <a:stretch/>
        </p:blipFill>
        <p:spPr>
          <a:xfrm>
            <a:off x="6917215" y="2480921"/>
            <a:ext cx="5090844" cy="1896158"/>
          </a:xfrm>
          <a:prstGeom prst="rect">
            <a:avLst/>
          </a:prstGeom>
        </p:spPr>
      </p:pic>
      <p:sp>
        <p:nvSpPr>
          <p:cNvPr id="7" name="Rectangle 6">
            <a:extLst>
              <a:ext uri="{FF2B5EF4-FFF2-40B4-BE49-F238E27FC236}">
                <a16:creationId xmlns:a16="http://schemas.microsoft.com/office/drawing/2014/main" id="{2A80451C-BE48-4DB4-956F-16037A84F940}"/>
              </a:ext>
            </a:extLst>
          </p:cNvPr>
          <p:cNvSpPr/>
          <p:nvPr/>
        </p:nvSpPr>
        <p:spPr>
          <a:xfrm>
            <a:off x="309311" y="1176693"/>
            <a:ext cx="6607903" cy="4862870"/>
          </a:xfrm>
          <a:prstGeom prst="rect">
            <a:avLst/>
          </a:prstGeom>
        </p:spPr>
        <p:txBody>
          <a:bodyPr wrap="square">
            <a:spAutoFit/>
          </a:bodyPr>
          <a:lstStyle/>
          <a:p>
            <a:pPr lvl="0" algn="just">
              <a:spcAft>
                <a:spcPts val="600"/>
              </a:spcAft>
            </a:pPr>
            <a:r>
              <a:rPr lang="en-IN" sz="2000" dirty="0">
                <a:latin typeface="Calibri" panose="020F0502020204030204" pitchFamily="34" charset="0"/>
                <a:ea typeface="Calibri" panose="020F0502020204030204" pitchFamily="34" charset="0"/>
                <a:cs typeface="Times New Roman" panose="02020603050405020304" pitchFamily="18" charset="0"/>
              </a:rPr>
              <a:t>In this process – </a:t>
            </a:r>
          </a:p>
          <a:p>
            <a:pPr marL="342900" lvl="0" indent="-342900" algn="just">
              <a:spcAft>
                <a:spcPts val="6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Calculated quantity of lime and soda are mixed with water at room temperature </a:t>
            </a:r>
          </a:p>
          <a:p>
            <a:pPr marL="342900" lvl="0" indent="-342900" algn="just">
              <a:spcAft>
                <a:spcPts val="6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The precipitates formed are finely divided, so they do not settle down easily. </a:t>
            </a:r>
          </a:p>
          <a:p>
            <a:pPr marL="342900" lvl="0" indent="-342900" algn="just">
              <a:spcAft>
                <a:spcPts val="6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Therefore, small amounts of coagulants (like alum, aluminum sulphate, sodium aluminates etc.).</a:t>
            </a:r>
            <a:r>
              <a:rPr lang="en-IN" sz="20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Use of </a:t>
            </a:r>
            <a:r>
              <a:rPr lang="en-US" sz="2000" b="1" dirty="0">
                <a:latin typeface="Calibri" panose="020F0502020204030204" pitchFamily="34" charset="0"/>
                <a:ea typeface="Calibri" panose="020F0502020204030204" pitchFamily="34" charset="0"/>
                <a:cs typeface="Times New Roman" panose="02020603050405020304" pitchFamily="18" charset="0"/>
              </a:rPr>
              <a:t>sodium aluminate as coagulant</a:t>
            </a:r>
            <a:r>
              <a:rPr lang="en-US" sz="2000" dirty="0">
                <a:latin typeface="Calibri" panose="020F0502020204030204" pitchFamily="34" charset="0"/>
                <a:ea typeface="Calibri" panose="020F0502020204030204" pitchFamily="34" charset="0"/>
                <a:cs typeface="Times New Roman" panose="02020603050405020304" pitchFamily="18" charset="0"/>
              </a:rPr>
              <a:t> also helps the </a:t>
            </a:r>
            <a:r>
              <a:rPr lang="en-US" sz="2000" b="1" dirty="0">
                <a:latin typeface="Calibri" panose="020F0502020204030204" pitchFamily="34" charset="0"/>
                <a:ea typeface="Calibri" panose="020F0502020204030204" pitchFamily="34" charset="0"/>
                <a:cs typeface="Times New Roman" panose="02020603050405020304" pitchFamily="18" charset="0"/>
              </a:rPr>
              <a:t>removal of silica as well as oil</a:t>
            </a:r>
            <a:r>
              <a:rPr lang="en-US" sz="2000" dirty="0">
                <a:latin typeface="Calibri" panose="020F0502020204030204" pitchFamily="34" charset="0"/>
                <a:ea typeface="Calibri" panose="020F0502020204030204" pitchFamily="34" charset="0"/>
                <a:cs typeface="Times New Roman" panose="02020603050405020304" pitchFamily="18" charset="0"/>
              </a:rPr>
              <a:t> if present in water..</a:t>
            </a:r>
          </a:p>
          <a:p>
            <a:pPr algn="ctr">
              <a:spcAft>
                <a:spcPts val="1200"/>
              </a:spcAft>
              <a:defRPr/>
            </a:pPr>
            <a:r>
              <a:rPr lang="en-US" sz="2000" dirty="0">
                <a:latin typeface="Calibri" panose="020F0502020204030204" pitchFamily="34" charset="0"/>
                <a:cs typeface="Calibri" panose="020F0502020204030204" pitchFamily="34" charset="0"/>
              </a:rPr>
              <a:t>NaAlO</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  2 H</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O </a:t>
            </a:r>
            <a:r>
              <a:rPr lang="en-US" sz="2000" dirty="0">
                <a:latin typeface="Calibri" panose="020F0502020204030204" pitchFamily="34" charset="0"/>
                <a:cs typeface="Calibri" panose="020F0502020204030204" pitchFamily="34" charset="0"/>
                <a:sym typeface="Wingdings" panose="05000000000000000000" pitchFamily="2" charset="2"/>
              </a:rPr>
              <a:t> </a:t>
            </a:r>
            <a:r>
              <a:rPr lang="en-US" sz="2000" dirty="0">
                <a:latin typeface="Calibri" panose="020F0502020204030204" pitchFamily="34" charset="0"/>
                <a:cs typeface="Calibri" panose="020F0502020204030204" pitchFamily="34" charset="0"/>
              </a:rPr>
              <a:t>NaOH  +  Al(OH)</a:t>
            </a:r>
            <a:r>
              <a:rPr lang="en-US" sz="2000" baseline="-25000" dirty="0">
                <a:latin typeface="Calibri" panose="020F0502020204030204" pitchFamily="34" charset="0"/>
                <a:cs typeface="Calibri" panose="020F0502020204030204" pitchFamily="34" charset="0"/>
              </a:rPr>
              <a:t>3</a:t>
            </a:r>
            <a:endParaRPr lang="en-US" sz="2000" dirty="0">
              <a:latin typeface="Calibri" panose="020F0502020204030204" pitchFamily="34" charset="0"/>
              <a:cs typeface="Calibri" panose="020F0502020204030204" pitchFamily="34" charset="0"/>
            </a:endParaRPr>
          </a:p>
          <a:p>
            <a:pPr algn="ctr">
              <a:spcAft>
                <a:spcPts val="1200"/>
              </a:spcAft>
              <a:defRPr/>
            </a:pPr>
            <a:r>
              <a:rPr lang="en-US" sz="2000" dirty="0">
                <a:latin typeface="Calibri" panose="020F0502020204030204" pitchFamily="34" charset="0"/>
                <a:cs typeface="Calibri" panose="020F0502020204030204" pitchFamily="34" charset="0"/>
              </a:rPr>
              <a:t>Al</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(SO</a:t>
            </a:r>
            <a:r>
              <a:rPr lang="en-US" sz="2000" baseline="-25000" dirty="0">
                <a:latin typeface="Calibri" panose="020F0502020204030204" pitchFamily="34" charset="0"/>
                <a:cs typeface="Calibri" panose="020F0502020204030204" pitchFamily="34" charset="0"/>
              </a:rPr>
              <a:t>4</a:t>
            </a:r>
            <a:r>
              <a:rPr lang="en-US" sz="2000" dirty="0">
                <a:latin typeface="Calibri" panose="020F0502020204030204" pitchFamily="34" charset="0"/>
                <a:cs typeface="Calibri" panose="020F0502020204030204" pitchFamily="34" charset="0"/>
              </a:rPr>
              <a:t>)</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+ 3 Ca(HCO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sym typeface="Wingdings" panose="05000000000000000000" pitchFamily="2" charset="2"/>
              </a:rPr>
              <a:t> </a:t>
            </a:r>
            <a:r>
              <a:rPr lang="en-US" sz="2000" dirty="0">
                <a:latin typeface="Calibri" panose="020F0502020204030204" pitchFamily="34" charset="0"/>
                <a:cs typeface="Calibri" panose="020F0502020204030204" pitchFamily="34" charset="0"/>
              </a:rPr>
              <a:t>2 Al(OH)</a:t>
            </a:r>
            <a:r>
              <a:rPr lang="en-US" sz="2000" baseline="-25000" dirty="0">
                <a:latin typeface="Calibri" panose="020F0502020204030204" pitchFamily="34" charset="0"/>
                <a:cs typeface="Calibri" panose="020F0502020204030204" pitchFamily="34" charset="0"/>
              </a:rPr>
              <a:t>3     </a:t>
            </a:r>
            <a:r>
              <a:rPr lang="en-US" sz="2000" dirty="0">
                <a:latin typeface="Calibri" panose="020F0502020204030204" pitchFamily="34" charset="0"/>
                <a:cs typeface="Calibri" panose="020F0502020204030204" pitchFamily="34" charset="0"/>
              </a:rPr>
              <a:t>+ 3 CaSO</a:t>
            </a:r>
            <a:r>
              <a:rPr lang="en-US" sz="2000" baseline="-25000" dirty="0">
                <a:latin typeface="Calibri" panose="020F0502020204030204" pitchFamily="34" charset="0"/>
                <a:cs typeface="Calibri" panose="020F0502020204030204" pitchFamily="34" charset="0"/>
              </a:rPr>
              <a:t>4</a:t>
            </a:r>
            <a:r>
              <a:rPr lang="en-US" sz="2000" dirty="0">
                <a:latin typeface="Calibri" panose="020F0502020204030204" pitchFamily="34" charset="0"/>
                <a:cs typeface="Calibri" panose="020F0502020204030204" pitchFamily="34" charset="0"/>
              </a:rPr>
              <a:t>  +  6 CO</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13618258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E81DDE9-C29C-4B69-B464-26C440CBE9C8}"/>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Lime-Soda process</a:t>
            </a:r>
          </a:p>
        </p:txBody>
      </p:sp>
      <p:sp>
        <p:nvSpPr>
          <p:cNvPr id="5" name="Shape 69">
            <a:extLst>
              <a:ext uri="{FF2B5EF4-FFF2-40B4-BE49-F238E27FC236}">
                <a16:creationId xmlns:a16="http://schemas.microsoft.com/office/drawing/2014/main" id="{1D5718C4-C27B-4273-846B-EB6AB7B062BE}"/>
              </a:ext>
            </a:extLst>
          </p:cNvPr>
          <p:cNvSpPr txBox="1"/>
          <p:nvPr/>
        </p:nvSpPr>
        <p:spPr>
          <a:xfrm>
            <a:off x="324650" y="710773"/>
            <a:ext cx="4825910" cy="489810"/>
          </a:xfrm>
          <a:prstGeom prst="rect">
            <a:avLst/>
          </a:prstGeom>
          <a:noFill/>
          <a:ln>
            <a:noFill/>
          </a:ln>
        </p:spPr>
        <p:txBody>
          <a:bodyPr lIns="91425" tIns="91425" rIns="91425" bIns="91425" anchor="t" anchorCtr="0">
            <a:noAutofit/>
          </a:bodyPr>
          <a:lstStyle/>
          <a:p>
            <a:r>
              <a:rPr lang="it-IT"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Continuous Cold Lime Soda Softener</a:t>
            </a:r>
          </a:p>
        </p:txBody>
      </p:sp>
      <p:pic>
        <p:nvPicPr>
          <p:cNvPr id="6" name="Picture 5">
            <a:extLst>
              <a:ext uri="{FF2B5EF4-FFF2-40B4-BE49-F238E27FC236}">
                <a16:creationId xmlns:a16="http://schemas.microsoft.com/office/drawing/2014/main" id="{5BB7D171-7E8F-4B81-801D-0C78F8DC27C9}"/>
              </a:ext>
            </a:extLst>
          </p:cNvPr>
          <p:cNvPicPr>
            <a:picLocks noChangeAspect="1"/>
          </p:cNvPicPr>
          <p:nvPr/>
        </p:nvPicPr>
        <p:blipFill rotWithShape="1">
          <a:blip r:embed="rId4">
            <a:extLst>
              <a:ext uri="{28A0092B-C50C-407E-A947-70E740481C1C}">
                <a14:useLocalDpi xmlns:a14="http://schemas.microsoft.com/office/drawing/2010/main" val="0"/>
              </a:ext>
            </a:extLst>
          </a:blip>
          <a:srcRect l="19175" t="53905" r="14305" b="3428"/>
          <a:stretch/>
        </p:blipFill>
        <p:spPr>
          <a:xfrm>
            <a:off x="509449" y="1484322"/>
            <a:ext cx="5120641" cy="4314510"/>
          </a:xfrm>
          <a:prstGeom prst="rect">
            <a:avLst/>
          </a:prstGeom>
        </p:spPr>
      </p:pic>
      <p:sp>
        <p:nvSpPr>
          <p:cNvPr id="7" name="Shape 69">
            <a:extLst>
              <a:ext uri="{FF2B5EF4-FFF2-40B4-BE49-F238E27FC236}">
                <a16:creationId xmlns:a16="http://schemas.microsoft.com/office/drawing/2014/main" id="{26F00AB8-3825-40CE-9A9E-530D0A5032F6}"/>
              </a:ext>
            </a:extLst>
          </p:cNvPr>
          <p:cNvSpPr txBox="1"/>
          <p:nvPr/>
        </p:nvSpPr>
        <p:spPr>
          <a:xfrm>
            <a:off x="6096000" y="710773"/>
            <a:ext cx="4979437"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Continuous Hot Lime Soda Process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F26A90A0-81A2-4FE3-AA55-A097DA460188}"/>
              </a:ext>
            </a:extLst>
          </p:cNvPr>
          <p:cNvPicPr>
            <a:picLocks noChangeAspect="1"/>
          </p:cNvPicPr>
          <p:nvPr/>
        </p:nvPicPr>
        <p:blipFill rotWithShape="1">
          <a:blip r:embed="rId5">
            <a:extLst>
              <a:ext uri="{28A0092B-C50C-407E-A947-70E740481C1C}">
                <a14:useLocalDpi xmlns:a14="http://schemas.microsoft.com/office/drawing/2010/main" val="0"/>
              </a:ext>
            </a:extLst>
          </a:blip>
          <a:srcRect b="6188"/>
          <a:stretch/>
        </p:blipFill>
        <p:spPr>
          <a:xfrm>
            <a:off x="5927621" y="1567484"/>
            <a:ext cx="5553258" cy="4148185"/>
          </a:xfrm>
          <a:prstGeom prst="rect">
            <a:avLst/>
          </a:prstGeom>
        </p:spPr>
      </p:pic>
    </p:spTree>
    <p:extLst>
      <p:ext uri="{BB962C8B-B14F-4D97-AF65-F5344CB8AC3E}">
        <p14:creationId xmlns:p14="http://schemas.microsoft.com/office/powerpoint/2010/main" val="413226043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E81DDE9-C29C-4B69-B464-26C440CBE9C8}"/>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Lime-Soda process</a:t>
            </a:r>
          </a:p>
        </p:txBody>
      </p:sp>
      <p:sp>
        <p:nvSpPr>
          <p:cNvPr id="5" name="Shape 69">
            <a:extLst>
              <a:ext uri="{FF2B5EF4-FFF2-40B4-BE49-F238E27FC236}">
                <a16:creationId xmlns:a16="http://schemas.microsoft.com/office/drawing/2014/main" id="{D2AD8CA5-E6CF-4BA4-BD32-8B0BA7356EBC}"/>
              </a:ext>
            </a:extLst>
          </p:cNvPr>
          <p:cNvSpPr txBox="1"/>
          <p:nvPr/>
        </p:nvSpPr>
        <p:spPr>
          <a:xfrm>
            <a:off x="324649" y="711745"/>
            <a:ext cx="11343741"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Hot lime soda process</a:t>
            </a:r>
          </a:p>
        </p:txBody>
      </p:sp>
      <p:sp>
        <p:nvSpPr>
          <p:cNvPr id="6" name="Rectangle 5">
            <a:extLst>
              <a:ext uri="{FF2B5EF4-FFF2-40B4-BE49-F238E27FC236}">
                <a16:creationId xmlns:a16="http://schemas.microsoft.com/office/drawing/2014/main" id="{D059F073-2784-4569-9F44-3F9806C31A8D}"/>
              </a:ext>
            </a:extLst>
          </p:cNvPr>
          <p:cNvSpPr/>
          <p:nvPr/>
        </p:nvSpPr>
        <p:spPr>
          <a:xfrm>
            <a:off x="324650" y="1266869"/>
            <a:ext cx="11385268" cy="3708708"/>
          </a:xfrm>
          <a:prstGeom prst="rect">
            <a:avLst/>
          </a:prstGeom>
        </p:spPr>
        <p:txBody>
          <a:bodyPr wrap="square">
            <a:spAutoFit/>
          </a:bodyPr>
          <a:lstStyle/>
          <a:p>
            <a:pPr lvl="0" algn="just">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Calculated quantity of lime and soda are mixed with water at  80°C.</a:t>
            </a:r>
          </a:p>
          <a:p>
            <a:pPr lvl="0" algn="just">
              <a:spcAft>
                <a:spcPts val="1200"/>
              </a:spcAft>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Advantages: </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reaction proceeds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faster</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Softening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capacity</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increased. </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No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coagulant</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needed as the precipitate and sludge formed settle down rapidly.</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Much of the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dissolved gases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are driven out of water. </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Viscosity of soften water is lower, so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filtration</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water becomes easier. </a:t>
            </a:r>
          </a:p>
          <a:p>
            <a:pPr marL="342900" lvl="0" indent="-342900" algn="just">
              <a:spcAft>
                <a:spcPts val="6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This process produces water of comparatively low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residual hardness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15 to 30 ppm.</a:t>
            </a:r>
          </a:p>
        </p:txBody>
      </p:sp>
    </p:spTree>
    <p:extLst>
      <p:ext uri="{BB962C8B-B14F-4D97-AF65-F5344CB8AC3E}">
        <p14:creationId xmlns:p14="http://schemas.microsoft.com/office/powerpoint/2010/main" val="1476960256"/>
      </p:ext>
    </p:extLst>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E81DDE9-C29C-4B69-B464-26C440CBE9C8}"/>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Lime-Soda process</a:t>
            </a:r>
          </a:p>
        </p:txBody>
      </p:sp>
      <p:sp>
        <p:nvSpPr>
          <p:cNvPr id="5" name="Shape 69">
            <a:extLst>
              <a:ext uri="{FF2B5EF4-FFF2-40B4-BE49-F238E27FC236}">
                <a16:creationId xmlns:a16="http://schemas.microsoft.com/office/drawing/2014/main" id="{B797FFB2-944E-4355-83A4-C3B4B6877BDB}"/>
              </a:ext>
            </a:extLst>
          </p:cNvPr>
          <p:cNvSpPr txBox="1"/>
          <p:nvPr/>
        </p:nvSpPr>
        <p:spPr>
          <a:xfrm>
            <a:off x="324650" y="608503"/>
            <a:ext cx="11446004"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Advantages of lime soda process</a:t>
            </a:r>
          </a:p>
        </p:txBody>
      </p:sp>
      <p:sp>
        <p:nvSpPr>
          <p:cNvPr id="6" name="Rectangle 5">
            <a:extLst>
              <a:ext uri="{FF2B5EF4-FFF2-40B4-BE49-F238E27FC236}">
                <a16:creationId xmlns:a16="http://schemas.microsoft.com/office/drawing/2014/main" id="{3894CF83-5F3F-43DD-B429-521CB489A507}"/>
              </a:ext>
            </a:extLst>
          </p:cNvPr>
          <p:cNvSpPr/>
          <p:nvPr/>
        </p:nvSpPr>
        <p:spPr>
          <a:xfrm>
            <a:off x="324650" y="1046223"/>
            <a:ext cx="11487905" cy="2246769"/>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It is very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economical</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If the process is combined with sedimentation/coagulation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lesser  amounts of coagulants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shall be needed.</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process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increases the pH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of the treated water.</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In addition to the removal of hardness, the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quantities of minerals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in the water are reduced.</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Due to alkaline nature of treated water, number of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pathogenic bacteria</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in water is considerably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reduced</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p:txBody>
      </p:sp>
      <p:sp>
        <p:nvSpPr>
          <p:cNvPr id="7" name="Shape 69">
            <a:extLst>
              <a:ext uri="{FF2B5EF4-FFF2-40B4-BE49-F238E27FC236}">
                <a16:creationId xmlns:a16="http://schemas.microsoft.com/office/drawing/2014/main" id="{1D831A00-7949-4A3C-8293-62CAF8A6C061}"/>
              </a:ext>
            </a:extLst>
          </p:cNvPr>
          <p:cNvSpPr txBox="1"/>
          <p:nvPr/>
        </p:nvSpPr>
        <p:spPr>
          <a:xfrm>
            <a:off x="324650" y="3502751"/>
            <a:ext cx="8379600"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Disadvantages of lime soda process</a:t>
            </a:r>
            <a:endParaRPr lang="en-US"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C2683594-436F-4DD9-B442-F59832E0A68F}"/>
              </a:ext>
            </a:extLst>
          </p:cNvPr>
          <p:cNvSpPr/>
          <p:nvPr/>
        </p:nvSpPr>
        <p:spPr>
          <a:xfrm>
            <a:off x="324649" y="3984694"/>
            <a:ext cx="11446004" cy="2554545"/>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For efficient and economical softening,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careful operation</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skilled supervision</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required.</a:t>
            </a:r>
          </a:p>
          <a:p>
            <a:pPr marL="342900" lvl="0" indent="-342900" algn="just">
              <a:spcAft>
                <a:spcPts val="1200"/>
              </a:spcAft>
              <a:buFont typeface="Arial" panose="020B0604020202020204" pitchFamily="34" charset="0"/>
              <a:buChar char="•"/>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Disposal</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large amount of sludge poses a problem.</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This can remove hardness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up to 15 ppm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which is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not good for boilers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Cannot be used in high pressure boilers as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appreciable number of soluble salts</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(Na</a:t>
            </a:r>
            <a:r>
              <a:rPr lang="en-US"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a:t>
            </a:r>
            <a:r>
              <a:rPr lang="en-US"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might be present.</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Cannot be used for household purposes as the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calculation for required amount</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lime and soda is hard. </a:t>
            </a:r>
          </a:p>
        </p:txBody>
      </p:sp>
      <p:sp>
        <p:nvSpPr>
          <p:cNvPr id="2" name="Star: 5 Points 1">
            <a:extLst>
              <a:ext uri="{FF2B5EF4-FFF2-40B4-BE49-F238E27FC236}">
                <a16:creationId xmlns:a16="http://schemas.microsoft.com/office/drawing/2014/main" id="{95B1BBE8-7310-DA7B-6A0C-A46FC342D95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2359140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91EFAC2-7CAA-4E99-8B8E-0DD9E3096856}"/>
              </a:ext>
            </a:extLst>
          </p:cNvPr>
          <p:cNvSpPr txBox="1"/>
          <p:nvPr/>
        </p:nvSpPr>
        <p:spPr>
          <a:xfrm>
            <a:off x="432619" y="640080"/>
            <a:ext cx="8379600" cy="1106688"/>
          </a:xfrm>
          <a:prstGeom prst="rect">
            <a:avLst/>
          </a:prstGeom>
          <a:noFill/>
          <a:ln>
            <a:noFill/>
          </a:ln>
        </p:spPr>
        <p:txBody>
          <a:bodyPr lIns="91425" tIns="91425" rIns="91425" bIns="91425" anchor="t" anchorCtr="0">
            <a:noAutofit/>
          </a:bodyPr>
          <a:lstStyle/>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Ion exchange or deionization or demineralization process: </a:t>
            </a:r>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DD026969-A275-4C4C-AC51-EF2C49BD4D2F}"/>
              </a:ext>
            </a:extLst>
          </p:cNvPr>
          <p:cNvSpPr/>
          <p:nvPr/>
        </p:nvSpPr>
        <p:spPr>
          <a:xfrm>
            <a:off x="432619" y="1558180"/>
            <a:ext cx="11143685" cy="3477875"/>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Ion-exchange resins </a:t>
            </a:r>
            <a:r>
              <a:rPr lang="en-IN" sz="2000" dirty="0">
                <a:latin typeface="Calibri" panose="020F0502020204030204" pitchFamily="34" charset="0"/>
                <a:ea typeface="Calibri" panose="020F0502020204030204" pitchFamily="34" charset="0"/>
                <a:cs typeface="Times New Roman" panose="02020603050405020304" pitchFamily="18" charset="0"/>
              </a:rPr>
              <a:t>are widely used in different separation,   purification, and decontamination processes. </a:t>
            </a:r>
          </a:p>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Ion-exchange resins </a:t>
            </a:r>
            <a:r>
              <a:rPr lang="en-IN" sz="2000" dirty="0">
                <a:latin typeface="Calibri" panose="020F0502020204030204" pitchFamily="34" charset="0"/>
                <a:ea typeface="Calibri" panose="020F0502020204030204" pitchFamily="34" charset="0"/>
                <a:cs typeface="Times New Roman" panose="02020603050405020304" pitchFamily="18" charset="0"/>
              </a:rPr>
              <a:t>are –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insoluble,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cross linked,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long chain organic polymer,</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with micro porous structure and,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functional groups attached to the chains are responsible for the ion exchange properties. </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Star: 5 Points 1">
            <a:extLst>
              <a:ext uri="{FF2B5EF4-FFF2-40B4-BE49-F238E27FC236}">
                <a16:creationId xmlns:a16="http://schemas.microsoft.com/office/drawing/2014/main" id="{EF8CDE70-D8D0-C50C-7F96-58741C313611}"/>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54CCD36-4E41-51AF-5F37-38AF48E5387C}"/>
              </a:ext>
            </a:extLst>
          </p:cNvPr>
          <p:cNvSpPr txBox="1"/>
          <p:nvPr/>
        </p:nvSpPr>
        <p:spPr>
          <a:xfrm>
            <a:off x="1581912" y="55305"/>
            <a:ext cx="8117586" cy="584775"/>
          </a:xfrm>
          <a:prstGeom prst="rect">
            <a:avLst/>
          </a:prstGeom>
          <a:noFill/>
        </p:spPr>
        <p:txBody>
          <a:bodyPr wrap="square">
            <a:spAutoFit/>
          </a:bodyPr>
          <a:lstStyle/>
          <a:p>
            <a:r>
              <a:rPr lang="en-US" sz="3200" b="1" dirty="0">
                <a:solidFill>
                  <a:schemeClr val="accent6"/>
                </a:solidFill>
                <a:latin typeface="Calibri" panose="020F0502020204030204" pitchFamily="34" charset="0"/>
                <a:ea typeface="Calibri" panose="020F0502020204030204" pitchFamily="34" charset="0"/>
                <a:cs typeface="Times New Roman" panose="02020603050405020304" pitchFamily="18" charset="0"/>
              </a:rPr>
              <a:t>Water softening: Ion Exchange Method</a:t>
            </a:r>
            <a:endParaRPr lang="en-US" sz="3200" dirty="0">
              <a:solidFill>
                <a:schemeClr val="accent6"/>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810251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ED1FC88B-2E7F-4DB7-AE15-BE89E715A2DB}"/>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Cation exchange resins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D065C699-EFD7-4279-8B51-68DA3708FEB2}"/>
              </a:ext>
            </a:extLst>
          </p:cNvPr>
          <p:cNvSpPr/>
          <p:nvPr/>
        </p:nvSpPr>
        <p:spPr>
          <a:xfrm>
            <a:off x="324649" y="623687"/>
            <a:ext cx="11421873" cy="1477328"/>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Resins containing </a:t>
            </a:r>
            <a:r>
              <a:rPr lang="en-IN" sz="2000" b="1" dirty="0">
                <a:latin typeface="Calibri" panose="020F0502020204030204" pitchFamily="34" charset="0"/>
                <a:ea typeface="Calibri" panose="020F0502020204030204" pitchFamily="34" charset="0"/>
                <a:cs typeface="Times New Roman" panose="02020603050405020304" pitchFamily="18" charset="0"/>
              </a:rPr>
              <a:t>acidic functional groups </a:t>
            </a:r>
            <a:r>
              <a:rPr lang="en-IN" sz="2000" dirty="0">
                <a:latin typeface="Calibri" panose="020F0502020204030204" pitchFamily="34" charset="0"/>
                <a:ea typeface="Calibri" panose="020F0502020204030204" pitchFamily="34" charset="0"/>
                <a:cs typeface="Times New Roman" panose="02020603050405020304" pitchFamily="18" charset="0"/>
              </a:rPr>
              <a:t>(-COOH, -SO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dirty="0">
                <a:latin typeface="Calibri" panose="020F0502020204030204" pitchFamily="34" charset="0"/>
                <a:ea typeface="Calibri" panose="020F0502020204030204" pitchFamily="34" charset="0"/>
                <a:cs typeface="Times New Roman" panose="02020603050405020304" pitchFamily="18" charset="0"/>
              </a:rPr>
              <a:t>H, phenolic -OH) are capable of </a:t>
            </a:r>
            <a:r>
              <a:rPr lang="en-IN" sz="2000" b="1" dirty="0">
                <a:latin typeface="Calibri" panose="020F0502020204030204" pitchFamily="34" charset="0"/>
                <a:ea typeface="Calibri" panose="020F0502020204030204" pitchFamily="34" charset="0"/>
                <a:cs typeface="Times New Roman" panose="02020603050405020304" pitchFamily="18" charset="0"/>
              </a:rPr>
              <a:t>exchanging their H</a:t>
            </a:r>
            <a:r>
              <a:rPr lang="en-IN" sz="2000" b="1"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b="1" dirty="0">
                <a:latin typeface="Calibri" panose="020F0502020204030204" pitchFamily="34" charset="0"/>
                <a:ea typeface="Calibri" panose="020F0502020204030204" pitchFamily="34" charset="0"/>
                <a:cs typeface="Times New Roman" panose="02020603050405020304" pitchFamily="18" charset="0"/>
              </a:rPr>
              <a:t> ions </a:t>
            </a:r>
            <a:r>
              <a:rPr lang="en-IN" sz="2000" dirty="0">
                <a:latin typeface="Calibri" panose="020F0502020204030204" pitchFamily="34" charset="0"/>
                <a:ea typeface="Calibri" panose="020F0502020204030204" pitchFamily="34" charset="0"/>
                <a:cs typeface="Times New Roman" panose="02020603050405020304" pitchFamily="18" charset="0"/>
              </a:rPr>
              <a:t>with other cations which comes in their contacts, known as a cation exchange resins (RH</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 e.g. </a:t>
            </a:r>
            <a:r>
              <a:rPr lang="en-IN" sz="2000" i="1" dirty="0">
                <a:latin typeface="Calibri" panose="020F0502020204030204" pitchFamily="34" charset="0"/>
                <a:ea typeface="Calibri" panose="020F0502020204030204" pitchFamily="34" charset="0"/>
                <a:cs typeface="Times New Roman" panose="02020603050405020304" pitchFamily="18" charset="0"/>
              </a:rPr>
              <a:t>styrene </a:t>
            </a:r>
            <a:r>
              <a:rPr lang="en-IN" sz="2000" i="1" dirty="0" err="1">
                <a:latin typeface="Calibri" panose="020F0502020204030204" pitchFamily="34" charset="0"/>
                <a:ea typeface="Calibri" panose="020F0502020204030204" pitchFamily="34" charset="0"/>
                <a:cs typeface="Times New Roman" panose="02020603050405020304" pitchFamily="18" charset="0"/>
              </a:rPr>
              <a:t>divinyl</a:t>
            </a:r>
            <a:r>
              <a:rPr lang="en-IN" sz="2000" i="1" dirty="0">
                <a:latin typeface="Calibri" panose="020F0502020204030204" pitchFamily="34" charset="0"/>
                <a:ea typeface="Calibri" panose="020F0502020204030204" pitchFamily="34" charset="0"/>
                <a:cs typeface="Times New Roman" panose="02020603050405020304" pitchFamily="18" charset="0"/>
              </a:rPr>
              <a:t> benzene </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IN" sz="2000" i="1" dirty="0" err="1">
                <a:latin typeface="Calibri" panose="020F0502020204030204" pitchFamily="34" charset="0"/>
                <a:ea typeface="Calibri" panose="020F0502020204030204" pitchFamily="34" charset="0"/>
                <a:cs typeface="Times New Roman" panose="02020603050405020304" pitchFamily="18" charset="0"/>
              </a:rPr>
              <a:t>Amberlite</a:t>
            </a:r>
            <a:r>
              <a:rPr lang="en-IN" sz="2000" i="1" dirty="0">
                <a:latin typeface="Calibri" panose="020F0502020204030204" pitchFamily="34" charset="0"/>
                <a:ea typeface="Calibri" panose="020F0502020204030204" pitchFamily="34" charset="0"/>
                <a:cs typeface="Times New Roman" panose="02020603050405020304" pitchFamily="18" charset="0"/>
              </a:rPr>
              <a:t> IR-120 </a:t>
            </a:r>
            <a:r>
              <a:rPr lang="en-IN" sz="2000" dirty="0">
                <a:latin typeface="Calibri" panose="020F0502020204030204" pitchFamily="34" charset="0"/>
                <a:ea typeface="Calibri" panose="020F0502020204030204" pitchFamily="34" charset="0"/>
                <a:cs typeface="Times New Roman" panose="02020603050405020304" pitchFamily="18" charset="0"/>
              </a:rPr>
              <a:t>or</a:t>
            </a:r>
            <a:r>
              <a:rPr lang="en-IN" sz="2000" i="1" dirty="0">
                <a:latin typeface="Calibri" panose="020F0502020204030204" pitchFamily="34" charset="0"/>
                <a:ea typeface="Calibri" panose="020F0502020204030204" pitchFamily="34" charset="0"/>
                <a:cs typeface="Times New Roman" panose="02020603050405020304" pitchFamily="18" charset="0"/>
              </a:rPr>
              <a:t> Dowex-50)</a:t>
            </a:r>
            <a:r>
              <a:rPr lang="en-IN" sz="2000" dirty="0">
                <a:latin typeface="Calibri" panose="020F0502020204030204" pitchFamily="34" charset="0"/>
                <a:ea typeface="Calibri" panose="020F0502020204030204" pitchFamily="34" charset="0"/>
                <a:cs typeface="Times New Roman" panose="02020603050405020304" pitchFamily="18" charset="0"/>
              </a:rPr>
              <a:t>, which on </a:t>
            </a:r>
            <a:r>
              <a:rPr lang="en-IN" sz="2000" dirty="0" err="1">
                <a:latin typeface="Calibri" panose="020F0502020204030204" pitchFamily="34" charset="0"/>
                <a:ea typeface="Calibri" panose="020F0502020204030204" pitchFamily="34" charset="0"/>
                <a:cs typeface="Times New Roman" panose="02020603050405020304" pitchFamily="18" charset="0"/>
              </a:rPr>
              <a:t>sulphonation</a:t>
            </a:r>
            <a:r>
              <a:rPr lang="en-IN" sz="2000" dirty="0">
                <a:latin typeface="Calibri" panose="020F0502020204030204" pitchFamily="34" charset="0"/>
                <a:ea typeface="Calibri" panose="020F0502020204030204" pitchFamily="34" charset="0"/>
                <a:cs typeface="Times New Roman" panose="02020603050405020304" pitchFamily="18" charset="0"/>
              </a:rPr>
              <a:t> and carboxylation, become capable to exchange their hydrogen ions with the cations (Metal ions) in the water. </a:t>
            </a:r>
          </a:p>
        </p:txBody>
      </p:sp>
      <p:pic>
        <p:nvPicPr>
          <p:cNvPr id="6" name="Picture 2">
            <a:extLst>
              <a:ext uri="{FF2B5EF4-FFF2-40B4-BE49-F238E27FC236}">
                <a16:creationId xmlns:a16="http://schemas.microsoft.com/office/drawing/2014/main" id="{14A855EB-47FE-4691-B972-2553DD387CCA}"/>
              </a:ext>
            </a:extLst>
          </p:cNvPr>
          <p:cNvPicPr>
            <a:picLocks noChangeAspect="1" noChangeArrowheads="1"/>
          </p:cNvPicPr>
          <p:nvPr/>
        </p:nvPicPr>
        <p:blipFill rotWithShape="1">
          <a:blip r:embed="rId4"/>
          <a:srcRect l="3448" r="12691" b="14972"/>
          <a:stretch/>
        </p:blipFill>
        <p:spPr bwMode="auto">
          <a:xfrm>
            <a:off x="3395255" y="2166329"/>
            <a:ext cx="5401490" cy="4181857"/>
          </a:xfrm>
          <a:prstGeom prst="rect">
            <a:avLst/>
          </a:prstGeom>
          <a:noFill/>
          <a:ln w="9525">
            <a:noFill/>
            <a:miter lim="800000"/>
            <a:headEnd/>
            <a:tailEnd/>
          </a:ln>
        </p:spPr>
      </p:pic>
      <p:sp>
        <p:nvSpPr>
          <p:cNvPr id="2" name="Star: 5 Points 1">
            <a:extLst>
              <a:ext uri="{FF2B5EF4-FFF2-40B4-BE49-F238E27FC236}">
                <a16:creationId xmlns:a16="http://schemas.microsoft.com/office/drawing/2014/main" id="{EC5A41D3-41EE-885F-7AFF-78F894D156B6}"/>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0155502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91EFAC2-7CAA-4E99-8B8E-0DD9E309685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Water softening</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Ion exchange or deionization or demineralization process: </a:t>
            </a:r>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CA66BA0-AC76-4421-8252-F73F53520008}"/>
              </a:ext>
            </a:extLst>
          </p:cNvPr>
          <p:cNvSpPr/>
          <p:nvPr/>
        </p:nvSpPr>
        <p:spPr>
          <a:xfrm>
            <a:off x="324649" y="1350019"/>
            <a:ext cx="11421873" cy="400110"/>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Ion-exchange resins </a:t>
            </a:r>
            <a:r>
              <a:rPr lang="en-IN" sz="2000" dirty="0">
                <a:latin typeface="Calibri" panose="020F0502020204030204" pitchFamily="34" charset="0"/>
                <a:ea typeface="Calibri" panose="020F0502020204030204" pitchFamily="34" charset="0"/>
                <a:cs typeface="Times New Roman" panose="02020603050405020304" pitchFamily="18" charset="0"/>
              </a:rPr>
              <a:t>are widely used in different separation,   purification, and decontamination processes. </a:t>
            </a:r>
          </a:p>
        </p:txBody>
      </p:sp>
      <p:pic>
        <p:nvPicPr>
          <p:cNvPr id="10" name="Picture 9">
            <a:extLst>
              <a:ext uri="{FF2B5EF4-FFF2-40B4-BE49-F238E27FC236}">
                <a16:creationId xmlns:a16="http://schemas.microsoft.com/office/drawing/2014/main" id="{AE8CDDC8-9AB3-4B15-A345-5A736958DC2B}"/>
              </a:ext>
            </a:extLst>
          </p:cNvPr>
          <p:cNvPicPr>
            <a:picLocks noChangeAspect="1"/>
          </p:cNvPicPr>
          <p:nvPr/>
        </p:nvPicPr>
        <p:blipFill>
          <a:blip r:embed="rId4"/>
          <a:stretch>
            <a:fillRect/>
          </a:stretch>
        </p:blipFill>
        <p:spPr>
          <a:xfrm>
            <a:off x="406299" y="2368269"/>
            <a:ext cx="4194412" cy="3139712"/>
          </a:xfrm>
          <a:prstGeom prst="rect">
            <a:avLst/>
          </a:prstGeom>
        </p:spPr>
      </p:pic>
      <p:pic>
        <p:nvPicPr>
          <p:cNvPr id="11" name="Picture 6" descr="ionx">
            <a:extLst>
              <a:ext uri="{FF2B5EF4-FFF2-40B4-BE49-F238E27FC236}">
                <a16:creationId xmlns:a16="http://schemas.microsoft.com/office/drawing/2014/main" id="{7C476CD4-BC9E-4D1E-88D6-E321D1D0D3A7}"/>
              </a:ext>
            </a:extLst>
          </p:cNvPr>
          <p:cNvPicPr>
            <a:picLocks noChangeAspect="1" noChangeArrowheads="1"/>
          </p:cNvPicPr>
          <p:nvPr/>
        </p:nvPicPr>
        <p:blipFill rotWithShape="1">
          <a:blip r:embed="rId5"/>
          <a:srcRect l="3113" t="15613" r="6487" b="30632"/>
          <a:stretch/>
        </p:blipFill>
        <p:spPr bwMode="auto">
          <a:xfrm>
            <a:off x="5332625" y="2541775"/>
            <a:ext cx="6495470" cy="2895402"/>
          </a:xfrm>
          <a:prstGeom prst="rect">
            <a:avLst/>
          </a:prstGeom>
          <a:noFill/>
          <a:ln w="9525">
            <a:noFill/>
            <a:miter lim="800000"/>
            <a:headEnd/>
            <a:tailEnd/>
          </a:ln>
        </p:spPr>
      </p:pic>
      <p:sp>
        <p:nvSpPr>
          <p:cNvPr id="2" name="Star: 5 Points 1">
            <a:extLst>
              <a:ext uri="{FF2B5EF4-FFF2-40B4-BE49-F238E27FC236}">
                <a16:creationId xmlns:a16="http://schemas.microsoft.com/office/drawing/2014/main" id="{52108AC1-7F16-4544-8D88-FF5CB55DE8CE}"/>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36103963"/>
      </p:ext>
    </p:extLst>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91EFAC2-7CAA-4E99-8B8E-0DD9E309685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Water softening</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Ion exchange or deionization or demineralization process: </a:t>
            </a:r>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CA66BA0-AC76-4421-8252-F73F53520008}"/>
              </a:ext>
            </a:extLst>
          </p:cNvPr>
          <p:cNvSpPr/>
          <p:nvPr/>
        </p:nvSpPr>
        <p:spPr>
          <a:xfrm>
            <a:off x="324649" y="1350019"/>
            <a:ext cx="11421873" cy="400110"/>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Ion-exchange resins </a:t>
            </a:r>
            <a:r>
              <a:rPr lang="en-IN" sz="2000" dirty="0">
                <a:latin typeface="Calibri" panose="020F0502020204030204" pitchFamily="34" charset="0"/>
                <a:ea typeface="Calibri" panose="020F0502020204030204" pitchFamily="34" charset="0"/>
                <a:cs typeface="Times New Roman" panose="02020603050405020304" pitchFamily="18" charset="0"/>
              </a:rPr>
              <a:t>are widely used in different separation,   purification, and decontamination processes. </a:t>
            </a:r>
          </a:p>
        </p:txBody>
      </p:sp>
      <p:pic>
        <p:nvPicPr>
          <p:cNvPr id="7" name="Picture 6">
            <a:extLst>
              <a:ext uri="{FF2B5EF4-FFF2-40B4-BE49-F238E27FC236}">
                <a16:creationId xmlns:a16="http://schemas.microsoft.com/office/drawing/2014/main" id="{5D932FD0-813C-4771-BF3F-1B27F7DE6DD1}"/>
              </a:ext>
            </a:extLst>
          </p:cNvPr>
          <p:cNvPicPr>
            <a:picLocks noChangeAspect="1"/>
          </p:cNvPicPr>
          <p:nvPr/>
        </p:nvPicPr>
        <p:blipFill>
          <a:blip r:embed="rId4"/>
          <a:stretch>
            <a:fillRect/>
          </a:stretch>
        </p:blipFill>
        <p:spPr>
          <a:xfrm>
            <a:off x="634948" y="2571283"/>
            <a:ext cx="3879502" cy="3006614"/>
          </a:xfrm>
          <a:prstGeom prst="rect">
            <a:avLst/>
          </a:prstGeom>
        </p:spPr>
      </p:pic>
      <p:pic>
        <p:nvPicPr>
          <p:cNvPr id="9" name="Picture 8">
            <a:extLst>
              <a:ext uri="{FF2B5EF4-FFF2-40B4-BE49-F238E27FC236}">
                <a16:creationId xmlns:a16="http://schemas.microsoft.com/office/drawing/2014/main" id="{B0DCD954-6BCF-452B-A3FD-A6FCF3D1F649}"/>
              </a:ext>
            </a:extLst>
          </p:cNvPr>
          <p:cNvPicPr>
            <a:picLocks noChangeAspect="1"/>
          </p:cNvPicPr>
          <p:nvPr/>
        </p:nvPicPr>
        <p:blipFill>
          <a:blip r:embed="rId5"/>
          <a:stretch>
            <a:fillRect/>
          </a:stretch>
        </p:blipFill>
        <p:spPr>
          <a:xfrm>
            <a:off x="5036234" y="2453305"/>
            <a:ext cx="6485139" cy="3242570"/>
          </a:xfrm>
          <a:prstGeom prst="rect">
            <a:avLst/>
          </a:prstGeom>
        </p:spPr>
      </p:pic>
      <p:sp>
        <p:nvSpPr>
          <p:cNvPr id="2" name="Star: 5 Points 1">
            <a:extLst>
              <a:ext uri="{FF2B5EF4-FFF2-40B4-BE49-F238E27FC236}">
                <a16:creationId xmlns:a16="http://schemas.microsoft.com/office/drawing/2014/main" id="{28B7F244-2C3E-9EEA-6650-9FCB1E9246D7}"/>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723704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F193010B-8570-4F07-826C-98DCCD19413D}"/>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Anion exchange resins (R</a:t>
            </a:r>
            <a:r>
              <a:rPr lang="en-US" sz="2400" b="1" baseline="30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OH</a:t>
            </a:r>
            <a:r>
              <a:rPr lang="en-US" sz="2400" b="1" baseline="30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B48E5C42-FC66-4948-AA5F-94C172AD2F37}"/>
              </a:ext>
            </a:extLst>
          </p:cNvPr>
          <p:cNvSpPr/>
          <p:nvPr/>
        </p:nvSpPr>
        <p:spPr>
          <a:xfrm>
            <a:off x="324650" y="623687"/>
            <a:ext cx="11393738" cy="707886"/>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Resins containing </a:t>
            </a:r>
            <a:r>
              <a:rPr lang="en-IN" sz="2000" b="1" dirty="0">
                <a:latin typeface="Calibri" panose="020F0502020204030204" pitchFamily="34" charset="0"/>
                <a:ea typeface="Calibri" panose="020F0502020204030204" pitchFamily="34" charset="0"/>
                <a:cs typeface="Times New Roman" panose="02020603050405020304" pitchFamily="18" charset="0"/>
              </a:rPr>
              <a:t>basic functional groups </a:t>
            </a:r>
            <a:r>
              <a:rPr lang="en-IN" sz="2000" dirty="0">
                <a:latin typeface="Calibri" panose="020F0502020204030204" pitchFamily="34" charset="0"/>
                <a:ea typeface="Calibri" panose="020F0502020204030204" pitchFamily="34" charset="0"/>
                <a:cs typeface="Times New Roman" panose="02020603050405020304" pitchFamily="18" charset="0"/>
              </a:rPr>
              <a:t>(-NR</a:t>
            </a:r>
            <a:r>
              <a:rPr lang="en-IN" sz="2000"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OH</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are capable of </a:t>
            </a:r>
            <a:r>
              <a:rPr lang="en-IN" sz="2000" b="1" dirty="0">
                <a:latin typeface="Calibri" panose="020F0502020204030204" pitchFamily="34" charset="0"/>
                <a:ea typeface="Calibri" panose="020F0502020204030204" pitchFamily="34" charset="0"/>
                <a:cs typeface="Times New Roman" panose="02020603050405020304" pitchFamily="18" charset="0"/>
              </a:rPr>
              <a:t>exchanging their anions </a:t>
            </a:r>
            <a:r>
              <a:rPr lang="en-IN" sz="2000" dirty="0">
                <a:latin typeface="Calibri" panose="020F0502020204030204" pitchFamily="34" charset="0"/>
                <a:ea typeface="Calibri" panose="020F0502020204030204" pitchFamily="34" charset="0"/>
                <a:cs typeface="Times New Roman" panose="02020603050405020304" pitchFamily="18" charset="0"/>
              </a:rPr>
              <a:t>with other anions which comes in their contacts, known as a Anion exchange resins (ROH</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a:t>
            </a:r>
          </a:p>
        </p:txBody>
      </p:sp>
      <p:pic>
        <p:nvPicPr>
          <p:cNvPr id="6" name="Picture 6" descr="https://encrypted-tbn1.gstatic.com/images?q=tbn:ANd9GcS5m9_A7wDjj6aOFjp7BxBY9qmODE2Jhv9-hINzJTbnmzwC-UnXXA">
            <a:extLst>
              <a:ext uri="{FF2B5EF4-FFF2-40B4-BE49-F238E27FC236}">
                <a16:creationId xmlns:a16="http://schemas.microsoft.com/office/drawing/2014/main" id="{607C0326-1A0A-40CF-95A0-FE64CC0B011E}"/>
              </a:ext>
            </a:extLst>
          </p:cNvPr>
          <p:cNvPicPr>
            <a:picLocks noChangeAspect="1" noChangeArrowheads="1"/>
          </p:cNvPicPr>
          <p:nvPr/>
        </p:nvPicPr>
        <p:blipFill>
          <a:blip r:embed="rId4"/>
          <a:srcRect/>
          <a:stretch>
            <a:fillRect/>
          </a:stretch>
        </p:blipFill>
        <p:spPr bwMode="auto">
          <a:xfrm>
            <a:off x="3234164" y="1874415"/>
            <a:ext cx="4610383" cy="3275981"/>
          </a:xfrm>
          <a:prstGeom prst="rect">
            <a:avLst/>
          </a:prstGeom>
          <a:noFill/>
          <a:ln w="9525">
            <a:noFill/>
            <a:miter lim="800000"/>
            <a:headEnd/>
            <a:tailEnd/>
          </a:ln>
        </p:spPr>
      </p:pic>
      <p:pic>
        <p:nvPicPr>
          <p:cNvPr id="7" name="Picture 2">
            <a:extLst>
              <a:ext uri="{FF2B5EF4-FFF2-40B4-BE49-F238E27FC236}">
                <a16:creationId xmlns:a16="http://schemas.microsoft.com/office/drawing/2014/main" id="{33400BBF-FBC5-4723-A58F-DDE94D8EB243}"/>
              </a:ext>
            </a:extLst>
          </p:cNvPr>
          <p:cNvPicPr>
            <a:picLocks noChangeAspect="1" noChangeArrowheads="1"/>
          </p:cNvPicPr>
          <p:nvPr/>
        </p:nvPicPr>
        <p:blipFill>
          <a:blip r:embed="rId5"/>
          <a:srcRect/>
          <a:stretch>
            <a:fillRect/>
          </a:stretch>
        </p:blipFill>
        <p:spPr bwMode="auto">
          <a:xfrm>
            <a:off x="9370206" y="3201122"/>
            <a:ext cx="1643557" cy="906537"/>
          </a:xfrm>
          <a:prstGeom prst="rect">
            <a:avLst/>
          </a:prstGeom>
          <a:noFill/>
          <a:ln w="9525">
            <a:noFill/>
            <a:miter lim="800000"/>
            <a:headEnd/>
            <a:tailEnd/>
          </a:ln>
          <a:effectLst/>
        </p:spPr>
      </p:pic>
      <p:sp>
        <p:nvSpPr>
          <p:cNvPr id="9" name="Rectangle 8">
            <a:extLst>
              <a:ext uri="{FF2B5EF4-FFF2-40B4-BE49-F238E27FC236}">
                <a16:creationId xmlns:a16="http://schemas.microsoft.com/office/drawing/2014/main" id="{56DA7E4B-CCA0-4BB8-90C1-2584F6A80447}"/>
              </a:ext>
            </a:extLst>
          </p:cNvPr>
          <p:cNvSpPr/>
          <p:nvPr/>
        </p:nvSpPr>
        <p:spPr>
          <a:xfrm>
            <a:off x="9177357" y="4432855"/>
            <a:ext cx="2029253" cy="1015663"/>
          </a:xfrm>
          <a:prstGeom prst="rect">
            <a:avLst/>
          </a:prstGeom>
        </p:spPr>
        <p:txBody>
          <a:bodyPr wrap="square">
            <a:spAutoFit/>
          </a:bodyPr>
          <a:lstStyle/>
          <a:p>
            <a:pPr algn="ctr"/>
            <a:r>
              <a:rPr lang="en-US" altLang="en-US" sz="2000" dirty="0">
                <a:latin typeface="Calibri" panose="020F0502020204030204" pitchFamily="34" charset="0"/>
                <a:cs typeface="Calibri" panose="020F0502020204030204" pitchFamily="34" charset="0"/>
              </a:rPr>
              <a:t>Quaternary</a:t>
            </a:r>
          </a:p>
          <a:p>
            <a:pPr algn="ctr"/>
            <a:r>
              <a:rPr lang="en-US" altLang="en-US" sz="2000" dirty="0" err="1">
                <a:solidFill>
                  <a:srgbClr val="000000"/>
                </a:solidFill>
                <a:latin typeface="Calibri" panose="020F0502020204030204" pitchFamily="34" charset="0"/>
                <a:cs typeface="Calibri" panose="020F0502020204030204" pitchFamily="34" charset="0"/>
              </a:rPr>
              <a:t>Sulphonium</a:t>
            </a:r>
            <a:r>
              <a:rPr lang="en-US" altLang="en-US" sz="2000" dirty="0">
                <a:solidFill>
                  <a:srgbClr val="000000"/>
                </a:solidFill>
                <a:latin typeface="Calibri" panose="020F0502020204030204" pitchFamily="34" charset="0"/>
                <a:cs typeface="Calibri" panose="020F0502020204030204" pitchFamily="34" charset="0"/>
              </a:rPr>
              <a:t>  </a:t>
            </a:r>
          </a:p>
          <a:p>
            <a:pPr algn="ctr"/>
            <a:r>
              <a:rPr lang="en-US" altLang="en-US" sz="2000" dirty="0">
                <a:solidFill>
                  <a:srgbClr val="000000"/>
                </a:solidFill>
                <a:latin typeface="Calibri" panose="020F0502020204030204" pitchFamily="34" charset="0"/>
                <a:cs typeface="Calibri" panose="020F0502020204030204" pitchFamily="34" charset="0"/>
              </a:rPr>
              <a:t>group</a:t>
            </a:r>
            <a:endParaRPr lang="en-US" sz="200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64E1BC32-A7F6-4E96-8A41-339E5D1AE879}"/>
              </a:ext>
            </a:extLst>
          </p:cNvPr>
          <p:cNvSpPr/>
          <p:nvPr/>
        </p:nvSpPr>
        <p:spPr>
          <a:xfrm>
            <a:off x="1099587" y="3220017"/>
            <a:ext cx="1217836" cy="584775"/>
          </a:xfrm>
          <a:prstGeom prst="rect">
            <a:avLst/>
          </a:prstGeom>
        </p:spPr>
        <p:txBody>
          <a:bodyPr wrap="square">
            <a:spAutoFit/>
          </a:bodyPr>
          <a:lstStyle/>
          <a:p>
            <a:r>
              <a:rPr lang="en-US" altLang="en-US" sz="3200" dirty="0">
                <a:solidFill>
                  <a:srgbClr val="000000"/>
                </a:solidFill>
                <a:latin typeface="Times New Roman" pitchFamily="18" charset="0"/>
                <a:cs typeface="Times New Roman" pitchFamily="18" charset="0"/>
              </a:rPr>
              <a:t>-PR</a:t>
            </a:r>
            <a:r>
              <a:rPr lang="en-US" altLang="en-US" sz="3200" baseline="-25000" dirty="0">
                <a:latin typeface="Times New Roman" pitchFamily="18" charset="0"/>
                <a:cs typeface="Times New Roman" pitchFamily="18" charset="0"/>
              </a:rPr>
              <a:t>3</a:t>
            </a:r>
            <a:r>
              <a:rPr lang="en-US" altLang="en-US" sz="3200" baseline="30000" dirty="0">
                <a:solidFill>
                  <a:srgbClr val="000000"/>
                </a:solidFill>
                <a:latin typeface="Times New Roman" pitchFamily="18" charset="0"/>
                <a:cs typeface="Times New Roman" pitchFamily="18" charset="0"/>
              </a:rPr>
              <a:t>+</a:t>
            </a:r>
            <a:endParaRPr lang="en-US" dirty="0"/>
          </a:p>
        </p:txBody>
      </p:sp>
      <p:sp>
        <p:nvSpPr>
          <p:cNvPr id="11" name="Rectangle 10">
            <a:extLst>
              <a:ext uri="{FF2B5EF4-FFF2-40B4-BE49-F238E27FC236}">
                <a16:creationId xmlns:a16="http://schemas.microsoft.com/office/drawing/2014/main" id="{B23263A9-0EEB-48EC-B5DF-5D5CF9CAE3EF}"/>
              </a:ext>
            </a:extLst>
          </p:cNvPr>
          <p:cNvSpPr/>
          <p:nvPr/>
        </p:nvSpPr>
        <p:spPr>
          <a:xfrm>
            <a:off x="575444" y="3925023"/>
            <a:ext cx="2266122" cy="1015663"/>
          </a:xfrm>
          <a:prstGeom prst="rect">
            <a:avLst/>
          </a:prstGeom>
        </p:spPr>
        <p:txBody>
          <a:bodyPr wrap="square">
            <a:spAutoFit/>
          </a:bodyPr>
          <a:lstStyle/>
          <a:p>
            <a:pPr algn="ctr"/>
            <a:r>
              <a:rPr lang="en-US" altLang="en-US" sz="2000" dirty="0">
                <a:solidFill>
                  <a:srgbClr val="000000"/>
                </a:solidFill>
                <a:latin typeface="Calibri" panose="020F0502020204030204" pitchFamily="34" charset="0"/>
                <a:cs typeface="Calibri" panose="020F0502020204030204" pitchFamily="34" charset="0"/>
              </a:rPr>
              <a:t>Quaternary</a:t>
            </a:r>
          </a:p>
          <a:p>
            <a:pPr algn="ctr"/>
            <a:r>
              <a:rPr lang="en-US" altLang="en-US" sz="2000" dirty="0">
                <a:solidFill>
                  <a:srgbClr val="000000"/>
                </a:solidFill>
                <a:latin typeface="Calibri" panose="020F0502020204030204" pitchFamily="34" charset="0"/>
                <a:cs typeface="Calibri" panose="020F0502020204030204" pitchFamily="34" charset="0"/>
              </a:rPr>
              <a:t> </a:t>
            </a:r>
            <a:r>
              <a:rPr lang="en-US" altLang="en-US" sz="2000" dirty="0" err="1">
                <a:solidFill>
                  <a:srgbClr val="000000"/>
                </a:solidFill>
                <a:latin typeface="Calibri" panose="020F0502020204030204" pitchFamily="34" charset="0"/>
                <a:cs typeface="Calibri" panose="020F0502020204030204" pitchFamily="34" charset="0"/>
              </a:rPr>
              <a:t>Phosphonium</a:t>
            </a:r>
            <a:r>
              <a:rPr lang="en-US" altLang="en-US" sz="2000" dirty="0">
                <a:solidFill>
                  <a:srgbClr val="000000"/>
                </a:solidFill>
                <a:latin typeface="Calibri" panose="020F0502020204030204" pitchFamily="34" charset="0"/>
                <a:cs typeface="Calibri" panose="020F0502020204030204" pitchFamily="34" charset="0"/>
              </a:rPr>
              <a:t> group</a:t>
            </a:r>
            <a:endParaRPr lang="en-US" sz="200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055CDBA-693B-4FEC-92CB-23896A1857D3}"/>
              </a:ext>
            </a:extLst>
          </p:cNvPr>
          <p:cNvSpPr/>
          <p:nvPr/>
        </p:nvSpPr>
        <p:spPr>
          <a:xfrm>
            <a:off x="4971132" y="5233075"/>
            <a:ext cx="2029253" cy="1015663"/>
          </a:xfrm>
          <a:prstGeom prst="rect">
            <a:avLst/>
          </a:prstGeom>
        </p:spPr>
        <p:txBody>
          <a:bodyPr wrap="square">
            <a:spAutoFit/>
          </a:bodyPr>
          <a:lstStyle/>
          <a:p>
            <a:pPr algn="ctr"/>
            <a:r>
              <a:rPr lang="en-US" altLang="en-US" sz="2000" dirty="0">
                <a:latin typeface="Calibri" panose="020F0502020204030204" pitchFamily="34" charset="0"/>
                <a:cs typeface="Calibri" panose="020F0502020204030204" pitchFamily="34" charset="0"/>
              </a:rPr>
              <a:t>Quaternary</a:t>
            </a:r>
          </a:p>
          <a:p>
            <a:pPr algn="ctr"/>
            <a:r>
              <a:rPr lang="en-US" altLang="en-US" sz="2000" dirty="0">
                <a:solidFill>
                  <a:srgbClr val="000000"/>
                </a:solidFill>
                <a:latin typeface="Calibri" panose="020F0502020204030204" pitchFamily="34" charset="0"/>
                <a:cs typeface="Calibri" panose="020F0502020204030204" pitchFamily="34" charset="0"/>
              </a:rPr>
              <a:t>Ammonium  </a:t>
            </a:r>
          </a:p>
          <a:p>
            <a:pPr algn="ctr"/>
            <a:r>
              <a:rPr lang="en-US" altLang="en-US" sz="2000" dirty="0">
                <a:solidFill>
                  <a:srgbClr val="000000"/>
                </a:solidFill>
                <a:latin typeface="Calibri" panose="020F0502020204030204" pitchFamily="34" charset="0"/>
                <a:cs typeface="Calibri" panose="020F0502020204030204" pitchFamily="34" charset="0"/>
              </a:rPr>
              <a:t>group</a:t>
            </a:r>
            <a:endParaRPr lang="en-US" sz="2000" dirty="0">
              <a:latin typeface="Calibri" panose="020F0502020204030204" pitchFamily="34" charset="0"/>
              <a:cs typeface="Calibri" panose="020F0502020204030204" pitchFamily="34" charset="0"/>
            </a:endParaRPr>
          </a:p>
        </p:txBody>
      </p:sp>
      <p:sp>
        <p:nvSpPr>
          <p:cNvPr id="2" name="Star: 5 Points 1">
            <a:extLst>
              <a:ext uri="{FF2B5EF4-FFF2-40B4-BE49-F238E27FC236}">
                <a16:creationId xmlns:a16="http://schemas.microsoft.com/office/drawing/2014/main" id="{AB311CD7-8DFC-337E-67A2-630C6C119133}"/>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90461309"/>
      </p:ext>
    </p:extLst>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EDC86C2A-E5A1-4C36-9D63-F4E0FFFDA2A5}"/>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Anion exchange resins (R</a:t>
            </a:r>
            <a:r>
              <a:rPr lang="en-US" sz="2400" b="1" baseline="30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OH</a:t>
            </a:r>
            <a:r>
              <a:rPr lang="en-US" sz="2400" b="1" baseline="30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023B05B5-BB1B-47CA-BDBF-D407F826F429}"/>
              </a:ext>
            </a:extLst>
          </p:cNvPr>
          <p:cNvSpPr/>
          <p:nvPr/>
        </p:nvSpPr>
        <p:spPr>
          <a:xfrm>
            <a:off x="324649" y="623687"/>
            <a:ext cx="11450009" cy="3785652"/>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Resins containing </a:t>
            </a:r>
            <a:r>
              <a:rPr lang="en-IN" sz="2000" b="1" dirty="0">
                <a:latin typeface="Calibri" panose="020F0502020204030204" pitchFamily="34" charset="0"/>
                <a:ea typeface="Calibri" panose="020F0502020204030204" pitchFamily="34" charset="0"/>
                <a:cs typeface="Times New Roman" panose="02020603050405020304" pitchFamily="18" charset="0"/>
              </a:rPr>
              <a:t>basic functional groups </a:t>
            </a:r>
            <a:r>
              <a:rPr lang="en-IN" sz="2000" dirty="0">
                <a:latin typeface="Calibri" panose="020F0502020204030204" pitchFamily="34" charset="0"/>
                <a:ea typeface="Calibri" panose="020F0502020204030204" pitchFamily="34" charset="0"/>
                <a:cs typeface="Times New Roman" panose="02020603050405020304" pitchFamily="18" charset="0"/>
              </a:rPr>
              <a:t>(-NR</a:t>
            </a:r>
            <a:r>
              <a:rPr lang="en-IN" sz="2000"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OH</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are capable of </a:t>
            </a:r>
            <a:r>
              <a:rPr lang="en-IN" sz="2000" b="1" dirty="0">
                <a:latin typeface="Calibri" panose="020F0502020204030204" pitchFamily="34" charset="0"/>
                <a:ea typeface="Calibri" panose="020F0502020204030204" pitchFamily="34" charset="0"/>
                <a:cs typeface="Times New Roman" panose="02020603050405020304" pitchFamily="18" charset="0"/>
              </a:rPr>
              <a:t>exchanging their anions </a:t>
            </a:r>
            <a:r>
              <a:rPr lang="en-IN" sz="2000" dirty="0">
                <a:latin typeface="Calibri" panose="020F0502020204030204" pitchFamily="34" charset="0"/>
                <a:ea typeface="Calibri" panose="020F0502020204030204" pitchFamily="34" charset="0"/>
                <a:cs typeface="Times New Roman" panose="02020603050405020304" pitchFamily="18" charset="0"/>
              </a:rPr>
              <a:t>with other anions which comes in their contacts, known as a Anion exchange resins (ROH</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They are </a:t>
            </a:r>
            <a:r>
              <a:rPr lang="en-IN" sz="2000" i="1" dirty="0">
                <a:latin typeface="Calibri" panose="020F0502020204030204" pitchFamily="34" charset="0"/>
                <a:ea typeface="Calibri" panose="020F0502020204030204" pitchFamily="34" charset="0"/>
                <a:cs typeface="Times New Roman" panose="02020603050405020304" pitchFamily="18" charset="0"/>
              </a:rPr>
              <a:t>styrene </a:t>
            </a:r>
            <a:r>
              <a:rPr lang="en-IN" sz="2000" i="1" dirty="0" err="1">
                <a:latin typeface="Calibri" panose="020F0502020204030204" pitchFamily="34" charset="0"/>
                <a:ea typeface="Calibri" panose="020F0502020204030204" pitchFamily="34" charset="0"/>
                <a:cs typeface="Times New Roman" panose="02020603050405020304" pitchFamily="18" charset="0"/>
              </a:rPr>
              <a:t>divinyl</a:t>
            </a:r>
            <a:r>
              <a:rPr lang="en-IN" sz="2000" i="1" dirty="0">
                <a:latin typeface="Calibri" panose="020F0502020204030204" pitchFamily="34" charset="0"/>
                <a:ea typeface="Calibri" panose="020F0502020204030204" pitchFamily="34" charset="0"/>
                <a:cs typeface="Times New Roman" panose="02020603050405020304" pitchFamily="18" charset="0"/>
              </a:rPr>
              <a:t> benzene </a:t>
            </a:r>
            <a:r>
              <a:rPr lang="en-IN" sz="2000" dirty="0">
                <a:latin typeface="Calibri" panose="020F0502020204030204" pitchFamily="34" charset="0"/>
                <a:ea typeface="Calibri" panose="020F0502020204030204" pitchFamily="34" charset="0"/>
                <a:cs typeface="Times New Roman" panose="02020603050405020304" pitchFamily="18" charset="0"/>
              </a:rPr>
              <a:t>or </a:t>
            </a:r>
            <a:r>
              <a:rPr lang="en-IN" sz="2000" i="1" dirty="0">
                <a:latin typeface="Calibri" panose="020F0502020204030204" pitchFamily="34" charset="0"/>
                <a:ea typeface="Calibri" panose="020F0502020204030204" pitchFamily="34" charset="0"/>
                <a:cs typeface="Times New Roman" panose="02020603050405020304" pitchFamily="18" charset="0"/>
              </a:rPr>
              <a:t>amine-formaldehyde</a:t>
            </a:r>
            <a:r>
              <a:rPr lang="en-IN" sz="2000" dirty="0">
                <a:latin typeface="Calibri" panose="020F0502020204030204" pitchFamily="34" charset="0"/>
                <a:ea typeface="Calibri" panose="020F0502020204030204" pitchFamily="34" charset="0"/>
                <a:cs typeface="Times New Roman" panose="02020603050405020304" pitchFamily="18" charset="0"/>
              </a:rPr>
              <a:t> copolymerization which contains </a:t>
            </a:r>
          </a:p>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quaternary ammonium or </a:t>
            </a:r>
          </a:p>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quaternary </a:t>
            </a:r>
            <a:r>
              <a:rPr lang="en-IN" sz="2000" dirty="0" err="1">
                <a:latin typeface="Calibri" panose="020F0502020204030204" pitchFamily="34" charset="0"/>
                <a:ea typeface="Calibri" panose="020F0502020204030204" pitchFamily="34" charset="0"/>
                <a:cs typeface="Times New Roman" panose="02020603050405020304" pitchFamily="18" charset="0"/>
              </a:rPr>
              <a:t>phosphonium</a:t>
            </a:r>
            <a:r>
              <a:rPr lang="en-IN" sz="2000" dirty="0">
                <a:latin typeface="Calibri" panose="020F0502020204030204" pitchFamily="34" charset="0"/>
                <a:ea typeface="Calibri" panose="020F0502020204030204" pitchFamily="34" charset="0"/>
                <a:cs typeface="Times New Roman" panose="02020603050405020304" pitchFamily="18" charset="0"/>
              </a:rPr>
              <a:t> or </a:t>
            </a:r>
          </a:p>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tertiary </a:t>
            </a:r>
            <a:r>
              <a:rPr lang="en-IN" sz="2000" dirty="0" err="1">
                <a:latin typeface="Calibri" panose="020F0502020204030204" pitchFamily="34" charset="0"/>
                <a:ea typeface="Calibri" panose="020F0502020204030204" pitchFamily="34" charset="0"/>
                <a:cs typeface="Times New Roman" panose="02020603050405020304" pitchFamily="18" charset="0"/>
              </a:rPr>
              <a:t>sulphonium</a:t>
            </a:r>
            <a:r>
              <a:rPr lang="en-IN" sz="2000" dirty="0">
                <a:latin typeface="Calibri" panose="020F0502020204030204" pitchFamily="34" charset="0"/>
                <a:ea typeface="Calibri" panose="020F0502020204030204" pitchFamily="34" charset="0"/>
                <a:cs typeface="Times New Roman" panose="02020603050405020304" pitchFamily="18" charset="0"/>
              </a:rPr>
              <a:t>  groups </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as an integral part of the resin matrix. </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These after  treated with dil. NaOH becomes capable of exchanging their OH- ions with anions of water sample.</a:t>
            </a:r>
          </a:p>
        </p:txBody>
      </p:sp>
      <p:sp>
        <p:nvSpPr>
          <p:cNvPr id="2" name="Star: 5 Points 1">
            <a:extLst>
              <a:ext uri="{FF2B5EF4-FFF2-40B4-BE49-F238E27FC236}">
                <a16:creationId xmlns:a16="http://schemas.microsoft.com/office/drawing/2014/main" id="{DE6D3D86-27FD-5AD6-EBE8-D1ED9990E93B}"/>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7905757"/>
      </p:ext>
    </p:extLst>
  </p:cSld>
  <p:clrMapOvr>
    <a:masterClrMapping/>
  </p:clrMapOvr>
  <p:transition spd="slow">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CDFF90A-B2AB-47F3-A0CE-76862075FF0C}"/>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Ion exchange resins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0F6B289-9893-4635-9AFC-B43259412CA8}"/>
              </a:ext>
            </a:extLst>
          </p:cNvPr>
          <p:cNvSpPr/>
          <p:nvPr/>
        </p:nvSpPr>
        <p:spPr>
          <a:xfrm>
            <a:off x="324650" y="623687"/>
            <a:ext cx="5506983" cy="5632311"/>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Step 1: Cation exchange</a:t>
            </a:r>
          </a:p>
          <a:p>
            <a:pPr algn="ctr" eaLnBrk="1" hangingPunct="1">
              <a:spcAft>
                <a:spcPts val="1200"/>
              </a:spcAft>
            </a:pPr>
            <a:r>
              <a:rPr lang="en-US" altLang="en-US" sz="2000" dirty="0">
                <a:latin typeface="Calibri" pitchFamily="34" charset="0"/>
              </a:rPr>
              <a:t>2RH</a:t>
            </a:r>
            <a:r>
              <a:rPr lang="en-US" altLang="en-US" sz="2000" baseline="30000" dirty="0">
                <a:latin typeface="Calibri" pitchFamily="34" charset="0"/>
              </a:rPr>
              <a:t>+</a:t>
            </a:r>
            <a:r>
              <a:rPr lang="en-US" altLang="en-US" sz="2000" dirty="0">
                <a:latin typeface="Calibri" pitchFamily="34" charset="0"/>
              </a:rPr>
              <a:t>  + Ca</a:t>
            </a:r>
            <a:r>
              <a:rPr lang="en-US" altLang="en-US" sz="2000" baseline="30000" dirty="0">
                <a:latin typeface="Calibri" pitchFamily="34" charset="0"/>
              </a:rPr>
              <a:t>2+</a:t>
            </a:r>
            <a:r>
              <a:rPr lang="en-US" altLang="en-US" sz="2000" dirty="0">
                <a:latin typeface="Calibri" pitchFamily="34" charset="0"/>
              </a:rPr>
              <a:t> </a:t>
            </a:r>
            <a:r>
              <a:rPr lang="en-US" altLang="en-US" sz="2000" dirty="0">
                <a:latin typeface="Calibri" pitchFamily="34" charset="0"/>
                <a:sym typeface="Wingdings" panose="05000000000000000000" pitchFamily="2" charset="2"/>
              </a:rPr>
              <a:t> </a:t>
            </a:r>
            <a:r>
              <a:rPr lang="en-US" altLang="en-US" sz="2000" dirty="0">
                <a:latin typeface="Calibri" pitchFamily="34" charset="0"/>
              </a:rPr>
              <a:t>R</a:t>
            </a:r>
            <a:r>
              <a:rPr lang="en-US" altLang="en-US" sz="2000" baseline="-25000" dirty="0">
                <a:latin typeface="Calibri" pitchFamily="34" charset="0"/>
              </a:rPr>
              <a:t>2</a:t>
            </a:r>
            <a:r>
              <a:rPr lang="en-US" altLang="en-US" sz="2000" dirty="0">
                <a:latin typeface="Calibri" pitchFamily="34" charset="0"/>
              </a:rPr>
              <a:t>Ca</a:t>
            </a:r>
            <a:r>
              <a:rPr lang="en-US" altLang="en-US" sz="2000" baseline="30000" dirty="0">
                <a:latin typeface="Calibri" pitchFamily="34" charset="0"/>
              </a:rPr>
              <a:t>2+</a:t>
            </a:r>
            <a:r>
              <a:rPr lang="en-US" altLang="en-US" sz="2000" dirty="0">
                <a:latin typeface="Calibri" pitchFamily="34" charset="0"/>
              </a:rPr>
              <a:t>  +  2H</a:t>
            </a:r>
            <a:r>
              <a:rPr lang="en-US" altLang="en-US" sz="2000" baseline="30000" dirty="0">
                <a:latin typeface="Calibri" pitchFamily="34" charset="0"/>
              </a:rPr>
              <a:t>+</a:t>
            </a:r>
            <a:r>
              <a:rPr lang="en-US" altLang="en-US" sz="2000" dirty="0">
                <a:latin typeface="Calibri" pitchFamily="34" charset="0"/>
              </a:rPr>
              <a:t> </a:t>
            </a:r>
          </a:p>
          <a:p>
            <a:pPr algn="ctr" eaLnBrk="1" hangingPunct="1">
              <a:spcAft>
                <a:spcPts val="1200"/>
              </a:spcAft>
            </a:pPr>
            <a:r>
              <a:rPr lang="en-US" altLang="en-US" sz="2000" dirty="0">
                <a:latin typeface="Calibri" pitchFamily="34" charset="0"/>
              </a:rPr>
              <a:t>2RH</a:t>
            </a:r>
            <a:r>
              <a:rPr lang="en-US" altLang="en-US" sz="2000" baseline="30000" dirty="0">
                <a:latin typeface="Calibri" pitchFamily="34" charset="0"/>
              </a:rPr>
              <a:t>+</a:t>
            </a:r>
            <a:r>
              <a:rPr lang="en-US" altLang="en-US" sz="2000" dirty="0">
                <a:latin typeface="Calibri" pitchFamily="34" charset="0"/>
              </a:rPr>
              <a:t>  + Mg</a:t>
            </a:r>
            <a:r>
              <a:rPr lang="en-US" altLang="en-US" sz="2000" baseline="30000" dirty="0">
                <a:latin typeface="Calibri" pitchFamily="34" charset="0"/>
              </a:rPr>
              <a:t>2+</a:t>
            </a:r>
            <a:r>
              <a:rPr lang="en-US" altLang="en-US" sz="2000" dirty="0">
                <a:latin typeface="Calibri" pitchFamily="34" charset="0"/>
              </a:rPr>
              <a:t> </a:t>
            </a:r>
            <a:r>
              <a:rPr lang="en-US" altLang="en-US" sz="2000" dirty="0">
                <a:latin typeface="Calibri" pitchFamily="34" charset="0"/>
                <a:sym typeface="Wingdings" panose="05000000000000000000" pitchFamily="2" charset="2"/>
              </a:rPr>
              <a:t> </a:t>
            </a:r>
            <a:r>
              <a:rPr lang="en-US" altLang="en-US" sz="2000" dirty="0">
                <a:latin typeface="Calibri" pitchFamily="34" charset="0"/>
              </a:rPr>
              <a:t>R</a:t>
            </a:r>
            <a:r>
              <a:rPr lang="en-US" altLang="en-US" sz="2000" baseline="-25000" dirty="0">
                <a:latin typeface="Calibri" pitchFamily="34" charset="0"/>
              </a:rPr>
              <a:t>2</a:t>
            </a:r>
            <a:r>
              <a:rPr lang="en-US" altLang="en-US" sz="2000" dirty="0">
                <a:latin typeface="Calibri" pitchFamily="34" charset="0"/>
              </a:rPr>
              <a:t>Mg</a:t>
            </a:r>
            <a:r>
              <a:rPr lang="en-US" altLang="en-US" sz="2000" baseline="30000" dirty="0">
                <a:latin typeface="Calibri" pitchFamily="34" charset="0"/>
              </a:rPr>
              <a:t>2+</a:t>
            </a:r>
            <a:r>
              <a:rPr lang="en-US" altLang="en-US" sz="2000" dirty="0">
                <a:latin typeface="Calibri" pitchFamily="34" charset="0"/>
              </a:rPr>
              <a:t>  + 2H</a:t>
            </a:r>
            <a:r>
              <a:rPr lang="en-US" altLang="en-US" sz="2000" baseline="30000" dirty="0">
                <a:latin typeface="Calibri" pitchFamily="34" charset="0"/>
              </a:rPr>
              <a:t>+</a:t>
            </a:r>
            <a:r>
              <a:rPr lang="en-US" altLang="en-US" sz="2000" dirty="0">
                <a:latin typeface="Calibri" pitchFamily="34"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Step 2: Anion exchange</a:t>
            </a:r>
          </a:p>
          <a:p>
            <a:pPr lvl="0" algn="ctr">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ROH-  + Cl-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err="1">
                <a:latin typeface="Calibri" panose="020F0502020204030204" pitchFamily="34" charset="0"/>
                <a:ea typeface="Calibri" panose="020F0502020204030204" pitchFamily="34" charset="0"/>
                <a:cs typeface="Times New Roman" panose="02020603050405020304" pitchFamily="18" charset="0"/>
              </a:rPr>
              <a:t>RCl</a:t>
            </a:r>
            <a:r>
              <a:rPr lang="en-IN" sz="2000" dirty="0">
                <a:latin typeface="Calibri" panose="020F0502020204030204" pitchFamily="34" charset="0"/>
                <a:ea typeface="Calibri" panose="020F0502020204030204" pitchFamily="34" charset="0"/>
                <a:cs typeface="Times New Roman" panose="02020603050405020304" pitchFamily="18" charset="0"/>
              </a:rPr>
              <a:t>- +  OH-</a:t>
            </a:r>
          </a:p>
          <a:p>
            <a:pPr lvl="0" algn="ctr">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2ROH-  + 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a:latin typeface="Calibri" panose="020F0502020204030204" pitchFamily="34" charset="0"/>
                <a:ea typeface="Calibri" panose="020F0502020204030204" pitchFamily="34" charset="0"/>
                <a:cs typeface="Times New Roman" panose="02020603050405020304" pitchFamily="18" charset="0"/>
              </a:rPr>
              <a:t>R</a:t>
            </a:r>
            <a:r>
              <a:rPr lang="en-IN" sz="2000"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+ 2OH-                        </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Water coming out from the exchange is free from cations and anions. </a:t>
            </a:r>
          </a:p>
          <a:p>
            <a:pPr algn="ctr">
              <a:spcAft>
                <a:spcPts val="1200"/>
              </a:spcAft>
            </a:pP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H </a:t>
            </a:r>
            <a:r>
              <a:rPr lang="en-IN" sz="2000" b="1" baseline="30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  + OH- </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H</a:t>
            </a:r>
            <a:r>
              <a:rPr lang="en-IN" sz="2000" b="1" baseline="-25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2</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O</a:t>
            </a:r>
          </a:p>
          <a:p>
            <a:pPr lvl="0" algn="just">
              <a:spcAft>
                <a:spcPts val="1200"/>
              </a:spcAft>
            </a:pP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200"/>
              </a:spcAft>
            </a:pPr>
            <a:r>
              <a:rPr lang="en-US" altLang="en-US" sz="2000" b="1" dirty="0">
                <a:latin typeface="Calibri" panose="020F0502020204030204" pitchFamily="34" charset="0"/>
                <a:cs typeface="Calibri" panose="020F0502020204030204" pitchFamily="34" charset="0"/>
              </a:rPr>
              <a:t>Ion free water is known as </a:t>
            </a:r>
            <a:r>
              <a:rPr lang="en-US" altLang="en-US" sz="2000" b="1" dirty="0">
                <a:solidFill>
                  <a:srgbClr val="FF0000"/>
                </a:solidFill>
                <a:latin typeface="Calibri" panose="020F0502020204030204" pitchFamily="34" charset="0"/>
                <a:cs typeface="Calibri" panose="020F0502020204030204" pitchFamily="34" charset="0"/>
              </a:rPr>
              <a:t>deionized</a:t>
            </a:r>
            <a:r>
              <a:rPr lang="en-US" altLang="en-US" sz="2000" b="1" dirty="0">
                <a:latin typeface="Calibri" panose="020F0502020204030204" pitchFamily="34" charset="0"/>
                <a:cs typeface="Calibri" panose="020F0502020204030204" pitchFamily="34" charset="0"/>
              </a:rPr>
              <a:t> or </a:t>
            </a:r>
            <a:r>
              <a:rPr lang="en-US" altLang="en-US" sz="2000" b="1" dirty="0">
                <a:solidFill>
                  <a:srgbClr val="FF0000"/>
                </a:solidFill>
                <a:latin typeface="Calibri" panose="020F0502020204030204" pitchFamily="34" charset="0"/>
                <a:cs typeface="Calibri" panose="020F0502020204030204" pitchFamily="34" charset="0"/>
              </a:rPr>
              <a:t>demineralized</a:t>
            </a:r>
            <a:r>
              <a:rPr lang="en-US" altLang="en-US" sz="2000" b="1" dirty="0">
                <a:latin typeface="Calibri" panose="020F0502020204030204" pitchFamily="34" charset="0"/>
                <a:cs typeface="Calibri" panose="020F0502020204030204" pitchFamily="34" charset="0"/>
              </a:rPr>
              <a:t> water.</a:t>
            </a:r>
          </a:p>
        </p:txBody>
      </p:sp>
      <p:sp>
        <p:nvSpPr>
          <p:cNvPr id="6" name="Shape 69">
            <a:extLst>
              <a:ext uri="{FF2B5EF4-FFF2-40B4-BE49-F238E27FC236}">
                <a16:creationId xmlns:a16="http://schemas.microsoft.com/office/drawing/2014/main" id="{73443530-309B-4936-9EB2-5FD84BE462C0}"/>
              </a:ext>
            </a:extLst>
          </p:cNvPr>
          <p:cNvSpPr txBox="1"/>
          <p:nvPr/>
        </p:nvSpPr>
        <p:spPr>
          <a:xfrm>
            <a:off x="6121640" y="494697"/>
            <a:ext cx="5506983"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The process</a:t>
            </a: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endPar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Regeneration:</a:t>
            </a:r>
          </a:p>
          <a:p>
            <a:pPr algn="ctr"/>
            <a:r>
              <a:rPr lang="en-US" sz="2000" dirty="0">
                <a:latin typeface="Calibri" pitchFamily="34" charset="0"/>
              </a:rPr>
              <a:t>R</a:t>
            </a:r>
            <a:r>
              <a:rPr lang="en-US" sz="2000" baseline="-25000" dirty="0">
                <a:latin typeface="Calibri" pitchFamily="34" charset="0"/>
              </a:rPr>
              <a:t>2</a:t>
            </a:r>
            <a:r>
              <a:rPr lang="en-US" sz="2000" dirty="0">
                <a:latin typeface="Calibri" pitchFamily="34" charset="0"/>
              </a:rPr>
              <a:t>Ca</a:t>
            </a:r>
            <a:r>
              <a:rPr lang="en-US" sz="2000" baseline="30000" dirty="0">
                <a:latin typeface="Calibri" pitchFamily="34" charset="0"/>
              </a:rPr>
              <a:t>2+</a:t>
            </a:r>
            <a:r>
              <a:rPr lang="en-US" sz="2000" dirty="0">
                <a:latin typeface="Calibri" pitchFamily="34" charset="0"/>
              </a:rPr>
              <a:t> + 2 HCl </a:t>
            </a:r>
            <a:r>
              <a:rPr lang="en-US" sz="2000" dirty="0">
                <a:latin typeface="Calibri" pitchFamily="34" charset="0"/>
                <a:sym typeface="Wingdings" panose="05000000000000000000" pitchFamily="2" charset="2"/>
              </a:rPr>
              <a:t> </a:t>
            </a:r>
            <a:r>
              <a:rPr lang="en-US" altLang="en-US" sz="2000" dirty="0">
                <a:latin typeface="Calibri" pitchFamily="34" charset="0"/>
              </a:rPr>
              <a:t>2RH</a:t>
            </a:r>
            <a:r>
              <a:rPr lang="en-US" altLang="en-US" sz="2000" baseline="30000" dirty="0">
                <a:latin typeface="Calibri" pitchFamily="34" charset="0"/>
              </a:rPr>
              <a:t>+</a:t>
            </a:r>
            <a:r>
              <a:rPr lang="en-US" altLang="en-US" sz="2000" dirty="0">
                <a:latin typeface="Calibri" pitchFamily="34" charset="0"/>
              </a:rPr>
              <a:t>  + CaCl</a:t>
            </a:r>
            <a:r>
              <a:rPr lang="en-US" altLang="en-US" sz="2000" baseline="-25000" dirty="0">
                <a:latin typeface="Calibri" pitchFamily="34" charset="0"/>
              </a:rPr>
              <a:t>2</a:t>
            </a:r>
          </a:p>
          <a:p>
            <a:pPr algn="ctr"/>
            <a:r>
              <a:rPr lang="en-US" sz="2000" dirty="0">
                <a:latin typeface="Calibri" pitchFamily="34" charset="0"/>
              </a:rPr>
              <a:t>R</a:t>
            </a:r>
            <a:r>
              <a:rPr lang="en-US" sz="2000" baseline="-25000" dirty="0">
                <a:latin typeface="Calibri" pitchFamily="34" charset="0"/>
              </a:rPr>
              <a:t>2</a:t>
            </a:r>
            <a:r>
              <a:rPr lang="en-US" sz="2000" dirty="0">
                <a:latin typeface="Calibri" pitchFamily="34" charset="0"/>
              </a:rPr>
              <a:t>Mg</a:t>
            </a:r>
            <a:r>
              <a:rPr lang="en-US" sz="2000" baseline="30000" dirty="0">
                <a:latin typeface="Calibri" pitchFamily="34" charset="0"/>
              </a:rPr>
              <a:t>2+</a:t>
            </a:r>
            <a:r>
              <a:rPr lang="en-US" sz="2000" dirty="0">
                <a:latin typeface="Calibri" pitchFamily="34" charset="0"/>
              </a:rPr>
              <a:t> + H</a:t>
            </a:r>
            <a:r>
              <a:rPr lang="en-US" sz="2000" baseline="-25000" dirty="0">
                <a:latin typeface="Calibri" pitchFamily="34" charset="0"/>
              </a:rPr>
              <a:t>2</a:t>
            </a:r>
            <a:r>
              <a:rPr lang="en-US" sz="2000" dirty="0">
                <a:latin typeface="Calibri" pitchFamily="34" charset="0"/>
              </a:rPr>
              <a:t>SO</a:t>
            </a:r>
            <a:r>
              <a:rPr lang="en-US" sz="2000" baseline="-25000" dirty="0">
                <a:latin typeface="Calibri" pitchFamily="34" charset="0"/>
              </a:rPr>
              <a:t>4</a:t>
            </a:r>
            <a:r>
              <a:rPr lang="en-US" sz="2000" dirty="0">
                <a:latin typeface="Calibri" pitchFamily="34" charset="0"/>
              </a:rPr>
              <a:t> </a:t>
            </a:r>
            <a:r>
              <a:rPr lang="en-US" sz="2000" dirty="0">
                <a:latin typeface="Calibri" pitchFamily="34" charset="0"/>
                <a:sym typeface="Wingdings" panose="05000000000000000000" pitchFamily="2" charset="2"/>
              </a:rPr>
              <a:t> </a:t>
            </a:r>
            <a:r>
              <a:rPr lang="en-US" altLang="en-US" sz="2000" dirty="0">
                <a:latin typeface="Calibri" pitchFamily="34" charset="0"/>
              </a:rPr>
              <a:t>2RH</a:t>
            </a:r>
            <a:r>
              <a:rPr lang="en-US" altLang="en-US" sz="2000" baseline="30000" dirty="0">
                <a:latin typeface="Calibri" pitchFamily="34" charset="0"/>
              </a:rPr>
              <a:t>+</a:t>
            </a:r>
            <a:r>
              <a:rPr lang="en-US" altLang="en-US" sz="2000" dirty="0">
                <a:latin typeface="Calibri" pitchFamily="34" charset="0"/>
              </a:rPr>
              <a:t>  + MgSO</a:t>
            </a:r>
            <a:r>
              <a:rPr lang="en-US" altLang="en-US" sz="2000" baseline="-25000" dirty="0">
                <a:latin typeface="Calibri" pitchFamily="34" charset="0"/>
              </a:rPr>
              <a:t>4</a:t>
            </a:r>
            <a:r>
              <a:rPr lang="en-US" sz="2000" dirty="0">
                <a:latin typeface="Calibri" pitchFamily="34" charset="0"/>
                <a:sym typeface="Wingdings" panose="05000000000000000000" pitchFamily="2" charset="2"/>
              </a:rPr>
              <a:t> </a:t>
            </a:r>
          </a:p>
          <a:p>
            <a:pPr algn="ctr"/>
            <a:endParaRPr lang="en-US" sz="2000" dirty="0">
              <a:latin typeface="Calibri" pitchFamily="34" charset="0"/>
              <a:sym typeface="Wingdings" panose="05000000000000000000" pitchFamily="2" charset="2"/>
            </a:endParaRPr>
          </a:p>
          <a:p>
            <a:pPr algn="ctr"/>
            <a:r>
              <a:rPr lang="en-IN" sz="2000" dirty="0">
                <a:latin typeface="Calibri" panose="020F0502020204030204" pitchFamily="34" charset="0"/>
                <a:ea typeface="Calibri" panose="020F0502020204030204" pitchFamily="34" charset="0"/>
                <a:cs typeface="Times New Roman" panose="02020603050405020304" pitchFamily="18" charset="0"/>
              </a:rPr>
              <a:t>R</a:t>
            </a:r>
            <a:r>
              <a:rPr lang="en-IN" sz="2000"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+ 2 NaOH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a:latin typeface="Calibri" panose="020F0502020204030204" pitchFamily="34" charset="0"/>
                <a:ea typeface="Calibri" panose="020F0502020204030204" pitchFamily="34" charset="0"/>
                <a:cs typeface="Times New Roman" panose="02020603050405020304" pitchFamily="18" charset="0"/>
              </a:rPr>
              <a:t>2ROH-  + Na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p>
          <a:p>
            <a:pPr algn="ctr"/>
            <a:r>
              <a:rPr lang="en-IN" sz="2000" dirty="0" err="1">
                <a:latin typeface="Calibri" panose="020F0502020204030204" pitchFamily="34" charset="0"/>
                <a:ea typeface="Calibri" panose="020F0502020204030204" pitchFamily="34" charset="0"/>
                <a:cs typeface="Times New Roman" panose="02020603050405020304" pitchFamily="18" charset="0"/>
              </a:rPr>
              <a:t>RCl</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 KOH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a:latin typeface="Calibri" panose="020F0502020204030204" pitchFamily="34" charset="0"/>
                <a:ea typeface="Calibri" panose="020F0502020204030204" pitchFamily="34" charset="0"/>
                <a:cs typeface="Times New Roman" panose="02020603050405020304" pitchFamily="18" charset="0"/>
              </a:rPr>
              <a:t>ROH-  + </a:t>
            </a:r>
            <a:r>
              <a:rPr lang="en-IN" sz="2000" dirty="0" err="1">
                <a:latin typeface="Calibri" panose="020F0502020204030204" pitchFamily="34" charset="0"/>
                <a:ea typeface="Calibri" panose="020F0502020204030204" pitchFamily="34" charset="0"/>
                <a:cs typeface="Times New Roman" panose="02020603050405020304" pitchFamily="18" charset="0"/>
              </a:rPr>
              <a:t>KCl</a:t>
            </a:r>
            <a:endParaRPr lang="en-US" sz="2000" dirty="0">
              <a:latin typeface="Calibri" pitchFamily="34" charset="0"/>
            </a:endParaRPr>
          </a:p>
          <a:p>
            <a:pPr algn="ctr"/>
            <a:endParaRPr lang="en-US" sz="2000" dirty="0">
              <a:latin typeface="Calibri" pitchFamily="34" charset="0"/>
            </a:endParaRPr>
          </a:p>
        </p:txBody>
      </p:sp>
      <p:pic>
        <p:nvPicPr>
          <p:cNvPr id="2" name="Picture 1">
            <a:extLst>
              <a:ext uri="{FF2B5EF4-FFF2-40B4-BE49-F238E27FC236}">
                <a16:creationId xmlns:a16="http://schemas.microsoft.com/office/drawing/2014/main" id="{466F3CE8-303C-A41E-A909-5761BCDF4814}"/>
              </a:ext>
            </a:extLst>
          </p:cNvPr>
          <p:cNvPicPr>
            <a:picLocks noChangeAspect="1"/>
          </p:cNvPicPr>
          <p:nvPr/>
        </p:nvPicPr>
        <p:blipFill rotWithShape="1">
          <a:blip r:embed="rId4"/>
          <a:srcRect l="15786" t="28570" r="16071" b="2857"/>
          <a:stretch/>
        </p:blipFill>
        <p:spPr>
          <a:xfrm>
            <a:off x="5245607" y="1049821"/>
            <a:ext cx="6270980" cy="3549611"/>
          </a:xfrm>
          <a:prstGeom prst="rect">
            <a:avLst/>
          </a:prstGeom>
        </p:spPr>
      </p:pic>
      <p:sp>
        <p:nvSpPr>
          <p:cNvPr id="7" name="Star: 5 Points 6">
            <a:extLst>
              <a:ext uri="{FF2B5EF4-FFF2-40B4-BE49-F238E27FC236}">
                <a16:creationId xmlns:a16="http://schemas.microsoft.com/office/drawing/2014/main" id="{4012B19A-E53C-38D3-CAE7-E7340F656F2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57844082"/>
      </p:ext>
    </p:extLst>
  </p:cSld>
  <p:clrMapOvr>
    <a:masterClrMapping/>
  </p:clrMapOvr>
  <p:transition spd="slow">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1870CAC9-B673-43BA-B3D3-685C80E7D3D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Pros and Cons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ECAA0C39-0AC7-4F3F-AEEF-209A73BDCF1A}"/>
              </a:ext>
            </a:extLst>
          </p:cNvPr>
          <p:cNvSpPr/>
          <p:nvPr/>
        </p:nvSpPr>
        <p:spPr>
          <a:xfrm>
            <a:off x="324650" y="623687"/>
            <a:ext cx="11450008" cy="3631763"/>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Advantages: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be used to soften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highly acidic or alkaline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waters.</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It produces water of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very low hardness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Disadvantages:</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equipment is costly</a:t>
            </a: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Expensive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chemicals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are needed</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Output of the process is reduced if water contains turbidity. (turbidity must be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below 10 ppm</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p:txBody>
      </p:sp>
      <p:sp>
        <p:nvSpPr>
          <p:cNvPr id="2" name="Star: 5 Points 1">
            <a:extLst>
              <a:ext uri="{FF2B5EF4-FFF2-40B4-BE49-F238E27FC236}">
                <a16:creationId xmlns:a16="http://schemas.microsoft.com/office/drawing/2014/main" id="{7ADDECF3-172A-1C05-E30A-43FE8176C807}"/>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8240476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164F4381-4C3B-4833-A8BA-0F42ED31867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Zeolite (</a:t>
            </a:r>
            <a:r>
              <a:rPr lang="en-IN" sz="2400" b="1" dirty="0" err="1">
                <a:solidFill>
                  <a:srgbClr val="0070C0"/>
                </a:solidFill>
                <a:latin typeface="Calibri" panose="020F0502020204030204" pitchFamily="34" charset="0"/>
                <a:ea typeface="Calibri" panose="020F0502020204030204" pitchFamily="34" charset="0"/>
                <a:cs typeface="Times New Roman" panose="02020603050405020304" pitchFamily="18" charset="0"/>
              </a:rPr>
              <a:t>Permutit</a:t>
            </a:r>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 method of Softening of water</a:t>
            </a:r>
          </a:p>
        </p:txBody>
      </p:sp>
      <p:sp>
        <p:nvSpPr>
          <p:cNvPr id="5" name="Rectangle 4">
            <a:extLst>
              <a:ext uri="{FF2B5EF4-FFF2-40B4-BE49-F238E27FC236}">
                <a16:creationId xmlns:a16="http://schemas.microsoft.com/office/drawing/2014/main" id="{2FA4FBAA-3E6C-448E-B688-2EE74F7D0FA3}"/>
              </a:ext>
            </a:extLst>
          </p:cNvPr>
          <p:cNvSpPr/>
          <p:nvPr/>
        </p:nvSpPr>
        <p:spPr>
          <a:xfrm>
            <a:off x="324649" y="623687"/>
            <a:ext cx="11421873" cy="2092881"/>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Zeolite is a </a:t>
            </a:r>
            <a:r>
              <a:rPr lang="en-IN" sz="2000" b="1" dirty="0">
                <a:latin typeface="Calibri" panose="020F0502020204030204" pitchFamily="34" charset="0"/>
                <a:ea typeface="Calibri" panose="020F0502020204030204" pitchFamily="34" charset="0"/>
                <a:cs typeface="Times New Roman" panose="02020603050405020304" pitchFamily="18" charset="0"/>
              </a:rPr>
              <a:t>Hydrated Sodium </a:t>
            </a:r>
            <a:r>
              <a:rPr lang="en-IN" sz="2000" b="1" dirty="0" err="1">
                <a:latin typeface="Calibri" panose="020F0502020204030204" pitchFamily="34" charset="0"/>
                <a:ea typeface="Calibri" panose="020F0502020204030204" pitchFamily="34" charset="0"/>
                <a:cs typeface="Times New Roman" panose="02020603050405020304" pitchFamily="18" charset="0"/>
              </a:rPr>
              <a:t>Alumino</a:t>
            </a:r>
            <a:r>
              <a:rPr lang="en-IN" sz="2000" b="1" dirty="0">
                <a:latin typeface="Calibri" panose="020F0502020204030204" pitchFamily="34" charset="0"/>
                <a:ea typeface="Calibri" panose="020F0502020204030204" pitchFamily="34" charset="0"/>
                <a:cs typeface="Times New Roman" panose="02020603050405020304" pitchFamily="18" charset="0"/>
              </a:rPr>
              <a:t> Silicate</a:t>
            </a:r>
            <a:r>
              <a:rPr lang="en-IN" sz="2000" dirty="0">
                <a:latin typeface="Calibri" panose="020F0502020204030204" pitchFamily="34" charset="0"/>
                <a:ea typeface="Calibri" panose="020F0502020204030204" pitchFamily="34" charset="0"/>
                <a:cs typeface="Times New Roman" panose="02020603050405020304" pitchFamily="18" charset="0"/>
              </a:rPr>
              <a:t> (HSAS), capable of exchanging reversibly its sodium ions for hardness producing ions in water. </a:t>
            </a:r>
          </a:p>
          <a:p>
            <a:pPr lvl="0">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The general chemical structure of zeolite is – </a:t>
            </a:r>
          </a:p>
          <a:p>
            <a:pPr lvl="0" algn="ctr">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Na</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b="1" dirty="0">
                <a:latin typeface="Calibri" panose="020F0502020204030204" pitchFamily="34" charset="0"/>
                <a:ea typeface="Calibri" panose="020F0502020204030204" pitchFamily="34" charset="0"/>
                <a:cs typeface="Times New Roman" panose="02020603050405020304" pitchFamily="18" charset="0"/>
              </a:rPr>
              <a:t>O·Al</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b="1" dirty="0">
                <a:latin typeface="Calibri" panose="020F0502020204030204" pitchFamily="34" charset="0"/>
                <a:ea typeface="Calibri" panose="020F0502020204030204" pitchFamily="34" charset="0"/>
                <a:cs typeface="Times New Roman" panose="02020603050405020304" pitchFamily="18" charset="0"/>
              </a:rPr>
              <a:t>O</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b="1" dirty="0">
                <a:latin typeface="Calibri" panose="020F0502020204030204" pitchFamily="34" charset="0"/>
                <a:ea typeface="Calibri" panose="020F0502020204030204" pitchFamily="34" charset="0"/>
                <a:cs typeface="Times New Roman" panose="02020603050405020304" pitchFamily="18" charset="0"/>
              </a:rPr>
              <a:t>·xSiO</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b="1" dirty="0">
                <a:latin typeface="Calibri" panose="020F0502020204030204" pitchFamily="34" charset="0"/>
                <a:ea typeface="Calibri" panose="020F0502020204030204" pitchFamily="34" charset="0"/>
                <a:cs typeface="Times New Roman" panose="02020603050405020304" pitchFamily="18" charset="0"/>
              </a:rPr>
              <a:t>·yH</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b="1" dirty="0">
                <a:latin typeface="Calibri" panose="020F0502020204030204" pitchFamily="34" charset="0"/>
                <a:ea typeface="Calibri" panose="020F0502020204030204" pitchFamily="34" charset="0"/>
                <a:cs typeface="Times New Roman" panose="02020603050405020304" pitchFamily="18" charset="0"/>
              </a:rPr>
              <a:t>O </a:t>
            </a:r>
          </a:p>
          <a:p>
            <a:pPr lvl="0" algn="ctr">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(x = 2-10 and y = 2-6)</a:t>
            </a:r>
          </a:p>
        </p:txBody>
      </p:sp>
      <p:pic>
        <p:nvPicPr>
          <p:cNvPr id="6" name="Picture 5">
            <a:extLst>
              <a:ext uri="{FF2B5EF4-FFF2-40B4-BE49-F238E27FC236}">
                <a16:creationId xmlns:a16="http://schemas.microsoft.com/office/drawing/2014/main" id="{726F3B0B-DD68-4877-A55D-F88CB605B31E}"/>
              </a:ext>
            </a:extLst>
          </p:cNvPr>
          <p:cNvPicPr>
            <a:picLocks noChangeAspect="1"/>
          </p:cNvPicPr>
          <p:nvPr/>
        </p:nvPicPr>
        <p:blipFill>
          <a:blip r:embed="rId4"/>
          <a:stretch>
            <a:fillRect/>
          </a:stretch>
        </p:blipFill>
        <p:spPr>
          <a:xfrm>
            <a:off x="367655" y="2291304"/>
            <a:ext cx="2827510" cy="2827510"/>
          </a:xfrm>
          <a:prstGeom prst="rect">
            <a:avLst/>
          </a:prstGeom>
        </p:spPr>
      </p:pic>
      <p:pic>
        <p:nvPicPr>
          <p:cNvPr id="7" name="Picture 6">
            <a:extLst>
              <a:ext uri="{FF2B5EF4-FFF2-40B4-BE49-F238E27FC236}">
                <a16:creationId xmlns:a16="http://schemas.microsoft.com/office/drawing/2014/main" id="{7904A714-B982-409A-BAED-D33D39B9258B}"/>
              </a:ext>
            </a:extLst>
          </p:cNvPr>
          <p:cNvPicPr>
            <a:picLocks noChangeAspect="1"/>
          </p:cNvPicPr>
          <p:nvPr/>
        </p:nvPicPr>
        <p:blipFill>
          <a:blip r:embed="rId5"/>
          <a:stretch>
            <a:fillRect/>
          </a:stretch>
        </p:blipFill>
        <p:spPr>
          <a:xfrm>
            <a:off x="8962018" y="2291304"/>
            <a:ext cx="2827510" cy="2827510"/>
          </a:xfrm>
          <a:prstGeom prst="rect">
            <a:avLst/>
          </a:prstGeom>
        </p:spPr>
      </p:pic>
      <p:sp>
        <p:nvSpPr>
          <p:cNvPr id="9" name="Rectangle 8">
            <a:extLst>
              <a:ext uri="{FF2B5EF4-FFF2-40B4-BE49-F238E27FC236}">
                <a16:creationId xmlns:a16="http://schemas.microsoft.com/office/drawing/2014/main" id="{8F4FB903-E8B1-4520-84EA-670D37BCF036}"/>
              </a:ext>
            </a:extLst>
          </p:cNvPr>
          <p:cNvSpPr/>
          <p:nvPr/>
        </p:nvSpPr>
        <p:spPr>
          <a:xfrm>
            <a:off x="430848" y="5587368"/>
            <a:ext cx="10816962" cy="861774"/>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Porosity or cavity size of synthetic zeolite structures can be controlled by varying the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Si/Al ratio</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Ion-exchange process of zeolite structure is associated with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sodium ions</a:t>
            </a:r>
          </a:p>
        </p:txBody>
      </p:sp>
      <p:pic>
        <p:nvPicPr>
          <p:cNvPr id="10" name="Picture 9">
            <a:extLst>
              <a:ext uri="{FF2B5EF4-FFF2-40B4-BE49-F238E27FC236}">
                <a16:creationId xmlns:a16="http://schemas.microsoft.com/office/drawing/2014/main" id="{3193C8DC-DE74-4976-9BAC-6DADA2D58CFB}"/>
              </a:ext>
            </a:extLst>
          </p:cNvPr>
          <p:cNvPicPr>
            <a:picLocks noChangeAspect="1"/>
          </p:cNvPicPr>
          <p:nvPr/>
        </p:nvPicPr>
        <p:blipFill>
          <a:blip r:embed="rId6"/>
          <a:stretch>
            <a:fillRect/>
          </a:stretch>
        </p:blipFill>
        <p:spPr>
          <a:xfrm>
            <a:off x="3672858" y="2861866"/>
            <a:ext cx="4846284" cy="2559134"/>
          </a:xfrm>
          <a:prstGeom prst="rect">
            <a:avLst/>
          </a:prstGeom>
        </p:spPr>
      </p:pic>
      <p:sp>
        <p:nvSpPr>
          <p:cNvPr id="2" name="Star: 5 Points 1">
            <a:extLst>
              <a:ext uri="{FF2B5EF4-FFF2-40B4-BE49-F238E27FC236}">
                <a16:creationId xmlns:a16="http://schemas.microsoft.com/office/drawing/2014/main" id="{CFD779F2-16EF-0ED2-49C3-64A2AB187442}"/>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9723664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1236CB5B-021D-4BFE-83DB-54AF161EE2E4}"/>
              </a:ext>
            </a:extLst>
          </p:cNvPr>
          <p:cNvSpPr txBox="1"/>
          <p:nvPr/>
        </p:nvSpPr>
        <p:spPr>
          <a:xfrm>
            <a:off x="309460" y="77030"/>
            <a:ext cx="5409587" cy="489810"/>
          </a:xfrm>
          <a:prstGeom prst="rect">
            <a:avLst/>
          </a:prstGeom>
          <a:noFill/>
          <a:ln>
            <a:noFill/>
          </a:ln>
        </p:spPr>
        <p:txBody>
          <a:bodyPr lIns="91425" tIns="91425" rIns="91425" bIns="91425" anchor="t" anchorCtr="0">
            <a:noAutofit/>
          </a:bodyPr>
          <a:lstStyle/>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Process of softening by Zeolite method</a:t>
            </a:r>
          </a:p>
        </p:txBody>
      </p:sp>
      <p:grpSp>
        <p:nvGrpSpPr>
          <p:cNvPr id="2" name="Group 1">
            <a:extLst>
              <a:ext uri="{FF2B5EF4-FFF2-40B4-BE49-F238E27FC236}">
                <a16:creationId xmlns:a16="http://schemas.microsoft.com/office/drawing/2014/main" id="{DCB886DC-1DEB-D42C-41DA-5AC9B9007D28}"/>
              </a:ext>
            </a:extLst>
          </p:cNvPr>
          <p:cNvGrpSpPr/>
          <p:nvPr/>
        </p:nvGrpSpPr>
        <p:grpSpPr>
          <a:xfrm>
            <a:off x="924841" y="720333"/>
            <a:ext cx="6748294" cy="5443591"/>
            <a:chOff x="354570" y="720333"/>
            <a:chExt cx="6748294" cy="5443591"/>
          </a:xfrm>
        </p:grpSpPr>
        <p:pic>
          <p:nvPicPr>
            <p:cNvPr id="5" name="Picture 3" descr="Zeolite-ZSM-5-3D-vdW">
              <a:extLst>
                <a:ext uri="{FF2B5EF4-FFF2-40B4-BE49-F238E27FC236}">
                  <a16:creationId xmlns:a16="http://schemas.microsoft.com/office/drawing/2014/main" id="{F0637B1C-4B1B-4627-A4B3-EBA91CF4BEA4}"/>
                </a:ext>
              </a:extLst>
            </p:cNvPr>
            <p:cNvPicPr>
              <a:picLocks noChangeAspect="1" noChangeArrowheads="1"/>
            </p:cNvPicPr>
            <p:nvPr/>
          </p:nvPicPr>
          <p:blipFill>
            <a:blip r:embed="rId4"/>
            <a:srcRect/>
            <a:stretch>
              <a:fillRect/>
            </a:stretch>
          </p:blipFill>
          <p:spPr bwMode="auto">
            <a:xfrm>
              <a:off x="354570" y="720333"/>
              <a:ext cx="4559707" cy="5060924"/>
            </a:xfrm>
            <a:prstGeom prst="rect">
              <a:avLst/>
            </a:prstGeom>
            <a:noFill/>
            <a:ln w="9525">
              <a:noFill/>
              <a:miter lim="800000"/>
              <a:headEnd/>
              <a:tailEnd/>
            </a:ln>
          </p:spPr>
        </p:pic>
        <p:sp>
          <p:nvSpPr>
            <p:cNvPr id="6" name="Text Box 5">
              <a:extLst>
                <a:ext uri="{FF2B5EF4-FFF2-40B4-BE49-F238E27FC236}">
                  <a16:creationId xmlns:a16="http://schemas.microsoft.com/office/drawing/2014/main" id="{CEB2FF7D-A044-4D8C-AC79-19B5108AA62F}"/>
                </a:ext>
              </a:extLst>
            </p:cNvPr>
            <p:cNvSpPr txBox="1">
              <a:spLocks noChangeArrowheads="1"/>
            </p:cNvSpPr>
            <p:nvPr/>
          </p:nvSpPr>
          <p:spPr bwMode="auto">
            <a:xfrm>
              <a:off x="1110423" y="5787686"/>
              <a:ext cx="3048000" cy="376238"/>
            </a:xfrm>
            <a:prstGeom prst="rect">
              <a:avLst/>
            </a:prstGeom>
            <a:solidFill>
              <a:srgbClr val="FFFF66"/>
            </a:solidFill>
            <a:ln w="9525">
              <a:solidFill>
                <a:schemeClr val="folHlink"/>
              </a:solidFill>
              <a:miter lim="800000"/>
              <a:headEnd/>
              <a:tailEnd/>
            </a:ln>
          </p:spPr>
          <p:txBody>
            <a:bodyPr>
              <a:spAutoFit/>
            </a:bodyPr>
            <a:lstStyle/>
            <a:p>
              <a:pPr eaLnBrk="1" hangingPunct="1">
                <a:spcBef>
                  <a:spcPct val="50000"/>
                </a:spcBef>
              </a:pPr>
              <a:r>
                <a:rPr lang="en-US" altLang="en-US" sz="1800" dirty="0">
                  <a:solidFill>
                    <a:srgbClr val="000000"/>
                  </a:solidFill>
                </a:rPr>
                <a:t>Porous Structure of zeolite</a:t>
              </a:r>
            </a:p>
          </p:txBody>
        </p:sp>
        <p:sp>
          <p:nvSpPr>
            <p:cNvPr id="7" name="Line 8">
              <a:extLst>
                <a:ext uri="{FF2B5EF4-FFF2-40B4-BE49-F238E27FC236}">
                  <a16:creationId xmlns:a16="http://schemas.microsoft.com/office/drawing/2014/main" id="{94525AE7-3222-40F5-980E-0E3618AB79B6}"/>
                </a:ext>
              </a:extLst>
            </p:cNvPr>
            <p:cNvSpPr>
              <a:spLocks noChangeShapeType="1"/>
            </p:cNvSpPr>
            <p:nvPr/>
          </p:nvSpPr>
          <p:spPr bwMode="auto">
            <a:xfrm flipH="1" flipV="1">
              <a:off x="3593309" y="2625634"/>
              <a:ext cx="2142309" cy="1818934"/>
            </a:xfrm>
            <a:prstGeom prst="line">
              <a:avLst/>
            </a:prstGeom>
            <a:noFill/>
            <a:ln w="9525">
              <a:solidFill>
                <a:schemeClr val="tx1"/>
              </a:solidFill>
              <a:round/>
              <a:headEnd/>
              <a:tailEnd type="triangle" w="med" len="med"/>
            </a:ln>
          </p:spPr>
          <p:txBody>
            <a:bodyPr/>
            <a:lstStyle/>
            <a:p>
              <a:endParaRPr lang="en-US"/>
            </a:p>
          </p:txBody>
        </p:sp>
        <p:sp>
          <p:nvSpPr>
            <p:cNvPr id="9" name="Text Box 9">
              <a:extLst>
                <a:ext uri="{FF2B5EF4-FFF2-40B4-BE49-F238E27FC236}">
                  <a16:creationId xmlns:a16="http://schemas.microsoft.com/office/drawing/2014/main" id="{8E5A2733-B842-4456-9E0C-F18DC6F8BE7C}"/>
                </a:ext>
              </a:extLst>
            </p:cNvPr>
            <p:cNvSpPr txBox="1">
              <a:spLocks noChangeArrowheads="1"/>
            </p:cNvSpPr>
            <p:nvPr/>
          </p:nvSpPr>
          <p:spPr bwMode="auto">
            <a:xfrm>
              <a:off x="4664464" y="4462234"/>
              <a:ext cx="2438400" cy="376238"/>
            </a:xfrm>
            <a:prstGeom prst="rect">
              <a:avLst/>
            </a:prstGeom>
            <a:solidFill>
              <a:schemeClr val="accent1"/>
            </a:solidFill>
            <a:ln w="9525">
              <a:solidFill>
                <a:schemeClr val="folHlink"/>
              </a:solidFill>
              <a:miter lim="800000"/>
              <a:headEnd/>
              <a:tailEnd/>
            </a:ln>
          </p:spPr>
          <p:txBody>
            <a:bodyPr>
              <a:spAutoFit/>
            </a:bodyPr>
            <a:lstStyle/>
            <a:p>
              <a:pPr eaLnBrk="1" hangingPunct="1">
                <a:spcBef>
                  <a:spcPct val="50000"/>
                </a:spcBef>
              </a:pPr>
              <a:r>
                <a:rPr lang="en-US" altLang="en-US" sz="1800" dirty="0">
                  <a:solidFill>
                    <a:srgbClr val="000099"/>
                  </a:solidFill>
                </a:rPr>
                <a:t>Micro pores of Zeolite</a:t>
              </a:r>
            </a:p>
          </p:txBody>
        </p:sp>
      </p:grpSp>
      <p:sp>
        <p:nvSpPr>
          <p:cNvPr id="10" name="Rectangle 9">
            <a:extLst>
              <a:ext uri="{FF2B5EF4-FFF2-40B4-BE49-F238E27FC236}">
                <a16:creationId xmlns:a16="http://schemas.microsoft.com/office/drawing/2014/main" id="{68C9BDED-06A4-42B1-83AB-6B70945DECB1}"/>
              </a:ext>
            </a:extLst>
          </p:cNvPr>
          <p:cNvSpPr/>
          <p:nvPr/>
        </p:nvSpPr>
        <p:spPr>
          <a:xfrm>
            <a:off x="6096000" y="874455"/>
            <a:ext cx="5447071" cy="2554545"/>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For the purification of water by the zeolite softener, </a:t>
            </a:r>
            <a:r>
              <a:rPr lang="en-IN" sz="2000" b="1" dirty="0">
                <a:latin typeface="Calibri" panose="020F0502020204030204" pitchFamily="34" charset="0"/>
                <a:ea typeface="Calibri" panose="020F0502020204030204" pitchFamily="34" charset="0"/>
                <a:cs typeface="Times New Roman" panose="02020603050405020304" pitchFamily="18" charset="0"/>
              </a:rPr>
              <a:t>hard water is passed through the zeolite</a:t>
            </a:r>
            <a:r>
              <a:rPr lang="en-IN" sz="2000" dirty="0">
                <a:latin typeface="Calibri" panose="020F0502020204030204" pitchFamily="34" charset="0"/>
                <a:ea typeface="Calibri" panose="020F0502020204030204" pitchFamily="34" charset="0"/>
                <a:cs typeface="Times New Roman" panose="02020603050405020304" pitchFamily="18" charset="0"/>
              </a:rPr>
              <a:t> bed at a specified rate. </a:t>
            </a:r>
          </a:p>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The hardness causing ions such as Ca</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Mg</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are </a:t>
            </a:r>
            <a:r>
              <a:rPr lang="en-IN" sz="2000" b="1" dirty="0">
                <a:latin typeface="Calibri" panose="020F0502020204030204" pitchFamily="34" charset="0"/>
                <a:ea typeface="Calibri" panose="020F0502020204030204" pitchFamily="34" charset="0"/>
                <a:cs typeface="Times New Roman" panose="02020603050405020304" pitchFamily="18" charset="0"/>
              </a:rPr>
              <a:t>retained by the zeolite bed </a:t>
            </a:r>
            <a:r>
              <a:rPr lang="en-IN" sz="2000" dirty="0">
                <a:latin typeface="Calibri" panose="020F0502020204030204" pitchFamily="34" charset="0"/>
                <a:ea typeface="Calibri" panose="020F0502020204030204" pitchFamily="34" charset="0"/>
                <a:cs typeface="Times New Roman" panose="02020603050405020304" pitchFamily="18" charset="0"/>
              </a:rPr>
              <a:t>as </a:t>
            </a:r>
            <a:r>
              <a:rPr lang="en-IN" sz="2000" dirty="0" err="1">
                <a:latin typeface="Calibri" panose="020F0502020204030204" pitchFamily="34" charset="0"/>
                <a:ea typeface="Calibri" panose="020F0502020204030204" pitchFamily="34" charset="0"/>
                <a:cs typeface="Times New Roman" panose="02020603050405020304" pitchFamily="18" charset="0"/>
              </a:rPr>
              <a:t>CaZe</a:t>
            </a:r>
            <a:r>
              <a:rPr lang="en-IN" sz="2000" dirty="0">
                <a:latin typeface="Calibri" panose="020F0502020204030204" pitchFamily="34" charset="0"/>
                <a:ea typeface="Calibri" panose="020F0502020204030204" pitchFamily="34" charset="0"/>
                <a:cs typeface="Times New Roman" panose="02020603050405020304" pitchFamily="18" charset="0"/>
              </a:rPr>
              <a:t> and </a:t>
            </a:r>
            <a:r>
              <a:rPr lang="en-IN" sz="2000" dirty="0" err="1">
                <a:latin typeface="Calibri" panose="020F0502020204030204" pitchFamily="34" charset="0"/>
                <a:ea typeface="Calibri" panose="020F0502020204030204" pitchFamily="34" charset="0"/>
                <a:cs typeface="Times New Roman" panose="02020603050405020304" pitchFamily="18" charset="0"/>
              </a:rPr>
              <a:t>MgZe</a:t>
            </a:r>
            <a:r>
              <a:rPr lang="en-IN" sz="2000" dirty="0">
                <a:latin typeface="Calibri" panose="020F0502020204030204" pitchFamily="34" charset="0"/>
                <a:ea typeface="Calibri" panose="020F0502020204030204" pitchFamily="34" charset="0"/>
                <a:cs typeface="Times New Roman" panose="02020603050405020304" pitchFamily="18" charset="0"/>
              </a:rPr>
              <a:t> respectively.</a:t>
            </a:r>
          </a:p>
          <a:p>
            <a:pPr marL="342900" lvl="0" indent="-342900" algn="just">
              <a:spcAft>
                <a:spcPts val="12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The outgoing water contains </a:t>
            </a:r>
            <a:r>
              <a:rPr lang="en-IN" sz="2000" b="1" dirty="0">
                <a:latin typeface="Calibri" panose="020F0502020204030204" pitchFamily="34" charset="0"/>
                <a:ea typeface="Calibri" panose="020F0502020204030204" pitchFamily="34" charset="0"/>
                <a:cs typeface="Times New Roman" panose="02020603050405020304" pitchFamily="18" charset="0"/>
              </a:rPr>
              <a:t>sodium salts</a:t>
            </a:r>
            <a:r>
              <a:rPr lang="en-IN" sz="2000" dirty="0">
                <a:latin typeface="Calibri" panose="020F0502020204030204" pitchFamily="34" charset="0"/>
                <a:ea typeface="Calibri" panose="020F0502020204030204" pitchFamily="34" charset="0"/>
                <a:cs typeface="Times New Roman" panose="02020603050405020304" pitchFamily="18" charset="0"/>
              </a:rPr>
              <a:t>. </a:t>
            </a:r>
            <a:endParaRPr lang="en-US" sz="20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Star: 5 Points 10">
            <a:extLst>
              <a:ext uri="{FF2B5EF4-FFF2-40B4-BE49-F238E27FC236}">
                <a16:creationId xmlns:a16="http://schemas.microsoft.com/office/drawing/2014/main" id="{80E2E87E-EFDB-4083-56F6-A19C430D325B}"/>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14010457"/>
      </p:ext>
    </p:extLst>
  </p:cSld>
  <p:clrMapOvr>
    <a:masterClrMapping/>
  </p:clrMapOvr>
  <p:transition spd="slow">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A4CC103A-BD3C-4585-9843-32F0174C22E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Zeolite softener</a:t>
            </a:r>
          </a:p>
        </p:txBody>
      </p:sp>
      <p:sp>
        <p:nvSpPr>
          <p:cNvPr id="55" name="Shape 69">
            <a:extLst>
              <a:ext uri="{FF2B5EF4-FFF2-40B4-BE49-F238E27FC236}">
                <a16:creationId xmlns:a16="http://schemas.microsoft.com/office/drawing/2014/main" id="{9AB77B43-164C-4EE7-B2B1-A36F8F7254DF}"/>
              </a:ext>
            </a:extLst>
          </p:cNvPr>
          <p:cNvSpPr txBox="1"/>
          <p:nvPr/>
        </p:nvSpPr>
        <p:spPr>
          <a:xfrm>
            <a:off x="6096000" y="834055"/>
            <a:ext cx="5628328" cy="489810"/>
          </a:xfrm>
          <a:prstGeom prst="rect">
            <a:avLst/>
          </a:prstGeom>
          <a:noFill/>
          <a:ln>
            <a:noFill/>
          </a:ln>
        </p:spPr>
        <p:txBody>
          <a:bodyPr lIns="91425" tIns="91425" rIns="91425" bIns="91425" anchor="t" anchorCtr="0">
            <a:noAutofit/>
          </a:bodyPr>
          <a:lstStyle/>
          <a:p>
            <a:r>
              <a:rPr lang="en-IN"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Process of softening by Zeolite method</a:t>
            </a:r>
          </a:p>
        </p:txBody>
      </p: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24BE2B99-01BE-4B31-8F79-B77BAB1D4643}"/>
                  </a:ext>
                </a:extLst>
              </p:cNvPr>
              <p:cNvSpPr/>
              <p:nvPr/>
            </p:nvSpPr>
            <p:spPr>
              <a:xfrm>
                <a:off x="6096000" y="1466448"/>
                <a:ext cx="6309078" cy="1477328"/>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To remove </a:t>
                </a:r>
                <a:r>
                  <a:rPr lang="en-IN" sz="2000" b="1" dirty="0">
                    <a:latin typeface="Calibri" panose="020F0502020204030204" pitchFamily="34" charset="0"/>
                    <a:ea typeface="Calibri" panose="020F0502020204030204" pitchFamily="34" charset="0"/>
                    <a:cs typeface="Times New Roman" panose="02020603050405020304" pitchFamily="18" charset="0"/>
                  </a:rPr>
                  <a:t>permanent </a:t>
                </a:r>
                <a:r>
                  <a:rPr lang="en-IN" sz="2000" dirty="0">
                    <a:latin typeface="Calibri" panose="020F0502020204030204" pitchFamily="34" charset="0"/>
                    <a:ea typeface="Calibri" panose="020F0502020204030204" pitchFamily="34" charset="0"/>
                    <a:cs typeface="Times New Roman" panose="02020603050405020304" pitchFamily="18" charset="0"/>
                  </a:rPr>
                  <a:t>hardness</a:t>
                </a:r>
              </a:p>
              <a:p>
                <a:pPr lvl="0" algn="ctr">
                  <a:spcAft>
                    <a:spcPts val="1200"/>
                  </a:spcAft>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𝑙</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𝑁𝑎𝐶𝑙</m:t>
                      </m:r>
                    </m:oMath>
                  </m:oMathPara>
                </a14:m>
                <a:endParaRPr lang="en-US" sz="2000" b="0" dirty="0">
                  <a:latin typeface="Calibri" panose="020F0502020204030204" pitchFamily="34" charset="0"/>
                  <a:ea typeface="Calibri" panose="020F0502020204030204" pitchFamily="34" charset="0"/>
                  <a:cs typeface="Times New Roman" panose="02020603050405020304" pitchFamily="18" charset="0"/>
                </a:endParaRPr>
              </a:p>
              <a:p>
                <a:pPr lvl="0" algn="ctr">
                  <a:spcAft>
                    <a:spcPts val="1200"/>
                  </a:spcAft>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𝑀𝑔𝑆</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4</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𝑆</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4</m:t>
                          </m:r>
                        </m:sub>
                      </m:sSub>
                    </m:oMath>
                  </m:oMathPara>
                </a14:m>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6" name="Rectangle 55">
                <a:extLst>
                  <a:ext uri="{FF2B5EF4-FFF2-40B4-BE49-F238E27FC236}">
                    <a16:creationId xmlns:a16="http://schemas.microsoft.com/office/drawing/2014/main" id="{24BE2B99-01BE-4B31-8F79-B77BAB1D4643}"/>
                  </a:ext>
                </a:extLst>
              </p:cNvPr>
              <p:cNvSpPr>
                <a:spLocks noRot="1" noChangeAspect="1" noMove="1" noResize="1" noEditPoints="1" noAdjustHandles="1" noChangeArrowheads="1" noChangeShapeType="1" noTextEdit="1"/>
              </p:cNvSpPr>
              <p:nvPr/>
            </p:nvSpPr>
            <p:spPr>
              <a:xfrm>
                <a:off x="6096000" y="1466448"/>
                <a:ext cx="6309078" cy="1477328"/>
              </a:xfrm>
              <a:prstGeom prst="rect">
                <a:avLst/>
              </a:prstGeom>
              <a:blipFill>
                <a:blip r:embed="rId4"/>
                <a:stretch>
                  <a:fillRect l="-966" t="-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D8A50D2A-62BF-4A09-8C78-64D6AE2A4107}"/>
                  </a:ext>
                </a:extLst>
              </p:cNvPr>
              <p:cNvSpPr/>
              <p:nvPr/>
            </p:nvSpPr>
            <p:spPr>
              <a:xfrm>
                <a:off x="6096000" y="3284371"/>
                <a:ext cx="5632590" cy="1477328"/>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To remove </a:t>
                </a:r>
                <a:r>
                  <a:rPr lang="en-IN" sz="2000" b="1" dirty="0">
                    <a:latin typeface="Calibri" panose="020F0502020204030204" pitchFamily="34" charset="0"/>
                    <a:ea typeface="Calibri" panose="020F0502020204030204" pitchFamily="34" charset="0"/>
                    <a:cs typeface="Times New Roman" panose="02020603050405020304" pitchFamily="18" charset="0"/>
                  </a:rPr>
                  <a:t>temporary</a:t>
                </a:r>
                <a:r>
                  <a:rPr lang="en-IN" sz="2000" dirty="0">
                    <a:latin typeface="Calibri" panose="020F0502020204030204" pitchFamily="34" charset="0"/>
                    <a:ea typeface="Calibri" panose="020F0502020204030204" pitchFamily="34" charset="0"/>
                    <a:cs typeface="Times New Roman" panose="02020603050405020304" pitchFamily="18" charset="0"/>
                  </a:rPr>
                  <a:t> hardness</a:t>
                </a:r>
              </a:p>
              <a:p>
                <a:pPr lvl="0" algn="just">
                  <a:spcAft>
                    <a:spcPts val="1200"/>
                  </a:spcAft>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d>
                            <m:d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d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𝐻𝐶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3</m:t>
                                  </m:r>
                                </m:sub>
                              </m:sSub>
                            </m:e>
                          </m:d>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𝑁𝑎𝐻𝐶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3</m:t>
                          </m:r>
                        </m:sub>
                      </m:sSub>
                    </m:oMath>
                  </m:oMathPara>
                </a14:m>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d>
                            <m:d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d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𝐻𝐶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3</m:t>
                                  </m:r>
                                </m:sub>
                              </m:sSub>
                            </m:e>
                          </m:d>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𝑁𝑎𝐻𝐶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3</m:t>
                          </m:r>
                        </m:sub>
                      </m:sSub>
                    </m:oMath>
                  </m:oMathPara>
                </a14:m>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7" name="Rectangle 56">
                <a:extLst>
                  <a:ext uri="{FF2B5EF4-FFF2-40B4-BE49-F238E27FC236}">
                    <a16:creationId xmlns:a16="http://schemas.microsoft.com/office/drawing/2014/main" id="{D8A50D2A-62BF-4A09-8C78-64D6AE2A4107}"/>
                  </a:ext>
                </a:extLst>
              </p:cNvPr>
              <p:cNvSpPr>
                <a:spLocks noRot="1" noChangeAspect="1" noMove="1" noResize="1" noEditPoints="1" noAdjustHandles="1" noChangeArrowheads="1" noChangeShapeType="1" noTextEdit="1"/>
              </p:cNvSpPr>
              <p:nvPr/>
            </p:nvSpPr>
            <p:spPr>
              <a:xfrm>
                <a:off x="6096000" y="3284371"/>
                <a:ext cx="5632590" cy="1477328"/>
              </a:xfrm>
              <a:prstGeom prst="rect">
                <a:avLst/>
              </a:prstGeom>
              <a:blipFill>
                <a:blip r:embed="rId5"/>
                <a:stretch>
                  <a:fillRect l="-1082" t="-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F6D7650D-DD39-4621-9AB2-E881B0D031C9}"/>
                  </a:ext>
                </a:extLst>
              </p:cNvPr>
              <p:cNvSpPr/>
              <p:nvPr/>
            </p:nvSpPr>
            <p:spPr>
              <a:xfrm>
                <a:off x="6096000" y="5569548"/>
                <a:ext cx="5632590" cy="1015663"/>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Regeneration</a:t>
                </a:r>
              </a:p>
              <a:p>
                <a:pPr lvl="0" algn="just">
                  <a:spcAft>
                    <a:spcPts val="1200"/>
                  </a:spcAft>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𝑁𝑎𝐶𝑙</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𝑁</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𝑎</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𝑍𝑒</m:t>
                      </m:r>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𝐶𝑎𝐶</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𝑙</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2</m:t>
                          </m:r>
                        </m:sub>
                      </m:sSub>
                      <m:r>
                        <a:rPr lang="en-US" sz="2000" b="0" i="1" smtClean="0">
                          <a:latin typeface="Cambria Math" panose="02040503050406030204" pitchFamily="18" charset="0"/>
                          <a:ea typeface="Calibri" panose="020F0502020204030204" pitchFamily="34" charset="0"/>
                          <a:cs typeface="Times New Roman" panose="02020603050405020304" pitchFamily="18" charset="0"/>
                        </a:rPr>
                        <m:t>\</m:t>
                      </m:r>
                      <m:r>
                        <a:rPr lang="en-US" sz="2000" b="0" i="1" smtClean="0">
                          <a:latin typeface="Cambria Math" panose="02040503050406030204" pitchFamily="18" charset="0"/>
                          <a:ea typeface="Calibri" panose="020F0502020204030204" pitchFamily="34" charset="0"/>
                          <a:cs typeface="Times New Roman" panose="02020603050405020304" pitchFamily="18" charset="0"/>
                        </a:rPr>
                        <m:t>𝑀𝑔𝑆</m:t>
                      </m:r>
                      <m:sSub>
                        <m:sSubPr>
                          <m:ctrlPr>
                            <a:rPr lang="en-US" sz="20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000" b="0" i="1" smtClean="0">
                              <a:latin typeface="Cambria Math" panose="02040503050406030204" pitchFamily="18" charset="0"/>
                              <a:ea typeface="Calibri" panose="020F0502020204030204" pitchFamily="34" charset="0"/>
                              <a:cs typeface="Times New Roman" panose="02020603050405020304" pitchFamily="18" charset="0"/>
                            </a:rPr>
                            <m:t>𝑂</m:t>
                          </m:r>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4</m:t>
                          </m:r>
                        </m:sub>
                      </m:sSub>
                    </m:oMath>
                  </m:oMathPara>
                </a14:m>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8" name="Rectangle 57">
                <a:extLst>
                  <a:ext uri="{FF2B5EF4-FFF2-40B4-BE49-F238E27FC236}">
                    <a16:creationId xmlns:a16="http://schemas.microsoft.com/office/drawing/2014/main" id="{F6D7650D-DD39-4621-9AB2-E881B0D031C9}"/>
                  </a:ext>
                </a:extLst>
              </p:cNvPr>
              <p:cNvSpPr>
                <a:spLocks noRot="1" noChangeAspect="1" noMove="1" noResize="1" noEditPoints="1" noAdjustHandles="1" noChangeArrowheads="1" noChangeShapeType="1" noTextEdit="1"/>
              </p:cNvSpPr>
              <p:nvPr/>
            </p:nvSpPr>
            <p:spPr>
              <a:xfrm>
                <a:off x="6096000" y="5569548"/>
                <a:ext cx="5632590" cy="1015663"/>
              </a:xfrm>
              <a:prstGeom prst="rect">
                <a:avLst/>
              </a:prstGeom>
              <a:blipFill>
                <a:blip r:embed="rId6"/>
                <a:stretch>
                  <a:fillRect l="-1082" t="-3614"/>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F7CC244B-E2DB-B809-EC51-408341E0193F}"/>
              </a:ext>
            </a:extLst>
          </p:cNvPr>
          <p:cNvPicPr>
            <a:picLocks noChangeAspect="1"/>
          </p:cNvPicPr>
          <p:nvPr/>
        </p:nvPicPr>
        <p:blipFill rotWithShape="1">
          <a:blip r:embed="rId7"/>
          <a:srcRect l="24339" t="19304" r="22580" b="8244"/>
          <a:stretch/>
        </p:blipFill>
        <p:spPr>
          <a:xfrm>
            <a:off x="372268" y="1387698"/>
            <a:ext cx="5521466" cy="4239331"/>
          </a:xfrm>
          <a:prstGeom prst="rect">
            <a:avLst/>
          </a:prstGeom>
        </p:spPr>
      </p:pic>
      <p:sp>
        <p:nvSpPr>
          <p:cNvPr id="5" name="Star: 5 Points 4">
            <a:extLst>
              <a:ext uri="{FF2B5EF4-FFF2-40B4-BE49-F238E27FC236}">
                <a16:creationId xmlns:a16="http://schemas.microsoft.com/office/drawing/2014/main" id="{BE7CB124-3975-ACFB-3609-4A9A93D582B6}"/>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9972647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1C72B339-4A2D-4CD1-943E-4E3CBD8B520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Limitations of Zeolite process</a:t>
            </a:r>
          </a:p>
        </p:txBody>
      </p:sp>
      <p:grpSp>
        <p:nvGrpSpPr>
          <p:cNvPr id="2" name="Group 1">
            <a:extLst>
              <a:ext uri="{FF2B5EF4-FFF2-40B4-BE49-F238E27FC236}">
                <a16:creationId xmlns:a16="http://schemas.microsoft.com/office/drawing/2014/main" id="{C080B55C-23AA-43EF-B7E3-AEFE333B5BAD}"/>
              </a:ext>
            </a:extLst>
          </p:cNvPr>
          <p:cNvGrpSpPr/>
          <p:nvPr/>
        </p:nvGrpSpPr>
        <p:grpSpPr>
          <a:xfrm>
            <a:off x="585899" y="1385747"/>
            <a:ext cx="3255811" cy="4086505"/>
            <a:chOff x="8004997" y="1280415"/>
            <a:chExt cx="3255811" cy="4086505"/>
          </a:xfrm>
        </p:grpSpPr>
        <p:sp>
          <p:nvSpPr>
            <p:cNvPr id="5" name="Rectangle 4">
              <a:extLst>
                <a:ext uri="{FF2B5EF4-FFF2-40B4-BE49-F238E27FC236}">
                  <a16:creationId xmlns:a16="http://schemas.microsoft.com/office/drawing/2014/main" id="{1351B211-E21B-4044-AD2D-C409891ADBAE}"/>
                </a:ext>
              </a:extLst>
            </p:cNvPr>
            <p:cNvSpPr/>
            <p:nvPr/>
          </p:nvSpPr>
          <p:spPr>
            <a:xfrm>
              <a:off x="8004997" y="4382035"/>
              <a:ext cx="3255811" cy="984885"/>
            </a:xfrm>
            <a:prstGeom prst="rect">
              <a:avLst/>
            </a:prstGeom>
          </p:spPr>
          <p:txBody>
            <a:bodyPr wrap="square">
              <a:spAutoFit/>
            </a:bodyPr>
            <a:lstStyle/>
            <a:p>
              <a:pPr lvl="0" algn="ctr">
                <a:spcAft>
                  <a:spcPts val="1200"/>
                </a:spcAft>
              </a:pPr>
              <a:r>
                <a:rPr lang="en-IN" sz="2400" b="1" dirty="0">
                  <a:latin typeface="Calibri" panose="020F0502020204030204" pitchFamily="34" charset="0"/>
                  <a:ea typeface="Calibri" panose="020F0502020204030204" pitchFamily="34" charset="0"/>
                  <a:cs typeface="Times New Roman" panose="02020603050405020304" pitchFamily="18" charset="0"/>
                </a:rPr>
                <a:t>Na</a:t>
              </a:r>
              <a:r>
                <a:rPr lang="en-IN" sz="24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400" b="1" dirty="0">
                  <a:latin typeface="Calibri" panose="020F0502020204030204" pitchFamily="34" charset="0"/>
                  <a:ea typeface="Calibri" panose="020F0502020204030204" pitchFamily="34" charset="0"/>
                  <a:cs typeface="Times New Roman" panose="02020603050405020304" pitchFamily="18" charset="0"/>
                </a:rPr>
                <a:t>O·Al</a:t>
              </a:r>
              <a:r>
                <a:rPr lang="en-IN" sz="24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400" b="1" dirty="0">
                  <a:latin typeface="Calibri" panose="020F0502020204030204" pitchFamily="34" charset="0"/>
                  <a:ea typeface="Calibri" panose="020F0502020204030204" pitchFamily="34" charset="0"/>
                  <a:cs typeface="Times New Roman" panose="02020603050405020304" pitchFamily="18" charset="0"/>
                </a:rPr>
                <a:t>O</a:t>
              </a:r>
              <a:r>
                <a:rPr lang="en-IN" sz="2400" b="1" baseline="-25000" dirty="0">
                  <a:latin typeface="Calibri" panose="020F0502020204030204" pitchFamily="34" charset="0"/>
                  <a:ea typeface="Calibri" panose="020F0502020204030204" pitchFamily="34" charset="0"/>
                  <a:cs typeface="Times New Roman" panose="02020603050405020304" pitchFamily="18" charset="0"/>
                </a:rPr>
                <a:t>3</a:t>
              </a:r>
              <a:r>
                <a:rPr lang="en-IN" sz="2400" b="1" dirty="0">
                  <a:latin typeface="Calibri" panose="020F0502020204030204" pitchFamily="34" charset="0"/>
                  <a:ea typeface="Calibri" panose="020F0502020204030204" pitchFamily="34" charset="0"/>
                  <a:cs typeface="Times New Roman" panose="02020603050405020304" pitchFamily="18" charset="0"/>
                </a:rPr>
                <a:t>·xSiO</a:t>
              </a:r>
              <a:r>
                <a:rPr lang="en-IN" sz="24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400" b="1" dirty="0">
                  <a:latin typeface="Calibri" panose="020F0502020204030204" pitchFamily="34" charset="0"/>
                  <a:ea typeface="Calibri" panose="020F0502020204030204" pitchFamily="34" charset="0"/>
                  <a:cs typeface="Times New Roman" panose="02020603050405020304" pitchFamily="18" charset="0"/>
                </a:rPr>
                <a:t>·yH</a:t>
              </a:r>
              <a:r>
                <a:rPr lang="en-IN" sz="2400" b="1" baseline="-25000" dirty="0">
                  <a:latin typeface="Calibri" panose="020F0502020204030204" pitchFamily="34" charset="0"/>
                  <a:ea typeface="Calibri" panose="020F0502020204030204" pitchFamily="34" charset="0"/>
                  <a:cs typeface="Times New Roman" panose="02020603050405020304" pitchFamily="18" charset="0"/>
                </a:rPr>
                <a:t>2</a:t>
              </a:r>
              <a:r>
                <a:rPr lang="en-IN" sz="2400" b="1" dirty="0">
                  <a:latin typeface="Calibri" panose="020F0502020204030204" pitchFamily="34" charset="0"/>
                  <a:ea typeface="Calibri" panose="020F0502020204030204" pitchFamily="34" charset="0"/>
                  <a:cs typeface="Times New Roman" panose="02020603050405020304" pitchFamily="18" charset="0"/>
                </a:rPr>
                <a:t>O</a:t>
              </a:r>
            </a:p>
            <a:p>
              <a:pPr lvl="0" algn="ctr">
                <a:spcAft>
                  <a:spcPts val="1200"/>
                </a:spcAft>
              </a:pPr>
              <a:r>
                <a:rPr lang="en-IN" sz="2400" dirty="0">
                  <a:latin typeface="Calibri" panose="020F0502020204030204" pitchFamily="34" charset="0"/>
                  <a:ea typeface="Calibri" panose="020F0502020204030204" pitchFamily="34" charset="0"/>
                  <a:cs typeface="Times New Roman" panose="02020603050405020304" pitchFamily="18" charset="0"/>
                </a:rPr>
                <a:t>(Zeolite)</a:t>
              </a:r>
            </a:p>
          </p:txBody>
        </p:sp>
        <p:pic>
          <p:nvPicPr>
            <p:cNvPr id="6" name="Picture 3" descr="Zeolite-ZSM-5-3D-vdW">
              <a:extLst>
                <a:ext uri="{FF2B5EF4-FFF2-40B4-BE49-F238E27FC236}">
                  <a16:creationId xmlns:a16="http://schemas.microsoft.com/office/drawing/2014/main" id="{5105BE18-BE71-4DE8-84A0-CBB4CD4E824E}"/>
                </a:ext>
              </a:extLst>
            </p:cNvPr>
            <p:cNvPicPr>
              <a:picLocks noChangeAspect="1" noChangeArrowheads="1"/>
            </p:cNvPicPr>
            <p:nvPr/>
          </p:nvPicPr>
          <p:blipFill>
            <a:blip r:embed="rId4"/>
            <a:srcRect/>
            <a:stretch>
              <a:fillRect/>
            </a:stretch>
          </p:blipFill>
          <p:spPr bwMode="auto">
            <a:xfrm>
              <a:off x="8232304" y="1280415"/>
              <a:ext cx="2712633" cy="3010814"/>
            </a:xfrm>
            <a:prstGeom prst="rect">
              <a:avLst/>
            </a:prstGeom>
            <a:noFill/>
            <a:ln w="9525">
              <a:noFill/>
              <a:miter lim="800000"/>
              <a:headEnd/>
              <a:tailEnd/>
            </a:ln>
          </p:spPr>
        </p:pic>
      </p:grpSp>
      <p:sp>
        <p:nvSpPr>
          <p:cNvPr id="7" name="Rectangle 6">
            <a:extLst>
              <a:ext uri="{FF2B5EF4-FFF2-40B4-BE49-F238E27FC236}">
                <a16:creationId xmlns:a16="http://schemas.microsoft.com/office/drawing/2014/main" id="{AF80FB8A-0BB8-44C2-A7A6-6ACA9B0D2C6A}"/>
              </a:ext>
            </a:extLst>
          </p:cNvPr>
          <p:cNvSpPr/>
          <p:nvPr/>
        </p:nvSpPr>
        <p:spPr>
          <a:xfrm>
            <a:off x="4514450" y="1382286"/>
            <a:ext cx="6747466" cy="4093428"/>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If the water is turbid: then the </a:t>
            </a: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turbidity</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causing particles clogs the pores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of the Zeolite and making it inactive</a:t>
            </a: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ions such as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Mn</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and Fe</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forms </a:t>
            </a: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stable complex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Zeolite which cannot be regenerated that easily as both metal ions bind strongly and irreversibly to the zeolite structure.</a:t>
            </a: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Any </a:t>
            </a: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acid</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present in water (acidic water)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should be neutralized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with soda before admitting the water to the plant.  	 	</a:t>
            </a:r>
          </a:p>
        </p:txBody>
      </p:sp>
      <p:sp>
        <p:nvSpPr>
          <p:cNvPr id="9" name="Star: 5 Points 8">
            <a:extLst>
              <a:ext uri="{FF2B5EF4-FFF2-40B4-BE49-F238E27FC236}">
                <a16:creationId xmlns:a16="http://schemas.microsoft.com/office/drawing/2014/main" id="{00FE9C24-1332-DE9F-78FE-4F0B54850AE5}"/>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1738033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grpSp>
        <p:nvGrpSpPr>
          <p:cNvPr id="2" name="Group 1">
            <a:extLst>
              <a:ext uri="{FF2B5EF4-FFF2-40B4-BE49-F238E27FC236}">
                <a16:creationId xmlns:a16="http://schemas.microsoft.com/office/drawing/2014/main" id="{BC6FE84E-EF8F-4D0F-715A-4311E5C3B665}"/>
              </a:ext>
            </a:extLst>
          </p:cNvPr>
          <p:cNvGrpSpPr/>
          <p:nvPr/>
        </p:nvGrpSpPr>
        <p:grpSpPr>
          <a:xfrm>
            <a:off x="324650" y="676567"/>
            <a:ext cx="11126452" cy="2330874"/>
            <a:chOff x="324650" y="4187045"/>
            <a:chExt cx="11126452" cy="2330874"/>
          </a:xfrm>
        </p:grpSpPr>
        <p:sp>
          <p:nvSpPr>
            <p:cNvPr id="9" name="Shape 69">
              <a:extLst>
                <a:ext uri="{FF2B5EF4-FFF2-40B4-BE49-F238E27FC236}">
                  <a16:creationId xmlns:a16="http://schemas.microsoft.com/office/drawing/2014/main" id="{F02BB6BF-7925-436F-B5EF-7BCDF23CF5C7}"/>
                </a:ext>
              </a:extLst>
            </p:cNvPr>
            <p:cNvSpPr txBox="1"/>
            <p:nvPr/>
          </p:nvSpPr>
          <p:spPr>
            <a:xfrm>
              <a:off x="324650" y="4187045"/>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Advantages of Zeolite process</a:t>
              </a:r>
            </a:p>
          </p:txBody>
        </p:sp>
        <p:sp>
          <p:nvSpPr>
            <p:cNvPr id="10" name="Rectangle 9">
              <a:extLst>
                <a:ext uri="{FF2B5EF4-FFF2-40B4-BE49-F238E27FC236}">
                  <a16:creationId xmlns:a16="http://schemas.microsoft.com/office/drawing/2014/main" id="{0CE73CAF-4E9F-4AED-80CC-916B0552C191}"/>
                </a:ext>
              </a:extLst>
            </p:cNvPr>
            <p:cNvSpPr/>
            <p:nvPr/>
          </p:nvSpPr>
          <p:spPr>
            <a:xfrm>
              <a:off x="324650" y="4732815"/>
              <a:ext cx="11126452" cy="1785104"/>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Soft water of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10-15 ppm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can be produced by this method.</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The equipment occupies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less space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No impurities are precipitated, hence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no danger of sludge formation</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in the treated water.</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It does not require more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time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more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skill</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p:txBody>
        </p:sp>
      </p:grpSp>
      <p:grpSp>
        <p:nvGrpSpPr>
          <p:cNvPr id="4" name="Group 3">
            <a:extLst>
              <a:ext uri="{FF2B5EF4-FFF2-40B4-BE49-F238E27FC236}">
                <a16:creationId xmlns:a16="http://schemas.microsoft.com/office/drawing/2014/main" id="{BFC3D6BC-8E5F-5A2E-9A56-BC18A740247C}"/>
              </a:ext>
            </a:extLst>
          </p:cNvPr>
          <p:cNvGrpSpPr/>
          <p:nvPr/>
        </p:nvGrpSpPr>
        <p:grpSpPr>
          <a:xfrm>
            <a:off x="324650" y="3429000"/>
            <a:ext cx="11126452" cy="2476342"/>
            <a:chOff x="324650" y="670815"/>
            <a:chExt cx="11126452" cy="2476342"/>
          </a:xfrm>
        </p:grpSpPr>
        <p:sp>
          <p:nvSpPr>
            <p:cNvPr id="11" name="Shape 69">
              <a:extLst>
                <a:ext uri="{FF2B5EF4-FFF2-40B4-BE49-F238E27FC236}">
                  <a16:creationId xmlns:a16="http://schemas.microsoft.com/office/drawing/2014/main" id="{2F0A5AED-A866-4D2E-BE2A-76CD650623BC}"/>
                </a:ext>
              </a:extLst>
            </p:cNvPr>
            <p:cNvSpPr txBox="1"/>
            <p:nvPr/>
          </p:nvSpPr>
          <p:spPr>
            <a:xfrm>
              <a:off x="324650" y="670815"/>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Disadvantages of Zeolite process</a:t>
              </a:r>
            </a:p>
          </p:txBody>
        </p:sp>
        <p:sp>
          <p:nvSpPr>
            <p:cNvPr id="12" name="Rectangle 11">
              <a:extLst>
                <a:ext uri="{FF2B5EF4-FFF2-40B4-BE49-F238E27FC236}">
                  <a16:creationId xmlns:a16="http://schemas.microsoft.com/office/drawing/2014/main" id="{5B39E2B9-5DCA-4AD0-A292-265E705282E9}"/>
                </a:ext>
              </a:extLst>
            </p:cNvPr>
            <p:cNvSpPr/>
            <p:nvPr/>
          </p:nvSpPr>
          <p:spPr>
            <a:xfrm>
              <a:off x="324650" y="1208165"/>
              <a:ext cx="11126452" cy="1938992"/>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Soft water contains more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sodium salts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than in lime soda process.</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It replaces only Ca</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and Mg</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with Na</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but leaves all the other ions like HCO</a:t>
              </a:r>
              <a:r>
                <a:rPr lang="en-IN"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3</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CO</a:t>
              </a:r>
              <a:r>
                <a:rPr lang="en-IN" sz="2000"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3</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in the softened water (then it may form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NaHCO</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3</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and Na</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CO</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3</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which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releases CO</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when the water is boiled and causes corrosion).</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It also causes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caustic embrittlement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when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Na</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2</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CO</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3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hydrolyses to give NaOH.</a:t>
              </a:r>
            </a:p>
          </p:txBody>
        </p:sp>
      </p:grpSp>
      <p:sp>
        <p:nvSpPr>
          <p:cNvPr id="5" name="Star: 5 Points 4">
            <a:extLst>
              <a:ext uri="{FF2B5EF4-FFF2-40B4-BE49-F238E27FC236}">
                <a16:creationId xmlns:a16="http://schemas.microsoft.com/office/drawing/2014/main" id="{4879883D-FB4C-70C7-0962-5D8681FB3EA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4640552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2" name="TextBox 1">
            <a:extLst>
              <a:ext uri="{FF2B5EF4-FFF2-40B4-BE49-F238E27FC236}">
                <a16:creationId xmlns:a16="http://schemas.microsoft.com/office/drawing/2014/main" id="{1E13CCBD-33EE-BD2C-EEB7-49A0AB348A0E}"/>
              </a:ext>
            </a:extLst>
          </p:cNvPr>
          <p:cNvSpPr txBox="1"/>
          <p:nvPr/>
        </p:nvSpPr>
        <p:spPr>
          <a:xfrm>
            <a:off x="1243140" y="2221992"/>
            <a:ext cx="9770623" cy="830997"/>
          </a:xfrm>
          <a:prstGeom prst="rect">
            <a:avLst/>
          </a:prstGeom>
          <a:noFill/>
        </p:spPr>
        <p:txBody>
          <a:bodyPr wrap="none" rtlCol="0">
            <a:spAutoFit/>
          </a:bodyPr>
          <a:lstStyle/>
          <a:p>
            <a:r>
              <a:rPr lang="en-US" sz="4800" b="1" dirty="0">
                <a:solidFill>
                  <a:srgbClr val="00B050"/>
                </a:solidFill>
              </a:rPr>
              <a:t>Internal Treatment of Hard Water</a:t>
            </a:r>
          </a:p>
        </p:txBody>
      </p:sp>
    </p:spTree>
    <p:extLst>
      <p:ext uri="{BB962C8B-B14F-4D97-AF65-F5344CB8AC3E}">
        <p14:creationId xmlns:p14="http://schemas.microsoft.com/office/powerpoint/2010/main" val="1307032298"/>
      </p:ext>
    </p:extLst>
  </p:cSld>
  <p:clrMapOvr>
    <a:masterClrMapping/>
  </p:clrMapOvr>
  <p:transition spd="slow">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872F1E52-FD93-4B61-9222-04305EB2DB69}"/>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Internal treatment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DC921F59-9C4D-4972-89B0-ADB21EEE76C8}"/>
              </a:ext>
            </a:extLst>
          </p:cNvPr>
          <p:cNvSpPr/>
          <p:nvPr/>
        </p:nvSpPr>
        <p:spPr>
          <a:xfrm>
            <a:off x="324649" y="623687"/>
            <a:ext cx="11422591" cy="3016210"/>
          </a:xfrm>
          <a:prstGeom prst="rect">
            <a:avLst/>
          </a:prstGeom>
        </p:spPr>
        <p:txBody>
          <a:bodyPr wrap="square">
            <a:spAutoFit/>
          </a:bodyPr>
          <a:lstStyle/>
          <a:p>
            <a:pPr lvl="0" algn="just">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In this process, an ion is </a:t>
            </a:r>
            <a:r>
              <a:rPr lang="en-US" sz="2000" u="sng" dirty="0">
                <a:latin typeface="Calibri" panose="020F0502020204030204" pitchFamily="34" charset="0"/>
                <a:ea typeface="Calibri" panose="020F0502020204030204" pitchFamily="34" charset="0"/>
                <a:cs typeface="Times New Roman" panose="02020603050405020304" pitchFamily="18" charset="0"/>
              </a:rPr>
              <a:t>prohibited to exhibit its original character </a:t>
            </a:r>
            <a:r>
              <a:rPr lang="en-US" sz="2000" dirty="0">
                <a:latin typeface="Calibri" panose="020F0502020204030204" pitchFamily="34" charset="0"/>
                <a:ea typeface="Calibri" panose="020F0502020204030204" pitchFamily="34" charset="0"/>
                <a:cs typeface="Times New Roman" panose="02020603050405020304" pitchFamily="18" charset="0"/>
              </a:rPr>
              <a:t>by complexing or converted into other more soluble salt by adding appropriate reagent. </a:t>
            </a:r>
          </a:p>
          <a:p>
            <a:pPr lvl="0" algn="just">
              <a:spcAft>
                <a:spcPts val="1200"/>
              </a:spcAft>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An internal treatment is accomplished by adding a proper chemical to water either:</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 </a:t>
            </a:r>
            <a:r>
              <a:rPr lang="en-US"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precipitate</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the scale forming impurities in the form of sludge, which can be removed.</a:t>
            </a:r>
          </a:p>
          <a:p>
            <a:pPr marL="342900" lvl="0" indent="-342900" algn="just">
              <a:spcAft>
                <a:spcPts val="12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 convert them into compounds, which will </a:t>
            </a:r>
            <a:r>
              <a:rPr lang="en-US"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stay dissolved</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in water and thus do not cause any harm. </a:t>
            </a:r>
          </a:p>
          <a:p>
            <a:pPr marL="342900" lvl="0" indent="-342900" algn="just">
              <a:spcAft>
                <a:spcPts val="1200"/>
              </a:spcAft>
              <a:buFont typeface="Arial" panose="020B0604020202020204" pitchFamily="34" charset="0"/>
              <a:buChar char="•"/>
            </a:pPr>
            <a:endPar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Shape 69">
            <a:extLst>
              <a:ext uri="{FF2B5EF4-FFF2-40B4-BE49-F238E27FC236}">
                <a16:creationId xmlns:a16="http://schemas.microsoft.com/office/drawing/2014/main" id="{B38A78C6-8BB3-48DB-83AF-56349D8A48B4}"/>
              </a:ext>
            </a:extLst>
          </p:cNvPr>
          <p:cNvSpPr txBox="1"/>
          <p:nvPr/>
        </p:nvSpPr>
        <p:spPr>
          <a:xfrm>
            <a:off x="233858" y="3556649"/>
            <a:ext cx="8379600"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Important Internal Treatments are – </a:t>
            </a:r>
          </a:p>
        </p:txBody>
      </p:sp>
      <p:sp>
        <p:nvSpPr>
          <p:cNvPr id="7" name="Rectangle 6">
            <a:extLst>
              <a:ext uri="{FF2B5EF4-FFF2-40B4-BE49-F238E27FC236}">
                <a16:creationId xmlns:a16="http://schemas.microsoft.com/office/drawing/2014/main" id="{E996F480-739A-494D-BA65-5DF1CA970A8C}"/>
              </a:ext>
            </a:extLst>
          </p:cNvPr>
          <p:cNvSpPr/>
          <p:nvPr/>
        </p:nvSpPr>
        <p:spPr>
          <a:xfrm>
            <a:off x="820494" y="4065243"/>
            <a:ext cx="5830317" cy="1323439"/>
          </a:xfrm>
          <a:prstGeom prst="rect">
            <a:avLst/>
          </a:prstGeom>
        </p:spPr>
        <p:txBody>
          <a:bodyPr wrap="square">
            <a:spAutoFit/>
          </a:bodyPr>
          <a:lstStyle/>
          <a:p>
            <a:pPr marL="457200" indent="-457200" algn="just">
              <a:spcAft>
                <a:spcPts val="1200"/>
              </a:spcAft>
              <a:buFont typeface="+mj-lt"/>
              <a:buAutoNum type="alphaLcParen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Colloidal treatment</a:t>
            </a:r>
          </a:p>
          <a:p>
            <a:pPr marL="457200" marR="0" lvl="0" indent="-457200" algn="just" defTabSz="914400" rtl="0" eaLnBrk="1" fontAlgn="auto" latinLnBrk="0" hangingPunct="1">
              <a:lnSpc>
                <a:spcPct val="100000"/>
              </a:lnSpc>
              <a:spcBef>
                <a:spcPts val="0"/>
              </a:spcBef>
              <a:spcAft>
                <a:spcPts val="1200"/>
              </a:spcAft>
              <a:buClrTx/>
              <a:buSzTx/>
              <a:buFont typeface="+mj-lt"/>
              <a:buAutoNum type="alphaLcParen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tl val="0"/>
              </a:rPr>
              <a:t>Phosphate conditioning</a:t>
            </a:r>
          </a:p>
          <a:p>
            <a:pPr marL="457200" marR="0" lvl="0" indent="-457200" algn="just" defTabSz="914400" rtl="0" eaLnBrk="1" fontAlgn="auto" latinLnBrk="0" hangingPunct="1">
              <a:lnSpc>
                <a:spcPct val="100000"/>
              </a:lnSpc>
              <a:spcBef>
                <a:spcPts val="0"/>
              </a:spcBef>
              <a:spcAft>
                <a:spcPts val="1200"/>
              </a:spcAft>
              <a:buClrTx/>
              <a:buSzTx/>
              <a:buFont typeface="+mj-lt"/>
              <a:buAutoNum type="alphaLcParenR"/>
              <a:tabLst/>
              <a:defRPr/>
            </a:pPr>
            <a:r>
              <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sym typeface="Arial"/>
                <a:rtl val="0"/>
              </a:rPr>
              <a:t>Calgon conditioning</a:t>
            </a:r>
          </a:p>
        </p:txBody>
      </p:sp>
      <p:sp>
        <p:nvSpPr>
          <p:cNvPr id="2" name="Star: 5 Points 1">
            <a:extLst>
              <a:ext uri="{FF2B5EF4-FFF2-40B4-BE49-F238E27FC236}">
                <a16:creationId xmlns:a16="http://schemas.microsoft.com/office/drawing/2014/main" id="{E9A23E0B-2066-24F7-0CF1-BA6F69E7BD0B}"/>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18306876"/>
      </p:ext>
    </p:extLst>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35706757-75F9-44B7-AC33-D486B8078B0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Internal treatment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Shape 69">
            <a:extLst>
              <a:ext uri="{FF2B5EF4-FFF2-40B4-BE49-F238E27FC236}">
                <a16:creationId xmlns:a16="http://schemas.microsoft.com/office/drawing/2014/main" id="{E173C1E7-5091-4019-AD0B-0D764C84AB63}"/>
              </a:ext>
            </a:extLst>
          </p:cNvPr>
          <p:cNvSpPr txBox="1"/>
          <p:nvPr/>
        </p:nvSpPr>
        <p:spPr>
          <a:xfrm>
            <a:off x="764589" y="1314573"/>
            <a:ext cx="11427411"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 Colloidal treatment</a:t>
            </a:r>
            <a:endParaRPr lang="en-US"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5564416-C9C3-4B03-867D-20A3F1F525A0}"/>
              </a:ext>
            </a:extLst>
          </p:cNvPr>
          <p:cNvSpPr/>
          <p:nvPr/>
        </p:nvSpPr>
        <p:spPr>
          <a:xfrm>
            <a:off x="1205385" y="2044686"/>
            <a:ext cx="9781229" cy="2246769"/>
          </a:xfrm>
          <a:prstGeom prst="rect">
            <a:avLst/>
          </a:prstGeom>
        </p:spPr>
        <p:txBody>
          <a:bodyPr wrap="square">
            <a:spAutoFit/>
          </a:bodyPr>
          <a:lstStyle/>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This treatment involves addition of </a:t>
            </a:r>
            <a:r>
              <a:rPr lang="en-US" sz="2000" b="1" dirty="0">
                <a:latin typeface="Calibri" panose="020F0502020204030204" pitchFamily="34" charset="0"/>
                <a:ea typeface="Calibri" panose="020F0502020204030204" pitchFamily="34" charset="0"/>
                <a:cs typeface="Times New Roman" panose="02020603050405020304" pitchFamily="18" charset="0"/>
              </a:rPr>
              <a:t>conditioning agents</a:t>
            </a:r>
            <a:r>
              <a:rPr lang="en-US" sz="2000" dirty="0">
                <a:latin typeface="Calibri" panose="020F0502020204030204" pitchFamily="34" charset="0"/>
                <a:ea typeface="Calibri" panose="020F0502020204030204" pitchFamily="34" charset="0"/>
                <a:cs typeface="Times New Roman" panose="02020603050405020304" pitchFamily="18" charset="0"/>
              </a:rPr>
              <a:t> such as glue, seaweed extract, agar-agar, tannin to the boiler water. </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The residual precipitates get surrounded by molecules of the conditioning agents and effectively maintains </a:t>
            </a:r>
            <a:r>
              <a:rPr lang="en-US" sz="2000" b="1" dirty="0">
                <a:latin typeface="Calibri" panose="020F0502020204030204" pitchFamily="34" charset="0"/>
                <a:ea typeface="Calibri" panose="020F0502020204030204" pitchFamily="34" charset="0"/>
                <a:cs typeface="Times New Roman" panose="02020603050405020304" pitchFamily="18" charset="0"/>
              </a:rPr>
              <a:t>non-sticky colloidal</a:t>
            </a:r>
            <a:r>
              <a:rPr lang="en-US" sz="2000" dirty="0">
                <a:latin typeface="Calibri" panose="020F0502020204030204" pitchFamily="34" charset="0"/>
                <a:ea typeface="Calibri" panose="020F0502020204030204" pitchFamily="34" charset="0"/>
                <a:cs typeface="Times New Roman" panose="02020603050405020304" pitchFamily="18" charset="0"/>
              </a:rPr>
              <a:t> state. </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Once colloidal solution become concentrated, the colloids may be easily </a:t>
            </a:r>
            <a:r>
              <a:rPr lang="en-US" sz="2000" b="1" dirty="0">
                <a:latin typeface="Calibri" panose="020F0502020204030204" pitchFamily="34" charset="0"/>
                <a:ea typeface="Calibri" panose="020F0502020204030204" pitchFamily="34" charset="0"/>
                <a:cs typeface="Times New Roman" panose="02020603050405020304" pitchFamily="18" charset="0"/>
              </a:rPr>
              <a:t>removed by blow-down operation</a:t>
            </a:r>
            <a:r>
              <a:rPr lang="en-US" sz="2000" dirty="0">
                <a:latin typeface="Calibri" panose="020F0502020204030204" pitchFamily="34" charset="0"/>
                <a:ea typeface="Calibri" panose="020F0502020204030204" pitchFamily="34" charset="0"/>
                <a:cs typeface="Times New Roman" panose="02020603050405020304" pitchFamily="18" charset="0"/>
              </a:rPr>
              <a:t>.</a:t>
            </a:r>
          </a:p>
        </p:txBody>
      </p:sp>
      <p:sp>
        <p:nvSpPr>
          <p:cNvPr id="2" name="Star: 5 Points 1">
            <a:extLst>
              <a:ext uri="{FF2B5EF4-FFF2-40B4-BE49-F238E27FC236}">
                <a16:creationId xmlns:a16="http://schemas.microsoft.com/office/drawing/2014/main" id="{9513E962-2C44-98D7-6F88-3E1E2DDC9C48}"/>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27115940"/>
      </p:ext>
    </p:extLst>
  </p:cSld>
  <p:clrMapOvr>
    <a:masterClrMapping/>
  </p:clrMapOvr>
  <p:transition spd="slow">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F5015D85-D3C0-4DE3-A75F-30E57B51977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Internal treatment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Shape 69">
            <a:extLst>
              <a:ext uri="{FF2B5EF4-FFF2-40B4-BE49-F238E27FC236}">
                <a16:creationId xmlns:a16="http://schemas.microsoft.com/office/drawing/2014/main" id="{839312CE-12B1-403E-B08D-ADAB075BE9BA}"/>
              </a:ext>
            </a:extLst>
          </p:cNvPr>
          <p:cNvSpPr txBox="1"/>
          <p:nvPr/>
        </p:nvSpPr>
        <p:spPr>
          <a:xfrm>
            <a:off x="324650" y="684428"/>
            <a:ext cx="8379600"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b) Phosphate conditioning</a:t>
            </a:r>
          </a:p>
        </p:txBody>
      </p:sp>
      <p:sp>
        <p:nvSpPr>
          <p:cNvPr id="9" name="Rectangle 8">
            <a:extLst>
              <a:ext uri="{FF2B5EF4-FFF2-40B4-BE49-F238E27FC236}">
                <a16:creationId xmlns:a16="http://schemas.microsoft.com/office/drawing/2014/main" id="{380A40B6-E827-44D1-8746-34F46301F283}"/>
              </a:ext>
            </a:extLst>
          </p:cNvPr>
          <p:cNvSpPr/>
          <p:nvPr/>
        </p:nvSpPr>
        <p:spPr>
          <a:xfrm>
            <a:off x="324650" y="1174238"/>
            <a:ext cx="11385268" cy="3862596"/>
          </a:xfrm>
          <a:prstGeom prst="rect">
            <a:avLst/>
          </a:prstGeom>
        </p:spPr>
        <p:txBody>
          <a:bodyPr wrap="square">
            <a:spAutoFit/>
          </a:bodyPr>
          <a:lstStyle/>
          <a:p>
            <a:pPr lvl="0" algn="just">
              <a:spcAft>
                <a:spcPts val="1800"/>
              </a:spcAft>
            </a:pPr>
            <a:r>
              <a:rPr lang="en-US" sz="2000" dirty="0">
                <a:latin typeface="Calibri" panose="020F0502020204030204" pitchFamily="34" charset="0"/>
                <a:ea typeface="Calibri" panose="020F0502020204030204" pitchFamily="34" charset="0"/>
                <a:cs typeface="Times New Roman" panose="02020603050405020304" pitchFamily="18" charset="0"/>
              </a:rPr>
              <a:t>Scale formation can be avoided by </a:t>
            </a:r>
            <a:r>
              <a:rPr lang="en-US" sz="2000" b="1" dirty="0">
                <a:latin typeface="Calibri" panose="020F0502020204030204" pitchFamily="34" charset="0"/>
                <a:ea typeface="Calibri" panose="020F0502020204030204" pitchFamily="34" charset="0"/>
                <a:cs typeface="Times New Roman" panose="02020603050405020304" pitchFamily="18" charset="0"/>
              </a:rPr>
              <a:t>adding sodium phosphate </a:t>
            </a:r>
            <a:r>
              <a:rPr lang="en-US" sz="2000" dirty="0">
                <a:latin typeface="Calibri" panose="020F0502020204030204" pitchFamily="34" charset="0"/>
                <a:ea typeface="Calibri" panose="020F0502020204030204" pitchFamily="34" charset="0"/>
                <a:cs typeface="Times New Roman" panose="02020603050405020304" pitchFamily="18" charset="0"/>
              </a:rPr>
              <a:t>which reacts with hardness of water forming non-adherent and easily removable </a:t>
            </a:r>
            <a:r>
              <a:rPr lang="en-US" sz="2000" b="1" dirty="0">
                <a:latin typeface="Calibri" panose="020F0502020204030204" pitchFamily="34" charset="0"/>
                <a:ea typeface="Calibri" panose="020F0502020204030204" pitchFamily="34" charset="0"/>
                <a:cs typeface="Times New Roman" panose="02020603050405020304" pitchFamily="18" charset="0"/>
              </a:rPr>
              <a:t>soft sludge </a:t>
            </a:r>
            <a:r>
              <a:rPr lang="en-US" sz="2000" dirty="0">
                <a:latin typeface="Calibri" panose="020F0502020204030204" pitchFamily="34" charset="0"/>
                <a:ea typeface="Calibri" panose="020F0502020204030204" pitchFamily="34" charset="0"/>
                <a:cs typeface="Times New Roman" panose="02020603050405020304" pitchFamily="18" charset="0"/>
              </a:rPr>
              <a:t>of calcium and magnesium phosphate.</a:t>
            </a:r>
          </a:p>
          <a:p>
            <a:pPr lvl="0" algn="ctr">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3CaCl</a:t>
            </a:r>
            <a:r>
              <a:rPr lang="en-US" sz="2000" baseline="-25000" dirty="0">
                <a:latin typeface="Calibri" panose="020F0502020204030204" pitchFamily="34" charset="0"/>
                <a:ea typeface="Calibri" panose="020F0502020204030204" pitchFamily="34" charset="0"/>
                <a:cs typeface="Times New Roman" panose="02020603050405020304" pitchFamily="18" charset="0"/>
              </a:rPr>
              <a:t>2</a:t>
            </a:r>
            <a:r>
              <a:rPr lang="en-US" sz="2000" dirty="0">
                <a:latin typeface="Calibri" panose="020F0502020204030204" pitchFamily="34" charset="0"/>
                <a:ea typeface="Calibri" panose="020F0502020204030204" pitchFamily="34" charset="0"/>
                <a:cs typeface="Times New Roman" panose="02020603050405020304" pitchFamily="18" charset="0"/>
              </a:rPr>
              <a:t> + 2Na</a:t>
            </a:r>
            <a:r>
              <a:rPr lang="en-US" sz="2000" baseline="-25000" dirty="0">
                <a:latin typeface="Calibri" panose="020F0502020204030204" pitchFamily="34" charset="0"/>
                <a:ea typeface="Calibri" panose="020F0502020204030204" pitchFamily="34" charset="0"/>
                <a:cs typeface="Times New Roman" panose="02020603050405020304" pitchFamily="18" charset="0"/>
              </a:rPr>
              <a:t>3</a:t>
            </a:r>
            <a:r>
              <a:rPr lang="en-US" sz="2000" dirty="0">
                <a:latin typeface="Calibri" panose="020F0502020204030204" pitchFamily="34" charset="0"/>
                <a:ea typeface="Calibri" panose="020F0502020204030204" pitchFamily="34" charset="0"/>
                <a:cs typeface="Times New Roman" panose="02020603050405020304" pitchFamily="18" charset="0"/>
              </a:rPr>
              <a:t>PO</a:t>
            </a:r>
            <a:r>
              <a:rPr lang="en-US" sz="2000" baseline="-25000" dirty="0">
                <a:latin typeface="Calibri" panose="020F0502020204030204" pitchFamily="34" charset="0"/>
                <a:ea typeface="Calibri" panose="020F0502020204030204" pitchFamily="34" charset="0"/>
                <a:cs typeface="Times New Roman" panose="02020603050405020304" pitchFamily="18" charset="0"/>
              </a:rPr>
              <a:t>4</a:t>
            </a:r>
            <a:r>
              <a:rPr lang="en-US" sz="2000" dirty="0">
                <a:latin typeface="Calibri" panose="020F0502020204030204" pitchFamily="34" charset="0"/>
                <a:ea typeface="Calibri" panose="020F0502020204030204" pitchFamily="34" charset="0"/>
                <a:cs typeface="Times New Roman" panose="02020603050405020304" pitchFamily="18" charset="0"/>
              </a:rPr>
              <a:t> </a:t>
            </a:r>
            <a:r>
              <a:rPr lang="en-US"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US" sz="2000" dirty="0">
                <a:latin typeface="Calibri" panose="020F0502020204030204" pitchFamily="34" charset="0"/>
                <a:ea typeface="Calibri" panose="020F0502020204030204" pitchFamily="34" charset="0"/>
                <a:cs typeface="Times New Roman" panose="02020603050405020304" pitchFamily="18" charset="0"/>
              </a:rPr>
              <a:t>Ca</a:t>
            </a:r>
            <a:r>
              <a:rPr lang="en-US" sz="2000" baseline="-25000" dirty="0">
                <a:latin typeface="Calibri" panose="020F0502020204030204" pitchFamily="34" charset="0"/>
                <a:ea typeface="Calibri" panose="020F0502020204030204" pitchFamily="34" charset="0"/>
                <a:cs typeface="Times New Roman" panose="02020603050405020304" pitchFamily="18" charset="0"/>
              </a:rPr>
              <a:t>3</a:t>
            </a:r>
            <a:r>
              <a:rPr lang="en-US" sz="2000" dirty="0">
                <a:latin typeface="Calibri" panose="020F0502020204030204" pitchFamily="34" charset="0"/>
                <a:ea typeface="Calibri" panose="020F0502020204030204" pitchFamily="34" charset="0"/>
                <a:cs typeface="Times New Roman" panose="02020603050405020304" pitchFamily="18" charset="0"/>
              </a:rPr>
              <a:t>(PO</a:t>
            </a:r>
            <a:r>
              <a:rPr lang="en-US" sz="2000" baseline="-25000" dirty="0">
                <a:latin typeface="Calibri" panose="020F0502020204030204" pitchFamily="34" charset="0"/>
                <a:ea typeface="Calibri" panose="020F0502020204030204" pitchFamily="34" charset="0"/>
                <a:cs typeface="Times New Roman" panose="02020603050405020304" pitchFamily="18" charset="0"/>
              </a:rPr>
              <a:t>4</a:t>
            </a:r>
            <a:r>
              <a:rPr lang="en-US" sz="2000" dirty="0">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latin typeface="Calibri" panose="020F0502020204030204" pitchFamily="34" charset="0"/>
                <a:ea typeface="Calibri" panose="020F0502020204030204" pitchFamily="34" charset="0"/>
                <a:cs typeface="Times New Roman" panose="02020603050405020304" pitchFamily="18" charset="0"/>
              </a:rPr>
              <a:t>2</a:t>
            </a:r>
            <a:r>
              <a:rPr lang="en-US" sz="2000" dirty="0">
                <a:latin typeface="Calibri" panose="020F0502020204030204" pitchFamily="34" charset="0"/>
                <a:ea typeface="Calibri" panose="020F0502020204030204" pitchFamily="34" charset="0"/>
                <a:cs typeface="Times New Roman" panose="02020603050405020304" pitchFamily="18" charset="0"/>
              </a:rPr>
              <a:t> + 6NaCl</a:t>
            </a:r>
          </a:p>
          <a:p>
            <a:pPr lvl="0" algn="just">
              <a:spcAft>
                <a:spcPts val="1200"/>
              </a:spcAft>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US" sz="2000" dirty="0">
                <a:latin typeface="Calibri" panose="020F0502020204030204" pitchFamily="34" charset="0"/>
                <a:ea typeface="Calibri" panose="020F0502020204030204" pitchFamily="34" charset="0"/>
                <a:cs typeface="Times New Roman" panose="02020603050405020304" pitchFamily="18" charset="0"/>
              </a:rPr>
              <a:t>The </a:t>
            </a:r>
            <a:r>
              <a:rPr lang="en-US" sz="2000" b="1" dirty="0">
                <a:latin typeface="Calibri" panose="020F0502020204030204" pitchFamily="34" charset="0"/>
                <a:ea typeface="Calibri" panose="020F0502020204030204" pitchFamily="34" charset="0"/>
                <a:cs typeface="Times New Roman" panose="02020603050405020304" pitchFamily="18" charset="0"/>
              </a:rPr>
              <a:t>choice of salt depends upon the alkalinity </a:t>
            </a:r>
            <a:r>
              <a:rPr lang="en-US" sz="2000" dirty="0">
                <a:latin typeface="Calibri" panose="020F0502020204030204" pitchFamily="34" charset="0"/>
                <a:ea typeface="Calibri" panose="020F0502020204030204" pitchFamily="34" charset="0"/>
                <a:cs typeface="Times New Roman" panose="02020603050405020304" pitchFamily="18" charset="0"/>
              </a:rPr>
              <a:t>of the boiled water because </a:t>
            </a:r>
            <a:r>
              <a:rPr lang="en-US" sz="2000" u="sng" dirty="0">
                <a:latin typeface="Calibri" panose="020F0502020204030204" pitchFamily="34" charset="0"/>
                <a:ea typeface="Calibri" panose="020F0502020204030204" pitchFamily="34" charset="0"/>
                <a:cs typeface="Times New Roman" panose="02020603050405020304" pitchFamily="18" charset="0"/>
              </a:rPr>
              <a:t>calcium cannot be precipitated below a pH 9.5</a:t>
            </a:r>
            <a:r>
              <a:rPr lang="en-US" sz="2000" dirty="0">
                <a:latin typeface="Calibri" panose="020F050202020403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Tri</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sodium phosphate (</a:t>
            </a:r>
            <a:r>
              <a:rPr lang="en-US" sz="2000" dirty="0">
                <a:latin typeface="Calibri" panose="020F0502020204030204" pitchFamily="34" charset="0"/>
                <a:ea typeface="Calibri" panose="020F0502020204030204" pitchFamily="34" charset="0"/>
                <a:cs typeface="Times New Roman" panose="02020603050405020304" pitchFamily="18" charset="0"/>
              </a:rPr>
              <a:t>Na</a:t>
            </a:r>
            <a:r>
              <a:rPr lang="en-US" sz="2000" baseline="-25000" dirty="0">
                <a:latin typeface="Calibri" panose="020F0502020204030204" pitchFamily="34" charset="0"/>
                <a:ea typeface="Calibri" panose="020F0502020204030204" pitchFamily="34" charset="0"/>
                <a:cs typeface="Times New Roman" panose="02020603050405020304" pitchFamily="18" charset="0"/>
              </a:rPr>
              <a:t>3</a:t>
            </a:r>
            <a:r>
              <a:rPr lang="en-US" sz="2000" dirty="0">
                <a:latin typeface="Calibri" panose="020F0502020204030204" pitchFamily="34" charset="0"/>
                <a:ea typeface="Calibri" panose="020F0502020204030204" pitchFamily="34" charset="0"/>
                <a:cs typeface="Times New Roman" panose="02020603050405020304" pitchFamily="18" charset="0"/>
              </a:rPr>
              <a:t>PO</a:t>
            </a:r>
            <a:r>
              <a:rPr lang="en-US" sz="2000" baseline="-25000" dirty="0">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most suitable for treatment when alkalinity is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low</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1200"/>
              </a:spcAft>
              <a:buFont typeface="Arial" panose="020B0604020202020204" pitchFamily="34" charset="0"/>
              <a:buChar char="•"/>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Di</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sodium phosphate (</a:t>
            </a:r>
            <a:r>
              <a:rPr lang="en-US" sz="2000" dirty="0">
                <a:latin typeface="Calibri" panose="020F0502020204030204" pitchFamily="34" charset="0"/>
                <a:ea typeface="Calibri" panose="020F0502020204030204" pitchFamily="34" charset="0"/>
                <a:cs typeface="Times New Roman" panose="02020603050405020304" pitchFamily="18" charset="0"/>
              </a:rPr>
              <a:t>Na</a:t>
            </a:r>
            <a:r>
              <a:rPr lang="en-US" sz="2000" baseline="-25000" dirty="0">
                <a:latin typeface="Calibri" panose="020F0502020204030204" pitchFamily="34" charset="0"/>
                <a:ea typeface="Calibri" panose="020F0502020204030204" pitchFamily="34" charset="0"/>
                <a:cs typeface="Times New Roman" panose="02020603050405020304" pitchFamily="18" charset="0"/>
              </a:rPr>
              <a:t>2</a:t>
            </a:r>
            <a:r>
              <a:rPr lang="en-US" sz="2000" dirty="0">
                <a:latin typeface="Calibri" panose="020F0502020204030204" pitchFamily="34" charset="0"/>
                <a:ea typeface="Calibri" panose="020F0502020204030204" pitchFamily="34" charset="0"/>
                <a:cs typeface="Times New Roman" panose="02020603050405020304" pitchFamily="18" charset="0"/>
              </a:rPr>
              <a:t>HPO</a:t>
            </a:r>
            <a:r>
              <a:rPr lang="en-US" sz="2000" baseline="-25000" dirty="0">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used when the water alkalinity is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sufficient</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spcAft>
                <a:spcPts val="1200"/>
              </a:spcAft>
              <a:buFont typeface="Arial" panose="020B0604020202020204" pitchFamily="34" charset="0"/>
              <a:buChar char="•"/>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Mono</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sodium phosphate (</a:t>
            </a:r>
            <a:r>
              <a:rPr lang="en-US" sz="2000" dirty="0">
                <a:latin typeface="Calibri" panose="020F0502020204030204" pitchFamily="34" charset="0"/>
                <a:ea typeface="Calibri" panose="020F0502020204030204" pitchFamily="34" charset="0"/>
                <a:cs typeface="Times New Roman" panose="02020603050405020304" pitchFamily="18" charset="0"/>
              </a:rPr>
              <a:t>NaH</a:t>
            </a:r>
            <a:r>
              <a:rPr lang="en-US" sz="2000" baseline="-25000" dirty="0">
                <a:latin typeface="Calibri" panose="020F0502020204030204" pitchFamily="34" charset="0"/>
                <a:ea typeface="Calibri" panose="020F0502020204030204" pitchFamily="34" charset="0"/>
                <a:cs typeface="Times New Roman" panose="02020603050405020304" pitchFamily="18" charset="0"/>
              </a:rPr>
              <a:t>2</a:t>
            </a:r>
            <a:r>
              <a:rPr lang="en-US" sz="2000" dirty="0">
                <a:latin typeface="Calibri" panose="020F0502020204030204" pitchFamily="34" charset="0"/>
                <a:ea typeface="Calibri" panose="020F0502020204030204" pitchFamily="34" charset="0"/>
                <a:cs typeface="Times New Roman" panose="02020603050405020304" pitchFamily="18" charset="0"/>
              </a:rPr>
              <a:t>PO</a:t>
            </a:r>
            <a:r>
              <a:rPr lang="en-US" sz="2000" baseline="-25000" dirty="0">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is used when the alkalinity of boiler water is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too high</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p>
        </p:txBody>
      </p:sp>
      <p:sp>
        <p:nvSpPr>
          <p:cNvPr id="2" name="Star: 5 Points 1">
            <a:extLst>
              <a:ext uri="{FF2B5EF4-FFF2-40B4-BE49-F238E27FC236}">
                <a16:creationId xmlns:a16="http://schemas.microsoft.com/office/drawing/2014/main" id="{B321D7C4-BC75-99E0-8743-F61B263CE336}"/>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233651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35706757-75F9-44B7-AC33-D486B8078B0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Internal treatment</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Shape 69">
            <a:extLst>
              <a:ext uri="{FF2B5EF4-FFF2-40B4-BE49-F238E27FC236}">
                <a16:creationId xmlns:a16="http://schemas.microsoft.com/office/drawing/2014/main" id="{54159DEC-A97D-4586-A6F5-C1B76FDF55AF}"/>
              </a:ext>
            </a:extLst>
          </p:cNvPr>
          <p:cNvSpPr txBox="1"/>
          <p:nvPr/>
        </p:nvSpPr>
        <p:spPr>
          <a:xfrm>
            <a:off x="324650" y="631510"/>
            <a:ext cx="8379600" cy="489810"/>
          </a:xfrm>
          <a:prstGeom prst="rect">
            <a:avLst/>
          </a:prstGeom>
          <a:noFill/>
          <a:ln>
            <a:noFill/>
          </a:ln>
        </p:spPr>
        <p:txBody>
          <a:bodyPr lIns="91425" tIns="91425" rIns="91425" bIns="91425" anchor="t" anchorCtr="0">
            <a:noAutofit/>
          </a:bodyPr>
          <a:lstStyle/>
          <a:p>
            <a:r>
              <a:rPr lang="en-US"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 Calgon conditioning:</a:t>
            </a:r>
          </a:p>
        </p:txBody>
      </p:sp>
      <p:sp>
        <p:nvSpPr>
          <p:cNvPr id="7" name="Rectangle 6">
            <a:extLst>
              <a:ext uri="{FF2B5EF4-FFF2-40B4-BE49-F238E27FC236}">
                <a16:creationId xmlns:a16="http://schemas.microsoft.com/office/drawing/2014/main" id="{119D6117-4D61-47CC-8050-7B9D47A046E0}"/>
              </a:ext>
            </a:extLst>
          </p:cNvPr>
          <p:cNvSpPr/>
          <p:nvPr/>
        </p:nvSpPr>
        <p:spPr>
          <a:xfrm>
            <a:off x="286116" y="1121320"/>
            <a:ext cx="11581234" cy="2246769"/>
          </a:xfrm>
          <a:prstGeom prst="rect">
            <a:avLst/>
          </a:prstGeom>
        </p:spPr>
        <p:txBody>
          <a:bodyPr wrap="square">
            <a:spAutoFit/>
          </a:bodyPr>
          <a:lstStyle/>
          <a:p>
            <a:pPr lvl="0" algn="just">
              <a:spcAft>
                <a:spcPts val="1800"/>
              </a:spcAft>
            </a:pPr>
            <a:r>
              <a:rPr lang="en-IN" sz="2000" dirty="0">
                <a:latin typeface="Calibri" panose="020F0502020204030204" pitchFamily="34" charset="0"/>
                <a:ea typeface="Calibri" panose="020F0502020204030204" pitchFamily="34" charset="0"/>
                <a:cs typeface="Times New Roman" panose="02020603050405020304" pitchFamily="18" charset="0"/>
              </a:rPr>
              <a:t>It involves adding </a:t>
            </a:r>
            <a:r>
              <a:rPr lang="en-IN" sz="2000" b="1" dirty="0" err="1">
                <a:latin typeface="Calibri" panose="020F0502020204030204" pitchFamily="34" charset="0"/>
                <a:ea typeface="Calibri" panose="020F0502020204030204" pitchFamily="34" charset="0"/>
                <a:cs typeface="Times New Roman" panose="02020603050405020304" pitchFamily="18" charset="0"/>
              </a:rPr>
              <a:t>calgon</a:t>
            </a:r>
            <a:r>
              <a:rPr lang="en-IN" sz="2000" dirty="0">
                <a:latin typeface="Calibri" panose="020F0502020204030204" pitchFamily="34" charset="0"/>
                <a:ea typeface="Calibri" panose="020F0502020204030204" pitchFamily="34" charset="0"/>
                <a:cs typeface="Times New Roman" panose="02020603050405020304" pitchFamily="18" charset="0"/>
              </a:rPr>
              <a:t> - Sodium hexa-meta phosphate </a:t>
            </a:r>
            <a:r>
              <a:rPr lang="en-IN" sz="2000" b="1" dirty="0">
                <a:latin typeface="Calibri" panose="020F0502020204030204" pitchFamily="34" charset="0"/>
                <a:ea typeface="Calibri" panose="020F0502020204030204" pitchFamily="34" charset="0"/>
                <a:cs typeface="Times New Roman" panose="02020603050405020304" pitchFamily="18" charset="0"/>
              </a:rPr>
              <a:t>(NaPO</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b="1" dirty="0">
                <a:latin typeface="Calibri" panose="020F0502020204030204" pitchFamily="34" charset="0"/>
                <a:ea typeface="Calibri" panose="020F0502020204030204" pitchFamily="34" charset="0"/>
                <a:cs typeface="Times New Roman" panose="02020603050405020304" pitchFamily="18" charset="0"/>
              </a:rPr>
              <a:t>)</a:t>
            </a:r>
            <a:r>
              <a:rPr lang="en-IN" sz="2000" b="1"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 to boiler water. It prevents the scale and sludge formation by forming soluble complex compound with CaSO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dirty="0">
                <a:latin typeface="Calibri" panose="020F0502020204030204" pitchFamily="34" charset="0"/>
                <a:ea typeface="Calibri" panose="020F0502020204030204" pitchFamily="34" charset="0"/>
                <a:cs typeface="Times New Roman" panose="02020603050405020304" pitchFamily="18" charset="0"/>
              </a:rPr>
              <a:t>.</a:t>
            </a:r>
          </a:p>
          <a:p>
            <a:pPr lvl="0" algn="ctr">
              <a:spcAft>
                <a:spcPts val="1800"/>
              </a:spcAft>
            </a:pPr>
            <a:r>
              <a:rPr lang="en-IN" sz="2000" dirty="0">
                <a:latin typeface="Calibri" panose="020F0502020204030204" pitchFamily="34" charset="0"/>
                <a:ea typeface="Calibri" panose="020F0502020204030204" pitchFamily="34" charset="0"/>
                <a:cs typeface="Times New Roman" panose="02020603050405020304" pitchFamily="18" charset="0"/>
              </a:rPr>
              <a:t>[Na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(PO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3</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IN" sz="2000"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a:latin typeface="Calibri" panose="020F0502020204030204" pitchFamily="34" charset="0"/>
                <a:ea typeface="Calibri" panose="020F0502020204030204" pitchFamily="34" charset="0"/>
                <a:cs typeface="Times New Roman" panose="02020603050405020304" pitchFamily="18" charset="0"/>
              </a:rPr>
              <a:t>2 Na</a:t>
            </a:r>
            <a:r>
              <a:rPr lang="en-IN" sz="2000" baseline="30000" dirty="0">
                <a:latin typeface="Calibri" panose="020F0502020204030204" pitchFamily="34" charset="0"/>
                <a:ea typeface="Calibri" panose="020F0502020204030204" pitchFamily="34" charset="0"/>
                <a:cs typeface="Times New Roman" panose="02020603050405020304" pitchFamily="18" charset="0"/>
              </a:rPr>
              <a:t>+</a:t>
            </a:r>
            <a:r>
              <a:rPr lang="en-IN" sz="2000" dirty="0">
                <a:latin typeface="Calibri" panose="020F0502020204030204" pitchFamily="34" charset="0"/>
                <a:ea typeface="Calibri" panose="020F0502020204030204" pitchFamily="34" charset="0"/>
                <a:cs typeface="Times New Roman" panose="02020603050405020304" pitchFamily="18" charset="0"/>
              </a:rPr>
              <a:t>   + [Na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dirty="0">
                <a:latin typeface="Calibri" panose="020F0502020204030204" pitchFamily="34" charset="0"/>
                <a:ea typeface="Calibri" panose="020F0502020204030204" pitchFamily="34" charset="0"/>
                <a:cs typeface="Times New Roman" panose="02020603050405020304" pitchFamily="18" charset="0"/>
              </a:rPr>
              <a:t>P</a:t>
            </a:r>
            <a:r>
              <a:rPr lang="en-IN" sz="2000"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18</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p>
          <a:p>
            <a:pPr lvl="0" algn="ctr">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2 CaSO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dirty="0">
                <a:latin typeface="Calibri" panose="020F0502020204030204" pitchFamily="34" charset="0"/>
                <a:ea typeface="Calibri" panose="020F0502020204030204" pitchFamily="34" charset="0"/>
                <a:cs typeface="Times New Roman" panose="02020603050405020304" pitchFamily="18" charset="0"/>
              </a:rPr>
              <a:t> + [Na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r>
              <a:rPr lang="en-IN" sz="2000" dirty="0">
                <a:latin typeface="Calibri" panose="020F0502020204030204" pitchFamily="34" charset="0"/>
                <a:ea typeface="Calibri" panose="020F0502020204030204" pitchFamily="34" charset="0"/>
                <a:cs typeface="Times New Roman" panose="02020603050405020304" pitchFamily="18" charset="0"/>
              </a:rPr>
              <a:t>P</a:t>
            </a:r>
            <a:r>
              <a:rPr lang="en-IN" sz="2000"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18</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dirty="0">
                <a:latin typeface="Calibri" panose="020F0502020204030204" pitchFamily="34" charset="0"/>
                <a:ea typeface="Calibri" panose="020F0502020204030204" pitchFamily="34" charset="0"/>
                <a:cs typeface="Times New Roman" panose="02020603050405020304" pitchFamily="18" charset="0"/>
              </a:rPr>
              <a:t>[Ca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P</a:t>
            </a:r>
            <a:r>
              <a:rPr lang="en-IN" sz="2000" baseline="-25000" dirty="0">
                <a:latin typeface="Calibri" panose="020F0502020204030204" pitchFamily="34" charset="0"/>
                <a:ea typeface="Calibri" panose="020F0502020204030204" pitchFamily="34" charset="0"/>
                <a:cs typeface="Times New Roman" panose="02020603050405020304" pitchFamily="18" charset="0"/>
              </a:rPr>
              <a:t>6</a:t>
            </a:r>
            <a:r>
              <a:rPr lang="en-IN" sz="2000" dirty="0">
                <a:latin typeface="Calibri" panose="020F0502020204030204" pitchFamily="34" charset="0"/>
                <a:ea typeface="Calibri" panose="020F0502020204030204" pitchFamily="34" charset="0"/>
                <a:cs typeface="Times New Roman" panose="02020603050405020304" pitchFamily="18" charset="0"/>
              </a:rPr>
              <a:t>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18</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IN" sz="2000" baseline="30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   + 2 Na</a:t>
            </a:r>
            <a:r>
              <a:rPr lang="en-IN" sz="2000" baseline="-25000" dirty="0">
                <a:latin typeface="Calibri" panose="020F0502020204030204" pitchFamily="34" charset="0"/>
                <a:ea typeface="Calibri" panose="020F0502020204030204" pitchFamily="34" charset="0"/>
                <a:cs typeface="Times New Roman" panose="02020603050405020304" pitchFamily="18" charset="0"/>
              </a:rPr>
              <a:t>2</a:t>
            </a:r>
            <a:r>
              <a:rPr lang="en-IN" sz="2000" dirty="0">
                <a:latin typeface="Calibri" panose="020F0502020204030204" pitchFamily="34" charset="0"/>
                <a:ea typeface="Calibri" panose="020F0502020204030204" pitchFamily="34" charset="0"/>
                <a:cs typeface="Times New Roman" panose="02020603050405020304" pitchFamily="18" charset="0"/>
              </a:rPr>
              <a:t>SO</a:t>
            </a:r>
            <a:r>
              <a:rPr lang="en-IN" sz="2000" baseline="-25000" dirty="0">
                <a:latin typeface="Calibri" panose="020F0502020204030204" pitchFamily="34" charset="0"/>
                <a:ea typeface="Calibri" panose="020F0502020204030204" pitchFamily="34" charset="0"/>
                <a:cs typeface="Times New Roman" panose="02020603050405020304" pitchFamily="18" charset="0"/>
              </a:rPr>
              <a:t>4</a:t>
            </a:r>
          </a:p>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                                                                                           soluble complex ion</a:t>
            </a:r>
          </a:p>
        </p:txBody>
      </p:sp>
      <p:pic>
        <p:nvPicPr>
          <p:cNvPr id="9" name="Picture 6" descr="C:\Users\arunavaa\Desktop\200px-Sodium_hexametaphosphate.png">
            <a:extLst>
              <a:ext uri="{FF2B5EF4-FFF2-40B4-BE49-F238E27FC236}">
                <a16:creationId xmlns:a16="http://schemas.microsoft.com/office/drawing/2014/main" id="{B8CC6BAE-353C-41FD-BB44-65DD0F65D73B}"/>
              </a:ext>
            </a:extLst>
          </p:cNvPr>
          <p:cNvPicPr>
            <a:picLocks noChangeAspect="1" noChangeArrowheads="1"/>
          </p:cNvPicPr>
          <p:nvPr/>
        </p:nvPicPr>
        <p:blipFill>
          <a:blip r:embed="rId4"/>
          <a:srcRect/>
          <a:stretch>
            <a:fillRect/>
          </a:stretch>
        </p:blipFill>
        <p:spPr bwMode="auto">
          <a:xfrm>
            <a:off x="4226501" y="3745949"/>
            <a:ext cx="3700463" cy="2368550"/>
          </a:xfrm>
          <a:prstGeom prst="rect">
            <a:avLst/>
          </a:prstGeom>
          <a:noFill/>
          <a:ln w="9525">
            <a:noFill/>
            <a:miter lim="800000"/>
            <a:headEnd/>
            <a:tailEnd/>
          </a:ln>
        </p:spPr>
      </p:pic>
      <p:sp>
        <p:nvSpPr>
          <p:cNvPr id="2" name="Star: 5 Points 1">
            <a:extLst>
              <a:ext uri="{FF2B5EF4-FFF2-40B4-BE49-F238E27FC236}">
                <a16:creationId xmlns:a16="http://schemas.microsoft.com/office/drawing/2014/main" id="{FF1B777D-123E-9AB8-BE88-8F71611F64AB}"/>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5367209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033C3C-1338-F344-890F-A7A999742CC6}"/>
              </a:ext>
            </a:extLst>
          </p:cNvPr>
          <p:cNvSpPr>
            <a:spLocks noGrp="1"/>
          </p:cNvSpPr>
          <p:nvPr>
            <p:ph type="ftr" sz="quarter" idx="11"/>
          </p:nvPr>
        </p:nvSpPr>
        <p:spPr/>
        <p:txBody>
          <a:bodyPr/>
          <a:lstStyle/>
          <a:p>
            <a:pPr>
              <a:defRPr/>
            </a:pPr>
            <a:endParaRPr lang="en-US"/>
          </a:p>
        </p:txBody>
      </p:sp>
      <p:sp>
        <p:nvSpPr>
          <p:cNvPr id="4" name="TextBox 3">
            <a:extLst>
              <a:ext uri="{FF2B5EF4-FFF2-40B4-BE49-F238E27FC236}">
                <a16:creationId xmlns:a16="http://schemas.microsoft.com/office/drawing/2014/main" id="{D3FBF956-F1A6-DE2A-0251-C8BD1E43CF89}"/>
              </a:ext>
            </a:extLst>
          </p:cNvPr>
          <p:cNvSpPr txBox="1"/>
          <p:nvPr/>
        </p:nvSpPr>
        <p:spPr>
          <a:xfrm>
            <a:off x="3383280" y="2823936"/>
            <a:ext cx="5107488" cy="769441"/>
          </a:xfrm>
          <a:prstGeom prst="rect">
            <a:avLst/>
          </a:prstGeom>
          <a:noFill/>
        </p:spPr>
        <p:txBody>
          <a:bodyPr wrap="none" rtlCol="0">
            <a:spAutoFit/>
          </a:bodyPr>
          <a:lstStyle/>
          <a:p>
            <a:r>
              <a:rPr lang="en-US" sz="4400" b="1" dirty="0">
                <a:solidFill>
                  <a:schemeClr val="accent6"/>
                </a:solidFill>
              </a:rPr>
              <a:t>END OF LECTURE</a:t>
            </a:r>
          </a:p>
        </p:txBody>
      </p:sp>
    </p:spTree>
    <p:extLst>
      <p:ext uri="{BB962C8B-B14F-4D97-AF65-F5344CB8AC3E}">
        <p14:creationId xmlns:p14="http://schemas.microsoft.com/office/powerpoint/2010/main" val="21586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3" name="TextBox 2">
            <a:extLst>
              <a:ext uri="{FF2B5EF4-FFF2-40B4-BE49-F238E27FC236}">
                <a16:creationId xmlns:a16="http://schemas.microsoft.com/office/drawing/2014/main" id="{D3739221-FFED-FBD0-7C18-0CCEF99ED33E}"/>
              </a:ext>
            </a:extLst>
          </p:cNvPr>
          <p:cNvSpPr txBox="1"/>
          <p:nvPr/>
        </p:nvSpPr>
        <p:spPr>
          <a:xfrm>
            <a:off x="834390" y="1619466"/>
            <a:ext cx="10348722" cy="2456506"/>
          </a:xfrm>
          <a:prstGeom prst="rect">
            <a:avLst/>
          </a:prstGeom>
          <a:noFill/>
        </p:spPr>
        <p:txBody>
          <a:bodyPr wrap="square">
            <a:spAutoFit/>
          </a:bodyPr>
          <a:lstStyle/>
          <a:p>
            <a:pPr algn="ctr">
              <a:lnSpc>
                <a:spcPct val="150000"/>
              </a:lnSpc>
            </a:pPr>
            <a:r>
              <a:rPr lang="en" sz="5400" b="1" dirty="0">
                <a:solidFill>
                  <a:schemeClr val="accent6"/>
                </a:solidFill>
                <a:latin typeface="Calibri" panose="020F0502020204030204" pitchFamily="34" charset="0"/>
                <a:sym typeface="Cambria"/>
              </a:rPr>
              <a:t>Practice</a:t>
            </a:r>
          </a:p>
          <a:p>
            <a:pPr algn="ctr">
              <a:lnSpc>
                <a:spcPct val="150000"/>
              </a:lnSpc>
            </a:pPr>
            <a:r>
              <a:rPr lang="en" sz="5400" b="1" dirty="0">
                <a:solidFill>
                  <a:schemeClr val="accent6"/>
                </a:solidFill>
                <a:latin typeface="Calibri" panose="020F0502020204030204" pitchFamily="34" charset="0"/>
                <a:sym typeface="Cambria"/>
              </a:rPr>
              <a:t>Numericals Related to Hard Water </a:t>
            </a:r>
          </a:p>
        </p:txBody>
      </p:sp>
    </p:spTree>
    <p:extLst>
      <p:ext uri="{BB962C8B-B14F-4D97-AF65-F5344CB8AC3E}">
        <p14:creationId xmlns:p14="http://schemas.microsoft.com/office/powerpoint/2010/main" val="843687599"/>
      </p:ext>
    </p:extLst>
  </p:cSld>
  <p:clrMapOvr>
    <a:masterClrMapping/>
  </p:clrMapOvr>
  <p:transition spd="slow">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D0C7D1-8B75-4EB3-8046-9F6D80B16362}"/>
              </a:ext>
            </a:extLst>
          </p:cNvPr>
          <p:cNvSpPr txBox="1"/>
          <p:nvPr/>
        </p:nvSpPr>
        <p:spPr>
          <a:xfrm>
            <a:off x="815562" y="804078"/>
            <a:ext cx="10468133" cy="1785104"/>
          </a:xfrm>
          <a:prstGeom prst="rect">
            <a:avLst/>
          </a:prstGeom>
          <a:noFill/>
        </p:spPr>
        <p:txBody>
          <a:bodyPr wrap="square">
            <a:spAutoFit/>
          </a:bodyPr>
          <a:lstStyle/>
          <a:p>
            <a:pPr algn="just"/>
            <a:r>
              <a:rPr lang="en-US" sz="2400" b="1" dirty="0">
                <a:solidFill>
                  <a:srgbClr val="FF0000"/>
                </a:solidFill>
                <a:latin typeface="Times New Roman" panose="02020603050405020304" pitchFamily="18" charset="0"/>
              </a:rPr>
              <a:t>Problem: </a:t>
            </a:r>
          </a:p>
          <a:p>
            <a:pPr algn="just"/>
            <a:endParaRPr lang="en-US" b="1" dirty="0">
              <a:latin typeface="Times New Roman" panose="02020603050405020304" pitchFamily="18" charset="0"/>
            </a:endParaRPr>
          </a:p>
          <a:p>
            <a:pPr algn="just"/>
            <a:r>
              <a:rPr lang="en-US" sz="2400" dirty="0">
                <a:latin typeface="Times New Roman" panose="02020603050405020304" pitchFamily="18" charset="0"/>
              </a:rPr>
              <a:t>50 ml of standard hard water containing 1 gram of pure CaCO</a:t>
            </a:r>
            <a:r>
              <a:rPr lang="en-US" dirty="0">
                <a:latin typeface="Times New Roman" panose="02020603050405020304" pitchFamily="18" charset="0"/>
              </a:rPr>
              <a:t>3 </a:t>
            </a:r>
            <a:r>
              <a:rPr lang="en-US" sz="2400" dirty="0">
                <a:latin typeface="Times New Roman" panose="02020603050405020304" pitchFamily="18" charset="0"/>
              </a:rPr>
              <a:t>per liter consumed 20 ml of EDTA. 50 ml of hard water consumed 25 ml of same EDTA solution and EBT indicator. Calculate the total hardness of water sample in ppm. </a:t>
            </a:r>
            <a:endParaRPr lang="en-IN" dirty="0"/>
          </a:p>
        </p:txBody>
      </p:sp>
    </p:spTree>
    <p:extLst>
      <p:ext uri="{BB962C8B-B14F-4D97-AF65-F5344CB8AC3E}">
        <p14:creationId xmlns:p14="http://schemas.microsoft.com/office/powerpoint/2010/main" val="15881742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526D67-46CB-462F-AE8A-2828D5F87938}"/>
              </a:ext>
            </a:extLst>
          </p:cNvPr>
          <p:cNvPicPr>
            <a:picLocks noChangeAspect="1"/>
          </p:cNvPicPr>
          <p:nvPr/>
        </p:nvPicPr>
        <p:blipFill>
          <a:blip r:embed="rId2"/>
          <a:stretch>
            <a:fillRect/>
          </a:stretch>
        </p:blipFill>
        <p:spPr>
          <a:xfrm>
            <a:off x="1614490" y="947595"/>
            <a:ext cx="8399306" cy="5376547"/>
          </a:xfrm>
          <a:prstGeom prst="rect">
            <a:avLst/>
          </a:prstGeom>
          <a:noFill/>
        </p:spPr>
      </p:pic>
    </p:spTree>
    <p:extLst>
      <p:ext uri="{BB962C8B-B14F-4D97-AF65-F5344CB8AC3E}">
        <p14:creationId xmlns:p14="http://schemas.microsoft.com/office/powerpoint/2010/main" val="648919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46F52B-23CB-49C2-8F9A-674B46F8DB21}"/>
              </a:ext>
            </a:extLst>
          </p:cNvPr>
          <p:cNvSpPr txBox="1"/>
          <p:nvPr/>
        </p:nvSpPr>
        <p:spPr>
          <a:xfrm>
            <a:off x="826008" y="718490"/>
            <a:ext cx="10695432" cy="2893100"/>
          </a:xfrm>
          <a:prstGeom prst="rect">
            <a:avLst/>
          </a:prstGeom>
          <a:noFill/>
        </p:spPr>
        <p:txBody>
          <a:bodyPr wrap="square">
            <a:spAutoFit/>
          </a:bodyPr>
          <a:lstStyle/>
          <a:p>
            <a:pPr algn="just"/>
            <a:r>
              <a:rPr lang="en-US" sz="2400" b="1" dirty="0">
                <a:solidFill>
                  <a:srgbClr val="FF0000"/>
                </a:solidFill>
                <a:latin typeface="Times New Roman" panose="02020603050405020304" pitchFamily="18" charset="0"/>
              </a:rPr>
              <a:t>Problem:</a:t>
            </a:r>
            <a:r>
              <a:rPr lang="en-US" sz="2400" b="1" dirty="0">
                <a:latin typeface="Times New Roman" panose="02020603050405020304" pitchFamily="18" charset="0"/>
              </a:rPr>
              <a:t> </a:t>
            </a:r>
          </a:p>
          <a:p>
            <a:pPr algn="just"/>
            <a:endParaRPr lang="en-US" b="1" dirty="0">
              <a:latin typeface="Times New Roman" panose="02020603050405020304" pitchFamily="18" charset="0"/>
            </a:endParaRPr>
          </a:p>
          <a:p>
            <a:pPr algn="just"/>
            <a:r>
              <a:rPr lang="en-US" sz="2400" dirty="0">
                <a:latin typeface="Times New Roman" panose="02020603050405020304" pitchFamily="18" charset="0"/>
              </a:rPr>
              <a:t>0.28 grams of CaCO</a:t>
            </a:r>
            <a:r>
              <a:rPr lang="en-US" dirty="0">
                <a:latin typeface="Times New Roman" panose="02020603050405020304" pitchFamily="18" charset="0"/>
              </a:rPr>
              <a:t>3 </a:t>
            </a:r>
            <a:r>
              <a:rPr lang="en-US" sz="2400" dirty="0">
                <a:latin typeface="Times New Roman" panose="02020603050405020304" pitchFamily="18" charset="0"/>
              </a:rPr>
              <a:t>were dissolved in HCl and the solution was made up to one </a:t>
            </a:r>
            <a:r>
              <a:rPr lang="en-US" sz="2400" dirty="0" err="1">
                <a:latin typeface="Times New Roman" panose="02020603050405020304" pitchFamily="18" charset="0"/>
              </a:rPr>
              <a:t>litre</a:t>
            </a:r>
            <a:r>
              <a:rPr lang="en-US" sz="2400" dirty="0">
                <a:latin typeface="Times New Roman" panose="02020603050405020304" pitchFamily="18" charset="0"/>
              </a:rPr>
              <a:t> with distilled water. 100 ml of the above solution required 28 ml of EDTA solution on titration. 100 ml of hard water sample consumed 33 ml of same EDTA solution EBT indicator. 100 ml of this water after boiling cooling and filtering required 10 ml of EDTA solution in titration. Calculate the permanent and temporary hardness of water sample in ppm. </a:t>
            </a:r>
            <a:endParaRPr lang="en-IN" dirty="0"/>
          </a:p>
        </p:txBody>
      </p:sp>
    </p:spTree>
    <p:extLst>
      <p:ext uri="{BB962C8B-B14F-4D97-AF65-F5344CB8AC3E}">
        <p14:creationId xmlns:p14="http://schemas.microsoft.com/office/powerpoint/2010/main" val="4053900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7F0E0B-CE18-45C8-90AE-FE20A085D171}"/>
              </a:ext>
            </a:extLst>
          </p:cNvPr>
          <p:cNvPicPr>
            <a:picLocks noChangeAspect="1"/>
          </p:cNvPicPr>
          <p:nvPr/>
        </p:nvPicPr>
        <p:blipFill>
          <a:blip r:embed="rId2"/>
          <a:stretch>
            <a:fillRect/>
          </a:stretch>
        </p:blipFill>
        <p:spPr>
          <a:xfrm>
            <a:off x="2362201" y="781429"/>
            <a:ext cx="6391507" cy="3840752"/>
          </a:xfrm>
          <a:prstGeom prst="rect">
            <a:avLst/>
          </a:prstGeom>
          <a:noFill/>
        </p:spPr>
      </p:pic>
      <p:pic>
        <p:nvPicPr>
          <p:cNvPr id="7" name="Picture 6">
            <a:extLst>
              <a:ext uri="{FF2B5EF4-FFF2-40B4-BE49-F238E27FC236}">
                <a16:creationId xmlns:a16="http://schemas.microsoft.com/office/drawing/2014/main" id="{73355090-2917-4936-91DB-4619D93D9A15}"/>
              </a:ext>
            </a:extLst>
          </p:cNvPr>
          <p:cNvPicPr>
            <a:picLocks noChangeAspect="1"/>
          </p:cNvPicPr>
          <p:nvPr/>
        </p:nvPicPr>
        <p:blipFill>
          <a:blip r:embed="rId3"/>
          <a:stretch>
            <a:fillRect/>
          </a:stretch>
        </p:blipFill>
        <p:spPr>
          <a:xfrm>
            <a:off x="2362202" y="4799988"/>
            <a:ext cx="6242196" cy="1727191"/>
          </a:xfrm>
          <a:prstGeom prst="rect">
            <a:avLst/>
          </a:prstGeom>
        </p:spPr>
      </p:pic>
    </p:spTree>
    <p:extLst>
      <p:ext uri="{BB962C8B-B14F-4D97-AF65-F5344CB8AC3E}">
        <p14:creationId xmlns:p14="http://schemas.microsoft.com/office/powerpoint/2010/main" val="29096172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54FB2686-6676-46AB-8493-2750F92DABCD}"/>
              </a:ext>
            </a:extLst>
          </p:cNvPr>
          <p:cNvSpPr/>
          <p:nvPr/>
        </p:nvSpPr>
        <p:spPr>
          <a:xfrm>
            <a:off x="324650" y="623687"/>
            <a:ext cx="11375938" cy="400110"/>
          </a:xfrm>
          <a:prstGeom prst="rect">
            <a:avLst/>
          </a:prstGeom>
        </p:spPr>
        <p:txBody>
          <a:bodyPr wrap="square">
            <a:spAutoFit/>
          </a:bodyPr>
          <a:lstStyle/>
          <a:p>
            <a:r>
              <a:rPr lang="en-US" sz="2000" dirty="0">
                <a:solidFill>
                  <a:srgbClr val="FF0000"/>
                </a:solidFill>
                <a:latin typeface="Calibri" panose="020F0502020204030204" pitchFamily="34" charset="0"/>
                <a:cs typeface="Calibri" panose="020F0502020204030204" pitchFamily="34" charset="0"/>
              </a:rPr>
              <a:t>A water sample contains 248 mg CaSO</a:t>
            </a:r>
            <a:r>
              <a:rPr lang="en-US" sz="2000" baseline="-25000" dirty="0">
                <a:solidFill>
                  <a:srgbClr val="FF0000"/>
                </a:solidFill>
                <a:latin typeface="Calibri" panose="020F0502020204030204" pitchFamily="34" charset="0"/>
                <a:cs typeface="Calibri" panose="020F0502020204030204" pitchFamily="34" charset="0"/>
              </a:rPr>
              <a:t>4</a:t>
            </a:r>
            <a:r>
              <a:rPr lang="en-US" sz="2000" dirty="0">
                <a:solidFill>
                  <a:srgbClr val="FF0000"/>
                </a:solidFill>
                <a:latin typeface="Calibri" panose="020F0502020204030204" pitchFamily="34" charset="0"/>
                <a:cs typeface="Calibri" panose="020F0502020204030204" pitchFamily="34" charset="0"/>
              </a:rPr>
              <a:t> per </a:t>
            </a:r>
            <a:r>
              <a:rPr lang="en-US" sz="2000" dirty="0" err="1">
                <a:solidFill>
                  <a:srgbClr val="FF0000"/>
                </a:solidFill>
                <a:latin typeface="Calibri" panose="020F0502020204030204" pitchFamily="34" charset="0"/>
                <a:cs typeface="Calibri" panose="020F0502020204030204" pitchFamily="34" charset="0"/>
              </a:rPr>
              <a:t>litre</a:t>
            </a:r>
            <a:r>
              <a:rPr lang="en-US" sz="2000" dirty="0">
                <a:solidFill>
                  <a:srgbClr val="FF0000"/>
                </a:solidFill>
                <a:latin typeface="Calibri" panose="020F0502020204030204" pitchFamily="34" charset="0"/>
                <a:cs typeface="Calibri" panose="020F0502020204030204" pitchFamily="34" charset="0"/>
              </a:rPr>
              <a:t>. Calculate the hardness of the water in CaCO</a:t>
            </a:r>
            <a:r>
              <a:rPr lang="en-US" sz="2000" baseline="-25000" dirty="0">
                <a:solidFill>
                  <a:srgbClr val="FF0000"/>
                </a:solidFill>
                <a:latin typeface="Calibri" panose="020F0502020204030204" pitchFamily="34" charset="0"/>
                <a:cs typeface="Calibri" panose="020F0502020204030204" pitchFamily="34" charset="0"/>
              </a:rPr>
              <a:t>3</a:t>
            </a:r>
            <a:r>
              <a:rPr lang="en-US" sz="2000" dirty="0">
                <a:solidFill>
                  <a:srgbClr val="FF0000"/>
                </a:solidFill>
                <a:latin typeface="Calibri" panose="020F0502020204030204" pitchFamily="34" charset="0"/>
                <a:cs typeface="Calibri" panose="020F0502020204030204" pitchFamily="34" charset="0"/>
              </a:rPr>
              <a:t> equivalent.</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2B87AE7-529B-4764-AF0A-F47F0BF416DA}"/>
                  </a:ext>
                </a:extLst>
              </p:cNvPr>
              <p:cNvSpPr/>
              <p:nvPr/>
            </p:nvSpPr>
            <p:spPr>
              <a:xfrm>
                <a:off x="324650" y="1118619"/>
                <a:ext cx="8410276" cy="2797048"/>
              </a:xfrm>
              <a:prstGeom prst="rect">
                <a:avLst/>
              </a:prstGeom>
            </p:spPr>
            <p:txBody>
              <a:bodyPr wrap="square">
                <a:spAutoFit/>
              </a:bodyPr>
              <a:lstStyle/>
              <a:p>
                <a:pPr lvl="0" algn="just">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Answer:</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Mol. Wt. of CaSO</a:t>
                </a:r>
                <a:r>
                  <a:rPr lang="en-US" sz="2000" baseline="-25000" dirty="0">
                    <a:latin typeface="Calibri" panose="020F0502020204030204" pitchFamily="34" charset="0"/>
                    <a:ea typeface="Calibri" panose="020F0502020204030204" pitchFamily="34" charset="0"/>
                    <a:cs typeface="Calibri" panose="020F0502020204030204" pitchFamily="34" charset="0"/>
                  </a:rPr>
                  <a:t>4</a:t>
                </a:r>
                <a:r>
                  <a:rPr lang="en-US" sz="2000" dirty="0">
                    <a:latin typeface="Calibri" panose="020F0502020204030204" pitchFamily="34" charset="0"/>
                    <a:ea typeface="Calibri" panose="020F0502020204030204" pitchFamily="34" charset="0"/>
                    <a:cs typeface="Calibri" panose="020F0502020204030204" pitchFamily="34" charset="0"/>
                  </a:rPr>
                  <a:t> = 136</a:t>
                </a:r>
              </a:p>
              <a:p>
                <a:pPr marL="342900" lvl="0" indent="-342900" algn="just">
                  <a:spcAft>
                    <a:spcPts val="1200"/>
                  </a:spcAft>
                  <a:buFont typeface="Arial" panose="020B0604020202020204" pitchFamily="34" charset="0"/>
                  <a:buChar char="•"/>
                </a:pPr>
                <a14:m>
                  <m:oMath xmlns:m="http://schemas.openxmlformats.org/officeDocument/2006/math">
                    <m:r>
                      <a:rPr lang="en-US" sz="2000" b="0" i="1" smtClean="0">
                        <a:latin typeface="Cambria Math" panose="02040503050406030204" pitchFamily="18" charset="0"/>
                        <a:ea typeface="Calibri" panose="020F0502020204030204" pitchFamily="34" charset="0"/>
                        <a:cs typeface="Calibri" panose="020F0502020204030204" pitchFamily="34" charset="0"/>
                      </a:rPr>
                      <m:t>𝐸𝑞</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𝐶𝑎𝐶</m:t>
                    </m:r>
                    <m:sSub>
                      <m:sSub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000" b="0" i="1" smtClean="0">
                            <a:latin typeface="Cambria Math" panose="02040503050406030204" pitchFamily="18" charset="0"/>
                            <a:ea typeface="Calibri" panose="020F0502020204030204" pitchFamily="34" charset="0"/>
                            <a:cs typeface="Calibri" panose="020F0502020204030204" pitchFamily="34" charset="0"/>
                          </a:rPr>
                          <m:t>𝑂</m:t>
                        </m:r>
                      </m:e>
                      <m:sub>
                        <m:r>
                          <a:rPr lang="en-US" sz="2000" b="0" i="1" smtClean="0">
                            <a:latin typeface="Cambria Math" panose="02040503050406030204" pitchFamily="18" charset="0"/>
                            <a:ea typeface="Calibri" panose="020F0502020204030204" pitchFamily="34" charset="0"/>
                            <a:cs typeface="Calibri" panose="020F0502020204030204" pitchFamily="34" charset="0"/>
                          </a:rPr>
                          <m:t>3</m:t>
                        </m:r>
                      </m:sub>
                    </m:sSub>
                    <m:r>
                      <a:rPr lang="en-US"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𝑊𝑡</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𝑜𝑓</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𝐶𝑎𝑆</m:t>
                        </m:r>
                        <m:sSub>
                          <m:sSub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000" b="0" i="1" smtClean="0">
                                <a:latin typeface="Cambria Math" panose="02040503050406030204" pitchFamily="18" charset="0"/>
                                <a:ea typeface="Calibri" panose="020F0502020204030204" pitchFamily="34" charset="0"/>
                                <a:cs typeface="Calibri" panose="020F0502020204030204" pitchFamily="34" charset="0"/>
                              </a:rPr>
                              <m:t>𝑂</m:t>
                            </m:r>
                          </m:e>
                          <m:sub>
                            <m:r>
                              <a:rPr lang="en-US" sz="2000" b="0" i="1" smtClean="0">
                                <a:latin typeface="Cambria Math" panose="02040503050406030204" pitchFamily="18" charset="0"/>
                                <a:ea typeface="Calibri" panose="020F0502020204030204" pitchFamily="34" charset="0"/>
                                <a:cs typeface="Calibri" panose="020F0502020204030204" pitchFamily="34" charset="0"/>
                              </a:rPr>
                              <m:t>4</m:t>
                            </m:r>
                          </m:sub>
                        </m:sSub>
                        <m:r>
                          <a:rPr lang="en-US" sz="2000" b="0" i="1" smtClean="0">
                            <a:latin typeface="Cambria Math" panose="02040503050406030204" pitchFamily="18" charset="0"/>
                            <a:ea typeface="Calibri" panose="020F0502020204030204" pitchFamily="34" charset="0"/>
                            <a:cs typeface="Calibri" panose="020F0502020204030204" pitchFamily="34" charset="0"/>
                          </a:rPr>
                          <m:t>×</m:t>
                        </m:r>
                        <m:r>
                          <a:rPr lang="en-US" sz="2000" b="0" i="1" smtClean="0">
                            <a:latin typeface="Cambria Math" panose="02040503050406030204" pitchFamily="18" charset="0"/>
                            <a:ea typeface="Calibri" panose="020F0502020204030204" pitchFamily="34" charset="0"/>
                            <a:cs typeface="Calibri" panose="020F0502020204030204" pitchFamily="34" charset="0"/>
                          </a:rPr>
                          <m:t>𝐶h𝑒𝑚𝑖𝑐𝑎𝑙</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𝑒𝑞</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𝑜𝑓</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𝐶𝑎𝐶</m:t>
                        </m:r>
                        <m:sSub>
                          <m:sSub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000" b="0" i="1" smtClean="0">
                                <a:latin typeface="Cambria Math" panose="02040503050406030204" pitchFamily="18" charset="0"/>
                                <a:ea typeface="Calibri" panose="020F0502020204030204" pitchFamily="34" charset="0"/>
                                <a:cs typeface="Calibri" panose="020F0502020204030204" pitchFamily="34" charset="0"/>
                              </a:rPr>
                              <m:t>𝑂</m:t>
                            </m:r>
                          </m:e>
                          <m:sub>
                            <m:r>
                              <a:rPr lang="en-US" sz="2000" b="0" i="1" smtClean="0">
                                <a:latin typeface="Cambria Math" panose="02040503050406030204" pitchFamily="18" charset="0"/>
                                <a:ea typeface="Calibri" panose="020F0502020204030204" pitchFamily="34" charset="0"/>
                                <a:cs typeface="Calibri" panose="020F0502020204030204" pitchFamily="34" charset="0"/>
                              </a:rPr>
                              <m:t>3</m:t>
                            </m:r>
                          </m:sub>
                        </m:sSub>
                      </m:num>
                      <m:den>
                        <m:r>
                          <a:rPr lang="en-US" sz="2000" b="0" i="1" smtClean="0">
                            <a:latin typeface="Cambria Math" panose="02040503050406030204" pitchFamily="18" charset="0"/>
                            <a:ea typeface="Calibri" panose="020F0502020204030204" pitchFamily="34" charset="0"/>
                            <a:cs typeface="Calibri" panose="020F0502020204030204" pitchFamily="34" charset="0"/>
                          </a:rPr>
                          <m:t>𝐶h𝑒𝑚𝑖𝑐𝑎𝑙</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𝑒𝑞</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𝑜𝑓</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𝐶𝑎𝑆</m:t>
                        </m:r>
                        <m:sSub>
                          <m:sSub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sSubPr>
                          <m:e>
                            <m:r>
                              <a:rPr lang="en-US" sz="2000" b="0" i="1" smtClean="0">
                                <a:latin typeface="Cambria Math" panose="02040503050406030204" pitchFamily="18" charset="0"/>
                                <a:ea typeface="Calibri" panose="020F0502020204030204" pitchFamily="34" charset="0"/>
                                <a:cs typeface="Calibri" panose="020F0502020204030204" pitchFamily="34" charset="0"/>
                              </a:rPr>
                              <m:t>𝑂</m:t>
                            </m:r>
                          </m:e>
                          <m:sub>
                            <m:r>
                              <a:rPr lang="en-US" sz="2000" b="0" i="1" smtClean="0">
                                <a:latin typeface="Cambria Math" panose="02040503050406030204" pitchFamily="18" charset="0"/>
                                <a:ea typeface="Calibri" panose="020F0502020204030204" pitchFamily="34" charset="0"/>
                                <a:cs typeface="Calibri" panose="020F0502020204030204" pitchFamily="34" charset="0"/>
                              </a:rPr>
                              <m:t>4</m:t>
                            </m:r>
                          </m:sub>
                        </m:sSub>
                      </m:den>
                    </m:f>
                    <m:f>
                      <m:f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𝑚𝑔</m:t>
                        </m:r>
                      </m:num>
                      <m:den>
                        <m:r>
                          <a:rPr lang="en-US" sz="2000" b="0" i="1" smtClean="0">
                            <a:latin typeface="Cambria Math" panose="02040503050406030204" pitchFamily="18" charset="0"/>
                            <a:ea typeface="Calibri" panose="020F0502020204030204" pitchFamily="34" charset="0"/>
                            <a:cs typeface="Calibri" panose="020F0502020204030204" pitchFamily="34" charset="0"/>
                          </a:rPr>
                          <m:t>𝐿</m:t>
                        </m:r>
                      </m:den>
                    </m:f>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𝑜𝑟</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𝑝𝑝𝑚</m:t>
                    </m:r>
                  </m:oMath>
                </a14:m>
                <a:endParaRPr lang="en-US" sz="2000" b="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14:m>
                  <m:oMath xmlns:m="http://schemas.openxmlformats.org/officeDocument/2006/math">
                    <m:r>
                      <a:rPr lang="en-US" sz="2000" i="1">
                        <a:latin typeface="Cambria Math" panose="02040503050406030204" pitchFamily="18" charset="0"/>
                        <a:ea typeface="Calibri" panose="020F0502020204030204" pitchFamily="34" charset="0"/>
                        <a:cs typeface="Calibri" panose="020F0502020204030204" pitchFamily="34" charset="0"/>
                      </a:rPr>
                      <m:t>𝐸𝑞</m:t>
                    </m:r>
                    <m:r>
                      <a:rPr lang="en-US" sz="2000" i="1">
                        <a:latin typeface="Cambria Math" panose="02040503050406030204" pitchFamily="18" charset="0"/>
                        <a:ea typeface="Calibri" panose="020F0502020204030204" pitchFamily="34" charset="0"/>
                        <a:cs typeface="Calibri" panose="020F0502020204030204" pitchFamily="34" charset="0"/>
                      </a:rPr>
                      <m:t>. </m:t>
                    </m:r>
                    <m:r>
                      <a:rPr lang="en-US" sz="2000" i="1">
                        <a:latin typeface="Cambria Math" panose="02040503050406030204" pitchFamily="18" charset="0"/>
                        <a:ea typeface="Calibri" panose="020F0502020204030204" pitchFamily="34" charset="0"/>
                        <a:cs typeface="Calibri" panose="020F0502020204030204" pitchFamily="34" charset="0"/>
                      </a:rPr>
                      <m:t>𝐶𝑎𝐶</m:t>
                    </m:r>
                    <m:sSub>
                      <m:sSubPr>
                        <m:ctrlPr>
                          <a:rPr lang="en-US" sz="2000" i="1">
                            <a:latin typeface="Cambria Math" panose="02040503050406030204" pitchFamily="18" charset="0"/>
                            <a:ea typeface="Calibri" panose="020F0502020204030204" pitchFamily="34" charset="0"/>
                            <a:cs typeface="Calibri" panose="020F0502020204030204" pitchFamily="34" charset="0"/>
                          </a:rPr>
                        </m:ctrlPr>
                      </m:sSubPr>
                      <m:e>
                        <m:r>
                          <a:rPr lang="en-US" sz="2000" i="1">
                            <a:latin typeface="Cambria Math" panose="02040503050406030204" pitchFamily="18" charset="0"/>
                            <a:ea typeface="Calibri" panose="020F0502020204030204" pitchFamily="34" charset="0"/>
                            <a:cs typeface="Calibri" panose="020F0502020204030204" pitchFamily="34" charset="0"/>
                          </a:rPr>
                          <m:t>𝑂</m:t>
                        </m:r>
                      </m:e>
                      <m:sub>
                        <m:r>
                          <a:rPr lang="en-US" sz="2000" i="1">
                            <a:latin typeface="Cambria Math" panose="02040503050406030204" pitchFamily="18" charset="0"/>
                            <a:ea typeface="Calibri" panose="020F0502020204030204" pitchFamily="34" charset="0"/>
                            <a:cs typeface="Calibri" panose="020F0502020204030204" pitchFamily="34" charset="0"/>
                          </a:rPr>
                          <m:t>3</m:t>
                        </m:r>
                      </m:sub>
                    </m:sSub>
                    <m:r>
                      <a:rPr lang="en-US" sz="2000" i="1">
                        <a:latin typeface="Cambria Math" panose="02040503050406030204" pitchFamily="18" charset="0"/>
                        <a:ea typeface="Calibri" panose="020F0502020204030204" pitchFamily="34" charset="0"/>
                        <a:cs typeface="Calibri" panose="020F0502020204030204" pitchFamily="34" charset="0"/>
                      </a:rPr>
                      <m:t>=</m:t>
                    </m:r>
                    <m:f>
                      <m:fPr>
                        <m:ctrlPr>
                          <a:rPr lang="en-US" sz="2000" i="1">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248</m:t>
                        </m:r>
                        <m:r>
                          <a:rPr lang="en-US" sz="2000" i="1">
                            <a:latin typeface="Cambria Math" panose="02040503050406030204" pitchFamily="18" charset="0"/>
                            <a:ea typeface="Calibri" panose="020F0502020204030204" pitchFamily="34" charset="0"/>
                            <a:cs typeface="Calibri" panose="020F0502020204030204" pitchFamily="34" charset="0"/>
                          </a:rPr>
                          <m:t>×</m:t>
                        </m:r>
                        <m:f>
                          <m:f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100</m:t>
                            </m:r>
                          </m:num>
                          <m:den>
                            <m:r>
                              <a:rPr lang="en-US" sz="2000" b="0" i="1" smtClean="0">
                                <a:latin typeface="Cambria Math" panose="02040503050406030204" pitchFamily="18" charset="0"/>
                                <a:ea typeface="Calibri" panose="020F0502020204030204" pitchFamily="34" charset="0"/>
                                <a:cs typeface="Calibri" panose="020F0502020204030204" pitchFamily="34" charset="0"/>
                              </a:rPr>
                              <m:t>2</m:t>
                            </m:r>
                          </m:den>
                        </m:f>
                      </m:num>
                      <m:den>
                        <m:f>
                          <m:f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136</m:t>
                            </m:r>
                          </m:num>
                          <m:den>
                            <m:r>
                              <a:rPr lang="en-US" sz="2000" b="0" i="1" smtClean="0">
                                <a:latin typeface="Cambria Math" panose="02040503050406030204" pitchFamily="18" charset="0"/>
                                <a:ea typeface="Calibri" panose="020F0502020204030204" pitchFamily="34" charset="0"/>
                                <a:cs typeface="Calibri" panose="020F0502020204030204" pitchFamily="34" charset="0"/>
                              </a:rPr>
                              <m:t>2</m:t>
                            </m:r>
                          </m:den>
                        </m:f>
                      </m:den>
                    </m:f>
                    <m:r>
                      <a:rPr lang="en-US" sz="2000" b="0" i="1" smtClean="0">
                        <a:latin typeface="Cambria Math" panose="02040503050406030204" pitchFamily="18" charset="0"/>
                        <a:ea typeface="Calibri" panose="020F0502020204030204" pitchFamily="34" charset="0"/>
                        <a:cs typeface="Calibri" panose="020F0502020204030204" pitchFamily="34" charset="0"/>
                      </a:rPr>
                      <m:t>=</m:t>
                    </m:r>
                    <m:f>
                      <m:f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𝑚𝑔</m:t>
                        </m:r>
                      </m:num>
                      <m:den>
                        <m:r>
                          <a:rPr lang="en-US" sz="2000" b="0" i="1" smtClean="0">
                            <a:latin typeface="Cambria Math" panose="02040503050406030204" pitchFamily="18" charset="0"/>
                            <a:ea typeface="Calibri" panose="020F0502020204030204" pitchFamily="34" charset="0"/>
                            <a:cs typeface="Calibri" panose="020F0502020204030204" pitchFamily="34" charset="0"/>
                          </a:rPr>
                          <m:t>𝐿</m:t>
                        </m:r>
                      </m:den>
                    </m:f>
                    <m:r>
                      <a:rPr lang="en-US" sz="2000" b="0" i="1" smtClean="0">
                        <a:latin typeface="Cambria Math" panose="02040503050406030204" pitchFamily="18" charset="0"/>
                        <a:ea typeface="Calibri" panose="020F0502020204030204" pitchFamily="34" charset="0"/>
                        <a:cs typeface="Calibri" panose="020F0502020204030204" pitchFamily="34" charset="0"/>
                      </a:rPr>
                      <m:t>𝑜𝑟</m:t>
                    </m:r>
                    <m:r>
                      <a:rPr lang="en-US" sz="2000" b="0" i="1" smtClean="0">
                        <a:latin typeface="Cambria Math" panose="02040503050406030204" pitchFamily="18" charset="0"/>
                        <a:ea typeface="Calibri" panose="020F0502020204030204" pitchFamily="34" charset="0"/>
                        <a:cs typeface="Calibri" panose="020F0502020204030204" pitchFamily="34" charset="0"/>
                      </a:rPr>
                      <m:t> </m:t>
                    </m:r>
                    <m:r>
                      <a:rPr lang="en-US" sz="2000" b="0" i="1" smtClean="0">
                        <a:latin typeface="Cambria Math" panose="02040503050406030204" pitchFamily="18" charset="0"/>
                        <a:ea typeface="Calibri" panose="020F0502020204030204" pitchFamily="34" charset="0"/>
                        <a:cs typeface="Calibri" panose="020F0502020204030204" pitchFamily="34" charset="0"/>
                      </a:rPr>
                      <m:t>𝑝𝑝𝑚</m:t>
                    </m:r>
                  </m:oMath>
                </a14:m>
                <a:r>
                  <a:rPr lang="en-US" sz="20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spcAft>
                    <a:spcPts val="1200"/>
                  </a:spcAft>
                  <a:buFont typeface="Arial" panose="020B0604020202020204" pitchFamily="34" charset="0"/>
                  <a:buChar char="•"/>
                </a:pPr>
                <a14:m>
                  <m:oMath xmlns:m="http://schemas.openxmlformats.org/officeDocument/2006/math">
                    <m:r>
                      <a:rPr lang="en-US" sz="2000" i="1">
                        <a:latin typeface="Cambria Math" panose="02040503050406030204" pitchFamily="18" charset="0"/>
                        <a:ea typeface="Calibri" panose="020F0502020204030204" pitchFamily="34" charset="0"/>
                        <a:cs typeface="Calibri" panose="020F0502020204030204" pitchFamily="34" charset="0"/>
                      </a:rPr>
                      <m:t>𝐸𝑞</m:t>
                    </m:r>
                    <m:r>
                      <a:rPr lang="en-US" sz="2000" i="1">
                        <a:latin typeface="Cambria Math" panose="02040503050406030204" pitchFamily="18" charset="0"/>
                        <a:ea typeface="Calibri" panose="020F0502020204030204" pitchFamily="34" charset="0"/>
                        <a:cs typeface="Calibri" panose="020F0502020204030204" pitchFamily="34" charset="0"/>
                      </a:rPr>
                      <m:t>. </m:t>
                    </m:r>
                    <m:r>
                      <a:rPr lang="en-US" sz="2000" i="1">
                        <a:latin typeface="Cambria Math" panose="02040503050406030204" pitchFamily="18" charset="0"/>
                        <a:ea typeface="Calibri" panose="020F0502020204030204" pitchFamily="34" charset="0"/>
                        <a:cs typeface="Calibri" panose="020F0502020204030204" pitchFamily="34" charset="0"/>
                      </a:rPr>
                      <m:t>𝐶𝑎𝐶</m:t>
                    </m:r>
                    <m:sSub>
                      <m:sSubPr>
                        <m:ctrlPr>
                          <a:rPr lang="en-US" sz="2000" i="1">
                            <a:latin typeface="Cambria Math" panose="02040503050406030204" pitchFamily="18" charset="0"/>
                            <a:ea typeface="Calibri" panose="020F0502020204030204" pitchFamily="34" charset="0"/>
                            <a:cs typeface="Calibri" panose="020F0502020204030204" pitchFamily="34" charset="0"/>
                          </a:rPr>
                        </m:ctrlPr>
                      </m:sSubPr>
                      <m:e>
                        <m:r>
                          <a:rPr lang="en-US" sz="2000" i="1">
                            <a:latin typeface="Cambria Math" panose="02040503050406030204" pitchFamily="18" charset="0"/>
                            <a:ea typeface="Calibri" panose="020F0502020204030204" pitchFamily="34" charset="0"/>
                            <a:cs typeface="Calibri" panose="020F0502020204030204" pitchFamily="34" charset="0"/>
                          </a:rPr>
                          <m:t>𝑂</m:t>
                        </m:r>
                      </m:e>
                      <m:sub>
                        <m:r>
                          <a:rPr lang="en-US" sz="2000" i="1">
                            <a:latin typeface="Cambria Math" panose="02040503050406030204" pitchFamily="18" charset="0"/>
                            <a:ea typeface="Calibri" panose="020F0502020204030204" pitchFamily="34" charset="0"/>
                            <a:cs typeface="Calibri" panose="020F0502020204030204" pitchFamily="34" charset="0"/>
                          </a:rPr>
                          <m:t>3</m:t>
                        </m:r>
                      </m:sub>
                    </m:sSub>
                    <m:r>
                      <a:rPr lang="en-US" sz="2000" i="1">
                        <a:latin typeface="Cambria Math" panose="02040503050406030204" pitchFamily="18" charset="0"/>
                        <a:ea typeface="Calibri" panose="020F0502020204030204" pitchFamily="34" charset="0"/>
                        <a:cs typeface="Calibri" panose="020F0502020204030204" pitchFamily="34" charset="0"/>
                      </a:rPr>
                      <m:t>=</m:t>
                    </m:r>
                  </m:oMath>
                </a14:m>
                <a:r>
                  <a:rPr lang="en-US" sz="2000" dirty="0">
                    <a:latin typeface="Calibri" panose="020F0502020204030204" pitchFamily="34" charset="0"/>
                    <a:ea typeface="Calibri" panose="020F0502020204030204" pitchFamily="34" charset="0"/>
                    <a:cs typeface="Calibri" panose="020F0502020204030204" pitchFamily="34" charset="0"/>
                  </a:rPr>
                  <a:t>183.35 ppm </a:t>
                </a:r>
              </a:p>
            </p:txBody>
          </p:sp>
        </mc:Choice>
        <mc:Fallback xmlns="">
          <p:sp>
            <p:nvSpPr>
              <p:cNvPr id="5" name="Rectangle 4">
                <a:extLst>
                  <a:ext uri="{FF2B5EF4-FFF2-40B4-BE49-F238E27FC236}">
                    <a16:creationId xmlns:a16="http://schemas.microsoft.com/office/drawing/2014/main" id="{82B87AE7-529B-4764-AF0A-F47F0BF416DA}"/>
                  </a:ext>
                </a:extLst>
              </p:cNvPr>
              <p:cNvSpPr>
                <a:spLocks noRot="1" noChangeAspect="1" noMove="1" noResize="1" noEditPoints="1" noAdjustHandles="1" noChangeArrowheads="1" noChangeShapeType="1" noTextEdit="1"/>
              </p:cNvSpPr>
              <p:nvPr/>
            </p:nvSpPr>
            <p:spPr>
              <a:xfrm>
                <a:off x="324650" y="1118619"/>
                <a:ext cx="8410276" cy="2797048"/>
              </a:xfrm>
              <a:prstGeom prst="rect">
                <a:avLst/>
              </a:prstGeom>
              <a:blipFill>
                <a:blip r:embed="rId4"/>
                <a:stretch>
                  <a:fillRect l="-725" t="-1310" b="-3057"/>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BF44D3AB-4D2B-BCBB-E157-26FB1E7A6C5A}"/>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4486801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5E7B9BD5-3EF0-425F-A414-10363C88F104}"/>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8671C9D7-945B-4B83-B0F6-D8DDA3102653}"/>
              </a:ext>
            </a:extLst>
          </p:cNvPr>
          <p:cNvSpPr/>
          <p:nvPr/>
        </p:nvSpPr>
        <p:spPr>
          <a:xfrm>
            <a:off x="309312" y="558373"/>
            <a:ext cx="11391276" cy="967957"/>
          </a:xfrm>
          <a:prstGeom prst="rect">
            <a:avLst/>
          </a:prstGeom>
        </p:spPr>
        <p:txBody>
          <a:bodyPr wrap="square">
            <a:spAutoFit/>
          </a:bodyPr>
          <a:lstStyle/>
          <a:p>
            <a:pPr lvl="0" algn="just">
              <a:lnSpc>
                <a:spcPct val="150000"/>
              </a:lnSpc>
              <a:spcAft>
                <a:spcPts val="12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250 ml water sample upon EDTA titration with EBT consumed 13 ml of 0.022 M EDTA till the end point was reached. Calculate the hardness of the water sample.  </a:t>
            </a:r>
            <a:endPar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456D069-0738-4EE0-8250-F64ADFF755F1}"/>
                  </a:ext>
                </a:extLst>
              </p:cNvPr>
              <p:cNvSpPr/>
              <p:nvPr/>
            </p:nvSpPr>
            <p:spPr>
              <a:xfrm>
                <a:off x="324650" y="1814246"/>
                <a:ext cx="8410276" cy="3943002"/>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r>
                  <a:rPr lang="en-IN" sz="20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18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1 ml 0.01 M EDTA</a:t>
                </a:r>
                <a:r>
                  <a:rPr lang="en-IN" sz="2000" b="1" dirty="0">
                    <a:latin typeface="Cambria Math" panose="02040503050406030204" pitchFamily="18" charset="0"/>
                    <a:ea typeface="Cambria Math" panose="02040503050406030204" pitchFamily="18" charset="0"/>
                    <a:cs typeface="Times New Roman" panose="02020603050405020304" pitchFamily="18" charset="0"/>
                  </a:rPr>
                  <a:t> ≡ </a:t>
                </a:r>
                <a:r>
                  <a:rPr lang="en-IN" sz="2000" b="1" dirty="0">
                    <a:latin typeface="Calibri" panose="020F0502020204030204" pitchFamily="34" charset="0"/>
                    <a:ea typeface="Cambria Math" panose="02040503050406030204" pitchFamily="18" charset="0"/>
                    <a:cs typeface="Calibri" panose="020F0502020204030204" pitchFamily="34" charset="0"/>
                  </a:rPr>
                  <a:t>1 mg CaCO</a:t>
                </a:r>
                <a:r>
                  <a:rPr lang="en-IN" sz="2000" b="1" baseline="-25000" dirty="0">
                    <a:latin typeface="Calibri" panose="020F0502020204030204" pitchFamily="34" charset="0"/>
                    <a:ea typeface="Cambria Math" panose="02040503050406030204" pitchFamily="18" charset="0"/>
                    <a:cs typeface="Calibri" panose="020F0502020204030204" pitchFamily="34" charset="0"/>
                  </a:rPr>
                  <a:t>3</a:t>
                </a:r>
                <a:endParaRPr lang="en-IN" sz="2000" b="1" dirty="0">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1800"/>
                  </a:spcAft>
                  <a:buFont typeface="Arial" panose="020B0604020202020204" pitchFamily="34" charset="0"/>
                  <a:buChar char="•"/>
                </a:pP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13 ml 0.022 M EDTA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13×0.022</m:t>
                        </m:r>
                      </m:num>
                      <m:den>
                        <m: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0.01</m:t>
                        </m:r>
                      </m:den>
                    </m:f>
                  </m:oMath>
                </a14:m>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ml 0.01M EDTA </a:t>
                </a:r>
              </a:p>
              <a:p>
                <a:pPr algn="just">
                  <a:spcAft>
                    <a:spcPts val="1800"/>
                  </a:spcAft>
                </a:pP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a:t>
                </a:r>
                <a:r>
                  <a:rPr lang="en-IN" sz="2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13×0.022</m:t>
                        </m:r>
                      </m:num>
                      <m:den>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0.01</m:t>
                        </m:r>
                      </m:den>
                    </m:f>
                  </m:oMath>
                </a14:m>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mg CaCO</a:t>
                </a:r>
                <a:r>
                  <a:rPr lang="en-IN" sz="2000" baseline="-25000" dirty="0">
                    <a:solidFill>
                      <a:schemeClr val="tx1"/>
                    </a:solidFill>
                    <a:latin typeface="Calibri" panose="020F0502020204030204" pitchFamily="34" charset="0"/>
                    <a:ea typeface="Cambria Math" panose="02040503050406030204" pitchFamily="18" charset="0"/>
                    <a:cs typeface="Calibri" panose="020F0502020204030204" pitchFamily="34" charset="0"/>
                  </a:rPr>
                  <a:t>3</a:t>
                </a: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 28.6 </a:t>
                </a:r>
                <a:r>
                  <a:rPr lang="en-IN" sz="2000" dirty="0">
                    <a:latin typeface="Calibri" panose="020F0502020204030204" pitchFamily="34" charset="0"/>
                    <a:ea typeface="Cambria Math" panose="02040503050406030204" pitchFamily="18" charset="0"/>
                    <a:cs typeface="Calibri" panose="020F0502020204030204" pitchFamily="34" charset="0"/>
                  </a:rPr>
                  <a:t>mg CaCO</a:t>
                </a:r>
                <a:r>
                  <a:rPr lang="en-IN" sz="2000" baseline="-25000" dirty="0">
                    <a:latin typeface="Calibri" panose="020F0502020204030204" pitchFamily="34" charset="0"/>
                    <a:ea typeface="Cambria Math" panose="02040503050406030204" pitchFamily="18" charset="0"/>
                    <a:cs typeface="Calibri" panose="020F0502020204030204" pitchFamily="34" charset="0"/>
                  </a:rPr>
                  <a:t>3</a:t>
                </a:r>
                <a:endParaRPr lang="en-IN" sz="2000" dirty="0">
                  <a:latin typeface="Calibri" panose="020F0502020204030204" pitchFamily="34" charset="0"/>
                  <a:ea typeface="Cambria Math" panose="02040503050406030204" pitchFamily="18" charset="0"/>
                  <a:cs typeface="Calibri" panose="020F0502020204030204" pitchFamily="34" charset="0"/>
                </a:endParaRPr>
              </a:p>
              <a:p>
                <a:pPr marL="342900" lvl="0" indent="-342900" algn="just">
                  <a:spcAft>
                    <a:spcPts val="18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Hardness in 250 ml = 28.6 mg</a:t>
                </a:r>
              </a:p>
              <a:p>
                <a:pPr marL="342900" indent="-342900" algn="just">
                  <a:spcAft>
                    <a:spcPts val="18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Hardness in 1000 ml = </a:t>
                </a:r>
                <a14:m>
                  <m:oMath xmlns:m="http://schemas.openxmlformats.org/officeDocument/2006/math">
                    <m:f>
                      <m:fPr>
                        <m:ctrlPr>
                          <a:rPr lang="en-IN" sz="2000" b="0" i="1" dirty="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i="1" dirty="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28.6</m:t>
                        </m:r>
                        <m:r>
                          <a:rPr lang="en-IN" sz="2000" b="0" i="1" dirty="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×1000</m:t>
                        </m:r>
                      </m:num>
                      <m:den>
                        <m:r>
                          <a:rPr lang="en-IN" sz="2000" b="0" i="1" dirty="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250</m:t>
                        </m:r>
                      </m:den>
                    </m:f>
                  </m:oMath>
                </a14:m>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mg/L = 114.4 mg/L or 114.4 ppm</a:t>
                </a:r>
              </a:p>
              <a:p>
                <a:pPr marL="342900" lvl="0" indent="-342900" algn="just">
                  <a:spcAft>
                    <a:spcPts val="1200"/>
                  </a:spcAft>
                  <a:buFont typeface="Arial" panose="020B0604020202020204" pitchFamily="34" charset="0"/>
                  <a:buChar char="•"/>
                </a:pPr>
                <a:endPar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B456D069-0738-4EE0-8250-F64ADFF755F1}"/>
                  </a:ext>
                </a:extLst>
              </p:cNvPr>
              <p:cNvSpPr>
                <a:spLocks noRot="1" noChangeAspect="1" noMove="1" noResize="1" noEditPoints="1" noAdjustHandles="1" noChangeArrowheads="1" noChangeShapeType="1" noTextEdit="1"/>
              </p:cNvSpPr>
              <p:nvPr/>
            </p:nvSpPr>
            <p:spPr>
              <a:xfrm>
                <a:off x="324650" y="1814246"/>
                <a:ext cx="8410276" cy="3943002"/>
              </a:xfrm>
              <a:prstGeom prst="rect">
                <a:avLst/>
              </a:prstGeom>
              <a:blipFill>
                <a:blip r:embed="rId4"/>
                <a:stretch>
                  <a:fillRect l="-725" t="-929"/>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749CC3B4-F79A-2F45-F78A-1A0C98B289AA}"/>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150126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8975FEB5-89F1-4D55-AAD4-ED0551130AD1}"/>
              </a:ext>
            </a:extLst>
          </p:cNvPr>
          <p:cNvSpPr/>
          <p:nvPr/>
        </p:nvSpPr>
        <p:spPr>
          <a:xfrm>
            <a:off x="309311" y="642724"/>
            <a:ext cx="11437929" cy="1429622"/>
          </a:xfrm>
          <a:prstGeom prst="rect">
            <a:avLst/>
          </a:prstGeom>
        </p:spPr>
        <p:txBody>
          <a:bodyPr wrap="square">
            <a:spAutoFit/>
          </a:bodyPr>
          <a:lstStyle/>
          <a:p>
            <a:pPr lvl="0" algn="just">
              <a:lnSpc>
                <a:spcPct val="150000"/>
              </a:lnSpc>
              <a:spcAft>
                <a:spcPts val="12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100 ml water sample upon EDTA titration with EBT consumed 15 ml of 0.01 M EDTA till the end point was reached. Another part of the sample was boiled to remove temporary hardness. This solution required 8 ml 0.01 M EDTA to reach the end point. Calculate the temporary and permanent hardness of the water sample.  </a:t>
            </a:r>
            <a:endPar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4B8D902-E6FB-4A7D-A6EC-3172ADE0366D}"/>
                  </a:ext>
                </a:extLst>
              </p:cNvPr>
              <p:cNvSpPr/>
              <p:nvPr/>
            </p:nvSpPr>
            <p:spPr>
              <a:xfrm>
                <a:off x="324650" y="2202733"/>
                <a:ext cx="8410276" cy="4158190"/>
              </a:xfrm>
              <a:prstGeom prst="rect">
                <a:avLst/>
              </a:prstGeom>
            </p:spPr>
            <p:txBody>
              <a:bodyPr wrap="square">
                <a:spAutoFit/>
              </a:bodyPr>
              <a:lstStyle/>
              <a:p>
                <a:pPr lvl="0" algn="just">
                  <a:spcAft>
                    <a:spcPts val="18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r>
                  <a:rPr lang="en-IN" sz="20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gn="just">
                  <a:spcAft>
                    <a:spcPts val="1800"/>
                  </a:spcAft>
                  <a:buFont typeface="Arial" panose="020B0604020202020204" pitchFamily="34" charset="0"/>
                  <a:buChar char="•"/>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ml 0.01 M EDTA</a:t>
                </a:r>
                <a:r>
                  <a:rPr lang="en-IN" sz="20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 ≡ </a:t>
                </a:r>
                <a:r>
                  <a:rPr lang="en-IN" sz="2000" dirty="0">
                    <a:solidFill>
                      <a:srgbClr val="FF0000"/>
                    </a:solidFill>
                    <a:latin typeface="Calibri" panose="020F0502020204030204" pitchFamily="34" charset="0"/>
                    <a:ea typeface="Cambria Math" panose="02040503050406030204" pitchFamily="18" charset="0"/>
                    <a:cs typeface="Calibri" panose="020F0502020204030204" pitchFamily="34" charset="0"/>
                  </a:rPr>
                  <a:t>1 mg CaCO</a:t>
                </a:r>
                <a:r>
                  <a:rPr lang="en-IN" sz="2000" baseline="-25000" dirty="0">
                    <a:solidFill>
                      <a:srgbClr val="FF0000"/>
                    </a:solidFill>
                    <a:latin typeface="Calibri" panose="020F0502020204030204" pitchFamily="34" charset="0"/>
                    <a:ea typeface="Cambria Math" panose="02040503050406030204" pitchFamily="18" charset="0"/>
                    <a:cs typeface="Calibri" panose="020F0502020204030204" pitchFamily="34" charset="0"/>
                  </a:rPr>
                  <a:t>3</a:t>
                </a:r>
                <a:endParaRPr lang="en-IN" sz="2000" dirty="0">
                  <a:solidFill>
                    <a:srgbClr val="FF0000"/>
                  </a:solidFill>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1800"/>
                  </a:spcAft>
                  <a:buFont typeface="Arial" panose="020B0604020202020204" pitchFamily="34" charset="0"/>
                  <a:buChar char="•"/>
                </a:pP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15 ml 0.01 M EDTA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IN" sz="200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5</m:t>
                        </m:r>
                        <m: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×0.0</m:t>
                        </m:r>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num>
                      <m:den>
                        <m:r>
                          <a:rPr lang="en-IN"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1×0.01</m:t>
                        </m:r>
                      </m:den>
                    </m:f>
                  </m:oMath>
                </a14:m>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mg CaCO</a:t>
                </a:r>
                <a:r>
                  <a:rPr lang="en-IN" sz="2000" baseline="-25000" dirty="0">
                    <a:solidFill>
                      <a:schemeClr val="tx1"/>
                    </a:solidFill>
                    <a:latin typeface="Calibri" panose="020F0502020204030204" pitchFamily="34" charset="0"/>
                    <a:ea typeface="Cambria Math" panose="02040503050406030204" pitchFamily="18" charset="0"/>
                    <a:cs typeface="Calibri" panose="020F0502020204030204" pitchFamily="34" charset="0"/>
                  </a:rPr>
                  <a:t>3</a:t>
                </a: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 15 </a:t>
                </a:r>
                <a:r>
                  <a:rPr lang="en-IN" sz="2000" dirty="0">
                    <a:latin typeface="Calibri" panose="020F0502020204030204" pitchFamily="34" charset="0"/>
                    <a:ea typeface="Cambria Math" panose="02040503050406030204" pitchFamily="18" charset="0"/>
                    <a:cs typeface="Calibri" panose="020F0502020204030204" pitchFamily="34" charset="0"/>
                  </a:rPr>
                  <a:t>mg CaCO</a:t>
                </a:r>
                <a:r>
                  <a:rPr lang="en-IN" sz="2000" baseline="-25000" dirty="0">
                    <a:latin typeface="Calibri" panose="020F0502020204030204" pitchFamily="34" charset="0"/>
                    <a:ea typeface="Cambria Math" panose="02040503050406030204" pitchFamily="18" charset="0"/>
                    <a:cs typeface="Calibri" panose="020F0502020204030204" pitchFamily="34" charset="0"/>
                  </a:rPr>
                  <a:t>3</a:t>
                </a:r>
                <a:endParaRPr lang="en-IN" sz="2000" dirty="0">
                  <a:latin typeface="Calibri" panose="020F0502020204030204" pitchFamily="34" charset="0"/>
                  <a:ea typeface="Cambria Math" panose="02040503050406030204" pitchFamily="18" charset="0"/>
                  <a:cs typeface="Calibri" panose="020F0502020204030204" pitchFamily="34" charset="0"/>
                </a:endParaRPr>
              </a:p>
              <a:p>
                <a:pPr marL="342900" lvl="0" indent="-342900" algn="just">
                  <a:spcAft>
                    <a:spcPts val="18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Total hardness in 1000 ml = </a:t>
                </a:r>
                <a14:m>
                  <m:oMath xmlns:m="http://schemas.openxmlformats.org/officeDocument/2006/math">
                    <m:f>
                      <m:fPr>
                        <m:ctrlP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r>
                          <a:rPr lang="en-US"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5</m:t>
                        </m:r>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m:t>
                        </m:r>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100</m:t>
                        </m:r>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0</m:t>
                        </m:r>
                      </m:num>
                      <m:den>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100</m:t>
                        </m:r>
                      </m:den>
                    </m:f>
                  </m:oMath>
                </a14:m>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mg = 150 mg/L or 150 ppm</a:t>
                </a:r>
              </a:p>
              <a:p>
                <a:pPr marL="342900" indent="-342900" algn="just">
                  <a:spcAft>
                    <a:spcPts val="1800"/>
                  </a:spcAft>
                  <a:buFont typeface="Arial" panose="020B0604020202020204" pitchFamily="34" charset="0"/>
                  <a:buChar char="•"/>
                </a:pP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8 ml 0.01 M EDTA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8</m:t>
                        </m:r>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×0.0</m:t>
                        </m:r>
                        <m:r>
                          <a:rPr lang="en-US"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m:t>
                        </m:r>
                      </m:num>
                      <m:den>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1×0.01</m:t>
                        </m:r>
                      </m:den>
                    </m:f>
                  </m:oMath>
                </a14:m>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mg CaCO</a:t>
                </a:r>
                <a:r>
                  <a:rPr lang="en-IN" sz="2000" baseline="-25000" dirty="0">
                    <a:solidFill>
                      <a:schemeClr val="tx1"/>
                    </a:solidFill>
                    <a:latin typeface="Calibri" panose="020F0502020204030204" pitchFamily="34" charset="0"/>
                    <a:ea typeface="Cambria Math" panose="02040503050406030204" pitchFamily="18" charset="0"/>
                    <a:cs typeface="Calibri" panose="020F0502020204030204" pitchFamily="34" charset="0"/>
                  </a:rPr>
                  <a:t>3</a:t>
                </a: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 8 </a:t>
                </a:r>
                <a:r>
                  <a:rPr lang="en-IN" sz="2000" dirty="0">
                    <a:latin typeface="Calibri" panose="020F0502020204030204" pitchFamily="34" charset="0"/>
                    <a:ea typeface="Cambria Math" panose="02040503050406030204" pitchFamily="18" charset="0"/>
                    <a:cs typeface="Calibri" panose="020F0502020204030204" pitchFamily="34" charset="0"/>
                  </a:rPr>
                  <a:t>mg CaCO</a:t>
                </a:r>
                <a:r>
                  <a:rPr lang="en-IN" sz="2000" baseline="-25000" dirty="0">
                    <a:latin typeface="Calibri" panose="020F0502020204030204" pitchFamily="34" charset="0"/>
                    <a:ea typeface="Cambria Math" panose="02040503050406030204" pitchFamily="18" charset="0"/>
                    <a:cs typeface="Calibri" panose="020F0502020204030204" pitchFamily="34" charset="0"/>
                  </a:rPr>
                  <a:t>3</a:t>
                </a:r>
                <a:endParaRPr lang="en-IN" sz="2000" dirty="0">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18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Permanent hardness in 1000 ml = </a:t>
                </a:r>
                <a14:m>
                  <m:oMath xmlns:m="http://schemas.openxmlformats.org/officeDocument/2006/math">
                    <m:f>
                      <m:fPr>
                        <m:ctrlP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ctrlPr>
                      </m:fPr>
                      <m:num>
                        <m:r>
                          <a:rPr lang="en-US" sz="2000" b="0"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8</m:t>
                        </m:r>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m:t>
                        </m:r>
                        <m:r>
                          <a:rPr lang="en-US"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100</m:t>
                        </m:r>
                        <m:r>
                          <a:rPr lang="en-IN"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0</m:t>
                        </m:r>
                      </m:num>
                      <m:den>
                        <m:r>
                          <a:rPr lang="en-US" sz="2000"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100</m:t>
                        </m:r>
                      </m:den>
                    </m:f>
                  </m:oMath>
                </a14:m>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mg = 80 mg/L or 80 ppm</a:t>
                </a:r>
              </a:p>
              <a:p>
                <a:pPr marL="342900" lvl="0" indent="-342900" algn="just">
                  <a:spcAft>
                    <a:spcPts val="1800"/>
                  </a:spcAft>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Temporary hardness = (150 - 80) ppm = 70 ppm</a:t>
                </a:r>
              </a:p>
            </p:txBody>
          </p:sp>
        </mc:Choice>
        <mc:Fallback xmlns="">
          <p:sp>
            <p:nvSpPr>
              <p:cNvPr id="6" name="Rectangle 5">
                <a:extLst>
                  <a:ext uri="{FF2B5EF4-FFF2-40B4-BE49-F238E27FC236}">
                    <a16:creationId xmlns:a16="http://schemas.microsoft.com/office/drawing/2014/main" id="{84B8D902-E6FB-4A7D-A6EC-3172ADE0366D}"/>
                  </a:ext>
                </a:extLst>
              </p:cNvPr>
              <p:cNvSpPr>
                <a:spLocks noRot="1" noChangeAspect="1" noMove="1" noResize="1" noEditPoints="1" noAdjustHandles="1" noChangeArrowheads="1" noChangeShapeType="1" noTextEdit="1"/>
              </p:cNvSpPr>
              <p:nvPr/>
            </p:nvSpPr>
            <p:spPr>
              <a:xfrm>
                <a:off x="324650" y="2202733"/>
                <a:ext cx="8410276" cy="4158190"/>
              </a:xfrm>
              <a:prstGeom prst="rect">
                <a:avLst/>
              </a:prstGeom>
              <a:blipFill>
                <a:blip r:embed="rId4"/>
                <a:stretch>
                  <a:fillRect l="-725" t="-733" b="-1760"/>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4D4C3ADB-E725-7A82-1139-E8B9C1395D7C}"/>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887022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1026" name="Picture 2" descr="whatsapp-image-2016-09-09-at-16-56-32">
            <a:extLst>
              <a:ext uri="{FF2B5EF4-FFF2-40B4-BE49-F238E27FC236}">
                <a16:creationId xmlns:a16="http://schemas.microsoft.com/office/drawing/2014/main" id="{3DF7EAD7-E93F-B99E-5DE6-2DD39B50DC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688" b="8089"/>
          <a:stretch/>
        </p:blipFill>
        <p:spPr bwMode="auto">
          <a:xfrm>
            <a:off x="6506895" y="688436"/>
            <a:ext cx="5360455" cy="58039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4"/>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Practice 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432619" y="688436"/>
            <a:ext cx="5997492" cy="5776966"/>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 gm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was dissolved in HCl and the solution made up to 1000 ml with distilled water. 50 ml of the solution required 45 ml of EDTA solution for titration. 50 ml of hard water sample required 28 ml of EDTA and after boiling and filtering required 15 ml of EDTA solution. Calculate the hardness of water.</a:t>
            </a: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ANS: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Total hardness: 621.6 ppm, Permanent hardness: 333 ppm, Temp. hardness: 288.6 ppm</a:t>
            </a:r>
          </a:p>
        </p:txBody>
      </p:sp>
      <p:sp>
        <p:nvSpPr>
          <p:cNvPr id="2" name="Star: 5 Points 1">
            <a:extLst>
              <a:ext uri="{FF2B5EF4-FFF2-40B4-BE49-F238E27FC236}">
                <a16:creationId xmlns:a16="http://schemas.microsoft.com/office/drawing/2014/main" id="{6BC627DB-B148-0897-A37A-7F3B3FE7B1D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182248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5F1F92E1-2546-4C60-B4FB-B4340DB57F4C}"/>
              </a:ext>
            </a:extLst>
          </p:cNvPr>
          <p:cNvSpPr/>
          <p:nvPr/>
        </p:nvSpPr>
        <p:spPr>
          <a:xfrm>
            <a:off x="293974" y="699067"/>
            <a:ext cx="11537242" cy="1477328"/>
          </a:xfrm>
          <a:prstGeom prst="rect">
            <a:avLst/>
          </a:prstGeom>
        </p:spPr>
        <p:txBody>
          <a:bodyPr wrap="square">
            <a:spAutoFit/>
          </a:bodyPr>
          <a:lstStyle/>
          <a:p>
            <a:pPr lvl="0" algn="just">
              <a:spcAft>
                <a:spcPts val="12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0.28 g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 </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was dissolved in </a:t>
            </a:r>
            <a:r>
              <a:rPr lang="en-IN"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HCl</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and the solution was made to 1 lit with distilled water. 100 ml of this sample upon EDTA titration with EBT consumed 28 ml of EDTA till the end point was reached. </a:t>
            </a:r>
          </a:p>
          <a:p>
            <a:pPr lvl="0" algn="just">
              <a:spcAft>
                <a:spcPts val="12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100 ml of a hard water sample required 35 ml of the same EDTA solution on titration. After boiling, filtering, and titrating 100 ml of this water required 10 ml EDTA solution. Calculate the hardness of the water sample.  </a:t>
            </a:r>
            <a:endPar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A9EF52C9-AE94-407C-8872-AB8E7994AF0C}"/>
              </a:ext>
            </a:extLst>
          </p:cNvPr>
          <p:cNvSpPr/>
          <p:nvPr/>
        </p:nvSpPr>
        <p:spPr>
          <a:xfrm>
            <a:off x="293974" y="2281580"/>
            <a:ext cx="11434606" cy="4093428"/>
          </a:xfrm>
          <a:prstGeom prst="rect">
            <a:avLst/>
          </a:prstGeom>
        </p:spPr>
        <p:txBody>
          <a:bodyPr wrap="square">
            <a:spAutoFit/>
          </a:bodyPr>
          <a:lstStyle/>
          <a:p>
            <a:pPr lvl="0" algn="just">
              <a:spcAft>
                <a:spcPts val="24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r>
              <a:rPr lang="en-IN" sz="2000" dirty="0">
                <a:latin typeface="Calibri" panose="020F0502020204030204" pitchFamily="34" charset="0"/>
                <a:ea typeface="Calibri" panose="020F0502020204030204" pitchFamily="34" charset="0"/>
                <a:cs typeface="Times New Roman" panose="02020603050405020304" pitchFamily="18" charset="0"/>
              </a:rPr>
              <a:t> </a:t>
            </a:r>
            <a:endPar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2400"/>
              </a:spcAft>
              <a:buFont typeface="Arial" panose="020B0604020202020204" pitchFamily="34" charset="0"/>
              <a:buChar char="•"/>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ml 0.01 M EDTA</a:t>
            </a:r>
            <a:r>
              <a:rPr lang="en-IN" sz="20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 ≡ </a:t>
            </a:r>
            <a:r>
              <a:rPr lang="en-IN" sz="2000" dirty="0">
                <a:solidFill>
                  <a:srgbClr val="FF0000"/>
                </a:solidFill>
                <a:latin typeface="Calibri" panose="020F0502020204030204" pitchFamily="34" charset="0"/>
                <a:ea typeface="Cambria Math" panose="02040503050406030204" pitchFamily="18" charset="0"/>
                <a:cs typeface="Calibri" panose="020F0502020204030204" pitchFamily="34" charset="0"/>
              </a:rPr>
              <a:t>1 mg CaCO</a:t>
            </a:r>
            <a:r>
              <a:rPr lang="en-IN" sz="2000" baseline="-25000" dirty="0">
                <a:solidFill>
                  <a:srgbClr val="FF0000"/>
                </a:solidFill>
                <a:latin typeface="Calibri" panose="020F0502020204030204" pitchFamily="34" charset="0"/>
                <a:ea typeface="Cambria Math" panose="02040503050406030204" pitchFamily="18" charset="0"/>
                <a:cs typeface="Calibri" panose="020F0502020204030204" pitchFamily="34" charset="0"/>
              </a:rPr>
              <a:t>3</a:t>
            </a:r>
            <a:endParaRPr lang="en-IN" sz="2000" dirty="0">
              <a:solidFill>
                <a:srgbClr val="FF0000"/>
              </a:solidFill>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2400"/>
              </a:spcAft>
              <a:buFont typeface="Arial" panose="020B0604020202020204" pitchFamily="34" charset="0"/>
              <a:buChar char="•"/>
            </a:pP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0.28 g = 280 mg in 1 lit water </a:t>
            </a: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280 ppm or 280 mg/L</a:t>
            </a:r>
          </a:p>
          <a:p>
            <a:pPr marL="342900" indent="-342900" algn="just">
              <a:spcAft>
                <a:spcPts val="2400"/>
              </a:spcAft>
              <a:buFont typeface="Arial" panose="020B0604020202020204" pitchFamily="34" charset="0"/>
              <a:buChar char="•"/>
            </a:pP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100 ml of this solution (28 mg CaCO</a:t>
            </a:r>
            <a:r>
              <a:rPr lang="en-IN" sz="2000" baseline="-25000" dirty="0">
                <a:solidFill>
                  <a:schemeClr val="tx1"/>
                </a:solidFill>
                <a:latin typeface="Calibri" panose="020F0502020204030204" pitchFamily="34" charset="0"/>
                <a:ea typeface="Cambria Math" panose="02040503050406030204" pitchFamily="18" charset="0"/>
                <a:cs typeface="Calibri" panose="020F0502020204030204" pitchFamily="34" charset="0"/>
              </a:rPr>
              <a:t>3</a:t>
            </a:r>
            <a:r>
              <a:rPr lang="en-IN"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consumes 28 ml of EDTA i.e., EDTA is of strength 0.01 M </a:t>
            </a:r>
            <a:endPar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2400"/>
              </a:spcAft>
              <a:buFont typeface="Arial" panose="020B0604020202020204" pitchFamily="34" charset="0"/>
              <a:buChar char="•"/>
            </a:pP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Total: 35 ml 0.01 M EDTA for 100 ml </a:t>
            </a: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sym typeface="Wingdings" panose="05000000000000000000" pitchFamily="2" charset="2"/>
              </a:rPr>
              <a:t> 350 ppm</a:t>
            </a:r>
            <a:endPar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endParaRPr>
          </a:p>
          <a:p>
            <a:pPr marL="342900" indent="-342900" algn="just">
              <a:spcAft>
                <a:spcPts val="2400"/>
              </a:spcAft>
              <a:buFont typeface="Arial" panose="020B0604020202020204" pitchFamily="34" charset="0"/>
              <a:buChar char="•"/>
            </a:pP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Permanent: 10 ml 0.01 M EDTA  for 100 ml </a:t>
            </a: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sym typeface="Wingdings" panose="05000000000000000000" pitchFamily="2" charset="2"/>
              </a:rPr>
              <a:t></a:t>
            </a: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 100 ppm</a:t>
            </a:r>
          </a:p>
          <a:p>
            <a:pPr marL="342900" indent="-342900" algn="just">
              <a:spcAft>
                <a:spcPts val="2400"/>
              </a:spcAft>
              <a:buFont typeface="Arial" panose="020B0604020202020204" pitchFamily="34" charset="0"/>
              <a:buChar char="•"/>
            </a:pPr>
            <a:r>
              <a:rPr lang="en-US" sz="2000" dirty="0">
                <a:solidFill>
                  <a:schemeClr val="tx1"/>
                </a:solidFill>
                <a:latin typeface="Calibri" panose="020F0502020204030204" pitchFamily="34" charset="0"/>
                <a:ea typeface="Cambria Math" panose="02040503050406030204" pitchFamily="18" charset="0"/>
                <a:cs typeface="Calibri" panose="020F0502020204030204" pitchFamily="34" charset="0"/>
              </a:rPr>
              <a:t>Temporary = (350-100) ppm = 250 ppm</a:t>
            </a:r>
            <a:endPar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Star: 5 Points 1">
            <a:extLst>
              <a:ext uri="{FF2B5EF4-FFF2-40B4-BE49-F238E27FC236}">
                <a16:creationId xmlns:a16="http://schemas.microsoft.com/office/drawing/2014/main" id="{486783DC-141F-E918-6EC8-5EFC2129092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3766312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2050" name="Picture 2" descr="whatsapp-image-2016-09-09-at-16-56-32-1">
            <a:extLst>
              <a:ext uri="{FF2B5EF4-FFF2-40B4-BE49-F238E27FC236}">
                <a16:creationId xmlns:a16="http://schemas.microsoft.com/office/drawing/2014/main" id="{79DACD8F-D8D3-F988-F9D1-61760B173E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295" b="10094"/>
          <a:stretch/>
        </p:blipFill>
        <p:spPr bwMode="auto">
          <a:xfrm>
            <a:off x="6945586" y="688436"/>
            <a:ext cx="4968735" cy="573202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4"/>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Practice 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324650" y="753610"/>
            <a:ext cx="6518603" cy="5776966"/>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0.45 gm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was dissolved in HCI and the solution made up to 500 ml with distilled water. 50 ml of the solution required 50 ml of EDTA solution for titration. 50 ml of hard water sample required 18 ml of EDTA and after boiling and filtering required 10 ml of EDTA solution. Calculate each type of hardness of water.</a:t>
            </a: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ANS: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Total hardness: 324 ppm, Permanent hardness: 180 ppm, Temp. hardness: 144 ppm</a:t>
            </a:r>
          </a:p>
        </p:txBody>
      </p:sp>
      <p:sp>
        <p:nvSpPr>
          <p:cNvPr id="2" name="Star: 5 Points 1">
            <a:extLst>
              <a:ext uri="{FF2B5EF4-FFF2-40B4-BE49-F238E27FC236}">
                <a16:creationId xmlns:a16="http://schemas.microsoft.com/office/drawing/2014/main" id="{634626E3-B05A-24F4-87E2-B9839F87C77C}"/>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6077507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3074" name="Picture 2">
            <a:extLst>
              <a:ext uri="{FF2B5EF4-FFF2-40B4-BE49-F238E27FC236}">
                <a16:creationId xmlns:a16="http://schemas.microsoft.com/office/drawing/2014/main" id="{E36DE403-044B-E5F8-1109-730A6F7507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932" b="22868"/>
          <a:stretch/>
        </p:blipFill>
        <p:spPr bwMode="auto">
          <a:xfrm>
            <a:off x="6069241" y="717944"/>
            <a:ext cx="5677999" cy="56730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4"/>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Practice 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324650" y="659765"/>
            <a:ext cx="5535377" cy="5700022"/>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1.53m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was dissolved in HCI and the solution made up to 1000 ml with distilled water. 50 ml of the solution required 32 ml of EDTA solution for titration. 50 ml of hard water sample required 16 ml of EDTA and after boiling and filtering required 9 ml of EDTA solution. Calculate temporary, permanent and total hardness of water.</a:t>
            </a:r>
          </a:p>
          <a:p>
            <a:pPr lvl="1"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1"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1"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1"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1"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1"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ANS: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Total hardness: 748.8 ppm, Permanent hardness: 270 ppm, Temp. hardness: 478.8 ppm</a:t>
            </a:r>
          </a:p>
        </p:txBody>
      </p:sp>
      <p:sp>
        <p:nvSpPr>
          <p:cNvPr id="2" name="Star: 5 Points 1">
            <a:extLst>
              <a:ext uri="{FF2B5EF4-FFF2-40B4-BE49-F238E27FC236}">
                <a16:creationId xmlns:a16="http://schemas.microsoft.com/office/drawing/2014/main" id="{34FEC85D-B704-4E90-5CE0-F5C10B3AA434}"/>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677423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4098" name="Picture 2">
            <a:extLst>
              <a:ext uri="{FF2B5EF4-FFF2-40B4-BE49-F238E27FC236}">
                <a16:creationId xmlns:a16="http://schemas.microsoft.com/office/drawing/2014/main" id="{9A2C47B8-D9D9-91B0-DBF8-ACEFBB5B70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78" b="24157"/>
          <a:stretch/>
        </p:blipFill>
        <p:spPr bwMode="auto">
          <a:xfrm>
            <a:off x="6341807" y="726954"/>
            <a:ext cx="5405434" cy="567871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4"/>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324650" y="628705"/>
            <a:ext cx="5909003" cy="5776966"/>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0.30 gm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was dissolved in HCl and the solution made up to 1000 ml with distilled water. 100 ml of the solution required 30 ml of EDTA solution for titration. 100 ml of hard water sample required 35 ml of EDTA and after boiling and filtering required 12 ml of EDTA solution. Calculate temporary hardness of water.</a:t>
            </a: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ANS: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Total hardness: 350 ppm, Permanent hardness: 120 ppm, Temp. hardness: 230ppm</a:t>
            </a:r>
          </a:p>
        </p:txBody>
      </p:sp>
      <p:sp>
        <p:nvSpPr>
          <p:cNvPr id="2" name="Star: 5 Points 1">
            <a:extLst>
              <a:ext uri="{FF2B5EF4-FFF2-40B4-BE49-F238E27FC236}">
                <a16:creationId xmlns:a16="http://schemas.microsoft.com/office/drawing/2014/main" id="{9F83691F-A316-0AF6-5296-E060730C1596}"/>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242192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5122" name="Picture 2" descr="whatsapp-image-2016-09-09-at-16-56-32-3">
            <a:extLst>
              <a:ext uri="{FF2B5EF4-FFF2-40B4-BE49-F238E27FC236}">
                <a16:creationId xmlns:a16="http://schemas.microsoft.com/office/drawing/2014/main" id="{600913C5-0B92-1D23-490F-5283724D2B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42" b="8388"/>
          <a:stretch/>
        </p:blipFill>
        <p:spPr bwMode="auto">
          <a:xfrm>
            <a:off x="6519603" y="717944"/>
            <a:ext cx="5227637" cy="57244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4"/>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324650" y="753610"/>
            <a:ext cx="6017157" cy="5776966"/>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0.25 gm of CaCO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was dissolved in HCI and the solution made up to 250 ml with distilled water. 50 ml of the solution required 20 ml of EDTA solution for titration. 50 ml of hard water sample required 18 ml of EDTA and after boiling and filtering required 10 ml of EDTA solution. Calculate temporary hardness of water.</a:t>
            </a: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endPar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ANS: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Total hardness: 900 ppm, Permanent hardness: 500 ppm, Temp. hardness: 400ppm</a:t>
            </a:r>
          </a:p>
        </p:txBody>
      </p:sp>
      <p:sp>
        <p:nvSpPr>
          <p:cNvPr id="2" name="Star: 5 Points 1">
            <a:extLst>
              <a:ext uri="{FF2B5EF4-FFF2-40B4-BE49-F238E27FC236}">
                <a16:creationId xmlns:a16="http://schemas.microsoft.com/office/drawing/2014/main" id="{43137ECD-A8C1-1664-5768-C6514627AFB5}"/>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038132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3C2A4C5-132B-47C1-9876-CCFEA4D8046A}"/>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6D3E38BA-0F08-48C6-AE40-E62A25EE6BA2}"/>
              </a:ext>
            </a:extLst>
          </p:cNvPr>
          <p:cNvSpPr/>
          <p:nvPr/>
        </p:nvSpPr>
        <p:spPr>
          <a:xfrm>
            <a:off x="563811" y="688436"/>
            <a:ext cx="9173497" cy="3330142"/>
          </a:xfrm>
          <a:prstGeom prst="rect">
            <a:avLst/>
          </a:prstGeom>
        </p:spPr>
        <p:txBody>
          <a:bodyPr wrap="square">
            <a:spAutoFit/>
          </a:bodyPr>
          <a:lstStyle/>
          <a:p>
            <a:pPr lvl="0" algn="just">
              <a:lnSpc>
                <a:spcPct val="120000"/>
              </a:lnSpc>
              <a:spcAft>
                <a:spcPts val="600"/>
              </a:spcAft>
            </a:pP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25 ml of standard hard water consumes 12 ml of standard EDTA solution. 25 ml of hard water sample consumes 8 ml of EDTA solution. After boiling the sample, 25 ml of this sample consumed 6 ml of standard EDTA solution. Calculate the hardness of the water sample.  Standard hard water = 1000 ppm</a:t>
            </a:r>
          </a:p>
          <a:p>
            <a:pPr lvl="0" algn="just">
              <a:lnSpc>
                <a:spcPct val="120000"/>
              </a:lnSpc>
              <a:spcAft>
                <a:spcPts val="6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	ANS:</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Total hardness: 666.67 ppm, </a:t>
            </a:r>
          </a:p>
          <a:p>
            <a:pPr lvl="0" algn="just">
              <a:lnSpc>
                <a:spcPct val="120000"/>
              </a:lnSpc>
              <a:spcAft>
                <a:spcPts val="600"/>
              </a:spcAft>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Permanent hardness: 500 ppm, </a:t>
            </a:r>
          </a:p>
          <a:p>
            <a:pPr lvl="0" algn="just">
              <a:lnSpc>
                <a:spcPct val="120000"/>
              </a:lnSpc>
              <a:spcAft>
                <a:spcPts val="600"/>
              </a:spcAft>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Temp. hardness = 166.67 ppm</a:t>
            </a:r>
          </a:p>
          <a:p>
            <a:pPr marL="342900" lvl="0" indent="-342900" algn="just">
              <a:lnSpc>
                <a:spcPct val="120000"/>
              </a:lnSpc>
              <a:spcAft>
                <a:spcPts val="6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Star: 5 Points 1">
            <a:extLst>
              <a:ext uri="{FF2B5EF4-FFF2-40B4-BE49-F238E27FC236}">
                <a16:creationId xmlns:a16="http://schemas.microsoft.com/office/drawing/2014/main" id="{9CCEC930-FA31-4A50-4045-49D97F86FAF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45067891"/>
      </p:ext>
    </p:extLst>
  </p:cSld>
  <p:clrMapOvr>
    <a:masterClrMapping/>
  </p:clrMapOvr>
  <p:transition spd="slow">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9069691E-EE07-4B63-9B9A-7F5BAEBE6AB6}"/>
              </a:ext>
            </a:extLst>
          </p:cNvPr>
          <p:cNvSpPr/>
          <p:nvPr/>
        </p:nvSpPr>
        <p:spPr>
          <a:xfrm>
            <a:off x="324650" y="623687"/>
            <a:ext cx="11413260" cy="707886"/>
          </a:xfrm>
          <a:prstGeom prst="rect">
            <a:avLst/>
          </a:prstGeom>
        </p:spPr>
        <p:txBody>
          <a:bodyPr wrap="square">
            <a:spAutoFit/>
          </a:bodyPr>
          <a:lstStyle/>
          <a:p>
            <a:pPr algn="just">
              <a:spcAft>
                <a:spcPts val="600"/>
              </a:spcAft>
            </a:pPr>
            <a:r>
              <a:rPr lang="en-US" sz="2000" dirty="0">
                <a:solidFill>
                  <a:srgbClr val="FF0000"/>
                </a:solidFill>
                <a:latin typeface="Calibri" panose="020F0502020204030204" pitchFamily="34" charset="0"/>
                <a:cs typeface="Calibri" panose="020F0502020204030204" pitchFamily="34" charset="0"/>
              </a:rPr>
              <a:t>A water sample contains 200 mg of CaSO</a:t>
            </a:r>
            <a:r>
              <a:rPr lang="en-US" sz="2000" baseline="-25000" dirty="0">
                <a:solidFill>
                  <a:srgbClr val="FF0000"/>
                </a:solidFill>
                <a:latin typeface="Calibri" panose="020F0502020204030204" pitchFamily="34" charset="0"/>
                <a:cs typeface="Calibri" panose="020F0502020204030204" pitchFamily="34" charset="0"/>
              </a:rPr>
              <a:t>4</a:t>
            </a:r>
            <a:r>
              <a:rPr lang="en-US" sz="2000" dirty="0">
                <a:solidFill>
                  <a:srgbClr val="FF0000"/>
                </a:solidFill>
                <a:latin typeface="Calibri" panose="020F0502020204030204" pitchFamily="34" charset="0"/>
                <a:cs typeface="Calibri" panose="020F0502020204030204" pitchFamily="34" charset="0"/>
              </a:rPr>
              <a:t> per liter. Calculate the hardness in terms of CaCO</a:t>
            </a:r>
            <a:r>
              <a:rPr lang="en-US" sz="2000" baseline="-25000" dirty="0">
                <a:solidFill>
                  <a:srgbClr val="FF0000"/>
                </a:solidFill>
                <a:latin typeface="Calibri" panose="020F0502020204030204" pitchFamily="34" charset="0"/>
                <a:cs typeface="Calibri" panose="020F0502020204030204" pitchFamily="34" charset="0"/>
              </a:rPr>
              <a:t>3</a:t>
            </a:r>
            <a:r>
              <a:rPr lang="en-US" sz="2000" dirty="0">
                <a:solidFill>
                  <a:srgbClr val="FF0000"/>
                </a:solidFill>
                <a:latin typeface="Calibri" panose="020F0502020204030204" pitchFamily="34" charset="0"/>
                <a:cs typeface="Calibri" panose="020F0502020204030204" pitchFamily="34" charset="0"/>
              </a:rPr>
              <a:t> equivalent in mg/L, ppm, </a:t>
            </a:r>
            <a:r>
              <a:rPr lang="en-US" sz="2000" baseline="30000" dirty="0" err="1">
                <a:solidFill>
                  <a:srgbClr val="FF0000"/>
                </a:solidFill>
                <a:latin typeface="Calibri" panose="020F0502020204030204" pitchFamily="34" charset="0"/>
                <a:cs typeface="Calibri" panose="020F0502020204030204" pitchFamily="34" charset="0"/>
              </a:rPr>
              <a:t>o</a:t>
            </a:r>
            <a:r>
              <a:rPr lang="en-US" sz="2000" dirty="0" err="1">
                <a:solidFill>
                  <a:srgbClr val="FF0000"/>
                </a:solidFill>
                <a:latin typeface="Calibri" panose="020F0502020204030204" pitchFamily="34" charset="0"/>
                <a:cs typeface="Calibri" panose="020F0502020204030204" pitchFamily="34" charset="0"/>
              </a:rPr>
              <a:t>Cl</a:t>
            </a:r>
            <a:r>
              <a:rPr lang="en-US" sz="2000" dirty="0">
                <a:solidFill>
                  <a:srgbClr val="FF0000"/>
                </a:solidFill>
                <a:latin typeface="Calibri" panose="020F0502020204030204" pitchFamily="34" charset="0"/>
                <a:cs typeface="Calibri" panose="020F0502020204030204" pitchFamily="34" charset="0"/>
              </a:rPr>
              <a:t> and </a:t>
            </a:r>
            <a:r>
              <a:rPr lang="en-US" sz="2000" baseline="30000" dirty="0" err="1">
                <a:solidFill>
                  <a:srgbClr val="FF0000"/>
                </a:solidFill>
                <a:latin typeface="Calibri" panose="020F0502020204030204" pitchFamily="34" charset="0"/>
                <a:cs typeface="Calibri" panose="020F0502020204030204" pitchFamily="34" charset="0"/>
              </a:rPr>
              <a:t>o</a:t>
            </a:r>
            <a:r>
              <a:rPr lang="en-US" sz="2000" dirty="0" err="1">
                <a:solidFill>
                  <a:srgbClr val="FF0000"/>
                </a:solidFill>
                <a:latin typeface="Calibri" panose="020F0502020204030204" pitchFamily="34" charset="0"/>
                <a:cs typeface="Calibri" panose="020F0502020204030204" pitchFamily="34" charset="0"/>
              </a:rPr>
              <a:t>Fr</a:t>
            </a:r>
            <a:r>
              <a:rPr lang="en-US" sz="2000" dirty="0">
                <a:solidFill>
                  <a:srgbClr val="FF0000"/>
                </a:solidFill>
                <a:latin typeface="Calibri" panose="020F0502020204030204" pitchFamily="34" charset="0"/>
                <a:cs typeface="Calibri" panose="020F0502020204030204" pitchFamily="34" charset="0"/>
              </a:rPr>
              <a:t>.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093AC8B-BBE4-4083-B49C-B56A22F14CB5}"/>
                  </a:ext>
                </a:extLst>
              </p:cNvPr>
              <p:cNvSpPr/>
              <p:nvPr/>
            </p:nvSpPr>
            <p:spPr>
              <a:xfrm>
                <a:off x="293973" y="1518828"/>
                <a:ext cx="10669495" cy="4129913"/>
              </a:xfrm>
              <a:prstGeom prst="rect">
                <a:avLst/>
              </a:prstGeom>
            </p:spPr>
            <p:txBody>
              <a:bodyPr wrap="square">
                <a:spAutoFit/>
              </a:bodyPr>
              <a:lstStyle/>
              <a:p>
                <a:pPr lvl="0" algn="just"/>
                <a:r>
                  <a:rPr lang="en-US" sz="2000" b="1" dirty="0">
                    <a:latin typeface="Calibri" panose="020F0502020204030204" pitchFamily="34" charset="0"/>
                    <a:ea typeface="Calibri" panose="020F0502020204030204" pitchFamily="34" charset="0"/>
                    <a:cs typeface="Calibri" panose="020F0502020204030204" pitchFamily="34" charset="0"/>
                  </a:rPr>
                  <a:t>Answer:</a:t>
                </a:r>
              </a:p>
              <a:p>
                <a:pPr algn="just">
                  <a:spcAft>
                    <a:spcPts val="1200"/>
                  </a:spcAft>
                </a:pPr>
                <a14:m>
                  <m:oMathPara xmlns:m="http://schemas.openxmlformats.org/officeDocument/2006/math">
                    <m:oMathParaPr>
                      <m:jc m:val="centerGroup"/>
                    </m:oMathParaPr>
                    <m:oMath xmlns:m="http://schemas.openxmlformats.org/officeDocument/2006/math">
                      <m:r>
                        <a:rPr lang="en-US" sz="2000" b="0" i="0" dirty="0" smtClean="0">
                          <a:latin typeface="Cambria Math" panose="02040503050406030204" pitchFamily="18" charset="0"/>
                        </a:rPr>
                        <m:t>=</m:t>
                      </m:r>
                      <m:r>
                        <a:rPr lang="en-US" sz="2000" i="1" dirty="0">
                          <a:latin typeface="Cambria Math" panose="02040503050406030204" pitchFamily="18" charset="0"/>
                        </a:rPr>
                        <m:t>𝑊𝑒𝑖𝑔h𝑡</m:t>
                      </m:r>
                      <m:r>
                        <a:rPr lang="en-US" sz="2000" i="1" dirty="0">
                          <a:latin typeface="Cambria Math" panose="02040503050406030204" pitchFamily="18" charset="0"/>
                        </a:rPr>
                        <m:t> </m:t>
                      </m:r>
                      <m:r>
                        <a:rPr lang="en-US" sz="2000" i="1" dirty="0">
                          <a:latin typeface="Cambria Math" panose="02040503050406030204" pitchFamily="18" charset="0"/>
                        </a:rPr>
                        <m:t>𝑜𝑓</m:t>
                      </m:r>
                      <m:r>
                        <a:rPr lang="en-US" sz="2000" i="1" dirty="0">
                          <a:latin typeface="Cambria Math" panose="02040503050406030204" pitchFamily="18" charset="0"/>
                        </a:rPr>
                        <m:t> </m:t>
                      </m:r>
                      <m:r>
                        <a:rPr lang="en-US" sz="2000" i="1" dirty="0">
                          <a:latin typeface="Cambria Math" panose="02040503050406030204" pitchFamily="18" charset="0"/>
                        </a:rPr>
                        <m:t>𝐶𝑎𝑆𝑂</m:t>
                      </m:r>
                      <m:r>
                        <a:rPr lang="en-US" sz="2000" i="1" baseline="-25000" dirty="0">
                          <a:latin typeface="Cambria Math" panose="02040503050406030204" pitchFamily="18" charset="0"/>
                        </a:rPr>
                        <m:t>4</m:t>
                      </m:r>
                      <m:r>
                        <a:rPr lang="en-US" sz="2000" i="1" dirty="0">
                          <a:latin typeface="Cambria Math" panose="02040503050406030204" pitchFamily="18" charset="0"/>
                        </a:rPr>
                        <m:t> </m:t>
                      </m:r>
                      <m:r>
                        <a:rPr lang="en-US" sz="2000" i="1" dirty="0">
                          <a:latin typeface="Cambria Math" panose="02040503050406030204" pitchFamily="18" charset="0"/>
                        </a:rPr>
                        <m:t>𝑖𝑛</m:t>
                      </m:r>
                      <m:f>
                        <m:fPr>
                          <m:ctrlPr>
                            <a:rPr lang="en-US" sz="2000" i="1" dirty="0">
                              <a:latin typeface="Cambria Math" panose="02040503050406030204" pitchFamily="18" charset="0"/>
                            </a:rPr>
                          </m:ctrlPr>
                        </m:fPr>
                        <m:num>
                          <m:r>
                            <a:rPr lang="en-US" sz="2000" b="0" i="1" dirty="0">
                              <a:latin typeface="Cambria Math" panose="02040503050406030204" pitchFamily="18" charset="0"/>
                            </a:rPr>
                            <m:t>𝑚𝑔</m:t>
                          </m:r>
                        </m:num>
                        <m:den>
                          <m:r>
                            <a:rPr lang="en-US" sz="2000" b="0" i="1" dirty="0">
                              <a:latin typeface="Cambria Math" panose="02040503050406030204" pitchFamily="18" charset="0"/>
                            </a:rPr>
                            <m:t>𝐿</m:t>
                          </m:r>
                        </m:den>
                      </m:f>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𝐸𝑞</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𝑤𝑒𝑖𝑔h𝑡</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𝑜𝑓</m:t>
                          </m:r>
                          <m:r>
                            <a:rPr lang="en-US" sz="2000" b="0" i="1" dirty="0" smtClean="0">
                              <a:latin typeface="Cambria Math" panose="02040503050406030204" pitchFamily="18" charset="0"/>
                            </a:rPr>
                            <m:t> </m:t>
                          </m:r>
                          <m:r>
                            <a:rPr lang="en-US" sz="2000" b="0" i="1" dirty="0" smtClean="0">
                              <a:latin typeface="Cambria Math" panose="02040503050406030204" pitchFamily="18" charset="0"/>
                            </a:rPr>
                            <m:t>𝐶𝑎𝐶</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𝑂</m:t>
                              </m:r>
                            </m:e>
                            <m:sub>
                              <m:r>
                                <a:rPr lang="en-US" sz="2000" b="0" i="1" dirty="0" smtClean="0">
                                  <a:latin typeface="Cambria Math" panose="02040503050406030204" pitchFamily="18" charset="0"/>
                                </a:rPr>
                                <m:t>3</m:t>
                              </m:r>
                            </m:sub>
                          </m:sSub>
                        </m:num>
                        <m:den>
                          <m:r>
                            <a:rPr lang="en-US" sz="2000" b="0" i="1" dirty="0" smtClean="0">
                              <a:latin typeface="Cambria Math" panose="02040503050406030204" pitchFamily="18" charset="0"/>
                            </a:rPr>
                            <m:t>𝐸𝑞</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𝑤𝑒𝑖𝑔h𝑡</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𝑜𝑓</m:t>
                          </m:r>
                          <m:r>
                            <a:rPr lang="en-US" sz="2000" b="0" i="1" dirty="0" smtClean="0">
                              <a:latin typeface="Cambria Math" panose="02040503050406030204" pitchFamily="18" charset="0"/>
                            </a:rPr>
                            <m:t> </m:t>
                          </m:r>
                          <m:r>
                            <a:rPr lang="en-US" sz="2000" b="0" i="1" dirty="0" smtClean="0">
                              <a:latin typeface="Cambria Math" panose="02040503050406030204" pitchFamily="18" charset="0"/>
                            </a:rPr>
                            <m:t>𝐶𝑎𝑆</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𝑂</m:t>
                              </m:r>
                            </m:e>
                            <m:sub>
                              <m:r>
                                <a:rPr lang="en-US" sz="2000" b="0" i="1" dirty="0" smtClean="0">
                                  <a:latin typeface="Cambria Math" panose="02040503050406030204" pitchFamily="18" charset="0"/>
                                </a:rPr>
                                <m:t>4</m:t>
                              </m:r>
                            </m:sub>
                          </m:sSub>
                        </m:den>
                      </m:f>
                    </m:oMath>
                  </m:oMathPara>
                </a14:m>
                <a:endParaRPr lang="en-US" sz="2000" b="0" dirty="0"/>
              </a:p>
              <a:p>
                <a:pPr algn="just">
                  <a:lnSpc>
                    <a:spcPct val="150000"/>
                  </a:lnSpc>
                  <a:spcAft>
                    <a:spcPts val="1200"/>
                  </a:spcAft>
                </a:pPr>
                <a14:m>
                  <m:oMathPara xmlns:m="http://schemas.openxmlformats.org/officeDocument/2006/math">
                    <m:oMathParaPr>
                      <m:jc m:val="centerGroup"/>
                    </m:oMathParaPr>
                    <m:oMath xmlns:m="http://schemas.openxmlformats.org/officeDocument/2006/math">
                      <m:r>
                        <a:rPr lang="en-US" sz="2000" dirty="0">
                          <a:latin typeface="Cambria Math" panose="02040503050406030204" pitchFamily="18" charset="0"/>
                        </a:rPr>
                        <m:t>=</m:t>
                      </m:r>
                      <m:r>
                        <a:rPr lang="en-US" sz="2000" b="0" i="1" dirty="0" smtClean="0">
                          <a:latin typeface="Cambria Math" panose="02040503050406030204" pitchFamily="18" charset="0"/>
                        </a:rPr>
                        <m:t>200</m:t>
                      </m:r>
                      <m:f>
                        <m:fPr>
                          <m:ctrlPr>
                            <a:rPr lang="en-US" sz="2000" i="1" dirty="0">
                              <a:latin typeface="Cambria Math" panose="02040503050406030204" pitchFamily="18" charset="0"/>
                            </a:rPr>
                          </m:ctrlPr>
                        </m:fPr>
                        <m:num>
                          <m:r>
                            <a:rPr lang="en-US" sz="2000" b="0" i="1" dirty="0">
                              <a:latin typeface="Cambria Math" panose="02040503050406030204" pitchFamily="18" charset="0"/>
                            </a:rPr>
                            <m:t>𝑚𝑔</m:t>
                          </m:r>
                        </m:num>
                        <m:den>
                          <m:r>
                            <a:rPr lang="en-US" sz="2000" b="0" i="1" dirty="0">
                              <a:latin typeface="Cambria Math" panose="02040503050406030204" pitchFamily="18" charset="0"/>
                            </a:rPr>
                            <m:t>𝐿</m:t>
                          </m:r>
                        </m:den>
                      </m:f>
                      <m:r>
                        <a:rPr lang="en-US" sz="2000" b="0" i="1" dirty="0">
                          <a:latin typeface="Cambria Math" panose="02040503050406030204" pitchFamily="18" charset="0"/>
                        </a:rPr>
                        <m:t>×</m:t>
                      </m:r>
                      <m:f>
                        <m:fPr>
                          <m:ctrlPr>
                            <a:rPr lang="en-US" sz="2000" i="1" dirty="0">
                              <a:latin typeface="Cambria Math" panose="02040503050406030204" pitchFamily="18" charset="0"/>
                            </a:rPr>
                          </m:ctrlPr>
                        </m:fPr>
                        <m:num>
                          <m:r>
                            <a:rPr lang="en-US" sz="2000" b="0" i="1" dirty="0" smtClean="0">
                              <a:latin typeface="Cambria Math" panose="02040503050406030204" pitchFamily="18" charset="0"/>
                            </a:rPr>
                            <m:t>100/2</m:t>
                          </m:r>
                        </m:num>
                        <m:den>
                          <m:r>
                            <a:rPr lang="en-US" sz="2000" b="0" i="1" dirty="0" smtClean="0">
                              <a:latin typeface="Cambria Math" panose="02040503050406030204" pitchFamily="18" charset="0"/>
                            </a:rPr>
                            <m:t>136/2</m:t>
                          </m:r>
                        </m:den>
                      </m:f>
                      <m:r>
                        <a:rPr lang="en-US" sz="2000" b="0" i="1" dirty="0" smtClean="0">
                          <a:latin typeface="Cambria Math" panose="02040503050406030204" pitchFamily="18" charset="0"/>
                        </a:rPr>
                        <m:t>=</m:t>
                      </m:r>
                      <m:r>
                        <a:rPr lang="en-US" sz="2000" b="1" i="1" dirty="0" smtClean="0">
                          <a:latin typeface="Cambria Math" panose="02040503050406030204" pitchFamily="18" charset="0"/>
                        </a:rPr>
                        <m:t>𝟏𝟒𝟕</m:t>
                      </m:r>
                      <m:r>
                        <a:rPr lang="en-US" sz="2000" b="1" i="1" dirty="0" smtClean="0">
                          <a:latin typeface="Cambria Math" panose="02040503050406030204" pitchFamily="18" charset="0"/>
                        </a:rPr>
                        <m:t>.</m:t>
                      </m:r>
                      <m:r>
                        <a:rPr lang="en-US" sz="2000" b="1" i="1" dirty="0" smtClean="0">
                          <a:latin typeface="Cambria Math" panose="02040503050406030204" pitchFamily="18" charset="0"/>
                        </a:rPr>
                        <m:t>𝟎𝟔</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𝑚𝑔</m:t>
                          </m:r>
                        </m:num>
                        <m:den>
                          <m:r>
                            <a:rPr lang="en-US" sz="2000" b="0" i="1" dirty="0" smtClean="0">
                              <a:latin typeface="Cambria Math" panose="02040503050406030204" pitchFamily="18" charset="0"/>
                            </a:rPr>
                            <m:t>𝐿</m:t>
                          </m:r>
                        </m:den>
                      </m:f>
                      <m:r>
                        <a:rPr lang="en-US" sz="2000" b="0" i="1" dirty="0" smtClean="0">
                          <a:latin typeface="Cambria Math" panose="02040503050406030204" pitchFamily="18" charset="0"/>
                        </a:rPr>
                        <m:t>𝑜𝑟</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𝑝𝑝𝑚</m:t>
                      </m:r>
                    </m:oMath>
                  </m:oMathPara>
                </a14:m>
                <a:endParaRPr lang="en-US" sz="2000" dirty="0"/>
              </a:p>
              <a:p>
                <a:pPr algn="just">
                  <a:spcAft>
                    <a:spcPts val="1200"/>
                  </a:spcAft>
                </a:pPr>
                <a14:m>
                  <m:oMathPara xmlns:m="http://schemas.openxmlformats.org/officeDocument/2006/math">
                    <m:oMathParaPr>
                      <m:jc m:val="centerGroup"/>
                    </m:oMathParaPr>
                    <m:oMath xmlns:m="http://schemas.openxmlformats.org/officeDocument/2006/math">
                      <m:r>
                        <a:rPr lang="en-US" altLang="en-US" sz="2000" b="1" i="1" dirty="0" smtClean="0">
                          <a:solidFill>
                            <a:srgbClr val="FF0000"/>
                          </a:solidFill>
                          <a:latin typeface="Cambria Math" panose="02040503050406030204" pitchFamily="18" charset="0"/>
                          <a:cs typeface="Calibri" panose="020F0502020204030204" pitchFamily="34" charset="0"/>
                        </a:rPr>
                        <m:t>𝟏</m:t>
                      </m:r>
                      <m:r>
                        <a:rPr lang="en-US" altLang="en-US" sz="2000" b="1" i="1" dirty="0" smtClean="0">
                          <a:solidFill>
                            <a:srgbClr val="FF0000"/>
                          </a:solidFill>
                          <a:latin typeface="Cambria Math" panose="02040503050406030204" pitchFamily="18" charset="0"/>
                          <a:cs typeface="Calibri" panose="020F0502020204030204" pitchFamily="34" charset="0"/>
                        </a:rPr>
                        <m:t> °</m:t>
                      </m:r>
                      <m:r>
                        <a:rPr lang="en-US" altLang="en-US" sz="2000" b="1" i="1" dirty="0" smtClean="0">
                          <a:solidFill>
                            <a:srgbClr val="FF0000"/>
                          </a:solidFill>
                          <a:latin typeface="Cambria Math" panose="02040503050406030204" pitchFamily="18" charset="0"/>
                          <a:cs typeface="Calibri" panose="020F0502020204030204" pitchFamily="34" charset="0"/>
                        </a:rPr>
                        <m:t>𝑪𝒍</m:t>
                      </m:r>
                      <m:r>
                        <a:rPr lang="en-US" altLang="en-US" sz="2000" b="1" i="1" dirty="0" smtClean="0">
                          <a:solidFill>
                            <a:srgbClr val="FF0000"/>
                          </a:solidFill>
                          <a:latin typeface="Cambria Math" panose="02040503050406030204" pitchFamily="18" charset="0"/>
                          <a:cs typeface="Calibri" panose="020F0502020204030204" pitchFamily="34" charset="0"/>
                        </a:rPr>
                        <m:t> = </m:t>
                      </m:r>
                      <m:r>
                        <a:rPr lang="en-US" altLang="en-US" sz="2000" b="1" i="1" dirty="0">
                          <a:solidFill>
                            <a:srgbClr val="FF0000"/>
                          </a:solidFill>
                          <a:latin typeface="Cambria Math" panose="02040503050406030204" pitchFamily="18" charset="0"/>
                          <a:cs typeface="Calibri" panose="020F0502020204030204" pitchFamily="34" charset="0"/>
                        </a:rPr>
                        <m:t>𝟏𝟒</m:t>
                      </m:r>
                      <m:r>
                        <a:rPr lang="en-US" altLang="en-US" sz="2000" b="1" i="1" dirty="0">
                          <a:solidFill>
                            <a:srgbClr val="FF0000"/>
                          </a:solidFill>
                          <a:latin typeface="Cambria Math" panose="02040503050406030204" pitchFamily="18" charset="0"/>
                          <a:cs typeface="Calibri" panose="020F0502020204030204" pitchFamily="34" charset="0"/>
                        </a:rPr>
                        <m:t>.</m:t>
                      </m:r>
                      <m:r>
                        <a:rPr lang="en-US" altLang="en-US" sz="2000" b="1" i="1" dirty="0">
                          <a:solidFill>
                            <a:srgbClr val="FF0000"/>
                          </a:solidFill>
                          <a:latin typeface="Cambria Math" panose="02040503050406030204" pitchFamily="18" charset="0"/>
                          <a:cs typeface="Calibri" panose="020F0502020204030204" pitchFamily="34" charset="0"/>
                        </a:rPr>
                        <m:t>𝟐𝟓𝟒</m:t>
                      </m:r>
                      <m:r>
                        <a:rPr lang="en-US" altLang="en-US" sz="2000" b="1" i="1" dirty="0">
                          <a:solidFill>
                            <a:srgbClr val="FF0000"/>
                          </a:solidFill>
                          <a:latin typeface="Cambria Math" panose="02040503050406030204" pitchFamily="18" charset="0"/>
                          <a:cs typeface="Calibri" panose="020F0502020204030204" pitchFamily="34" charset="0"/>
                        </a:rPr>
                        <m:t> </m:t>
                      </m:r>
                      <m:r>
                        <a:rPr lang="en-US" altLang="en-US" sz="2000" b="1" i="1" dirty="0" smtClean="0">
                          <a:solidFill>
                            <a:srgbClr val="FF0000"/>
                          </a:solidFill>
                          <a:latin typeface="Cambria Math" panose="02040503050406030204" pitchFamily="18" charset="0"/>
                          <a:cs typeface="Calibri" panose="020F0502020204030204" pitchFamily="34" charset="0"/>
                        </a:rPr>
                        <m:t>𝒑𝒑𝒎</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𝟏</m:t>
                      </m:r>
                      <m:f>
                        <m:fPr>
                          <m:ctrlPr>
                            <a:rPr lang="en-US" altLang="en-US" sz="2000" b="1" i="1" dirty="0" smtClean="0">
                              <a:solidFill>
                                <a:srgbClr val="FF0000"/>
                              </a:solidFill>
                              <a:latin typeface="Cambria Math" panose="02040503050406030204" pitchFamily="18" charset="0"/>
                              <a:cs typeface="Calibri" panose="020F0502020204030204" pitchFamily="34" charset="0"/>
                            </a:rPr>
                          </m:ctrlPr>
                        </m:fPr>
                        <m:num>
                          <m:r>
                            <a:rPr lang="en-US" altLang="en-US" sz="2000" b="1" i="1" dirty="0" smtClean="0">
                              <a:solidFill>
                                <a:srgbClr val="FF0000"/>
                              </a:solidFill>
                              <a:latin typeface="Cambria Math" panose="02040503050406030204" pitchFamily="18" charset="0"/>
                              <a:cs typeface="Calibri" panose="020F0502020204030204" pitchFamily="34" charset="0"/>
                            </a:rPr>
                            <m:t>𝒎𝒈</m:t>
                          </m:r>
                        </m:num>
                        <m:den>
                          <m:r>
                            <a:rPr lang="en-US" altLang="en-US" sz="2000" b="1" i="1" dirty="0" smtClean="0">
                              <a:solidFill>
                                <a:srgbClr val="FF0000"/>
                              </a:solidFill>
                              <a:latin typeface="Cambria Math" panose="02040503050406030204" pitchFamily="18" charset="0"/>
                              <a:cs typeface="Calibri" panose="020F0502020204030204" pitchFamily="34" charset="0"/>
                            </a:rPr>
                            <m:t>𝑳</m:t>
                          </m:r>
                        </m:den>
                      </m:f>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𝟎</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𝟎𝟕</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𝑪𝒍</m:t>
                      </m:r>
                    </m:oMath>
                  </m:oMathPara>
                </a14:m>
                <a:endParaRPr lang="en-US" altLang="en-US" sz="2000" b="1" dirty="0">
                  <a:solidFill>
                    <a:srgbClr val="FF0000"/>
                  </a:solidFill>
                  <a:latin typeface="Calibri" panose="020F0502020204030204" pitchFamily="34" charset="0"/>
                  <a:cs typeface="Calibri" panose="020F0502020204030204" pitchFamily="34" charset="0"/>
                </a:endParaRPr>
              </a:p>
              <a:p>
                <a:pPr algn="just">
                  <a:spcAft>
                    <a:spcPts val="1200"/>
                  </a:spcAft>
                </a:pPr>
                <a14:m>
                  <m:oMathPara xmlns:m="http://schemas.openxmlformats.org/officeDocument/2006/math">
                    <m:oMathParaPr>
                      <m:jc m:val="centerGroup"/>
                    </m:oMathParaPr>
                    <m:oMath xmlns:m="http://schemas.openxmlformats.org/officeDocument/2006/math">
                      <m:r>
                        <a:rPr lang="en-US" altLang="en-US" sz="2000" b="1" i="1" dirty="0" smtClean="0">
                          <a:solidFill>
                            <a:srgbClr val="FF0000"/>
                          </a:solidFill>
                          <a:latin typeface="Cambria Math" panose="02040503050406030204" pitchFamily="18" charset="0"/>
                          <a:cs typeface="Calibri" panose="020F0502020204030204" pitchFamily="34" charset="0"/>
                        </a:rPr>
                        <m:t>𝟏</m:t>
                      </m:r>
                      <m:r>
                        <a:rPr lang="en-US" altLang="en-US" sz="2000" b="1" i="1" dirty="0" smtClean="0">
                          <a:solidFill>
                            <a:srgbClr val="FF0000"/>
                          </a:solidFill>
                          <a:latin typeface="Cambria Math" panose="02040503050406030204" pitchFamily="18" charset="0"/>
                          <a:cs typeface="Calibri" panose="020F0502020204030204" pitchFamily="34" charset="0"/>
                        </a:rPr>
                        <m:t> °</m:t>
                      </m:r>
                      <m:r>
                        <a:rPr lang="en-US" altLang="en-US" sz="2000" b="1" i="1" dirty="0" smtClean="0">
                          <a:solidFill>
                            <a:srgbClr val="FF0000"/>
                          </a:solidFill>
                          <a:latin typeface="Cambria Math" panose="02040503050406030204" pitchFamily="18" charset="0"/>
                          <a:cs typeface="Calibri" panose="020F0502020204030204" pitchFamily="34" charset="0"/>
                        </a:rPr>
                        <m:t>𝑭𝒓</m:t>
                      </m:r>
                      <m:r>
                        <a:rPr lang="en-US" altLang="en-US" sz="2000" b="1" i="1" dirty="0" smtClean="0">
                          <a:solidFill>
                            <a:srgbClr val="FF0000"/>
                          </a:solidFill>
                          <a:latin typeface="Cambria Math" panose="02040503050406030204" pitchFamily="18" charset="0"/>
                          <a:cs typeface="Calibri" panose="020F0502020204030204" pitchFamily="34" charset="0"/>
                        </a:rPr>
                        <m:t> = </m:t>
                      </m:r>
                      <m:r>
                        <a:rPr lang="en-US" altLang="en-US" sz="2000" b="1" i="1" dirty="0">
                          <a:solidFill>
                            <a:srgbClr val="FF0000"/>
                          </a:solidFill>
                          <a:latin typeface="Cambria Math" panose="02040503050406030204" pitchFamily="18" charset="0"/>
                          <a:cs typeface="Calibri" panose="020F0502020204030204" pitchFamily="34" charset="0"/>
                        </a:rPr>
                        <m:t>𝟏𝟎</m:t>
                      </m:r>
                      <m:r>
                        <a:rPr lang="en-US" altLang="en-US" sz="2000" b="1" i="1" dirty="0">
                          <a:solidFill>
                            <a:srgbClr val="FF0000"/>
                          </a:solidFill>
                          <a:latin typeface="Cambria Math" panose="02040503050406030204" pitchFamily="18" charset="0"/>
                          <a:cs typeface="Calibri" panose="020F0502020204030204" pitchFamily="34" charset="0"/>
                        </a:rPr>
                        <m:t> </m:t>
                      </m:r>
                      <m:r>
                        <a:rPr lang="en-US" altLang="en-US" sz="2000" b="1" i="1" dirty="0" smtClean="0">
                          <a:solidFill>
                            <a:srgbClr val="FF0000"/>
                          </a:solidFill>
                          <a:latin typeface="Cambria Math" panose="02040503050406030204" pitchFamily="18" charset="0"/>
                          <a:cs typeface="Calibri" panose="020F0502020204030204" pitchFamily="34" charset="0"/>
                        </a:rPr>
                        <m:t>𝒑𝒑𝒎</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𝟏</m:t>
                      </m:r>
                      <m:f>
                        <m:fPr>
                          <m:ctrlPr>
                            <a:rPr lang="en-US" altLang="en-US" sz="2000" b="1" i="1" dirty="0" smtClean="0">
                              <a:solidFill>
                                <a:srgbClr val="FF0000"/>
                              </a:solidFill>
                              <a:latin typeface="Cambria Math" panose="02040503050406030204" pitchFamily="18" charset="0"/>
                              <a:cs typeface="Calibri" panose="020F0502020204030204" pitchFamily="34" charset="0"/>
                            </a:rPr>
                          </m:ctrlPr>
                        </m:fPr>
                        <m:num>
                          <m:r>
                            <a:rPr lang="en-US" altLang="en-US" sz="2000" b="1" i="1" dirty="0" smtClean="0">
                              <a:solidFill>
                                <a:srgbClr val="FF0000"/>
                              </a:solidFill>
                              <a:latin typeface="Cambria Math" panose="02040503050406030204" pitchFamily="18" charset="0"/>
                              <a:cs typeface="Calibri" panose="020F0502020204030204" pitchFamily="34" charset="0"/>
                            </a:rPr>
                            <m:t>𝒎𝒈</m:t>
                          </m:r>
                        </m:num>
                        <m:den>
                          <m:r>
                            <a:rPr lang="en-US" altLang="en-US" sz="2000" b="1" i="1" dirty="0" smtClean="0">
                              <a:solidFill>
                                <a:srgbClr val="FF0000"/>
                              </a:solidFill>
                              <a:latin typeface="Cambria Math" panose="02040503050406030204" pitchFamily="18" charset="0"/>
                              <a:cs typeface="Calibri" panose="020F0502020204030204" pitchFamily="34" charset="0"/>
                            </a:rPr>
                            <m:t>𝑳</m:t>
                          </m:r>
                        </m:den>
                      </m:f>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𝟎</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𝟏</m:t>
                      </m:r>
                      <m:r>
                        <a:rPr lang="en-US" altLang="en-US" sz="2000" b="1" i="1" dirty="0" smtClean="0">
                          <a:solidFill>
                            <a:srgbClr val="FF0000"/>
                          </a:solidFill>
                          <a:latin typeface="Cambria Math" panose="02040503050406030204" pitchFamily="18" charset="0"/>
                          <a:cs typeface="Calibri" panose="020F0502020204030204" pitchFamily="34" charset="0"/>
                        </a:rPr>
                        <m:t>°</m:t>
                      </m:r>
                      <m:r>
                        <a:rPr lang="en-US" altLang="en-US" sz="2000" b="1" i="1" dirty="0" smtClean="0">
                          <a:solidFill>
                            <a:srgbClr val="FF0000"/>
                          </a:solidFill>
                          <a:latin typeface="Cambria Math" panose="02040503050406030204" pitchFamily="18" charset="0"/>
                          <a:cs typeface="Calibri" panose="020F0502020204030204" pitchFamily="34" charset="0"/>
                        </a:rPr>
                        <m:t>𝑭𝒓</m:t>
                      </m:r>
                    </m:oMath>
                  </m:oMathPara>
                </a14:m>
                <a:endParaRPr lang="en-US" sz="2000" b="1" dirty="0">
                  <a:solidFill>
                    <a:srgbClr val="FF0000"/>
                  </a:solidFill>
                </a:endParaRPr>
              </a:p>
              <a:p>
                <a:pPr>
                  <a:lnSpc>
                    <a:spcPct val="150000"/>
                  </a:lnSpc>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ea typeface="Cambria Math" panose="02040503050406030204" pitchFamily="18" charset="0"/>
                          <a:cs typeface="Calibri" panose="020F0502020204030204" pitchFamily="34" charset="0"/>
                        </a:rPr>
                        <m:t>147.06 </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𝑚𝑔</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𝐿</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 =</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𝟏𝟎</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𝟐𝟗</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 </m:t>
                      </m:r>
                      <m:r>
                        <a:rPr lang="en-US" sz="2000" b="1" i="1" baseline="30000" dirty="0" err="1" smtClean="0">
                          <a:latin typeface="Cambria Math" panose="02040503050406030204" pitchFamily="18" charset="0"/>
                          <a:ea typeface="Cambria Math" panose="02040503050406030204" pitchFamily="18" charset="0"/>
                          <a:cs typeface="Calibri" panose="020F0502020204030204" pitchFamily="34" charset="0"/>
                        </a:rPr>
                        <m:t>𝒐</m:t>
                      </m:r>
                      <m:r>
                        <a:rPr lang="en-US" sz="2000" b="1" i="1" dirty="0" err="1" smtClean="0">
                          <a:latin typeface="Cambria Math" panose="02040503050406030204" pitchFamily="18" charset="0"/>
                          <a:ea typeface="Cambria Math" panose="02040503050406030204" pitchFamily="18" charset="0"/>
                          <a:cs typeface="Calibri" panose="020F0502020204030204" pitchFamily="34" charset="0"/>
                        </a:rPr>
                        <m:t>𝑪𝒍</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 </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𝑜𝑟</m:t>
                      </m:r>
                      <m:r>
                        <a:rPr lang="en-US" sz="2000" i="1" dirty="0" smtClean="0">
                          <a:latin typeface="Cambria Math" panose="02040503050406030204" pitchFamily="18" charset="0"/>
                          <a:ea typeface="Cambria Math" panose="02040503050406030204" pitchFamily="18" charset="0"/>
                          <a:cs typeface="Calibri" panose="020F0502020204030204" pitchFamily="34" charset="0"/>
                        </a:rPr>
                        <m:t> </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𝟏𝟒</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𝟕𝟏</m:t>
                      </m:r>
                      <m:r>
                        <a:rPr lang="en-US" sz="2000" b="1" i="1" dirty="0" smtClean="0">
                          <a:latin typeface="Cambria Math" panose="02040503050406030204" pitchFamily="18" charset="0"/>
                          <a:ea typeface="Cambria Math" panose="02040503050406030204" pitchFamily="18" charset="0"/>
                          <a:cs typeface="Calibri" panose="020F0502020204030204" pitchFamily="34" charset="0"/>
                        </a:rPr>
                        <m:t> </m:t>
                      </m:r>
                      <m:r>
                        <a:rPr lang="en-US" sz="2000" b="1" i="1" baseline="30000" dirty="0" err="1">
                          <a:latin typeface="Cambria Math" panose="02040503050406030204" pitchFamily="18" charset="0"/>
                          <a:ea typeface="Cambria Math" panose="02040503050406030204" pitchFamily="18" charset="0"/>
                          <a:cs typeface="Calibri" panose="020F0502020204030204" pitchFamily="34" charset="0"/>
                        </a:rPr>
                        <m:t>𝒐</m:t>
                      </m:r>
                      <m:r>
                        <a:rPr lang="en-US" sz="2000" b="1" i="1" dirty="0" err="1">
                          <a:latin typeface="Cambria Math" panose="02040503050406030204" pitchFamily="18" charset="0"/>
                          <a:ea typeface="Cambria Math" panose="02040503050406030204" pitchFamily="18" charset="0"/>
                          <a:cs typeface="Calibri" panose="020F0502020204030204" pitchFamily="34" charset="0"/>
                        </a:rPr>
                        <m:t>𝑭𝒓</m:t>
                      </m:r>
                      <m:r>
                        <a:rPr lang="en-US" sz="2000" b="1" i="1" dirty="0">
                          <a:latin typeface="Cambria Math" panose="02040503050406030204" pitchFamily="18" charset="0"/>
                          <a:ea typeface="Cambria Math" panose="02040503050406030204" pitchFamily="18" charset="0"/>
                          <a:cs typeface="Calibri" panose="020F0502020204030204" pitchFamily="34" charset="0"/>
                        </a:rPr>
                        <m:t> </m:t>
                      </m:r>
                    </m:oMath>
                  </m:oMathPara>
                </a14:m>
                <a:endParaRPr lang="en-US" sz="2000" b="1" dirty="0">
                  <a:latin typeface="Cambria Math" panose="02040503050406030204" pitchFamily="18" charset="0"/>
                  <a:ea typeface="Cambria Math" panose="02040503050406030204" pitchFamily="18" charset="0"/>
                  <a:cs typeface="Calibri" panose="020F0502020204030204" pitchFamily="34" charset="0"/>
                </a:endParaRPr>
              </a:p>
            </p:txBody>
          </p:sp>
        </mc:Choice>
        <mc:Fallback xmlns="">
          <p:sp>
            <p:nvSpPr>
              <p:cNvPr id="5" name="Rectangle 4">
                <a:extLst>
                  <a:ext uri="{FF2B5EF4-FFF2-40B4-BE49-F238E27FC236}">
                    <a16:creationId xmlns:a16="http://schemas.microsoft.com/office/drawing/2014/main" id="{C093AC8B-BBE4-4083-B49C-B56A22F14CB5}"/>
                  </a:ext>
                </a:extLst>
              </p:cNvPr>
              <p:cNvSpPr>
                <a:spLocks noRot="1" noChangeAspect="1" noMove="1" noResize="1" noEditPoints="1" noAdjustHandles="1" noChangeArrowheads="1" noChangeShapeType="1" noTextEdit="1"/>
              </p:cNvSpPr>
              <p:nvPr/>
            </p:nvSpPr>
            <p:spPr>
              <a:xfrm>
                <a:off x="293973" y="1518828"/>
                <a:ext cx="10669495" cy="4129913"/>
              </a:xfrm>
              <a:prstGeom prst="rect">
                <a:avLst/>
              </a:prstGeom>
              <a:blipFill>
                <a:blip r:embed="rId4"/>
                <a:stretch>
                  <a:fillRect l="-571" t="-737"/>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BDCC2E2B-45B6-2DA9-DE40-917F2C0D7321}"/>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8658226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6C6B965E-D5D4-4885-8B8A-2B6CFA90D3D1}"/>
              </a:ext>
            </a:extLst>
          </p:cNvPr>
          <p:cNvSpPr/>
          <p:nvPr/>
        </p:nvSpPr>
        <p:spPr>
          <a:xfrm>
            <a:off x="324650" y="623687"/>
            <a:ext cx="11385268" cy="707886"/>
          </a:xfrm>
          <a:prstGeom prst="rect">
            <a:avLst/>
          </a:prstGeom>
        </p:spPr>
        <p:txBody>
          <a:bodyPr wrap="square">
            <a:spAutoFit/>
          </a:bodyPr>
          <a:lstStyle/>
          <a:p>
            <a:r>
              <a:rPr lang="en-US" sz="2000" dirty="0">
                <a:solidFill>
                  <a:srgbClr val="FF0000"/>
                </a:solidFill>
                <a:latin typeface="Calibri" panose="020F0502020204030204" pitchFamily="34" charset="0"/>
                <a:cs typeface="Calibri" panose="020F0502020204030204" pitchFamily="34" charset="0"/>
              </a:rPr>
              <a:t>How many grams of MgCl</a:t>
            </a:r>
            <a:r>
              <a:rPr lang="en-US" sz="2000" baseline="-25000" dirty="0">
                <a:solidFill>
                  <a:srgbClr val="FF0000"/>
                </a:solidFill>
                <a:latin typeface="Calibri" panose="020F0502020204030204" pitchFamily="34" charset="0"/>
                <a:cs typeface="Calibri" panose="020F0502020204030204" pitchFamily="34" charset="0"/>
              </a:rPr>
              <a:t>2</a:t>
            </a:r>
            <a:r>
              <a:rPr lang="en-US" sz="2000" dirty="0">
                <a:solidFill>
                  <a:srgbClr val="FF0000"/>
                </a:solidFill>
                <a:latin typeface="Calibri" panose="020F0502020204030204" pitchFamily="34" charset="0"/>
                <a:cs typeface="Calibri" panose="020F0502020204030204" pitchFamily="34" charset="0"/>
              </a:rPr>
              <a:t> dissolved in 1 liter water will cause hardness of 76 ppm?</a:t>
            </a:r>
          </a:p>
          <a:p>
            <a:endParaRPr lang="en-US" sz="2000" dirty="0">
              <a:solidFill>
                <a:srgbClr val="FF0000"/>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7DBF7A4-0D12-4703-B8E1-C36A9A8F13F2}"/>
                  </a:ext>
                </a:extLst>
              </p:cNvPr>
              <p:cNvSpPr/>
              <p:nvPr/>
            </p:nvSpPr>
            <p:spPr>
              <a:xfrm>
                <a:off x="324650" y="1125672"/>
                <a:ext cx="8410276" cy="4190121"/>
              </a:xfrm>
              <a:prstGeom prst="rect">
                <a:avLst/>
              </a:prstGeom>
            </p:spPr>
            <p:txBody>
              <a:bodyPr wrap="square">
                <a:spAutoFit/>
              </a:bodyPr>
              <a:lstStyle/>
              <a:p>
                <a:pPr lvl="0" algn="just">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Answer:</a:t>
                </a:r>
              </a:p>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Molecular weight of MgCl</a:t>
                </a:r>
                <a:r>
                  <a:rPr lang="en-US" altLang="en-US" sz="2000" baseline="-25000" dirty="0">
                    <a:solidFill>
                      <a:srgbClr val="FF0000"/>
                    </a:solidFill>
                    <a:latin typeface="Calibri" panose="020F0502020204030204" pitchFamily="34" charset="0"/>
                    <a:cs typeface="Calibri" panose="020F0502020204030204" pitchFamily="34" charset="0"/>
                  </a:rPr>
                  <a:t>2</a:t>
                </a:r>
                <a:r>
                  <a:rPr lang="en-US" altLang="en-US" sz="2000" dirty="0">
                    <a:solidFill>
                      <a:srgbClr val="FF0000"/>
                    </a:solidFill>
                    <a:latin typeface="Calibri" panose="020F0502020204030204" pitchFamily="34" charset="0"/>
                    <a:cs typeface="Calibri" panose="020F0502020204030204" pitchFamily="34" charset="0"/>
                  </a:rPr>
                  <a:t> = 95</a:t>
                </a:r>
              </a:p>
              <a:p>
                <a:pPr algn="just">
                  <a:spcAft>
                    <a:spcPts val="600"/>
                  </a:spcAft>
                </a:pPr>
                <a:endParaRPr lang="en-US" altLang="en-US" sz="2000" dirty="0">
                  <a:solidFill>
                    <a:srgbClr val="FF0000"/>
                  </a:solidFill>
                  <a:latin typeface="Calibri" panose="020F0502020204030204" pitchFamily="34" charset="0"/>
                  <a:cs typeface="Calibri" panose="020F0502020204030204" pitchFamily="34" charset="0"/>
                </a:endParaRPr>
              </a:p>
              <a:p>
                <a:pPr marL="342900" indent="-342900" algn="just">
                  <a:lnSpc>
                    <a:spcPct val="150000"/>
                  </a:lnSpc>
                  <a:spcAft>
                    <a:spcPts val="600"/>
                  </a:spcAft>
                  <a:buFont typeface="Arial" panose="020B0604020202020204" pitchFamily="34" charset="0"/>
                  <a:buChar char="•"/>
                </a:pPr>
                <a:r>
                  <a:rPr lang="en-US" altLang="en-US" sz="2000" dirty="0">
                    <a:solidFill>
                      <a:schemeClr val="tx1"/>
                    </a:solidFill>
                    <a:latin typeface="Calibri" panose="020F0502020204030204" pitchFamily="34" charset="0"/>
                    <a:cs typeface="Calibri" panose="020F0502020204030204" pitchFamily="34" charset="0"/>
                  </a:rPr>
                  <a:t>Let </a:t>
                </a:r>
                <a14:m>
                  <m:oMath xmlns:m="http://schemas.openxmlformats.org/officeDocument/2006/math">
                    <m:r>
                      <a:rPr lang="en-US" altLang="en-US" sz="2000" i="1" dirty="0" smtClean="0">
                        <a:solidFill>
                          <a:schemeClr val="tx1"/>
                        </a:solidFill>
                        <a:latin typeface="Cambria Math" panose="02040503050406030204" pitchFamily="18" charset="0"/>
                        <a:cs typeface="Calibri" panose="020F0502020204030204" pitchFamily="34" charset="0"/>
                      </a:rPr>
                      <m:t>𝑥</m:t>
                    </m:r>
                    <m:f>
                      <m:fPr>
                        <m:ctrlPr>
                          <a:rPr lang="en-US" altLang="en-US" sz="2000" b="0" i="1" dirty="0" smtClean="0">
                            <a:solidFill>
                              <a:schemeClr val="tx1"/>
                            </a:solidFill>
                            <a:latin typeface="Cambria Math" panose="02040503050406030204" pitchFamily="18" charset="0"/>
                            <a:cs typeface="Calibri" panose="020F0502020204030204" pitchFamily="34" charset="0"/>
                          </a:rPr>
                        </m:ctrlPr>
                      </m:fPr>
                      <m:num>
                        <m:r>
                          <a:rPr lang="en-US" altLang="en-US" sz="2000" b="0" i="1" dirty="0" smtClean="0">
                            <a:solidFill>
                              <a:schemeClr val="tx1"/>
                            </a:solidFill>
                            <a:latin typeface="Cambria Math" panose="02040503050406030204" pitchFamily="18" charset="0"/>
                            <a:cs typeface="Calibri" panose="020F0502020204030204" pitchFamily="34" charset="0"/>
                          </a:rPr>
                          <m:t>𝑚𝑔</m:t>
                        </m:r>
                      </m:num>
                      <m:den>
                        <m:r>
                          <a:rPr lang="en-US" altLang="en-US" sz="2000" b="0" i="1" dirty="0" smtClean="0">
                            <a:solidFill>
                              <a:schemeClr val="tx1"/>
                            </a:solidFill>
                            <a:latin typeface="Cambria Math" panose="02040503050406030204" pitchFamily="18" charset="0"/>
                            <a:cs typeface="Calibri" panose="020F0502020204030204" pitchFamily="34" charset="0"/>
                          </a:rPr>
                          <m:t>𝐿</m:t>
                        </m:r>
                      </m:den>
                    </m:f>
                  </m:oMath>
                </a14:m>
                <a:r>
                  <a:rPr lang="en-US" altLang="en-US" sz="2000" dirty="0">
                    <a:solidFill>
                      <a:schemeClr val="tx1"/>
                    </a:solidFill>
                    <a:latin typeface="Calibri" panose="020F0502020204030204" pitchFamily="34" charset="0"/>
                    <a:cs typeface="Calibri" panose="020F0502020204030204" pitchFamily="34" charset="0"/>
                  </a:rPr>
                  <a:t> MgCl</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 dissolved in water gives 76 ppm hardness.</a:t>
                </a:r>
              </a:p>
              <a:p>
                <a:pPr marL="342900" indent="-342900" algn="just">
                  <a:lnSpc>
                    <a:spcPct val="150000"/>
                  </a:lnSpc>
                  <a:spcAft>
                    <a:spcPts val="600"/>
                  </a:spcAft>
                  <a:buFont typeface="Arial" panose="020B0604020202020204" pitchFamily="34" charset="0"/>
                  <a:buChar char="•"/>
                </a:pPr>
                <a14:m>
                  <m:oMath xmlns:m="http://schemas.openxmlformats.org/officeDocument/2006/math">
                    <m:r>
                      <a:rPr lang="en-US" altLang="en-US" sz="2000" i="1" dirty="0">
                        <a:solidFill>
                          <a:schemeClr val="tx1"/>
                        </a:solidFill>
                        <a:latin typeface="Cambria Math" panose="02040503050406030204" pitchFamily="18" charset="0"/>
                        <a:cs typeface="Calibri" panose="020F0502020204030204" pitchFamily="34" charset="0"/>
                      </a:rPr>
                      <m:t>𝑥</m:t>
                    </m:r>
                    <m:r>
                      <a:rPr lang="en-US" altLang="en-US" sz="2000" b="0" i="1" dirty="0" smtClean="0">
                        <a:solidFill>
                          <a:schemeClr val="tx1"/>
                        </a:solidFill>
                        <a:latin typeface="Cambria Math" panose="02040503050406030204" pitchFamily="18" charset="0"/>
                        <a:cs typeface="Calibri" panose="020F0502020204030204" pitchFamily="34" charset="0"/>
                      </a:rPr>
                      <m:t>×</m:t>
                    </m:r>
                    <m:f>
                      <m:fPr>
                        <m:ctrlPr>
                          <a:rPr lang="en-US" altLang="en-US" sz="2000" b="0" i="1" dirty="0" smtClean="0">
                            <a:solidFill>
                              <a:schemeClr val="tx1"/>
                            </a:solidFill>
                            <a:latin typeface="Cambria Math" panose="02040503050406030204" pitchFamily="18" charset="0"/>
                            <a:cs typeface="Calibri" panose="020F0502020204030204" pitchFamily="34" charset="0"/>
                          </a:rPr>
                        </m:ctrlPr>
                      </m:fPr>
                      <m:num>
                        <m:r>
                          <a:rPr lang="en-US" altLang="en-US" sz="2000" b="0" i="1" dirty="0" smtClean="0">
                            <a:solidFill>
                              <a:schemeClr val="tx1"/>
                            </a:solidFill>
                            <a:latin typeface="Cambria Math" panose="02040503050406030204" pitchFamily="18" charset="0"/>
                            <a:cs typeface="Calibri" panose="020F0502020204030204" pitchFamily="34" charset="0"/>
                          </a:rPr>
                          <m:t>𝑀</m:t>
                        </m:r>
                        <m:r>
                          <a:rPr lang="en-US" altLang="en-US" sz="2000" b="0" i="1" dirty="0" smtClean="0">
                            <a:solidFill>
                              <a:schemeClr val="tx1"/>
                            </a:solidFill>
                            <a:latin typeface="Cambria Math" panose="02040503050406030204" pitchFamily="18" charset="0"/>
                            <a:cs typeface="Calibri" panose="020F0502020204030204" pitchFamily="34" charset="0"/>
                          </a:rPr>
                          <m:t>.</m:t>
                        </m:r>
                        <m:r>
                          <a:rPr lang="en-US" altLang="en-US" sz="2000" b="0" i="1" dirty="0" smtClean="0">
                            <a:solidFill>
                              <a:schemeClr val="tx1"/>
                            </a:solidFill>
                            <a:latin typeface="Cambria Math" panose="02040503050406030204" pitchFamily="18" charset="0"/>
                            <a:cs typeface="Calibri" panose="020F0502020204030204" pitchFamily="34" charset="0"/>
                          </a:rPr>
                          <m:t>𝑊</m:t>
                        </m:r>
                        <m:sSub>
                          <m:sSubPr>
                            <m:ctrlPr>
                              <a:rPr lang="en-US" altLang="en-US" sz="2000" b="0" i="1" dirty="0" smtClean="0">
                                <a:solidFill>
                                  <a:schemeClr val="tx1"/>
                                </a:solidFill>
                                <a:latin typeface="Cambria Math" panose="02040503050406030204" pitchFamily="18" charset="0"/>
                                <a:cs typeface="Calibri" panose="020F0502020204030204" pitchFamily="34" charset="0"/>
                              </a:rPr>
                            </m:ctrlPr>
                          </m:sSubPr>
                          <m:e>
                            <m:r>
                              <a:rPr lang="en-US" altLang="en-US" sz="2000" b="0" i="1" dirty="0" smtClean="0">
                                <a:solidFill>
                                  <a:schemeClr val="tx1"/>
                                </a:solidFill>
                                <a:latin typeface="Cambria Math" panose="02040503050406030204" pitchFamily="18" charset="0"/>
                                <a:cs typeface="Calibri" panose="020F0502020204030204" pitchFamily="34" charset="0"/>
                              </a:rPr>
                              <m:t>.</m:t>
                            </m:r>
                          </m:e>
                          <m:sub>
                            <m:r>
                              <a:rPr lang="en-US" altLang="en-US" sz="2000" b="0" i="1" dirty="0" smtClean="0">
                                <a:solidFill>
                                  <a:schemeClr val="tx1"/>
                                </a:solidFill>
                                <a:latin typeface="Cambria Math" panose="02040503050406030204" pitchFamily="18" charset="0"/>
                                <a:cs typeface="Calibri" panose="020F0502020204030204" pitchFamily="34" charset="0"/>
                              </a:rPr>
                              <m:t>𝐶𝑎𝐶</m:t>
                            </m:r>
                            <m:sSub>
                              <m:sSubPr>
                                <m:ctrlPr>
                                  <a:rPr lang="en-US" altLang="en-US" sz="2000" b="0" i="1" dirty="0" smtClean="0">
                                    <a:solidFill>
                                      <a:schemeClr val="tx1"/>
                                    </a:solidFill>
                                    <a:latin typeface="Cambria Math" panose="02040503050406030204" pitchFamily="18" charset="0"/>
                                    <a:cs typeface="Calibri" panose="020F0502020204030204" pitchFamily="34" charset="0"/>
                                  </a:rPr>
                                </m:ctrlPr>
                              </m:sSubPr>
                              <m:e>
                                <m:r>
                                  <a:rPr lang="en-US" altLang="en-US" sz="2000" b="0" i="1" dirty="0" smtClean="0">
                                    <a:solidFill>
                                      <a:schemeClr val="tx1"/>
                                    </a:solidFill>
                                    <a:latin typeface="Cambria Math" panose="02040503050406030204" pitchFamily="18" charset="0"/>
                                    <a:cs typeface="Calibri" panose="020F0502020204030204" pitchFamily="34" charset="0"/>
                                  </a:rPr>
                                  <m:t>𝑂</m:t>
                                </m:r>
                              </m:e>
                              <m:sub>
                                <m:r>
                                  <a:rPr lang="en-US" altLang="en-US" sz="2000" b="0" i="1" dirty="0" smtClean="0">
                                    <a:solidFill>
                                      <a:schemeClr val="tx1"/>
                                    </a:solidFill>
                                    <a:latin typeface="Cambria Math" panose="02040503050406030204" pitchFamily="18" charset="0"/>
                                    <a:cs typeface="Calibri" panose="020F0502020204030204" pitchFamily="34" charset="0"/>
                                  </a:rPr>
                                  <m:t>3</m:t>
                                </m:r>
                              </m:sub>
                            </m:sSub>
                          </m:sub>
                        </m:sSub>
                      </m:num>
                      <m:den>
                        <m:r>
                          <a:rPr lang="en-US" altLang="en-US" sz="2000" b="0" i="1" dirty="0" smtClean="0">
                            <a:solidFill>
                              <a:schemeClr val="tx1"/>
                            </a:solidFill>
                            <a:latin typeface="Cambria Math" panose="02040503050406030204" pitchFamily="18" charset="0"/>
                            <a:cs typeface="Calibri" panose="020F0502020204030204" pitchFamily="34" charset="0"/>
                          </a:rPr>
                          <m:t>𝑀</m:t>
                        </m:r>
                        <m:r>
                          <a:rPr lang="en-US" altLang="en-US" sz="2000" b="0" i="1" dirty="0" smtClean="0">
                            <a:solidFill>
                              <a:schemeClr val="tx1"/>
                            </a:solidFill>
                            <a:latin typeface="Cambria Math" panose="02040503050406030204" pitchFamily="18" charset="0"/>
                            <a:cs typeface="Calibri" panose="020F0502020204030204" pitchFamily="34" charset="0"/>
                          </a:rPr>
                          <m:t>.</m:t>
                        </m:r>
                        <m:r>
                          <a:rPr lang="en-US" altLang="en-US" sz="2000" b="0" i="1" dirty="0" smtClean="0">
                            <a:solidFill>
                              <a:schemeClr val="tx1"/>
                            </a:solidFill>
                            <a:latin typeface="Cambria Math" panose="02040503050406030204" pitchFamily="18" charset="0"/>
                            <a:cs typeface="Calibri" panose="020F0502020204030204" pitchFamily="34" charset="0"/>
                          </a:rPr>
                          <m:t>𝑊</m:t>
                        </m:r>
                        <m:sSub>
                          <m:sSubPr>
                            <m:ctrlPr>
                              <a:rPr lang="en-US" altLang="en-US" sz="2000" b="0" i="1" dirty="0" smtClean="0">
                                <a:solidFill>
                                  <a:schemeClr val="tx1"/>
                                </a:solidFill>
                                <a:latin typeface="Cambria Math" panose="02040503050406030204" pitchFamily="18" charset="0"/>
                                <a:cs typeface="Calibri" panose="020F0502020204030204" pitchFamily="34" charset="0"/>
                              </a:rPr>
                            </m:ctrlPr>
                          </m:sSubPr>
                          <m:e>
                            <m:r>
                              <a:rPr lang="en-US" altLang="en-US" sz="2000" b="0" i="1" dirty="0" smtClean="0">
                                <a:solidFill>
                                  <a:schemeClr val="tx1"/>
                                </a:solidFill>
                                <a:latin typeface="Cambria Math" panose="02040503050406030204" pitchFamily="18" charset="0"/>
                                <a:cs typeface="Calibri" panose="020F0502020204030204" pitchFamily="34" charset="0"/>
                              </a:rPr>
                              <m:t>.</m:t>
                            </m:r>
                          </m:e>
                          <m:sub>
                            <m:r>
                              <a:rPr lang="en-US" altLang="en-US" sz="2000" b="0" i="1" dirty="0" smtClean="0">
                                <a:solidFill>
                                  <a:schemeClr val="tx1"/>
                                </a:solidFill>
                                <a:latin typeface="Cambria Math" panose="02040503050406030204" pitchFamily="18" charset="0"/>
                                <a:cs typeface="Calibri" panose="020F0502020204030204" pitchFamily="34" charset="0"/>
                              </a:rPr>
                              <m:t>𝑀𝑔𝐶</m:t>
                            </m:r>
                            <m:sSub>
                              <m:sSubPr>
                                <m:ctrlPr>
                                  <a:rPr lang="en-US" altLang="en-US" sz="2000" b="0" i="1" dirty="0" smtClean="0">
                                    <a:solidFill>
                                      <a:schemeClr val="tx1"/>
                                    </a:solidFill>
                                    <a:latin typeface="Cambria Math" panose="02040503050406030204" pitchFamily="18" charset="0"/>
                                    <a:cs typeface="Calibri" panose="020F0502020204030204" pitchFamily="34" charset="0"/>
                                  </a:rPr>
                                </m:ctrlPr>
                              </m:sSubPr>
                              <m:e>
                                <m:r>
                                  <a:rPr lang="en-US" altLang="en-US" sz="2000" b="0" i="1" dirty="0" smtClean="0">
                                    <a:solidFill>
                                      <a:schemeClr val="tx1"/>
                                    </a:solidFill>
                                    <a:latin typeface="Cambria Math" panose="02040503050406030204" pitchFamily="18" charset="0"/>
                                    <a:cs typeface="Calibri" panose="020F0502020204030204" pitchFamily="34" charset="0"/>
                                  </a:rPr>
                                  <m:t>𝑙</m:t>
                                </m:r>
                              </m:e>
                              <m:sub>
                                <m:r>
                                  <a:rPr lang="en-US" altLang="en-US" sz="2000" b="0" i="1" dirty="0" smtClean="0">
                                    <a:solidFill>
                                      <a:schemeClr val="tx1"/>
                                    </a:solidFill>
                                    <a:latin typeface="Cambria Math" panose="02040503050406030204" pitchFamily="18" charset="0"/>
                                    <a:cs typeface="Calibri" panose="020F0502020204030204" pitchFamily="34" charset="0"/>
                                  </a:rPr>
                                  <m:t>2</m:t>
                                </m:r>
                              </m:sub>
                            </m:sSub>
                          </m:sub>
                        </m:sSub>
                      </m:den>
                    </m:f>
                    <m:r>
                      <a:rPr lang="en-US" altLang="en-US" sz="2000" b="0" i="1" dirty="0" smtClean="0">
                        <a:solidFill>
                          <a:schemeClr val="tx1"/>
                        </a:solidFill>
                        <a:latin typeface="Cambria Math" panose="02040503050406030204" pitchFamily="18" charset="0"/>
                        <a:cs typeface="Calibri" panose="020F0502020204030204" pitchFamily="34" charset="0"/>
                      </a:rPr>
                      <m:t>=76</m:t>
                    </m:r>
                  </m:oMath>
                </a14:m>
                <a:endParaRPr lang="en-US" altLang="en-US" sz="2000" b="0" dirty="0">
                  <a:solidFill>
                    <a:schemeClr val="tx1"/>
                  </a:solidFill>
                  <a:latin typeface="Calibri" panose="020F0502020204030204" pitchFamily="34" charset="0"/>
                  <a:cs typeface="Calibri" panose="020F0502020204030204" pitchFamily="34" charset="0"/>
                </a:endParaRPr>
              </a:p>
              <a:p>
                <a:pPr marL="342900" indent="-342900" algn="just">
                  <a:lnSpc>
                    <a:spcPct val="150000"/>
                  </a:lnSpc>
                  <a:spcAft>
                    <a:spcPts val="600"/>
                  </a:spcAft>
                  <a:buFont typeface="Arial" panose="020B0604020202020204" pitchFamily="34" charset="0"/>
                  <a:buChar char="•"/>
                </a:pPr>
                <a14:m>
                  <m:oMath xmlns:m="http://schemas.openxmlformats.org/officeDocument/2006/math">
                    <m:r>
                      <a:rPr lang="en-US" altLang="en-US" sz="2000" i="1" dirty="0">
                        <a:solidFill>
                          <a:schemeClr val="tx1"/>
                        </a:solidFill>
                        <a:latin typeface="Cambria Math" panose="02040503050406030204" pitchFamily="18" charset="0"/>
                        <a:cs typeface="Calibri" panose="020F0502020204030204" pitchFamily="34" charset="0"/>
                      </a:rPr>
                      <m:t>𝑥</m:t>
                    </m:r>
                    <m:r>
                      <a:rPr lang="en-US" altLang="en-US" sz="2000" b="0" i="1" dirty="0" smtClean="0">
                        <a:solidFill>
                          <a:schemeClr val="tx1"/>
                        </a:solidFill>
                        <a:latin typeface="Cambria Math" panose="02040503050406030204" pitchFamily="18" charset="0"/>
                        <a:cs typeface="Calibri" panose="020F0502020204030204" pitchFamily="34" charset="0"/>
                      </a:rPr>
                      <m:t>×</m:t>
                    </m:r>
                    <m:f>
                      <m:fPr>
                        <m:ctrlPr>
                          <a:rPr lang="en-US" altLang="en-US" sz="2000" b="0" i="1" dirty="0" smtClean="0">
                            <a:solidFill>
                              <a:schemeClr val="tx1"/>
                            </a:solidFill>
                            <a:latin typeface="Cambria Math" panose="02040503050406030204" pitchFamily="18" charset="0"/>
                            <a:cs typeface="Calibri" panose="020F0502020204030204" pitchFamily="34" charset="0"/>
                          </a:rPr>
                        </m:ctrlPr>
                      </m:fPr>
                      <m:num>
                        <m:r>
                          <a:rPr lang="en-US" altLang="en-US" sz="2000" b="0" i="1" dirty="0" smtClean="0">
                            <a:solidFill>
                              <a:schemeClr val="tx1"/>
                            </a:solidFill>
                            <a:latin typeface="Cambria Math" panose="02040503050406030204" pitchFamily="18" charset="0"/>
                            <a:cs typeface="Calibri" panose="020F0502020204030204" pitchFamily="34" charset="0"/>
                          </a:rPr>
                          <m:t>100</m:t>
                        </m:r>
                      </m:num>
                      <m:den>
                        <m:r>
                          <a:rPr lang="en-US" altLang="en-US" sz="2000" b="0" i="1" dirty="0" smtClean="0">
                            <a:solidFill>
                              <a:schemeClr val="tx1"/>
                            </a:solidFill>
                            <a:latin typeface="Cambria Math" panose="02040503050406030204" pitchFamily="18" charset="0"/>
                            <a:cs typeface="Calibri" panose="020F0502020204030204" pitchFamily="34" charset="0"/>
                          </a:rPr>
                          <m:t>95</m:t>
                        </m:r>
                      </m:den>
                    </m:f>
                    <m:r>
                      <a:rPr lang="en-US" altLang="en-US" sz="2000" b="0" i="1" dirty="0" smtClean="0">
                        <a:solidFill>
                          <a:schemeClr val="tx1"/>
                        </a:solidFill>
                        <a:latin typeface="Cambria Math" panose="02040503050406030204" pitchFamily="18" charset="0"/>
                        <a:cs typeface="Calibri" panose="020F0502020204030204" pitchFamily="34" charset="0"/>
                      </a:rPr>
                      <m:t>=76</m:t>
                    </m:r>
                  </m:oMath>
                </a14:m>
                <a:endParaRPr lang="en-US" altLang="en-US" sz="2000" b="0" dirty="0">
                  <a:solidFill>
                    <a:schemeClr val="tx1"/>
                  </a:solidFill>
                  <a:latin typeface="Calibri" panose="020F0502020204030204" pitchFamily="34" charset="0"/>
                  <a:cs typeface="Calibri" panose="020F0502020204030204" pitchFamily="34" charset="0"/>
                </a:endParaRPr>
              </a:p>
              <a:p>
                <a:pPr marL="342900" indent="-342900" algn="just">
                  <a:lnSpc>
                    <a:spcPct val="150000"/>
                  </a:lnSpc>
                  <a:spcAft>
                    <a:spcPts val="600"/>
                  </a:spcAft>
                  <a:buFont typeface="Arial" panose="020B0604020202020204" pitchFamily="34" charset="0"/>
                  <a:buChar char="•"/>
                </a:pPr>
                <a14:m>
                  <m:oMath xmlns:m="http://schemas.openxmlformats.org/officeDocument/2006/math">
                    <m:r>
                      <a:rPr lang="en-US" altLang="en-US" sz="2000" i="1" dirty="0">
                        <a:solidFill>
                          <a:schemeClr val="tx1"/>
                        </a:solidFill>
                        <a:latin typeface="Cambria Math" panose="02040503050406030204" pitchFamily="18" charset="0"/>
                        <a:cs typeface="Calibri" panose="020F0502020204030204" pitchFamily="34" charset="0"/>
                      </a:rPr>
                      <m:t>𝑥</m:t>
                    </m:r>
                    <m:r>
                      <a:rPr lang="en-US" altLang="en-US" sz="2000" b="0" i="0" dirty="0" smtClean="0">
                        <a:solidFill>
                          <a:schemeClr val="tx1"/>
                        </a:solidFill>
                        <a:latin typeface="Cambria Math" panose="02040503050406030204" pitchFamily="18" charset="0"/>
                        <a:cs typeface="Calibri" panose="020F0502020204030204" pitchFamily="34" charset="0"/>
                      </a:rPr>
                      <m:t>=72.2</m:t>
                    </m:r>
                    <m:f>
                      <m:fPr>
                        <m:ctrlPr>
                          <a:rPr lang="en-US" altLang="en-US" sz="2000" b="0" i="1" dirty="0" smtClean="0">
                            <a:solidFill>
                              <a:schemeClr val="tx1"/>
                            </a:solidFill>
                            <a:latin typeface="Cambria Math" panose="02040503050406030204" pitchFamily="18" charset="0"/>
                            <a:cs typeface="Calibri" panose="020F0502020204030204" pitchFamily="34" charset="0"/>
                          </a:rPr>
                        </m:ctrlPr>
                      </m:fPr>
                      <m:num>
                        <m:r>
                          <m:rPr>
                            <m:sty m:val="p"/>
                          </m:rPr>
                          <a:rPr lang="en-US" altLang="en-US" sz="2000" b="0" i="0" dirty="0" smtClean="0">
                            <a:solidFill>
                              <a:schemeClr val="tx1"/>
                            </a:solidFill>
                            <a:latin typeface="Cambria Math" panose="02040503050406030204" pitchFamily="18" charset="0"/>
                            <a:cs typeface="Calibri" panose="020F0502020204030204" pitchFamily="34" charset="0"/>
                          </a:rPr>
                          <m:t>mg</m:t>
                        </m:r>
                      </m:num>
                      <m:den>
                        <m:r>
                          <m:rPr>
                            <m:sty m:val="p"/>
                          </m:rPr>
                          <a:rPr lang="en-US" altLang="en-US" sz="2000" b="0" i="0" dirty="0" smtClean="0">
                            <a:solidFill>
                              <a:schemeClr val="tx1"/>
                            </a:solidFill>
                            <a:latin typeface="Cambria Math" panose="02040503050406030204" pitchFamily="18" charset="0"/>
                            <a:cs typeface="Calibri" panose="020F0502020204030204" pitchFamily="34" charset="0"/>
                          </a:rPr>
                          <m:t>L</m:t>
                        </m:r>
                      </m:den>
                    </m:f>
                    <m:r>
                      <a:rPr lang="en-US" altLang="en-US" sz="2000" b="0" i="0" dirty="0" smtClean="0">
                        <a:solidFill>
                          <a:schemeClr val="tx1"/>
                        </a:solidFill>
                        <a:latin typeface="Cambria Math" panose="02040503050406030204" pitchFamily="18" charset="0"/>
                        <a:cs typeface="Calibri" panose="020F0502020204030204" pitchFamily="34" charset="0"/>
                      </a:rPr>
                      <m:t>=0.072</m:t>
                    </m:r>
                    <m:r>
                      <m:rPr>
                        <m:sty m:val="p"/>
                      </m:rPr>
                      <a:rPr lang="en-US" altLang="en-US" sz="2000" b="0" i="0" dirty="0" smtClean="0">
                        <a:solidFill>
                          <a:schemeClr val="tx1"/>
                        </a:solidFill>
                        <a:latin typeface="Cambria Math" panose="02040503050406030204" pitchFamily="18" charset="0"/>
                        <a:cs typeface="Calibri" panose="020F0502020204030204" pitchFamily="34" charset="0"/>
                      </a:rPr>
                      <m:t>g</m:t>
                    </m:r>
                  </m:oMath>
                </a14:m>
                <a:endParaRPr lang="en-US" altLang="en-US" sz="2000" dirty="0">
                  <a:solidFill>
                    <a:schemeClr val="tx1"/>
                  </a:solidFill>
                  <a:latin typeface="Calibri" panose="020F0502020204030204" pitchFamily="34" charset="0"/>
                  <a:cs typeface="Calibri" panose="020F0502020204030204" pitchFamily="34" charset="0"/>
                </a:endParaRPr>
              </a:p>
            </p:txBody>
          </p:sp>
        </mc:Choice>
        <mc:Fallback xmlns="">
          <p:sp>
            <p:nvSpPr>
              <p:cNvPr id="5" name="Rectangle 4">
                <a:extLst>
                  <a:ext uri="{FF2B5EF4-FFF2-40B4-BE49-F238E27FC236}">
                    <a16:creationId xmlns:a16="http://schemas.microsoft.com/office/drawing/2014/main" id="{17DBF7A4-0D12-4703-B8E1-C36A9A8F13F2}"/>
                  </a:ext>
                </a:extLst>
              </p:cNvPr>
              <p:cNvSpPr>
                <a:spLocks noRot="1" noChangeAspect="1" noMove="1" noResize="1" noEditPoints="1" noAdjustHandles="1" noChangeArrowheads="1" noChangeShapeType="1" noTextEdit="1"/>
              </p:cNvSpPr>
              <p:nvPr/>
            </p:nvSpPr>
            <p:spPr>
              <a:xfrm>
                <a:off x="324650" y="1125672"/>
                <a:ext cx="8410276" cy="4190121"/>
              </a:xfrm>
              <a:prstGeom prst="rect">
                <a:avLst/>
              </a:prstGeom>
              <a:blipFill>
                <a:blip r:embed="rId4"/>
                <a:stretch>
                  <a:fillRect l="-725" t="-873"/>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A3EB6109-FCBC-C98C-46A5-425A44C7F2F3}"/>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918315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51C1A44C-E365-4C81-808F-B4B04148F96A}"/>
              </a:ext>
            </a:extLst>
          </p:cNvPr>
          <p:cNvPicPr>
            <a:picLocks noChangeAspect="1"/>
          </p:cNvPicPr>
          <p:nvPr/>
        </p:nvPicPr>
        <p:blipFill rotWithShape="1">
          <a:blip r:embed="rId4"/>
          <a:srcRect b="80749"/>
          <a:stretch/>
        </p:blipFill>
        <p:spPr>
          <a:xfrm>
            <a:off x="324650" y="756076"/>
            <a:ext cx="8486458" cy="1425422"/>
          </a:xfrm>
          <a:prstGeom prst="rect">
            <a:avLst/>
          </a:prstGeom>
        </p:spPr>
      </p:pic>
      <p:pic>
        <p:nvPicPr>
          <p:cNvPr id="5" name="Picture 4">
            <a:extLst>
              <a:ext uri="{FF2B5EF4-FFF2-40B4-BE49-F238E27FC236}">
                <a16:creationId xmlns:a16="http://schemas.microsoft.com/office/drawing/2014/main" id="{82EC378B-7A25-4E29-90F2-707CD18A974F}"/>
              </a:ext>
            </a:extLst>
          </p:cNvPr>
          <p:cNvPicPr>
            <a:picLocks noChangeAspect="1"/>
          </p:cNvPicPr>
          <p:nvPr/>
        </p:nvPicPr>
        <p:blipFill rotWithShape="1">
          <a:blip r:embed="rId4"/>
          <a:srcRect t="19768" b="15196"/>
          <a:stretch/>
        </p:blipFill>
        <p:spPr>
          <a:xfrm>
            <a:off x="704450" y="2181498"/>
            <a:ext cx="7620000" cy="4323806"/>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DE6190E-A9FA-4F96-858E-AF949428AF62}"/>
                  </a:ext>
                </a:extLst>
              </p14:cNvPr>
              <p14:cNvContentPartPr/>
              <p14:nvPr/>
            </p14:nvContentPartPr>
            <p14:xfrm>
              <a:off x="503368" y="2257494"/>
              <a:ext cx="3960" cy="360"/>
            </p14:xfrm>
          </p:contentPart>
        </mc:Choice>
        <mc:Fallback xmlns="">
          <p:pic>
            <p:nvPicPr>
              <p:cNvPr id="2" name="Ink 1">
                <a:extLst>
                  <a:ext uri="{FF2B5EF4-FFF2-40B4-BE49-F238E27FC236}">
                    <a16:creationId xmlns:a16="http://schemas.microsoft.com/office/drawing/2014/main" id="{8DE6190E-A9FA-4F96-858E-AF949428AF62}"/>
                  </a:ext>
                </a:extLst>
              </p:cNvPr>
              <p:cNvPicPr/>
              <p:nvPr/>
            </p:nvPicPr>
            <p:blipFill>
              <a:blip r:embed="rId6"/>
              <a:stretch>
                <a:fillRect/>
              </a:stretch>
            </p:blipFill>
            <p:spPr>
              <a:xfrm>
                <a:off x="494728" y="2248854"/>
                <a:ext cx="21600" cy="18000"/>
              </a:xfrm>
              <a:prstGeom prst="rect">
                <a:avLst/>
              </a:prstGeom>
            </p:spPr>
          </p:pic>
        </mc:Fallback>
      </mc:AlternateContent>
      <p:sp>
        <p:nvSpPr>
          <p:cNvPr id="6" name="Star: 5 Points 5">
            <a:extLst>
              <a:ext uri="{FF2B5EF4-FFF2-40B4-BE49-F238E27FC236}">
                <a16:creationId xmlns:a16="http://schemas.microsoft.com/office/drawing/2014/main" id="{19ADCB18-0900-318B-047E-F1BDFDDD3F7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9439253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CFF31D29-8AA9-4685-9C80-FC610122540F}"/>
              </a:ext>
            </a:extLst>
          </p:cNvPr>
          <p:cNvPicPr>
            <a:picLocks noChangeAspect="1"/>
          </p:cNvPicPr>
          <p:nvPr/>
        </p:nvPicPr>
        <p:blipFill rotWithShape="1">
          <a:blip r:embed="rId4"/>
          <a:srcRect b="80749"/>
          <a:stretch/>
        </p:blipFill>
        <p:spPr>
          <a:xfrm>
            <a:off x="324650" y="756076"/>
            <a:ext cx="8486458" cy="1425422"/>
          </a:xfrm>
          <a:prstGeom prst="rect">
            <a:avLst/>
          </a:prstGeom>
        </p:spPr>
      </p:pic>
      <p:grpSp>
        <p:nvGrpSpPr>
          <p:cNvPr id="5" name="Group 4">
            <a:extLst>
              <a:ext uri="{FF2B5EF4-FFF2-40B4-BE49-F238E27FC236}">
                <a16:creationId xmlns:a16="http://schemas.microsoft.com/office/drawing/2014/main" id="{EBBAD6BE-EEB0-44F5-87F3-D33E5CA72252}"/>
              </a:ext>
            </a:extLst>
          </p:cNvPr>
          <p:cNvGrpSpPr/>
          <p:nvPr/>
        </p:nvGrpSpPr>
        <p:grpSpPr>
          <a:xfrm>
            <a:off x="4439809" y="1840856"/>
            <a:ext cx="7296075" cy="4514183"/>
            <a:chOff x="1114926" y="2037804"/>
            <a:chExt cx="7296075" cy="4514183"/>
          </a:xfrm>
        </p:grpSpPr>
        <p:pic>
          <p:nvPicPr>
            <p:cNvPr id="6" name="Picture 5">
              <a:extLst>
                <a:ext uri="{FF2B5EF4-FFF2-40B4-BE49-F238E27FC236}">
                  <a16:creationId xmlns:a16="http://schemas.microsoft.com/office/drawing/2014/main" id="{43450BB0-7E5E-4904-A276-FBB8DF451E67}"/>
                </a:ext>
              </a:extLst>
            </p:cNvPr>
            <p:cNvPicPr>
              <a:picLocks noChangeAspect="1"/>
            </p:cNvPicPr>
            <p:nvPr/>
          </p:nvPicPr>
          <p:blipFill rotWithShape="1">
            <a:blip r:embed="rId4"/>
            <a:srcRect l="-18196" t="84528" r="48523" b="-1033"/>
            <a:stretch/>
          </p:blipFill>
          <p:spPr>
            <a:xfrm>
              <a:off x="1114926" y="2037804"/>
              <a:ext cx="5309102" cy="1097279"/>
            </a:xfrm>
            <a:prstGeom prst="rect">
              <a:avLst/>
            </a:prstGeom>
          </p:spPr>
        </p:pic>
        <p:pic>
          <p:nvPicPr>
            <p:cNvPr id="7" name="Picture 6">
              <a:extLst>
                <a:ext uri="{FF2B5EF4-FFF2-40B4-BE49-F238E27FC236}">
                  <a16:creationId xmlns:a16="http://schemas.microsoft.com/office/drawing/2014/main" id="{AA179DD3-479F-441B-9353-F52B2A8C537B}"/>
                </a:ext>
              </a:extLst>
            </p:cNvPr>
            <p:cNvPicPr>
              <a:picLocks noChangeAspect="1"/>
            </p:cNvPicPr>
            <p:nvPr/>
          </p:nvPicPr>
          <p:blipFill rotWithShape="1">
            <a:blip r:embed="rId5"/>
            <a:srcRect t="2153" r="19759" b="58486"/>
            <a:stretch/>
          </p:blipFill>
          <p:spPr>
            <a:xfrm>
              <a:off x="2211587" y="3135083"/>
              <a:ext cx="6199414" cy="3416904"/>
            </a:xfrm>
            <a:prstGeom prst="rect">
              <a:avLst/>
            </a:prstGeom>
          </p:spPr>
        </p:pic>
      </p:grpSp>
      <p:pic>
        <p:nvPicPr>
          <p:cNvPr id="9" name="Picture 8">
            <a:extLst>
              <a:ext uri="{FF2B5EF4-FFF2-40B4-BE49-F238E27FC236}">
                <a16:creationId xmlns:a16="http://schemas.microsoft.com/office/drawing/2014/main" id="{64FD13E0-DF72-4329-BFD3-BDE9F0A73E26}"/>
              </a:ext>
            </a:extLst>
          </p:cNvPr>
          <p:cNvPicPr>
            <a:picLocks noChangeAspect="1"/>
          </p:cNvPicPr>
          <p:nvPr/>
        </p:nvPicPr>
        <p:blipFill rotWithShape="1">
          <a:blip r:embed="rId4"/>
          <a:srcRect t="19768" b="15196"/>
          <a:stretch/>
        </p:blipFill>
        <p:spPr>
          <a:xfrm>
            <a:off x="113608" y="2938135"/>
            <a:ext cx="5575660" cy="3163789"/>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2983D327-850A-4917-B0B5-28934CAD3042}"/>
                  </a:ext>
                </a:extLst>
              </p14:cNvPr>
              <p14:cNvContentPartPr/>
              <p14:nvPr/>
            </p14:nvContentPartPr>
            <p14:xfrm>
              <a:off x="-159032" y="3003774"/>
              <a:ext cx="360" cy="360"/>
            </p14:xfrm>
          </p:contentPart>
        </mc:Choice>
        <mc:Fallback xmlns="">
          <p:pic>
            <p:nvPicPr>
              <p:cNvPr id="2" name="Ink 1">
                <a:extLst>
                  <a:ext uri="{FF2B5EF4-FFF2-40B4-BE49-F238E27FC236}">
                    <a16:creationId xmlns:a16="http://schemas.microsoft.com/office/drawing/2014/main" id="{2983D327-850A-4917-B0B5-28934CAD3042}"/>
                  </a:ext>
                </a:extLst>
              </p:cNvPr>
              <p:cNvPicPr/>
              <p:nvPr/>
            </p:nvPicPr>
            <p:blipFill>
              <a:blip r:embed="rId7"/>
              <a:stretch>
                <a:fillRect/>
              </a:stretch>
            </p:blipFill>
            <p:spPr>
              <a:xfrm>
                <a:off x="-168032" y="29951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B4518CD-3790-4969-A954-6A61882637B7}"/>
                  </a:ext>
                </a:extLst>
              </p14:cNvPr>
              <p14:cNvContentPartPr/>
              <p14:nvPr/>
            </p14:nvContentPartPr>
            <p14:xfrm>
              <a:off x="-84152" y="3079014"/>
              <a:ext cx="360" cy="360"/>
            </p14:xfrm>
          </p:contentPart>
        </mc:Choice>
        <mc:Fallback xmlns="">
          <p:pic>
            <p:nvPicPr>
              <p:cNvPr id="10" name="Ink 9">
                <a:extLst>
                  <a:ext uri="{FF2B5EF4-FFF2-40B4-BE49-F238E27FC236}">
                    <a16:creationId xmlns:a16="http://schemas.microsoft.com/office/drawing/2014/main" id="{3B4518CD-3790-4969-A954-6A61882637B7}"/>
                  </a:ext>
                </a:extLst>
              </p:cNvPr>
              <p:cNvPicPr/>
              <p:nvPr/>
            </p:nvPicPr>
            <p:blipFill>
              <a:blip r:embed="rId7"/>
              <a:stretch>
                <a:fillRect/>
              </a:stretch>
            </p:blipFill>
            <p:spPr>
              <a:xfrm>
                <a:off x="-93152" y="307001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61AD923C-6F00-4D38-97DB-47A11BB37016}"/>
                  </a:ext>
                </a:extLst>
              </p14:cNvPr>
              <p14:cNvContentPartPr/>
              <p14:nvPr/>
            </p14:nvContentPartPr>
            <p14:xfrm>
              <a:off x="-37352" y="3079014"/>
              <a:ext cx="360" cy="360"/>
            </p14:xfrm>
          </p:contentPart>
        </mc:Choice>
        <mc:Fallback xmlns="">
          <p:pic>
            <p:nvPicPr>
              <p:cNvPr id="11" name="Ink 10">
                <a:extLst>
                  <a:ext uri="{FF2B5EF4-FFF2-40B4-BE49-F238E27FC236}">
                    <a16:creationId xmlns:a16="http://schemas.microsoft.com/office/drawing/2014/main" id="{61AD923C-6F00-4D38-97DB-47A11BB37016}"/>
                  </a:ext>
                </a:extLst>
              </p:cNvPr>
              <p:cNvPicPr/>
              <p:nvPr/>
            </p:nvPicPr>
            <p:blipFill>
              <a:blip r:embed="rId7"/>
              <a:stretch>
                <a:fillRect/>
              </a:stretch>
            </p:blipFill>
            <p:spPr>
              <a:xfrm>
                <a:off x="-46352" y="307001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FBAC408A-025D-4DED-9C08-BA5FC0618BEC}"/>
                  </a:ext>
                </a:extLst>
              </p14:cNvPr>
              <p14:cNvContentPartPr/>
              <p14:nvPr/>
            </p14:nvContentPartPr>
            <p14:xfrm>
              <a:off x="1622968" y="4431894"/>
              <a:ext cx="360" cy="360"/>
            </p14:xfrm>
          </p:contentPart>
        </mc:Choice>
        <mc:Fallback xmlns="">
          <p:pic>
            <p:nvPicPr>
              <p:cNvPr id="12" name="Ink 11">
                <a:extLst>
                  <a:ext uri="{FF2B5EF4-FFF2-40B4-BE49-F238E27FC236}">
                    <a16:creationId xmlns:a16="http://schemas.microsoft.com/office/drawing/2014/main" id="{FBAC408A-025D-4DED-9C08-BA5FC0618BEC}"/>
                  </a:ext>
                </a:extLst>
              </p:cNvPr>
              <p:cNvPicPr/>
              <p:nvPr/>
            </p:nvPicPr>
            <p:blipFill>
              <a:blip r:embed="rId7"/>
              <a:stretch>
                <a:fillRect/>
              </a:stretch>
            </p:blipFill>
            <p:spPr>
              <a:xfrm>
                <a:off x="1614328" y="442289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67F027A6-E8B3-484D-BCDF-555E029E714B}"/>
                  </a:ext>
                </a:extLst>
              </p14:cNvPr>
              <p14:cNvContentPartPr/>
              <p14:nvPr/>
            </p14:nvContentPartPr>
            <p14:xfrm>
              <a:off x="2836168" y="3153174"/>
              <a:ext cx="360" cy="360"/>
            </p14:xfrm>
          </p:contentPart>
        </mc:Choice>
        <mc:Fallback xmlns="">
          <p:pic>
            <p:nvPicPr>
              <p:cNvPr id="13" name="Ink 12">
                <a:extLst>
                  <a:ext uri="{FF2B5EF4-FFF2-40B4-BE49-F238E27FC236}">
                    <a16:creationId xmlns:a16="http://schemas.microsoft.com/office/drawing/2014/main" id="{67F027A6-E8B3-484D-BCDF-555E029E714B}"/>
                  </a:ext>
                </a:extLst>
              </p:cNvPr>
              <p:cNvPicPr/>
              <p:nvPr/>
            </p:nvPicPr>
            <p:blipFill>
              <a:blip r:embed="rId7"/>
              <a:stretch>
                <a:fillRect/>
              </a:stretch>
            </p:blipFill>
            <p:spPr>
              <a:xfrm>
                <a:off x="2827528" y="31445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6EB664E0-1FAB-4E52-9738-5F742A45548C}"/>
                  </a:ext>
                </a:extLst>
              </p14:cNvPr>
              <p14:cNvContentPartPr/>
              <p14:nvPr/>
            </p14:nvContentPartPr>
            <p14:xfrm>
              <a:off x="8406448" y="1576374"/>
              <a:ext cx="360" cy="360"/>
            </p14:xfrm>
          </p:contentPart>
        </mc:Choice>
        <mc:Fallback xmlns="">
          <p:pic>
            <p:nvPicPr>
              <p:cNvPr id="14" name="Ink 13">
                <a:extLst>
                  <a:ext uri="{FF2B5EF4-FFF2-40B4-BE49-F238E27FC236}">
                    <a16:creationId xmlns:a16="http://schemas.microsoft.com/office/drawing/2014/main" id="{6EB664E0-1FAB-4E52-9738-5F742A45548C}"/>
                  </a:ext>
                </a:extLst>
              </p:cNvPr>
              <p:cNvPicPr/>
              <p:nvPr/>
            </p:nvPicPr>
            <p:blipFill>
              <a:blip r:embed="rId7"/>
              <a:stretch>
                <a:fillRect/>
              </a:stretch>
            </p:blipFill>
            <p:spPr>
              <a:xfrm>
                <a:off x="8397448" y="15677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49E4B0DE-1C14-4895-A3FD-B5C6A3698B44}"/>
                  </a:ext>
                </a:extLst>
              </p14:cNvPr>
              <p14:cNvContentPartPr/>
              <p14:nvPr/>
            </p14:nvContentPartPr>
            <p14:xfrm>
              <a:off x="12381208" y="1986774"/>
              <a:ext cx="360" cy="360"/>
            </p14:xfrm>
          </p:contentPart>
        </mc:Choice>
        <mc:Fallback xmlns="">
          <p:pic>
            <p:nvPicPr>
              <p:cNvPr id="15" name="Ink 14">
                <a:extLst>
                  <a:ext uri="{FF2B5EF4-FFF2-40B4-BE49-F238E27FC236}">
                    <a16:creationId xmlns:a16="http://schemas.microsoft.com/office/drawing/2014/main" id="{49E4B0DE-1C14-4895-A3FD-B5C6A3698B44}"/>
                  </a:ext>
                </a:extLst>
              </p:cNvPr>
              <p:cNvPicPr/>
              <p:nvPr/>
            </p:nvPicPr>
            <p:blipFill>
              <a:blip r:embed="rId7"/>
              <a:stretch>
                <a:fillRect/>
              </a:stretch>
            </p:blipFill>
            <p:spPr>
              <a:xfrm>
                <a:off x="12372208" y="19781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8998C74-2AEC-4C63-8737-A1A128838E22}"/>
                  </a:ext>
                </a:extLst>
              </p14:cNvPr>
              <p14:cNvContentPartPr/>
              <p14:nvPr/>
            </p14:nvContentPartPr>
            <p14:xfrm>
              <a:off x="2350888" y="4151814"/>
              <a:ext cx="360" cy="360"/>
            </p14:xfrm>
          </p:contentPart>
        </mc:Choice>
        <mc:Fallback xmlns="">
          <p:pic>
            <p:nvPicPr>
              <p:cNvPr id="16" name="Ink 15">
                <a:extLst>
                  <a:ext uri="{FF2B5EF4-FFF2-40B4-BE49-F238E27FC236}">
                    <a16:creationId xmlns:a16="http://schemas.microsoft.com/office/drawing/2014/main" id="{C8998C74-2AEC-4C63-8737-A1A128838E22}"/>
                  </a:ext>
                </a:extLst>
              </p:cNvPr>
              <p:cNvPicPr/>
              <p:nvPr/>
            </p:nvPicPr>
            <p:blipFill>
              <a:blip r:embed="rId7"/>
              <a:stretch>
                <a:fillRect/>
              </a:stretch>
            </p:blipFill>
            <p:spPr>
              <a:xfrm>
                <a:off x="2341888" y="4142814"/>
                <a:ext cx="18000" cy="18000"/>
              </a:xfrm>
              <a:prstGeom prst="rect">
                <a:avLst/>
              </a:prstGeom>
            </p:spPr>
          </p:pic>
        </mc:Fallback>
      </mc:AlternateContent>
      <p:sp>
        <p:nvSpPr>
          <p:cNvPr id="17" name="Star: 5 Points 16">
            <a:extLst>
              <a:ext uri="{FF2B5EF4-FFF2-40B4-BE49-F238E27FC236}">
                <a16:creationId xmlns:a16="http://schemas.microsoft.com/office/drawing/2014/main" id="{113624AE-9436-E651-B6A0-B12DE0EE8FF5}"/>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31728100"/>
      </p:ext>
    </p:extLst>
  </p:cSld>
  <p:clrMapOvr>
    <a:masterClrMapping/>
  </p:clrMapOvr>
  <p:transition spd="slow">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D51BBEC7-1003-411E-9BB3-66D8564303EC}"/>
              </a:ext>
            </a:extLst>
          </p:cNvPr>
          <p:cNvSpPr/>
          <p:nvPr/>
        </p:nvSpPr>
        <p:spPr>
          <a:xfrm>
            <a:off x="324650" y="741253"/>
            <a:ext cx="11478144" cy="3016210"/>
          </a:xfrm>
          <a:prstGeom prst="rect">
            <a:avLst/>
          </a:prstGeom>
        </p:spPr>
        <p:txBody>
          <a:bodyPr wrap="square">
            <a:spAutoFit/>
          </a:bodyPr>
          <a:lstStyle/>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The samples A, B, and C were analyzed for their salt's contents:</a:t>
            </a:r>
          </a:p>
          <a:p>
            <a:pPr algn="just">
              <a:spcAft>
                <a:spcPts val="600"/>
              </a:spcAft>
            </a:pPr>
            <a:r>
              <a:rPr lang="en-US" altLang="en-US" sz="2000" b="1" dirty="0">
                <a:solidFill>
                  <a:schemeClr val="tx1"/>
                </a:solidFill>
                <a:latin typeface="Calibri" panose="020F0502020204030204" pitchFamily="34" charset="0"/>
                <a:cs typeface="Calibri" panose="020F0502020204030204" pitchFamily="34" charset="0"/>
              </a:rPr>
              <a:t>Sample A</a:t>
            </a:r>
            <a:r>
              <a:rPr lang="en-US" altLang="en-US" sz="2000" dirty="0">
                <a:solidFill>
                  <a:srgbClr val="FF0000"/>
                </a:solidFill>
                <a:latin typeface="Calibri" panose="020F0502020204030204" pitchFamily="34" charset="0"/>
                <a:cs typeface="Calibri" panose="020F0502020204030204" pitchFamily="34" charset="0"/>
              </a:rPr>
              <a:t> was found to contain 155 mg of </a:t>
            </a:r>
            <a:r>
              <a:rPr lang="en-US" altLang="en-US" sz="2000" b="1" dirty="0">
                <a:solidFill>
                  <a:srgbClr val="FF0000"/>
                </a:solidFill>
                <a:latin typeface="Calibri" panose="020F0502020204030204" pitchFamily="34" charset="0"/>
                <a:cs typeface="Calibri" panose="020F0502020204030204" pitchFamily="34" charset="0"/>
              </a:rPr>
              <a:t>magnesium carbonate</a:t>
            </a:r>
            <a:r>
              <a:rPr lang="en-US" altLang="en-US" sz="2000" dirty="0">
                <a:solidFill>
                  <a:srgbClr val="FF0000"/>
                </a:solidFill>
                <a:latin typeface="Calibri" panose="020F0502020204030204" pitchFamily="34" charset="0"/>
                <a:cs typeface="Calibri" panose="020F0502020204030204" pitchFamily="34" charset="0"/>
              </a:rPr>
              <a:t> per </a:t>
            </a:r>
            <a:r>
              <a:rPr lang="en-US" altLang="en-US" sz="2000" dirty="0" err="1">
                <a:solidFill>
                  <a:srgbClr val="FF0000"/>
                </a:solidFill>
                <a:latin typeface="Calibri" panose="020F0502020204030204" pitchFamily="34" charset="0"/>
                <a:cs typeface="Calibri" panose="020F0502020204030204" pitchFamily="34" charset="0"/>
              </a:rPr>
              <a:t>litre</a:t>
            </a:r>
            <a:r>
              <a:rPr lang="en-US" altLang="en-US" sz="2000" dirty="0">
                <a:solidFill>
                  <a:srgbClr val="FF0000"/>
                </a:solidFill>
                <a:latin typeface="Calibri" panose="020F0502020204030204" pitchFamily="34" charset="0"/>
                <a:cs typeface="Calibri" panose="020F0502020204030204" pitchFamily="34" charset="0"/>
              </a:rPr>
              <a:t>. </a:t>
            </a:r>
          </a:p>
          <a:p>
            <a:pPr algn="just">
              <a:spcAft>
                <a:spcPts val="600"/>
              </a:spcAft>
            </a:pPr>
            <a:r>
              <a:rPr lang="en-US" altLang="en-US" sz="2000" b="1" dirty="0">
                <a:solidFill>
                  <a:schemeClr val="tx1"/>
                </a:solidFill>
                <a:latin typeface="Calibri" panose="020F0502020204030204" pitchFamily="34" charset="0"/>
                <a:cs typeface="Calibri" panose="020F0502020204030204" pitchFamily="34" charset="0"/>
              </a:rPr>
              <a:t>Sample B</a:t>
            </a:r>
            <a:r>
              <a:rPr lang="en-US" altLang="en-US" sz="2000" dirty="0">
                <a:solidFill>
                  <a:srgbClr val="FF0000"/>
                </a:solidFill>
                <a:latin typeface="Calibri" panose="020F0502020204030204" pitchFamily="34" charset="0"/>
                <a:cs typeface="Calibri" panose="020F0502020204030204" pitchFamily="34" charset="0"/>
              </a:rPr>
              <a:t> was found to contain 800 mg of </a:t>
            </a:r>
            <a:r>
              <a:rPr lang="en-US" altLang="en-US" sz="2000" b="1" dirty="0">
                <a:solidFill>
                  <a:srgbClr val="FF0000"/>
                </a:solidFill>
                <a:latin typeface="Calibri" panose="020F0502020204030204" pitchFamily="34" charset="0"/>
                <a:cs typeface="Calibri" panose="020F0502020204030204" pitchFamily="34" charset="0"/>
              </a:rPr>
              <a:t>calcium nitrate</a:t>
            </a:r>
            <a:r>
              <a:rPr lang="en-US" altLang="en-US" sz="2000" dirty="0">
                <a:solidFill>
                  <a:srgbClr val="FF0000"/>
                </a:solidFill>
                <a:latin typeface="Calibri" panose="020F0502020204030204" pitchFamily="34" charset="0"/>
                <a:cs typeface="Calibri" panose="020F0502020204030204" pitchFamily="34" charset="0"/>
              </a:rPr>
              <a:t>, 5.1 mg of </a:t>
            </a:r>
            <a:r>
              <a:rPr lang="en-US" altLang="en-US" sz="2000" b="1" dirty="0">
                <a:solidFill>
                  <a:srgbClr val="FF0000"/>
                </a:solidFill>
                <a:latin typeface="Calibri" panose="020F0502020204030204" pitchFamily="34" charset="0"/>
                <a:cs typeface="Calibri" panose="020F0502020204030204" pitchFamily="34" charset="0"/>
              </a:rPr>
              <a:t>sodium chloride</a:t>
            </a:r>
            <a:r>
              <a:rPr lang="en-US" altLang="en-US" sz="2000" dirty="0">
                <a:solidFill>
                  <a:srgbClr val="FF0000"/>
                </a:solidFill>
                <a:latin typeface="Calibri" panose="020F0502020204030204" pitchFamily="34" charset="0"/>
                <a:cs typeface="Calibri" panose="020F0502020204030204" pitchFamily="34" charset="0"/>
              </a:rPr>
              <a:t>, and 2.5 mg of </a:t>
            </a:r>
            <a:r>
              <a:rPr lang="en-US" altLang="en-US" sz="2000" b="1" dirty="0">
                <a:solidFill>
                  <a:srgbClr val="FF0000"/>
                </a:solidFill>
                <a:latin typeface="Calibri" panose="020F0502020204030204" pitchFamily="34" charset="0"/>
                <a:cs typeface="Calibri" panose="020F0502020204030204" pitchFamily="34" charset="0"/>
              </a:rPr>
              <a:t>silica</a:t>
            </a:r>
            <a:r>
              <a:rPr lang="en-US" altLang="en-US" sz="2000" dirty="0">
                <a:solidFill>
                  <a:srgbClr val="FF0000"/>
                </a:solidFill>
                <a:latin typeface="Calibri" panose="020F0502020204030204" pitchFamily="34" charset="0"/>
                <a:cs typeface="Calibri" panose="020F0502020204030204" pitchFamily="34" charset="0"/>
              </a:rPr>
              <a:t> per </a:t>
            </a:r>
            <a:r>
              <a:rPr lang="en-US" altLang="en-US" sz="2000" dirty="0" err="1">
                <a:solidFill>
                  <a:srgbClr val="FF0000"/>
                </a:solidFill>
                <a:latin typeface="Calibri" panose="020F0502020204030204" pitchFamily="34" charset="0"/>
                <a:cs typeface="Calibri" panose="020F0502020204030204" pitchFamily="34" charset="0"/>
              </a:rPr>
              <a:t>litre</a:t>
            </a:r>
            <a:r>
              <a:rPr lang="en-US" altLang="en-US" sz="2000" dirty="0">
                <a:solidFill>
                  <a:srgbClr val="FF0000"/>
                </a:solidFill>
                <a:latin typeface="Calibri" panose="020F0502020204030204" pitchFamily="34" charset="0"/>
                <a:cs typeface="Calibri" panose="020F0502020204030204" pitchFamily="34" charset="0"/>
              </a:rPr>
              <a:t>.</a:t>
            </a:r>
          </a:p>
          <a:p>
            <a:pPr algn="just">
              <a:spcAft>
                <a:spcPts val="600"/>
              </a:spcAft>
            </a:pPr>
            <a:r>
              <a:rPr lang="en-US" altLang="en-US" sz="2000" b="1" dirty="0">
                <a:solidFill>
                  <a:schemeClr val="tx1"/>
                </a:solidFill>
                <a:latin typeface="Calibri" panose="020F0502020204030204" pitchFamily="34" charset="0"/>
                <a:cs typeface="Calibri" panose="020F0502020204030204" pitchFamily="34" charset="0"/>
              </a:rPr>
              <a:t>Sample C</a:t>
            </a:r>
            <a:r>
              <a:rPr lang="en-US" altLang="en-US" sz="2000" dirty="0">
                <a:solidFill>
                  <a:srgbClr val="FF0000"/>
                </a:solidFill>
                <a:latin typeface="Calibri" panose="020F0502020204030204" pitchFamily="34" charset="0"/>
                <a:cs typeface="Calibri" panose="020F0502020204030204" pitchFamily="34" charset="0"/>
              </a:rPr>
              <a:t> contains 15 mg of </a:t>
            </a:r>
            <a:r>
              <a:rPr lang="en-US" altLang="en-US" sz="2000" b="1" dirty="0">
                <a:solidFill>
                  <a:srgbClr val="FF0000"/>
                </a:solidFill>
                <a:latin typeface="Calibri" panose="020F0502020204030204" pitchFamily="34" charset="0"/>
                <a:cs typeface="Calibri" panose="020F0502020204030204" pitchFamily="34" charset="0"/>
              </a:rPr>
              <a:t>potassium nitrate</a:t>
            </a:r>
            <a:r>
              <a:rPr lang="en-US" altLang="en-US" sz="2000" dirty="0">
                <a:solidFill>
                  <a:srgbClr val="FF0000"/>
                </a:solidFill>
                <a:latin typeface="Calibri" panose="020F0502020204030204" pitchFamily="34" charset="0"/>
                <a:cs typeface="Calibri" panose="020F0502020204030204" pitchFamily="34" charset="0"/>
              </a:rPr>
              <a:t>, and 3 g of </a:t>
            </a:r>
            <a:r>
              <a:rPr lang="en-US" altLang="en-US" sz="2000" b="1" dirty="0">
                <a:solidFill>
                  <a:srgbClr val="FF0000"/>
                </a:solidFill>
                <a:latin typeface="Calibri" panose="020F0502020204030204" pitchFamily="34" charset="0"/>
                <a:cs typeface="Calibri" panose="020F0502020204030204" pitchFamily="34" charset="0"/>
              </a:rPr>
              <a:t>calcium carbonate </a:t>
            </a:r>
            <a:r>
              <a:rPr lang="en-US" altLang="en-US" sz="2000" dirty="0">
                <a:solidFill>
                  <a:srgbClr val="FF0000"/>
                </a:solidFill>
                <a:latin typeface="Calibri" panose="020F0502020204030204" pitchFamily="34" charset="0"/>
                <a:cs typeface="Calibri" panose="020F0502020204030204" pitchFamily="34" charset="0"/>
              </a:rPr>
              <a:t>per </a:t>
            </a:r>
            <a:r>
              <a:rPr lang="en-US" altLang="en-US" sz="2000" dirty="0" err="1">
                <a:solidFill>
                  <a:srgbClr val="FF0000"/>
                </a:solidFill>
                <a:latin typeface="Calibri" panose="020F0502020204030204" pitchFamily="34" charset="0"/>
                <a:cs typeface="Calibri" panose="020F0502020204030204" pitchFamily="34" charset="0"/>
              </a:rPr>
              <a:t>litre</a:t>
            </a:r>
            <a:r>
              <a:rPr lang="en-US" altLang="en-US" sz="2000" dirty="0">
                <a:solidFill>
                  <a:srgbClr val="FF0000"/>
                </a:solidFill>
                <a:latin typeface="Calibri" panose="020F0502020204030204" pitchFamily="34" charset="0"/>
                <a:cs typeface="Calibri" panose="020F0502020204030204" pitchFamily="34" charset="0"/>
              </a:rPr>
              <a:t>. </a:t>
            </a:r>
          </a:p>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Determine the hardness in all above three samples in ppm.</a:t>
            </a:r>
          </a:p>
          <a:p>
            <a:pPr algn="just">
              <a:spcAft>
                <a:spcPts val="600"/>
              </a:spcAft>
            </a:pPr>
            <a:r>
              <a:rPr lang="en-US" altLang="en-US" sz="2000" b="1" dirty="0">
                <a:solidFill>
                  <a:schemeClr val="tx1"/>
                </a:solidFill>
                <a:latin typeface="Calibri" panose="020F0502020204030204" pitchFamily="34" charset="0"/>
                <a:cs typeface="Calibri" panose="020F0502020204030204" pitchFamily="34" charset="0"/>
              </a:rPr>
              <a:t>Molecular weights: </a:t>
            </a:r>
            <a:r>
              <a:rPr lang="en-US" altLang="en-US" sz="2000" dirty="0">
                <a:solidFill>
                  <a:schemeClr val="tx1"/>
                </a:solidFill>
                <a:latin typeface="Calibri" panose="020F0502020204030204" pitchFamily="34" charset="0"/>
                <a:cs typeface="Calibri" panose="020F0502020204030204" pitchFamily="34" charset="0"/>
              </a:rPr>
              <a:t>MgCO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=84; Ca(NO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=164, </a:t>
            </a:r>
            <a:r>
              <a:rPr lang="en-US" altLang="en-US" sz="2000" dirty="0" err="1">
                <a:solidFill>
                  <a:schemeClr val="tx1"/>
                </a:solidFill>
                <a:latin typeface="Calibri" panose="020F0502020204030204" pitchFamily="34" charset="0"/>
                <a:cs typeface="Calibri" panose="020F0502020204030204" pitchFamily="34" charset="0"/>
              </a:rPr>
              <a:t>NaCl</a:t>
            </a:r>
            <a:r>
              <a:rPr lang="en-US" altLang="en-US" sz="2000" dirty="0">
                <a:solidFill>
                  <a:schemeClr val="tx1"/>
                </a:solidFill>
                <a:latin typeface="Calibri" panose="020F0502020204030204" pitchFamily="34" charset="0"/>
                <a:cs typeface="Calibri" panose="020F0502020204030204" pitchFamily="34" charset="0"/>
              </a:rPr>
              <a:t>=58.5, silica/SiO</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=60, CaCO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=100</a:t>
            </a:r>
          </a:p>
          <a:p>
            <a:pPr algn="just">
              <a:spcAft>
                <a:spcPts val="600"/>
              </a:spcAft>
            </a:pPr>
            <a:endParaRPr lang="en-US" altLang="en-US" sz="2000" dirty="0">
              <a:solidFill>
                <a:srgbClr val="FF0000"/>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48E9C890-E11E-4405-B51F-07FE556A9A21}"/>
              </a:ext>
            </a:extLst>
          </p:cNvPr>
          <p:cNvSpPr/>
          <p:nvPr/>
        </p:nvSpPr>
        <p:spPr>
          <a:xfrm>
            <a:off x="324650" y="5691120"/>
            <a:ext cx="8410276" cy="861774"/>
          </a:xfrm>
          <a:prstGeom prst="rect">
            <a:avLst/>
          </a:prstGeom>
        </p:spPr>
        <p:txBody>
          <a:bodyPr wrap="square">
            <a:spAutoFit/>
          </a:bodyPr>
          <a:lstStyle/>
          <a:p>
            <a:pPr algn="just">
              <a:spcAft>
                <a:spcPts val="1200"/>
              </a:spcAft>
            </a:pPr>
            <a:r>
              <a:rPr lang="en-US" altLang="en-US" sz="2000" b="1" dirty="0">
                <a:solidFill>
                  <a:schemeClr val="tx1"/>
                </a:solidFill>
                <a:latin typeface="Calibri" panose="020F0502020204030204" pitchFamily="34" charset="0"/>
                <a:cs typeface="Calibri" panose="020F0502020204030204" pitchFamily="34" charset="0"/>
              </a:rPr>
              <a:t>Answer:</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 = 184.52 ppm, B = 487.52 ppm, C = 3000 ppm </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8EDA22C-3FD6-40EF-A8EA-A501D38FB487}"/>
                  </a:ext>
                </a:extLst>
              </p14:cNvPr>
              <p14:cNvContentPartPr/>
              <p14:nvPr/>
            </p14:nvContentPartPr>
            <p14:xfrm>
              <a:off x="2043088" y="5193294"/>
              <a:ext cx="360" cy="4320"/>
            </p14:xfrm>
          </p:contentPart>
        </mc:Choice>
        <mc:Fallback xmlns="">
          <p:pic>
            <p:nvPicPr>
              <p:cNvPr id="2" name="Ink 1">
                <a:extLst>
                  <a:ext uri="{FF2B5EF4-FFF2-40B4-BE49-F238E27FC236}">
                    <a16:creationId xmlns:a16="http://schemas.microsoft.com/office/drawing/2014/main" id="{F8EDA22C-3FD6-40EF-A8EA-A501D38FB487}"/>
                  </a:ext>
                </a:extLst>
              </p:cNvPr>
              <p:cNvPicPr/>
              <p:nvPr/>
            </p:nvPicPr>
            <p:blipFill>
              <a:blip r:embed="rId5"/>
              <a:stretch>
                <a:fillRect/>
              </a:stretch>
            </p:blipFill>
            <p:spPr>
              <a:xfrm>
                <a:off x="2034448" y="5184294"/>
                <a:ext cx="18000" cy="21960"/>
              </a:xfrm>
              <a:prstGeom prst="rect">
                <a:avLst/>
              </a:prstGeom>
            </p:spPr>
          </p:pic>
        </mc:Fallback>
      </mc:AlternateContent>
      <p:sp>
        <p:nvSpPr>
          <p:cNvPr id="6" name="Star: 5 Points 5">
            <a:extLst>
              <a:ext uri="{FF2B5EF4-FFF2-40B4-BE49-F238E27FC236}">
                <a16:creationId xmlns:a16="http://schemas.microsoft.com/office/drawing/2014/main" id="{FA393A4F-71BB-4345-2262-52642C330B3E}"/>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1504577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7043E448-1B4B-408D-8A6B-D683C718AA9E}"/>
              </a:ext>
            </a:extLst>
          </p:cNvPr>
          <p:cNvSpPr/>
          <p:nvPr/>
        </p:nvSpPr>
        <p:spPr>
          <a:xfrm>
            <a:off x="324650" y="623687"/>
            <a:ext cx="11393738" cy="1477328"/>
          </a:xfrm>
          <a:prstGeom prst="rect">
            <a:avLst/>
          </a:prstGeom>
        </p:spPr>
        <p:txBody>
          <a:bodyPr wrap="square">
            <a:spAutoFit/>
          </a:bodyPr>
          <a:lstStyle/>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The samples A and B were analyzed for their salts contents:</a:t>
            </a:r>
          </a:p>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Sample A was found to contain 168 mg of </a:t>
            </a:r>
            <a:r>
              <a:rPr lang="en-US" altLang="en-US" sz="2000" b="1" dirty="0">
                <a:solidFill>
                  <a:srgbClr val="FF0000"/>
                </a:solidFill>
                <a:latin typeface="Calibri" panose="020F0502020204030204" pitchFamily="34" charset="0"/>
                <a:cs typeface="Calibri" panose="020F0502020204030204" pitchFamily="34" charset="0"/>
              </a:rPr>
              <a:t>magnesium carbonate</a:t>
            </a:r>
            <a:r>
              <a:rPr lang="en-US" altLang="en-US" sz="2000" dirty="0">
                <a:solidFill>
                  <a:srgbClr val="FF0000"/>
                </a:solidFill>
                <a:latin typeface="Calibri" panose="020F0502020204030204" pitchFamily="34" charset="0"/>
                <a:cs typeface="Calibri" panose="020F0502020204030204" pitchFamily="34" charset="0"/>
              </a:rPr>
              <a:t> per 500 </a:t>
            </a:r>
            <a:r>
              <a:rPr lang="en-US" altLang="en-US" sz="2000" dirty="0" err="1">
                <a:solidFill>
                  <a:srgbClr val="FF0000"/>
                </a:solidFill>
                <a:latin typeface="Calibri" panose="020F0502020204030204" pitchFamily="34" charset="0"/>
                <a:cs typeface="Calibri" panose="020F0502020204030204" pitchFamily="34" charset="0"/>
              </a:rPr>
              <a:t>mL.</a:t>
            </a:r>
            <a:r>
              <a:rPr lang="en-US" altLang="en-US" sz="2000" dirty="0">
                <a:solidFill>
                  <a:srgbClr val="FF0000"/>
                </a:solidFill>
                <a:latin typeface="Calibri" panose="020F0502020204030204" pitchFamily="34" charset="0"/>
                <a:cs typeface="Calibri" panose="020F0502020204030204" pitchFamily="34" charset="0"/>
              </a:rPr>
              <a:t> Sample B was found to contain 820 mg of </a:t>
            </a:r>
            <a:r>
              <a:rPr lang="en-US" altLang="en-US" sz="2000" b="1" dirty="0">
                <a:solidFill>
                  <a:srgbClr val="FF0000"/>
                </a:solidFill>
                <a:latin typeface="Calibri" panose="020F0502020204030204" pitchFamily="34" charset="0"/>
                <a:cs typeface="Calibri" panose="020F0502020204030204" pitchFamily="34" charset="0"/>
              </a:rPr>
              <a:t>calcium nitrate</a:t>
            </a:r>
            <a:r>
              <a:rPr lang="en-US" altLang="en-US" sz="2000" dirty="0">
                <a:solidFill>
                  <a:srgbClr val="FF0000"/>
                </a:solidFill>
                <a:latin typeface="Calibri" panose="020F0502020204030204" pitchFamily="34" charset="0"/>
                <a:cs typeface="Calibri" panose="020F0502020204030204" pitchFamily="34" charset="0"/>
              </a:rPr>
              <a:t> per 250 mL</a:t>
            </a:r>
          </a:p>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Determine the hardness in all above two samples in ppm.</a:t>
            </a:r>
          </a:p>
        </p:txBody>
      </p:sp>
      <p:sp>
        <p:nvSpPr>
          <p:cNvPr id="5" name="Rectangle 4">
            <a:extLst>
              <a:ext uri="{FF2B5EF4-FFF2-40B4-BE49-F238E27FC236}">
                <a16:creationId xmlns:a16="http://schemas.microsoft.com/office/drawing/2014/main" id="{2BDC7E93-7D88-4428-9F3C-96558762B3F8}"/>
              </a:ext>
            </a:extLst>
          </p:cNvPr>
          <p:cNvSpPr/>
          <p:nvPr/>
        </p:nvSpPr>
        <p:spPr>
          <a:xfrm>
            <a:off x="324650" y="2162548"/>
            <a:ext cx="8410276" cy="400110"/>
          </a:xfrm>
          <a:prstGeom prst="rect">
            <a:avLst/>
          </a:prstGeom>
        </p:spPr>
        <p:txBody>
          <a:bodyPr wrap="square">
            <a:spAutoFit/>
          </a:bodyPr>
          <a:lstStyle/>
          <a:p>
            <a:pPr algn="just">
              <a:spcAft>
                <a:spcPts val="1200"/>
              </a:spcAft>
            </a:pPr>
            <a:r>
              <a:rPr lang="en-US" altLang="en-US" sz="2000" dirty="0">
                <a:solidFill>
                  <a:schemeClr val="tx1"/>
                </a:solidFill>
                <a:latin typeface="Calibri" panose="020F0502020204030204" pitchFamily="34" charset="0"/>
                <a:cs typeface="Calibri" panose="020F0502020204030204" pitchFamily="34" charset="0"/>
              </a:rPr>
              <a:t>Molecular weights: MgCO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=84; Ca(NO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=164</a:t>
            </a:r>
          </a:p>
        </p:txBody>
      </p:sp>
      <p:sp>
        <p:nvSpPr>
          <p:cNvPr id="2" name="Star: 5 Points 1">
            <a:extLst>
              <a:ext uri="{FF2B5EF4-FFF2-40B4-BE49-F238E27FC236}">
                <a16:creationId xmlns:a16="http://schemas.microsoft.com/office/drawing/2014/main" id="{00F78E9E-1AF0-F3FD-00A2-B12681E59C38}"/>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74727559"/>
      </p:ext>
    </p:extLst>
  </p:cSld>
  <p:clrMapOvr>
    <a:masterClrMapping/>
  </p:clrMapOvr>
  <p:transition spd="slow">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69A287E3-8782-4649-8CC0-85F410EA2181}"/>
              </a:ext>
            </a:extLst>
          </p:cNvPr>
          <p:cNvSpPr/>
          <p:nvPr/>
        </p:nvSpPr>
        <p:spPr>
          <a:xfrm>
            <a:off x="324649" y="623687"/>
            <a:ext cx="11407805" cy="1400383"/>
          </a:xfrm>
          <a:prstGeom prst="rect">
            <a:avLst/>
          </a:prstGeom>
        </p:spPr>
        <p:txBody>
          <a:bodyPr wrap="square">
            <a:spAutoFit/>
          </a:bodyPr>
          <a:lstStyle/>
          <a:p>
            <a:pPr algn="just">
              <a:spcAft>
                <a:spcPts val="600"/>
              </a:spcAft>
            </a:pPr>
            <a:r>
              <a:rPr lang="en-US" altLang="en-US" sz="2000" dirty="0">
                <a:solidFill>
                  <a:srgbClr val="FF0000"/>
                </a:solidFill>
                <a:latin typeface="Calibri" panose="020F0502020204030204" pitchFamily="34" charset="0"/>
                <a:cs typeface="Calibri" panose="020F0502020204030204" pitchFamily="34" charset="0"/>
              </a:rPr>
              <a:t>Calculate the temporary hardness and permanent hardness of a sample of water containing: Mg(HCO</a:t>
            </a:r>
            <a:r>
              <a:rPr lang="en-US" altLang="en-US" sz="2000" baseline="-25000" dirty="0">
                <a:solidFill>
                  <a:srgbClr val="FF0000"/>
                </a:solidFill>
                <a:latin typeface="Calibri" panose="020F0502020204030204" pitchFamily="34" charset="0"/>
                <a:cs typeface="Calibri" panose="020F0502020204030204" pitchFamily="34" charset="0"/>
              </a:rPr>
              <a:t>3</a:t>
            </a:r>
            <a:r>
              <a:rPr lang="en-US" altLang="en-US" sz="2000" dirty="0">
                <a:solidFill>
                  <a:srgbClr val="FF0000"/>
                </a:solidFill>
                <a:latin typeface="Calibri" panose="020F0502020204030204" pitchFamily="34" charset="0"/>
                <a:cs typeface="Calibri" panose="020F0502020204030204" pitchFamily="34" charset="0"/>
              </a:rPr>
              <a:t>)</a:t>
            </a:r>
            <a:r>
              <a:rPr lang="en-US" altLang="en-US" sz="2000" baseline="-25000" dirty="0">
                <a:solidFill>
                  <a:srgbClr val="FF0000"/>
                </a:solidFill>
                <a:latin typeface="Calibri" panose="020F0502020204030204" pitchFamily="34" charset="0"/>
                <a:cs typeface="Calibri" panose="020F0502020204030204" pitchFamily="34" charset="0"/>
              </a:rPr>
              <a:t>2</a:t>
            </a:r>
            <a:r>
              <a:rPr lang="en-US" altLang="en-US" sz="2000" dirty="0">
                <a:solidFill>
                  <a:srgbClr val="FF0000"/>
                </a:solidFill>
                <a:latin typeface="Calibri" panose="020F0502020204030204" pitchFamily="34" charset="0"/>
                <a:cs typeface="Calibri" panose="020F0502020204030204" pitchFamily="34" charset="0"/>
              </a:rPr>
              <a:t> = 7.3 mg/L; Ca(HCO</a:t>
            </a:r>
            <a:r>
              <a:rPr lang="en-US" altLang="en-US" sz="2000" baseline="-25000" dirty="0">
                <a:solidFill>
                  <a:srgbClr val="FF0000"/>
                </a:solidFill>
                <a:latin typeface="Calibri" panose="020F0502020204030204" pitchFamily="34" charset="0"/>
                <a:cs typeface="Calibri" panose="020F0502020204030204" pitchFamily="34" charset="0"/>
              </a:rPr>
              <a:t>3</a:t>
            </a:r>
            <a:r>
              <a:rPr lang="en-US" altLang="en-US" sz="2000" dirty="0">
                <a:solidFill>
                  <a:srgbClr val="FF0000"/>
                </a:solidFill>
                <a:latin typeface="Calibri" panose="020F0502020204030204" pitchFamily="34" charset="0"/>
                <a:cs typeface="Calibri" panose="020F0502020204030204" pitchFamily="34" charset="0"/>
              </a:rPr>
              <a:t>)</a:t>
            </a:r>
            <a:r>
              <a:rPr lang="en-US" altLang="en-US" sz="2000" baseline="-25000" dirty="0">
                <a:solidFill>
                  <a:srgbClr val="FF0000"/>
                </a:solidFill>
                <a:latin typeface="Calibri" panose="020F0502020204030204" pitchFamily="34" charset="0"/>
                <a:cs typeface="Calibri" panose="020F0502020204030204" pitchFamily="34" charset="0"/>
              </a:rPr>
              <a:t>2</a:t>
            </a:r>
            <a:r>
              <a:rPr lang="en-US" altLang="en-US" sz="2000" dirty="0">
                <a:solidFill>
                  <a:srgbClr val="FF0000"/>
                </a:solidFill>
                <a:latin typeface="Calibri" panose="020F0502020204030204" pitchFamily="34" charset="0"/>
                <a:cs typeface="Calibri" panose="020F0502020204030204" pitchFamily="34" charset="0"/>
              </a:rPr>
              <a:t> = 16.2 mg/L; MgCl</a:t>
            </a:r>
            <a:r>
              <a:rPr lang="en-US" altLang="en-US" sz="2000" baseline="-25000" dirty="0">
                <a:solidFill>
                  <a:srgbClr val="FF0000"/>
                </a:solidFill>
                <a:latin typeface="Calibri" panose="020F0502020204030204" pitchFamily="34" charset="0"/>
                <a:cs typeface="Calibri" panose="020F0502020204030204" pitchFamily="34" charset="0"/>
              </a:rPr>
              <a:t>2</a:t>
            </a:r>
            <a:r>
              <a:rPr lang="en-US" altLang="en-US" sz="2000" dirty="0">
                <a:solidFill>
                  <a:srgbClr val="FF0000"/>
                </a:solidFill>
                <a:latin typeface="Calibri" panose="020F0502020204030204" pitchFamily="34" charset="0"/>
                <a:cs typeface="Calibri" panose="020F0502020204030204" pitchFamily="34" charset="0"/>
              </a:rPr>
              <a:t> = 9.5 mg/L; CaSO</a:t>
            </a:r>
            <a:r>
              <a:rPr lang="en-US" altLang="en-US" sz="2000" baseline="-25000" dirty="0">
                <a:solidFill>
                  <a:srgbClr val="FF0000"/>
                </a:solidFill>
                <a:latin typeface="Calibri" panose="020F0502020204030204" pitchFamily="34" charset="0"/>
                <a:cs typeface="Calibri" panose="020F0502020204030204" pitchFamily="34" charset="0"/>
              </a:rPr>
              <a:t>4</a:t>
            </a:r>
            <a:r>
              <a:rPr lang="en-US" altLang="en-US" sz="2000" dirty="0">
                <a:solidFill>
                  <a:srgbClr val="FF0000"/>
                </a:solidFill>
                <a:latin typeface="Calibri" panose="020F0502020204030204" pitchFamily="34" charset="0"/>
                <a:cs typeface="Calibri" panose="020F0502020204030204" pitchFamily="34" charset="0"/>
              </a:rPr>
              <a:t> = 13.6 mg/L </a:t>
            </a:r>
          </a:p>
          <a:p>
            <a:pPr algn="just">
              <a:spcAft>
                <a:spcPts val="600"/>
              </a:spcAft>
            </a:pPr>
            <a:r>
              <a:rPr lang="en-US" altLang="en-US" sz="2000" dirty="0">
                <a:solidFill>
                  <a:schemeClr val="tx1"/>
                </a:solidFill>
                <a:latin typeface="Calibri" panose="020F0502020204030204" pitchFamily="34" charset="0"/>
                <a:cs typeface="Calibri" panose="020F0502020204030204" pitchFamily="34" charset="0"/>
              </a:rPr>
              <a:t>Molecular weights: Ca(HCO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 = 162; Mg(HCO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=146; CaSO</a:t>
            </a:r>
            <a:r>
              <a:rPr lang="en-US" altLang="en-US" sz="2000" baseline="-25000" dirty="0">
                <a:solidFill>
                  <a:schemeClr val="tx1"/>
                </a:solidFill>
                <a:latin typeface="Calibri" panose="020F0502020204030204" pitchFamily="34" charset="0"/>
                <a:cs typeface="Calibri" panose="020F0502020204030204" pitchFamily="34" charset="0"/>
              </a:rPr>
              <a:t>4</a:t>
            </a:r>
            <a:r>
              <a:rPr lang="en-US" altLang="en-US" sz="2000" dirty="0">
                <a:solidFill>
                  <a:schemeClr val="tx1"/>
                </a:solidFill>
                <a:latin typeface="Calibri" panose="020F0502020204030204" pitchFamily="34" charset="0"/>
                <a:cs typeface="Calibri" panose="020F0502020204030204" pitchFamily="34" charset="0"/>
              </a:rPr>
              <a:t>= 136; MgSO</a:t>
            </a:r>
            <a:r>
              <a:rPr lang="en-US" altLang="en-US" sz="2000" baseline="-25000" dirty="0">
                <a:solidFill>
                  <a:schemeClr val="tx1"/>
                </a:solidFill>
                <a:latin typeface="Calibri" panose="020F0502020204030204" pitchFamily="34" charset="0"/>
                <a:cs typeface="Calibri" panose="020F0502020204030204" pitchFamily="34" charset="0"/>
              </a:rPr>
              <a:t>4</a:t>
            </a:r>
            <a:r>
              <a:rPr lang="en-US" altLang="en-US" sz="2000" dirty="0">
                <a:solidFill>
                  <a:schemeClr val="tx1"/>
                </a:solidFill>
                <a:latin typeface="Calibri" panose="020F0502020204030204" pitchFamily="34" charset="0"/>
                <a:cs typeface="Calibri" panose="020F0502020204030204" pitchFamily="34" charset="0"/>
              </a:rPr>
              <a:t> = 120; MgCl</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 = 95; Al</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(SO</a:t>
            </a:r>
            <a:r>
              <a:rPr lang="en-US" altLang="en-US" sz="2000" baseline="-25000" dirty="0">
                <a:solidFill>
                  <a:schemeClr val="tx1"/>
                </a:solidFill>
                <a:latin typeface="Calibri" panose="020F0502020204030204" pitchFamily="34" charset="0"/>
                <a:cs typeface="Calibri" panose="020F0502020204030204" pitchFamily="34" charset="0"/>
              </a:rPr>
              <a:t>4</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 = 114; Ca(NO</a:t>
            </a:r>
            <a:r>
              <a:rPr lang="en-US" altLang="en-US" sz="2000" baseline="-25000" dirty="0">
                <a:solidFill>
                  <a:schemeClr val="tx1"/>
                </a:solidFill>
                <a:latin typeface="Calibri" panose="020F0502020204030204" pitchFamily="34" charset="0"/>
                <a:cs typeface="Calibri" panose="020F0502020204030204" pitchFamily="34" charset="0"/>
              </a:rPr>
              <a:t>3</a:t>
            </a:r>
            <a:r>
              <a:rPr lang="en-US" altLang="en-US" sz="2000" dirty="0">
                <a:solidFill>
                  <a:schemeClr val="tx1"/>
                </a:solidFill>
                <a:latin typeface="Calibri" panose="020F0502020204030204" pitchFamily="34" charset="0"/>
                <a:cs typeface="Calibri" panose="020F0502020204030204" pitchFamily="34" charset="0"/>
              </a:rPr>
              <a:t>)</a:t>
            </a:r>
            <a:r>
              <a:rPr lang="en-US" altLang="en-US" sz="2000" baseline="-25000" dirty="0">
                <a:solidFill>
                  <a:schemeClr val="tx1"/>
                </a:solidFill>
                <a:latin typeface="Calibri" panose="020F0502020204030204" pitchFamily="34" charset="0"/>
                <a:cs typeface="Calibri" panose="020F0502020204030204" pitchFamily="34" charset="0"/>
              </a:rPr>
              <a:t>2</a:t>
            </a:r>
            <a:r>
              <a:rPr lang="en-US" altLang="en-US" sz="2000" dirty="0">
                <a:solidFill>
                  <a:schemeClr val="tx1"/>
                </a:solidFill>
                <a:latin typeface="Calibri" panose="020F0502020204030204" pitchFamily="34" charset="0"/>
                <a:cs typeface="Calibri" panose="020F0502020204030204" pitchFamily="34" charset="0"/>
              </a:rPr>
              <a:t>=164</a:t>
            </a:r>
          </a:p>
        </p:txBody>
      </p:sp>
      <p:sp>
        <p:nvSpPr>
          <p:cNvPr id="2" name="Star: 5 Points 1">
            <a:extLst>
              <a:ext uri="{FF2B5EF4-FFF2-40B4-BE49-F238E27FC236}">
                <a16:creationId xmlns:a16="http://schemas.microsoft.com/office/drawing/2014/main" id="{BA15C51D-F4B6-E4D2-9508-0182FB45991A}"/>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2393643"/>
      </p:ext>
    </p:extLst>
  </p:cSld>
  <p:clrMapOvr>
    <a:masterClrMapping/>
  </p:clrMapOvr>
  <p:transition spd="slow">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65E7CD9A-70C2-4FA4-A38D-AA3A82444790}"/>
              </a:ext>
            </a:extLst>
          </p:cNvPr>
          <p:cNvSpPr/>
          <p:nvPr/>
        </p:nvSpPr>
        <p:spPr>
          <a:xfrm>
            <a:off x="324650" y="623687"/>
            <a:ext cx="11492212" cy="400110"/>
          </a:xfrm>
          <a:prstGeom prst="rect">
            <a:avLst/>
          </a:prstGeom>
        </p:spPr>
        <p:txBody>
          <a:bodyPr wrap="square">
            <a:spAutoFit/>
          </a:bodyPr>
          <a:lstStyle/>
          <a:p>
            <a:r>
              <a:rPr lang="en-US" sz="2000" dirty="0">
                <a:solidFill>
                  <a:srgbClr val="FF0000"/>
                </a:solidFill>
                <a:latin typeface="Calibri" panose="020F0502020204030204" pitchFamily="34" charset="0"/>
                <a:cs typeface="Calibri" panose="020F0502020204030204" pitchFamily="34" charset="0"/>
              </a:rPr>
              <a:t>A water sample (500 mL) has hardness equivalent for 50 mL of 0.1 N CaSO</a:t>
            </a:r>
            <a:r>
              <a:rPr lang="en-US" sz="2000" baseline="-25000" dirty="0">
                <a:solidFill>
                  <a:srgbClr val="FF0000"/>
                </a:solidFill>
                <a:latin typeface="Calibri" panose="020F0502020204030204" pitchFamily="34" charset="0"/>
                <a:cs typeface="Calibri" panose="020F0502020204030204" pitchFamily="34" charset="0"/>
              </a:rPr>
              <a:t>4</a:t>
            </a:r>
            <a:r>
              <a:rPr lang="en-US" sz="2000" dirty="0">
                <a:solidFill>
                  <a:srgbClr val="FF0000"/>
                </a:solidFill>
                <a:latin typeface="Calibri" panose="020F0502020204030204" pitchFamily="34" charset="0"/>
                <a:cs typeface="Calibri" panose="020F0502020204030204" pitchFamily="34" charset="0"/>
              </a:rPr>
              <a:t>. What is the hardness in ppm?</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7A528BB-58A0-488F-A27A-0AFB99722688}"/>
                  </a:ext>
                </a:extLst>
              </p:cNvPr>
              <p:cNvSpPr/>
              <p:nvPr/>
            </p:nvSpPr>
            <p:spPr>
              <a:xfrm>
                <a:off x="324650" y="1306974"/>
                <a:ext cx="8410276" cy="4684488"/>
              </a:xfrm>
              <a:prstGeom prst="rect">
                <a:avLst/>
              </a:prstGeom>
            </p:spPr>
            <p:txBody>
              <a:bodyPr wrap="square">
                <a:spAutoFit/>
              </a:bodyPr>
              <a:lstStyle/>
              <a:p>
                <a:pPr lvl="0" algn="just">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Answer:</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Mol. Wt. of CaSO</a:t>
                </a:r>
                <a:r>
                  <a:rPr lang="en-US" sz="2000" baseline="-25000" dirty="0">
                    <a:latin typeface="Calibri" panose="020F0502020204030204" pitchFamily="34" charset="0"/>
                    <a:ea typeface="Calibri" panose="020F0502020204030204" pitchFamily="34" charset="0"/>
                    <a:cs typeface="Calibri" panose="020F0502020204030204" pitchFamily="34" charset="0"/>
                  </a:rPr>
                  <a:t>4</a:t>
                </a:r>
                <a:r>
                  <a:rPr lang="en-US" sz="2000" dirty="0">
                    <a:latin typeface="Calibri" panose="020F0502020204030204" pitchFamily="34" charset="0"/>
                    <a:ea typeface="Calibri" panose="020F0502020204030204" pitchFamily="34" charset="0"/>
                    <a:cs typeface="Calibri" panose="020F0502020204030204" pitchFamily="34" charset="0"/>
                  </a:rPr>
                  <a:t> = 136</a:t>
                </a:r>
              </a:p>
              <a:p>
                <a:pPr marL="34290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Eq. Wt. of CaSO</a:t>
                </a:r>
                <a:r>
                  <a:rPr lang="en-US" sz="2000" baseline="-25000" dirty="0">
                    <a:latin typeface="Calibri" panose="020F0502020204030204" pitchFamily="34" charset="0"/>
                    <a:ea typeface="Calibri" panose="020F0502020204030204" pitchFamily="34" charset="0"/>
                    <a:cs typeface="Calibri" panose="020F0502020204030204" pitchFamily="34" charset="0"/>
                  </a:rPr>
                  <a:t>4</a:t>
                </a:r>
                <a:r>
                  <a:rPr lang="en-US" sz="2000" dirty="0">
                    <a:latin typeface="Calibri" panose="020F0502020204030204" pitchFamily="34" charset="0"/>
                    <a:ea typeface="Calibri" panose="020F0502020204030204" pitchFamily="34" charset="0"/>
                    <a:cs typeface="Calibri" panose="020F0502020204030204" pitchFamily="34" charset="0"/>
                  </a:rPr>
                  <a:t> = 68</a:t>
                </a:r>
              </a:p>
              <a:p>
                <a:pPr marL="342900" indent="-342900" algn="just">
                  <a:spcAft>
                    <a:spcPts val="1200"/>
                  </a:spcAft>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1000 mL 1 N CaSO</a:t>
                </a:r>
                <a:r>
                  <a:rPr lang="en-US" sz="2000" baseline="-25000" dirty="0">
                    <a:latin typeface="Calibri" panose="020F0502020204030204" pitchFamily="34" charset="0"/>
                    <a:ea typeface="Calibri" panose="020F0502020204030204" pitchFamily="34" charset="0"/>
                    <a:cs typeface="Calibri" panose="020F0502020204030204" pitchFamily="34" charset="0"/>
                  </a:rPr>
                  <a:t>4</a:t>
                </a:r>
                <a:r>
                  <a:rPr lang="en-US" sz="2000" dirty="0">
                    <a:latin typeface="Calibri" panose="020F0502020204030204" pitchFamily="34" charset="0"/>
                    <a:ea typeface="Calibri" panose="020F0502020204030204" pitchFamily="34" charset="0"/>
                    <a:cs typeface="Calibri" panose="020F0502020204030204" pitchFamily="34" charset="0"/>
                  </a:rPr>
                  <a:t> ≡ 68 g/L</a:t>
                </a:r>
                <a:endParaRPr lang="en-US" sz="2000" baseline="-250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50 mL 0.1 N CaSO</a:t>
                </a:r>
                <a:r>
                  <a:rPr lang="en-US" sz="2000" baseline="-25000" dirty="0">
                    <a:latin typeface="Calibri" panose="020F0502020204030204" pitchFamily="34" charset="0"/>
                    <a:ea typeface="Calibri" panose="020F0502020204030204" pitchFamily="34" charset="0"/>
                    <a:cs typeface="Calibri" panose="020F0502020204030204" pitchFamily="34" charset="0"/>
                  </a:rPr>
                  <a:t>4</a:t>
                </a:r>
                <a:r>
                  <a:rPr lang="en-US" sz="2000" dirty="0">
                    <a:latin typeface="Calibri" panose="020F0502020204030204" pitchFamily="34" charset="0"/>
                    <a:ea typeface="Calibri" panose="020F0502020204030204" pitchFamily="34" charset="0"/>
                    <a:cs typeface="Calibri" panose="020F0502020204030204" pitchFamily="34" charset="0"/>
                  </a:rPr>
                  <a:t> ≡ 0.34 g/L = 340 mg/L</a:t>
                </a:r>
              </a:p>
              <a:p>
                <a:pPr marL="342900" lvl="0" indent="-342900" algn="just">
                  <a:spcAft>
                    <a:spcPts val="1200"/>
                  </a:spcAft>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Eq. CaCO</a:t>
                </a:r>
                <a:r>
                  <a:rPr lang="en-US" sz="2000" baseline="-25000" dirty="0">
                    <a:latin typeface="Calibri" panose="020F0502020204030204" pitchFamily="34" charset="0"/>
                    <a:ea typeface="Calibri" panose="020F0502020204030204" pitchFamily="34" charset="0"/>
                    <a:cs typeface="Calibri" panose="020F0502020204030204" pitchFamily="34" charset="0"/>
                  </a:rPr>
                  <a:t>3</a:t>
                </a:r>
                <a:r>
                  <a:rPr lang="en-US" sz="20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000" i="1">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latin typeface="Cambria Math" panose="02040503050406030204" pitchFamily="18" charset="0"/>
                            <a:ea typeface="Calibri" panose="020F0502020204030204" pitchFamily="34" charset="0"/>
                            <a:cs typeface="Calibri" panose="020F0502020204030204" pitchFamily="34" charset="0"/>
                          </a:rPr>
                          <m:t>340</m:t>
                        </m:r>
                        <m:r>
                          <a:rPr lang="en-US" sz="2000" i="1">
                            <a:latin typeface="Cambria Math" panose="02040503050406030204" pitchFamily="18" charset="0"/>
                            <a:ea typeface="Calibri" panose="020F0502020204030204" pitchFamily="34" charset="0"/>
                            <a:cs typeface="Calibri" panose="020F0502020204030204" pitchFamily="34" charset="0"/>
                          </a:rPr>
                          <m:t>×</m:t>
                        </m:r>
                        <m:r>
                          <a:rPr lang="en-US" sz="2000" b="0" i="1" smtClean="0">
                            <a:latin typeface="Cambria Math" panose="02040503050406030204" pitchFamily="18" charset="0"/>
                            <a:ea typeface="Calibri" panose="020F0502020204030204" pitchFamily="34" charset="0"/>
                            <a:cs typeface="Calibri" panose="020F0502020204030204" pitchFamily="34" charset="0"/>
                          </a:rPr>
                          <m:t>100</m:t>
                        </m:r>
                      </m:num>
                      <m:den>
                        <m:r>
                          <a:rPr lang="en-US" sz="2000" b="0" i="1" smtClean="0">
                            <a:latin typeface="Cambria Math" panose="02040503050406030204" pitchFamily="18" charset="0"/>
                            <a:ea typeface="Calibri" panose="020F0502020204030204" pitchFamily="34" charset="0"/>
                            <a:cs typeface="Calibri" panose="020F0502020204030204" pitchFamily="34" charset="0"/>
                          </a:rPr>
                          <m:t>136</m:t>
                        </m:r>
                      </m:den>
                    </m:f>
                    <m:f>
                      <m:fPr>
                        <m:ctrlPr>
                          <a:rPr lang="en-US" sz="2000" i="1">
                            <a:latin typeface="Cambria Math" panose="02040503050406030204" pitchFamily="18" charset="0"/>
                            <a:ea typeface="Calibri" panose="020F0502020204030204" pitchFamily="34" charset="0"/>
                            <a:cs typeface="Calibri" panose="020F0502020204030204" pitchFamily="34" charset="0"/>
                          </a:rPr>
                        </m:ctrlPr>
                      </m:fPr>
                      <m:num>
                        <m:r>
                          <a:rPr lang="en-US" sz="2000" i="1">
                            <a:latin typeface="Cambria Math" panose="02040503050406030204" pitchFamily="18" charset="0"/>
                            <a:ea typeface="Calibri" panose="020F0502020204030204" pitchFamily="34" charset="0"/>
                            <a:cs typeface="Calibri" panose="020F0502020204030204" pitchFamily="34" charset="0"/>
                          </a:rPr>
                          <m:t>𝑚𝑔</m:t>
                        </m:r>
                      </m:num>
                      <m:den>
                        <m:r>
                          <a:rPr lang="en-US" sz="2000" i="1">
                            <a:latin typeface="Cambria Math" panose="02040503050406030204" pitchFamily="18" charset="0"/>
                            <a:ea typeface="Calibri" panose="020F0502020204030204" pitchFamily="34" charset="0"/>
                            <a:cs typeface="Calibri" panose="020F0502020204030204" pitchFamily="34" charset="0"/>
                          </a:rPr>
                          <m:t>𝐿</m:t>
                        </m:r>
                      </m:den>
                    </m:f>
                    <m:r>
                      <a:rPr lang="en-US" sz="2000" i="1">
                        <a:latin typeface="Cambria Math" panose="02040503050406030204" pitchFamily="18" charset="0"/>
                        <a:ea typeface="Calibri" panose="020F0502020204030204" pitchFamily="34" charset="0"/>
                        <a:cs typeface="Calibri" panose="020F0502020204030204" pitchFamily="34" charset="0"/>
                      </a:rPr>
                      <m:t> </m:t>
                    </m:r>
                    <m:r>
                      <a:rPr lang="en-US" sz="2000" i="1">
                        <a:latin typeface="Cambria Math" panose="02040503050406030204" pitchFamily="18" charset="0"/>
                        <a:ea typeface="Calibri" panose="020F0502020204030204" pitchFamily="34" charset="0"/>
                        <a:cs typeface="Calibri" panose="020F0502020204030204" pitchFamily="34" charset="0"/>
                      </a:rPr>
                      <m:t>𝑜𝑟</m:t>
                    </m:r>
                    <m:r>
                      <a:rPr lang="en-US" sz="2000" i="1">
                        <a:latin typeface="Cambria Math" panose="02040503050406030204" pitchFamily="18" charset="0"/>
                        <a:ea typeface="Calibri" panose="020F0502020204030204" pitchFamily="34" charset="0"/>
                        <a:cs typeface="Calibri" panose="020F0502020204030204" pitchFamily="34" charset="0"/>
                      </a:rPr>
                      <m:t> </m:t>
                    </m:r>
                    <m:r>
                      <a:rPr lang="en-US" sz="2000" i="1">
                        <a:latin typeface="Cambria Math" panose="02040503050406030204" pitchFamily="18" charset="0"/>
                        <a:ea typeface="Calibri" panose="020F0502020204030204" pitchFamily="34" charset="0"/>
                        <a:cs typeface="Calibri" panose="020F0502020204030204" pitchFamily="34" charset="0"/>
                      </a:rPr>
                      <m:t>𝑝𝑝𝑚</m:t>
                    </m:r>
                    <m:r>
                      <a:rPr lang="en-US" sz="2000" b="0" i="1" smtClean="0">
                        <a:latin typeface="Cambria Math" panose="02040503050406030204" pitchFamily="18" charset="0"/>
                        <a:ea typeface="Calibri" panose="020F0502020204030204" pitchFamily="34" charset="0"/>
                        <a:cs typeface="Calibri" panose="020F0502020204030204" pitchFamily="34" charset="0"/>
                      </a:rPr>
                      <m:t>=250 </m:t>
                    </m:r>
                    <m:r>
                      <a:rPr lang="en-US" sz="2000" b="0" i="1" smtClean="0">
                        <a:latin typeface="Cambria Math" panose="02040503050406030204" pitchFamily="18" charset="0"/>
                        <a:ea typeface="Calibri" panose="020F0502020204030204" pitchFamily="34" charset="0"/>
                        <a:cs typeface="Calibri" panose="020F0502020204030204" pitchFamily="34" charset="0"/>
                      </a:rPr>
                      <m:t>𝑝𝑝𝑚</m:t>
                    </m:r>
                  </m:oMath>
                </a14:m>
                <a:endParaRPr lang="en-IN" sz="2000" b="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much is in 500 ml</a:t>
                </a:r>
              </a:p>
              <a:p>
                <a:pPr marL="342900" lvl="0" indent="-342900" algn="just">
                  <a:spcAft>
                    <a:spcPts val="1200"/>
                  </a:spcAf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Hardness is </a:t>
                </a:r>
                <a14:m>
                  <m:oMath xmlns:m="http://schemas.openxmlformats.org/officeDocument/2006/math">
                    <m:r>
                      <a:rPr lang="en-US" sz="2000" i="1">
                        <a:latin typeface="Cambria Math" panose="02040503050406030204" pitchFamily="18" charset="0"/>
                        <a:ea typeface="Calibri" panose="020F0502020204030204" pitchFamily="34" charset="0"/>
                        <a:cs typeface="Calibri" panose="020F0502020204030204" pitchFamily="34" charset="0"/>
                      </a:rPr>
                      <m:t>250</m:t>
                    </m:r>
                    <m:r>
                      <a:rPr lang="en-IN" sz="2000" b="0" i="1" smtClean="0">
                        <a:latin typeface="Cambria Math" panose="02040503050406030204" pitchFamily="18" charset="0"/>
                        <a:ea typeface="Calibri" panose="020F0502020204030204" pitchFamily="34" charset="0"/>
                        <a:cs typeface="Calibri" panose="020F0502020204030204" pitchFamily="34" charset="0"/>
                      </a:rPr>
                      <m:t>×2=500 </m:t>
                    </m:r>
                    <m:r>
                      <a:rPr lang="en-US" sz="2000" i="1">
                        <a:latin typeface="Cambria Math" panose="02040503050406030204" pitchFamily="18" charset="0"/>
                        <a:ea typeface="Calibri" panose="020F0502020204030204" pitchFamily="34" charset="0"/>
                        <a:cs typeface="Calibri" panose="020F0502020204030204" pitchFamily="34" charset="0"/>
                      </a:rPr>
                      <m:t>𝑝𝑝𝑚</m:t>
                    </m:r>
                  </m:oMath>
                </a14:m>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Rectangle 4">
                <a:extLst>
                  <a:ext uri="{FF2B5EF4-FFF2-40B4-BE49-F238E27FC236}">
                    <a16:creationId xmlns:a16="http://schemas.microsoft.com/office/drawing/2014/main" id="{B7A528BB-58A0-488F-A27A-0AFB99722688}"/>
                  </a:ext>
                </a:extLst>
              </p:cNvPr>
              <p:cNvSpPr>
                <a:spLocks noRot="1" noChangeAspect="1" noMove="1" noResize="1" noEditPoints="1" noAdjustHandles="1" noChangeArrowheads="1" noChangeShapeType="1" noTextEdit="1"/>
              </p:cNvSpPr>
              <p:nvPr/>
            </p:nvSpPr>
            <p:spPr>
              <a:xfrm>
                <a:off x="324650" y="1306974"/>
                <a:ext cx="8410276" cy="4684488"/>
              </a:xfrm>
              <a:prstGeom prst="rect">
                <a:avLst/>
              </a:prstGeom>
              <a:blipFill>
                <a:blip r:embed="rId4"/>
                <a:stretch>
                  <a:fillRect l="-725" t="-650" b="-1300"/>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471D7C18-ADA8-06CD-5113-8DC7B71D014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5244999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EFC7CE67-9831-4910-ABE4-552415501F78}"/>
              </a:ext>
            </a:extLst>
          </p:cNvPr>
          <p:cNvSpPr/>
          <p:nvPr/>
        </p:nvSpPr>
        <p:spPr>
          <a:xfrm>
            <a:off x="432619" y="623687"/>
            <a:ext cx="11314621" cy="1169551"/>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Calculate the amount of lime required for softening 50,000 litre of hard water containing MgSO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 </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144 ppm, CaCl</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111 ppm, MgCl</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95 ppm; Na</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 </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15 ppm, SiO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25 ppm. </a:t>
            </a:r>
          </a:p>
          <a:p>
            <a:r>
              <a:rPr lang="en-US" altLang="en-US" sz="2000" dirty="0">
                <a:solidFill>
                  <a:srgbClr val="005400"/>
                </a:solidFill>
                <a:latin typeface="Calibri" panose="020F0502020204030204" pitchFamily="34" charset="0"/>
                <a:cs typeface="Calibri" panose="020F0502020204030204" pitchFamily="34" charset="0"/>
              </a:rPr>
              <a:t>MW: Ca(HCO</a:t>
            </a:r>
            <a:r>
              <a:rPr lang="en-US" altLang="en-US" sz="2000" baseline="-25000" dirty="0">
                <a:solidFill>
                  <a:srgbClr val="005400"/>
                </a:solidFill>
                <a:latin typeface="Calibri" panose="020F0502020204030204" pitchFamily="34" charset="0"/>
                <a:cs typeface="Calibri" panose="020F0502020204030204" pitchFamily="34" charset="0"/>
              </a:rPr>
              <a:t>3</a:t>
            </a:r>
            <a:r>
              <a:rPr lang="en-US" altLang="en-US" sz="2000" dirty="0">
                <a:solidFill>
                  <a:srgbClr val="005400"/>
                </a:solidFill>
                <a:latin typeface="Calibri" panose="020F0502020204030204" pitchFamily="34" charset="0"/>
                <a:cs typeface="Calibri" panose="020F0502020204030204" pitchFamily="34" charset="0"/>
              </a:rPr>
              <a:t>)</a:t>
            </a:r>
            <a:r>
              <a:rPr lang="en-US" altLang="en-US" sz="2000" baseline="-25000" dirty="0">
                <a:solidFill>
                  <a:srgbClr val="005400"/>
                </a:solidFill>
                <a:latin typeface="Calibri" panose="020F0502020204030204" pitchFamily="34" charset="0"/>
                <a:cs typeface="Calibri" panose="020F0502020204030204" pitchFamily="34" charset="0"/>
              </a:rPr>
              <a:t>2</a:t>
            </a:r>
            <a:r>
              <a:rPr lang="en-US" altLang="en-US" sz="2000" dirty="0">
                <a:solidFill>
                  <a:srgbClr val="005400"/>
                </a:solidFill>
                <a:latin typeface="Calibri" panose="020F0502020204030204" pitchFamily="34" charset="0"/>
                <a:cs typeface="Calibri" panose="020F0502020204030204" pitchFamily="34" charset="0"/>
              </a:rPr>
              <a:t> = 162; Mg(HCO</a:t>
            </a:r>
            <a:r>
              <a:rPr lang="en-US" altLang="en-US" sz="2000" baseline="-25000" dirty="0">
                <a:solidFill>
                  <a:srgbClr val="005400"/>
                </a:solidFill>
                <a:latin typeface="Calibri" panose="020F0502020204030204" pitchFamily="34" charset="0"/>
                <a:cs typeface="Calibri" panose="020F0502020204030204" pitchFamily="34" charset="0"/>
              </a:rPr>
              <a:t>3</a:t>
            </a:r>
            <a:r>
              <a:rPr lang="en-US" altLang="en-US" sz="2000" dirty="0">
                <a:solidFill>
                  <a:srgbClr val="005400"/>
                </a:solidFill>
                <a:latin typeface="Calibri" panose="020F0502020204030204" pitchFamily="34" charset="0"/>
                <a:cs typeface="Calibri" panose="020F0502020204030204" pitchFamily="34" charset="0"/>
              </a:rPr>
              <a:t>)</a:t>
            </a:r>
            <a:r>
              <a:rPr lang="en-US" altLang="en-US" sz="2000" baseline="-25000" dirty="0">
                <a:solidFill>
                  <a:srgbClr val="005400"/>
                </a:solidFill>
                <a:latin typeface="Calibri" panose="020F0502020204030204" pitchFamily="34" charset="0"/>
                <a:cs typeface="Calibri" panose="020F0502020204030204" pitchFamily="34" charset="0"/>
              </a:rPr>
              <a:t>2</a:t>
            </a:r>
            <a:r>
              <a:rPr lang="en-US" altLang="en-US" sz="2000" dirty="0">
                <a:solidFill>
                  <a:srgbClr val="005400"/>
                </a:solidFill>
                <a:latin typeface="Calibri" panose="020F0502020204030204" pitchFamily="34" charset="0"/>
                <a:cs typeface="Calibri" panose="020F0502020204030204" pitchFamily="34" charset="0"/>
              </a:rPr>
              <a:t>=146; CaSO</a:t>
            </a:r>
            <a:r>
              <a:rPr lang="en-US" altLang="en-US" sz="2000" baseline="-25000" dirty="0">
                <a:solidFill>
                  <a:srgbClr val="005400"/>
                </a:solidFill>
                <a:latin typeface="Calibri" panose="020F0502020204030204" pitchFamily="34" charset="0"/>
                <a:cs typeface="Calibri" panose="020F0502020204030204" pitchFamily="34" charset="0"/>
              </a:rPr>
              <a:t>4</a:t>
            </a:r>
            <a:r>
              <a:rPr lang="en-US" altLang="en-US" sz="2000" dirty="0">
                <a:solidFill>
                  <a:srgbClr val="005400"/>
                </a:solidFill>
                <a:latin typeface="Calibri" panose="020F0502020204030204" pitchFamily="34" charset="0"/>
                <a:cs typeface="Calibri" panose="020F0502020204030204" pitchFamily="34" charset="0"/>
              </a:rPr>
              <a:t>= 136; MgSO</a:t>
            </a:r>
            <a:r>
              <a:rPr lang="en-US" altLang="en-US" sz="2000" baseline="-25000" dirty="0">
                <a:solidFill>
                  <a:srgbClr val="005400"/>
                </a:solidFill>
                <a:latin typeface="Calibri" panose="020F0502020204030204" pitchFamily="34" charset="0"/>
                <a:cs typeface="Calibri" panose="020F0502020204030204" pitchFamily="34" charset="0"/>
              </a:rPr>
              <a:t>4</a:t>
            </a:r>
            <a:r>
              <a:rPr lang="en-US" altLang="en-US" sz="2000" dirty="0">
                <a:solidFill>
                  <a:srgbClr val="005400"/>
                </a:solidFill>
                <a:latin typeface="Calibri" panose="020F0502020204030204" pitchFamily="34" charset="0"/>
                <a:cs typeface="Calibri" panose="020F0502020204030204" pitchFamily="34" charset="0"/>
              </a:rPr>
              <a:t> = 120; ; MgCl</a:t>
            </a:r>
            <a:r>
              <a:rPr lang="en-US" altLang="en-US" sz="2000" baseline="-25000" dirty="0">
                <a:solidFill>
                  <a:srgbClr val="005400"/>
                </a:solidFill>
                <a:latin typeface="Calibri" panose="020F0502020204030204" pitchFamily="34" charset="0"/>
                <a:cs typeface="Calibri" panose="020F0502020204030204" pitchFamily="34" charset="0"/>
              </a:rPr>
              <a:t>2</a:t>
            </a:r>
            <a:r>
              <a:rPr lang="en-US" altLang="en-US" sz="2000" dirty="0">
                <a:solidFill>
                  <a:srgbClr val="005400"/>
                </a:solidFill>
                <a:latin typeface="Calibri" panose="020F0502020204030204" pitchFamily="34" charset="0"/>
                <a:cs typeface="Calibri" panose="020F0502020204030204" pitchFamily="34" charset="0"/>
              </a:rPr>
              <a:t> = 95 </a:t>
            </a:r>
          </a:p>
        </p:txBody>
      </p:sp>
      <p:sp>
        <p:nvSpPr>
          <p:cNvPr id="5" name="Rectangle 4">
            <a:extLst>
              <a:ext uri="{FF2B5EF4-FFF2-40B4-BE49-F238E27FC236}">
                <a16:creationId xmlns:a16="http://schemas.microsoft.com/office/drawing/2014/main" id="{A2DA26CE-FDD1-4B0B-9A7A-27D19181225B}"/>
              </a:ext>
            </a:extLst>
          </p:cNvPr>
          <p:cNvSpPr/>
          <p:nvPr/>
        </p:nvSpPr>
        <p:spPr>
          <a:xfrm>
            <a:off x="324649" y="1888060"/>
            <a:ext cx="10545513" cy="4247317"/>
          </a:xfrm>
          <a:prstGeom prst="rect">
            <a:avLst/>
          </a:prstGeom>
        </p:spPr>
        <p:txBody>
          <a:bodyPr wrap="square">
            <a:spAutoFit/>
          </a:bodyPr>
          <a:lstStyle/>
          <a:p>
            <a:pPr lvl="0" algn="just">
              <a:spcAft>
                <a:spcPts val="6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342900" lvl="0" indent="-342900" algn="just">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Lime required = 74/100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(MgSO</a:t>
            </a:r>
            <a:r>
              <a:rPr lang="en-IN" sz="20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4</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 (MgCl</a:t>
            </a:r>
            <a:r>
              <a:rPr lang="en-IN" sz="20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US" sz="2000" dirty="0">
                <a:latin typeface="Calibri" panose="020F0502020204030204" pitchFamily="34" charset="0"/>
                <a:cs typeface="Calibri" panose="020F0502020204030204" pitchFamily="34" charset="0"/>
              </a:rPr>
              <a:t>×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Volume of water = ???</a:t>
            </a:r>
          </a:p>
          <a:p>
            <a:pPr marL="342900" lvl="0" indent="-342900" algn="just">
              <a:spcAft>
                <a:spcPts val="600"/>
              </a:spcAft>
              <a:buFont typeface="Arial" panose="020B0604020202020204" pitchFamily="34" charset="0"/>
              <a:buChar char="•"/>
            </a:pPr>
            <a:r>
              <a:rPr lang="en-IN" sz="2000" dirty="0">
                <a:latin typeface="Calibri" panose="020F0502020204030204" pitchFamily="34" charset="0"/>
                <a:ea typeface="Calibri" panose="020F0502020204030204" pitchFamily="34" charset="0"/>
                <a:cs typeface="Times New Roman" panose="02020603050405020304" pitchFamily="18" charset="0"/>
              </a:rPr>
              <a:t>Soda required = 106/100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(MgSO</a:t>
            </a:r>
            <a:r>
              <a:rPr lang="en-IN" sz="20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4</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 (CaCl</a:t>
            </a:r>
            <a:r>
              <a:rPr lang="en-IN" sz="20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 (MgCl</a:t>
            </a:r>
            <a:r>
              <a:rPr lang="en-IN" sz="20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IN" sz="2000" dirty="0">
                <a:latin typeface="Calibri" panose="020F0502020204030204" pitchFamily="34" charset="0"/>
                <a:ea typeface="Calibri" panose="020F0502020204030204" pitchFamily="34" charset="0"/>
                <a:cs typeface="Times New Roman" panose="02020603050405020304" pitchFamily="18" charset="0"/>
              </a:rPr>
              <a:t>]</a:t>
            </a:r>
            <a:r>
              <a:rPr lang="en-US" sz="2000" dirty="0">
                <a:latin typeface="Calibri" panose="020F0502020204030204" pitchFamily="34" charset="0"/>
                <a:cs typeface="Calibri" panose="020F0502020204030204" pitchFamily="34" charset="0"/>
              </a:rPr>
              <a:t> × </a:t>
            </a:r>
            <a:r>
              <a:rPr lang="en-IN" sz="2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Volume of water = ???</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AEA842DA-1D74-482F-D805-5BF07CC9D37E}"/>
              </a:ext>
            </a:extLst>
          </p:cNvPr>
          <p:cNvGraphicFramePr>
            <a:graphicFrameLocks noGrp="1"/>
          </p:cNvGraphicFramePr>
          <p:nvPr/>
        </p:nvGraphicFramePr>
        <p:xfrm>
          <a:off x="1819468" y="2323322"/>
          <a:ext cx="8407024" cy="2738995"/>
        </p:xfrm>
        <a:graphic>
          <a:graphicData uri="http://schemas.openxmlformats.org/drawingml/2006/table">
            <a:tbl>
              <a:tblPr firstRow="1" bandRow="1"/>
              <a:tblGrid>
                <a:gridCol w="1660262">
                  <a:extLst>
                    <a:ext uri="{9D8B030D-6E8A-4147-A177-3AD203B41FA5}">
                      <a16:colId xmlns:a16="http://schemas.microsoft.com/office/drawing/2014/main" val="616195056"/>
                    </a:ext>
                  </a:extLst>
                </a:gridCol>
                <a:gridCol w="2167596">
                  <a:extLst>
                    <a:ext uri="{9D8B030D-6E8A-4147-A177-3AD203B41FA5}">
                      <a16:colId xmlns:a16="http://schemas.microsoft.com/office/drawing/2014/main" val="2583810120"/>
                    </a:ext>
                  </a:extLst>
                </a:gridCol>
                <a:gridCol w="2598503">
                  <a:extLst>
                    <a:ext uri="{9D8B030D-6E8A-4147-A177-3AD203B41FA5}">
                      <a16:colId xmlns:a16="http://schemas.microsoft.com/office/drawing/2014/main" val="1651826980"/>
                    </a:ext>
                  </a:extLst>
                </a:gridCol>
                <a:gridCol w="1980663">
                  <a:extLst>
                    <a:ext uri="{9D8B030D-6E8A-4147-A177-3AD203B41FA5}">
                      <a16:colId xmlns:a16="http://schemas.microsoft.com/office/drawing/2014/main" val="4011364213"/>
                    </a:ext>
                  </a:extLst>
                </a:gridCol>
              </a:tblGrid>
              <a:tr h="695792">
                <a:tc>
                  <a:txBody>
                    <a:bodyPr/>
                    <a:lstStyle/>
                    <a:p>
                      <a:pPr algn="ctr"/>
                      <a:r>
                        <a:rPr lang="en-US" sz="2000" b="1" dirty="0">
                          <a:latin typeface="Calibri" panose="020F0502020204030204" pitchFamily="34" charset="0"/>
                          <a:cs typeface="Calibri" panose="020F0502020204030204" pitchFamily="34" charset="0"/>
                        </a:rPr>
                        <a:t>Constituent</a:t>
                      </a:r>
                    </a:p>
                  </a:txBody>
                  <a:tcPr/>
                </a:tc>
                <a:tc>
                  <a:txBody>
                    <a:bodyPr/>
                    <a:lstStyle/>
                    <a:p>
                      <a:pPr algn="ctr"/>
                      <a:r>
                        <a:rPr lang="en-US" sz="2000" b="1" dirty="0">
                          <a:latin typeface="Calibri" panose="020F0502020204030204" pitchFamily="34" charset="0"/>
                          <a:cs typeface="Calibri" panose="020F0502020204030204" pitchFamily="34" charset="0"/>
                        </a:rPr>
                        <a:t>Amount (ppm)</a:t>
                      </a:r>
                    </a:p>
                  </a:txBody>
                  <a:tcPr/>
                </a:tc>
                <a:tc>
                  <a:txBody>
                    <a:bodyPr/>
                    <a:lstStyle/>
                    <a:p>
                      <a:pPr algn="ctr"/>
                      <a:r>
                        <a:rPr lang="en-US" sz="2000" b="1" dirty="0">
                          <a:latin typeface="Calibri" panose="020F0502020204030204" pitchFamily="34" charset="0"/>
                          <a:cs typeface="Calibri" panose="020F0502020204030204" pitchFamily="34" charset="0"/>
                        </a:rPr>
                        <a:t>CaCO</a:t>
                      </a:r>
                      <a:r>
                        <a:rPr lang="en-US" sz="2000" b="1" baseline="-25000" dirty="0">
                          <a:latin typeface="Calibri" panose="020F0502020204030204" pitchFamily="34" charset="0"/>
                          <a:cs typeface="Calibri" panose="020F0502020204030204" pitchFamily="34" charset="0"/>
                        </a:rPr>
                        <a:t>3</a:t>
                      </a:r>
                      <a:r>
                        <a:rPr lang="en-US" sz="2000" b="1" dirty="0">
                          <a:latin typeface="Calibri" panose="020F0502020204030204" pitchFamily="34" charset="0"/>
                          <a:cs typeface="Calibri" panose="020F0502020204030204" pitchFamily="34" charset="0"/>
                        </a:rPr>
                        <a:t> equivalent (ppm)</a:t>
                      </a:r>
                    </a:p>
                  </a:txBody>
                  <a:tcPr/>
                </a:tc>
                <a:tc>
                  <a:txBody>
                    <a:bodyPr/>
                    <a:lstStyle/>
                    <a:p>
                      <a:pPr algn="ctr"/>
                      <a:r>
                        <a:rPr lang="en-US" sz="2000" b="1" dirty="0">
                          <a:latin typeface="Calibri" panose="020F0502020204030204" pitchFamily="34" charset="0"/>
                          <a:cs typeface="Calibri" panose="020F0502020204030204" pitchFamily="34" charset="0"/>
                        </a:rPr>
                        <a:t>Lime/soda requirement</a:t>
                      </a:r>
                    </a:p>
                  </a:txBody>
                  <a:tcPr/>
                </a:tc>
                <a:extLst>
                  <a:ext uri="{0D108BD9-81ED-4DB2-BD59-A6C34878D82A}">
                    <a16:rowId xmlns:a16="http://schemas.microsoft.com/office/drawing/2014/main" val="3450820147"/>
                  </a:ext>
                </a:extLst>
              </a:tr>
              <a:tr h="407591">
                <a:tc>
                  <a:txBody>
                    <a:bodyPr/>
                    <a:lstStyle/>
                    <a:p>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MgSO</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4</a:t>
                      </a: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144</a:t>
                      </a:r>
                    </a:p>
                  </a:txBody>
                  <a:tcPr/>
                </a:tc>
                <a:tc>
                  <a:txBody>
                    <a:bodyPr/>
                    <a:lstStyle/>
                    <a:p>
                      <a:pPr algn="ct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144 </a:t>
                      </a:r>
                      <a:r>
                        <a:rPr lang="en-US" sz="1800" dirty="0">
                          <a:latin typeface="Calibri" panose="020F0502020204030204" pitchFamily="34" charset="0"/>
                          <a:cs typeface="Calibri" panose="020F0502020204030204" pitchFamily="34" charset="0"/>
                        </a:rPr>
                        <a:t>× 100/120 = 120</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L+S</a:t>
                      </a:r>
                    </a:p>
                  </a:txBody>
                  <a:tcPr/>
                </a:tc>
                <a:extLst>
                  <a:ext uri="{0D108BD9-81ED-4DB2-BD59-A6C34878D82A}">
                    <a16:rowId xmlns:a16="http://schemas.microsoft.com/office/drawing/2014/main" val="31973531"/>
                  </a:ext>
                </a:extLst>
              </a:tr>
              <a:tr h="407591">
                <a:tc>
                  <a:txBody>
                    <a:bodyPr/>
                    <a:lstStyle/>
                    <a:p>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CaCl</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111</a:t>
                      </a:r>
                    </a:p>
                  </a:txBody>
                  <a:tcPr/>
                </a:tc>
                <a:tc>
                  <a:txBody>
                    <a:bodyPr/>
                    <a:lstStyle/>
                    <a:p>
                      <a:pPr algn="ct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111 </a:t>
                      </a:r>
                      <a:r>
                        <a:rPr lang="en-US" sz="1800" dirty="0">
                          <a:latin typeface="Calibri" panose="020F0502020204030204" pitchFamily="34" charset="0"/>
                          <a:cs typeface="Calibri" panose="020F0502020204030204" pitchFamily="34" charset="0"/>
                        </a:rPr>
                        <a:t>× 100/111 = 100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S</a:t>
                      </a:r>
                    </a:p>
                  </a:txBody>
                  <a:tcPr/>
                </a:tc>
                <a:extLst>
                  <a:ext uri="{0D108BD9-81ED-4DB2-BD59-A6C34878D82A}">
                    <a16:rowId xmlns:a16="http://schemas.microsoft.com/office/drawing/2014/main" val="3493552359"/>
                  </a:ext>
                </a:extLst>
              </a:tr>
              <a:tr h="407591">
                <a:tc>
                  <a:txBody>
                    <a:bodyPr/>
                    <a:lstStyle/>
                    <a:p>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MgCl</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95</a:t>
                      </a:r>
                    </a:p>
                  </a:txBody>
                  <a:tcPr/>
                </a:tc>
                <a:tc>
                  <a:txBody>
                    <a:bodyPr/>
                    <a:lstStyle/>
                    <a:p>
                      <a:pPr algn="ct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95</a:t>
                      </a:r>
                      <a:r>
                        <a:rPr lang="en-US" sz="1800" dirty="0">
                          <a:latin typeface="Calibri" panose="020F0502020204030204" pitchFamily="34" charset="0"/>
                          <a:cs typeface="Calibri" panose="020F0502020204030204" pitchFamily="34" charset="0"/>
                        </a:rPr>
                        <a:t> × 100/95 = 100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L+S</a:t>
                      </a:r>
                    </a:p>
                  </a:txBody>
                  <a:tcPr/>
                </a:tc>
                <a:extLst>
                  <a:ext uri="{0D108BD9-81ED-4DB2-BD59-A6C34878D82A}">
                    <a16:rowId xmlns:a16="http://schemas.microsoft.com/office/drawing/2014/main" val="122572535"/>
                  </a:ext>
                </a:extLst>
              </a:tr>
              <a:tr h="407591">
                <a:tc>
                  <a:txBody>
                    <a:bodyPr/>
                    <a:lstStyle/>
                    <a:p>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Na</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SO</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4</a:t>
                      </a: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NA</a:t>
                      </a: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NA</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651833433"/>
                  </a:ext>
                </a:extLst>
              </a:tr>
              <a:tr h="407591">
                <a:tc>
                  <a:txBody>
                    <a:bodyPr/>
                    <a:lstStyle/>
                    <a:p>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Fe</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2</a:t>
                      </a:r>
                      <a:r>
                        <a:rPr lang="en-IN" sz="18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O</a:t>
                      </a:r>
                      <a:r>
                        <a:rPr lang="en-IN" sz="1800" baseline="-250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3</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NA</a:t>
                      </a:r>
                    </a:p>
                  </a:txBody>
                  <a:tcPr/>
                </a:tc>
                <a:tc>
                  <a:txBody>
                    <a:bodyPr/>
                    <a:lstStyle/>
                    <a:p>
                      <a:pPr algn="ctr"/>
                      <a:r>
                        <a:rPr lang="en-US" sz="1800" dirty="0">
                          <a:solidFill>
                            <a:schemeClr val="tx1"/>
                          </a:solidFill>
                          <a:latin typeface="Calibri" panose="020F0502020204030204" pitchFamily="34" charset="0"/>
                          <a:cs typeface="Calibri" panose="020F0502020204030204" pitchFamily="34" charset="0"/>
                        </a:rPr>
                        <a:t>NA</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945304637"/>
                  </a:ext>
                </a:extLst>
              </a:tr>
            </a:tbl>
          </a:graphicData>
        </a:graphic>
      </p:graphicFrame>
      <p:sp>
        <p:nvSpPr>
          <p:cNvPr id="6" name="Star: 5 Points 5">
            <a:extLst>
              <a:ext uri="{FF2B5EF4-FFF2-40B4-BE49-F238E27FC236}">
                <a16:creationId xmlns:a16="http://schemas.microsoft.com/office/drawing/2014/main" id="{72F8B8AE-792E-A0E8-DEB9-D777D9BDD7D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2107168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5" name="Shape 69">
            <a:extLst>
              <a:ext uri="{FF2B5EF4-FFF2-40B4-BE49-F238E27FC236}">
                <a16:creationId xmlns:a16="http://schemas.microsoft.com/office/drawing/2014/main" id="{7D6CB24F-0F9D-4497-A498-F026B6BE551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3CA4A86A-74F3-49CE-8D7F-D9713C778A8C}"/>
              </a:ext>
            </a:extLst>
          </p:cNvPr>
          <p:cNvSpPr/>
          <p:nvPr/>
        </p:nvSpPr>
        <p:spPr>
          <a:xfrm>
            <a:off x="1890862" y="623687"/>
            <a:ext cx="9884370" cy="1785104"/>
          </a:xfrm>
          <a:prstGeom prst="rect">
            <a:avLst/>
          </a:prstGeom>
        </p:spPr>
        <p:txBody>
          <a:bodyPr wrap="square">
            <a:spAutoFit/>
          </a:bodyPr>
          <a:lstStyle/>
          <a:p>
            <a:pPr lvl="0" algn="just">
              <a:spcAft>
                <a:spcPts val="6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quantity of lime and soda required for softening 50000 </a:t>
            </a:r>
            <a:r>
              <a:rPr lang="en-US"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litres</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of water containing the following salts per </a:t>
            </a:r>
            <a:r>
              <a:rPr lang="en-US"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litre</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Ca(HCO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8.1 mg (MW=162); Mg(HCO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7.5 mg (MW=146); CaSO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13.6 mg (MW=136); MgSO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12.0 mg (MW=120), MgCl</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2.0 mg (MW=95), NaCl = 4.7 mg (MW=58.5).</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quantities of lime and soda required if purity is 90% for both lime and soda.</a:t>
            </a:r>
          </a:p>
        </p:txBody>
      </p:sp>
      <p:graphicFrame>
        <p:nvGraphicFramePr>
          <p:cNvPr id="7" name="Table 6">
            <a:extLst>
              <a:ext uri="{FF2B5EF4-FFF2-40B4-BE49-F238E27FC236}">
                <a16:creationId xmlns:a16="http://schemas.microsoft.com/office/drawing/2014/main" id="{8F0FC96A-4FDD-448B-91CA-2CF125B06931}"/>
              </a:ext>
            </a:extLst>
          </p:cNvPr>
          <p:cNvGraphicFramePr>
            <a:graphicFrameLocks noGrp="1"/>
          </p:cNvGraphicFramePr>
          <p:nvPr/>
        </p:nvGraphicFramePr>
        <p:xfrm>
          <a:off x="1890862" y="2993998"/>
          <a:ext cx="8410276" cy="3240315"/>
        </p:xfrm>
        <a:graphic>
          <a:graphicData uri="http://schemas.openxmlformats.org/drawingml/2006/table">
            <a:tbl>
              <a:tblPr firstRow="1" bandRow="1"/>
              <a:tblGrid>
                <a:gridCol w="1660904">
                  <a:extLst>
                    <a:ext uri="{9D8B030D-6E8A-4147-A177-3AD203B41FA5}">
                      <a16:colId xmlns:a16="http://schemas.microsoft.com/office/drawing/2014/main" val="616195056"/>
                    </a:ext>
                  </a:extLst>
                </a:gridCol>
                <a:gridCol w="2168435">
                  <a:extLst>
                    <a:ext uri="{9D8B030D-6E8A-4147-A177-3AD203B41FA5}">
                      <a16:colId xmlns:a16="http://schemas.microsoft.com/office/drawing/2014/main" val="2583810120"/>
                    </a:ext>
                  </a:extLst>
                </a:gridCol>
                <a:gridCol w="2599508">
                  <a:extLst>
                    <a:ext uri="{9D8B030D-6E8A-4147-A177-3AD203B41FA5}">
                      <a16:colId xmlns:a16="http://schemas.microsoft.com/office/drawing/2014/main" val="1651826980"/>
                    </a:ext>
                  </a:extLst>
                </a:gridCol>
                <a:gridCol w="1981429">
                  <a:extLst>
                    <a:ext uri="{9D8B030D-6E8A-4147-A177-3AD203B41FA5}">
                      <a16:colId xmlns:a16="http://schemas.microsoft.com/office/drawing/2014/main" val="4011364213"/>
                    </a:ext>
                  </a:extLst>
                </a:gridCol>
              </a:tblGrid>
              <a:tr h="776325">
                <a:tc>
                  <a:txBody>
                    <a:bodyPr/>
                    <a:lstStyle/>
                    <a:p>
                      <a:pPr algn="ctr"/>
                      <a:r>
                        <a:rPr lang="en-US" sz="2000" b="1" dirty="0">
                          <a:latin typeface="Calibri" panose="020F0502020204030204" pitchFamily="34" charset="0"/>
                          <a:cs typeface="Calibri" panose="020F0502020204030204" pitchFamily="34" charset="0"/>
                        </a:rPr>
                        <a:t>Constituent</a:t>
                      </a:r>
                    </a:p>
                  </a:txBody>
                  <a:tcPr/>
                </a:tc>
                <a:tc>
                  <a:txBody>
                    <a:bodyPr/>
                    <a:lstStyle/>
                    <a:p>
                      <a:pPr algn="ctr"/>
                      <a:r>
                        <a:rPr lang="en-US" sz="2000" b="1" dirty="0">
                          <a:latin typeface="Calibri" panose="020F0502020204030204" pitchFamily="34" charset="0"/>
                          <a:cs typeface="Calibri" panose="020F0502020204030204" pitchFamily="34" charset="0"/>
                        </a:rPr>
                        <a:t>Amount (mg/lit)</a:t>
                      </a:r>
                    </a:p>
                  </a:txBody>
                  <a:tcPr/>
                </a:tc>
                <a:tc>
                  <a:txBody>
                    <a:bodyPr/>
                    <a:lstStyle/>
                    <a:p>
                      <a:pPr algn="ctr"/>
                      <a:r>
                        <a:rPr lang="en-US" sz="2000" b="1" dirty="0">
                          <a:latin typeface="Calibri" panose="020F0502020204030204" pitchFamily="34" charset="0"/>
                          <a:cs typeface="Calibri" panose="020F0502020204030204" pitchFamily="34" charset="0"/>
                        </a:rPr>
                        <a:t>CaCO</a:t>
                      </a:r>
                      <a:r>
                        <a:rPr lang="en-US" sz="2000" b="1" baseline="-25000" dirty="0">
                          <a:latin typeface="Calibri" panose="020F0502020204030204" pitchFamily="34" charset="0"/>
                          <a:cs typeface="Calibri" panose="020F0502020204030204" pitchFamily="34" charset="0"/>
                        </a:rPr>
                        <a:t>3</a:t>
                      </a:r>
                      <a:r>
                        <a:rPr lang="en-US" sz="2000" b="1" dirty="0">
                          <a:latin typeface="Calibri" panose="020F0502020204030204" pitchFamily="34" charset="0"/>
                          <a:cs typeface="Calibri" panose="020F0502020204030204" pitchFamily="34" charset="0"/>
                        </a:rPr>
                        <a:t> equivalent</a:t>
                      </a:r>
                    </a:p>
                  </a:txBody>
                  <a:tcPr/>
                </a:tc>
                <a:tc>
                  <a:txBody>
                    <a:bodyPr/>
                    <a:lstStyle/>
                    <a:p>
                      <a:pPr algn="ctr"/>
                      <a:r>
                        <a:rPr lang="en-US" sz="2000" b="1" dirty="0">
                          <a:latin typeface="Calibri" panose="020F0502020204030204" pitchFamily="34" charset="0"/>
                          <a:cs typeface="Calibri" panose="020F0502020204030204" pitchFamily="34" charset="0"/>
                        </a:rPr>
                        <a:t>Lime/soda requirement</a:t>
                      </a:r>
                    </a:p>
                  </a:txBody>
                  <a:tcPr/>
                </a:tc>
                <a:extLst>
                  <a:ext uri="{0D108BD9-81ED-4DB2-BD59-A6C34878D82A}">
                    <a16:rowId xmlns:a16="http://schemas.microsoft.com/office/drawing/2014/main" val="3450820147"/>
                  </a:ext>
                </a:extLst>
              </a:tr>
              <a:tr h="410665">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Ca(HCO</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3</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8.1</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100/162 × 8.1 = 5.0</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L</a:t>
                      </a:r>
                    </a:p>
                  </a:txBody>
                  <a:tcPr/>
                </a:tc>
                <a:extLst>
                  <a:ext uri="{0D108BD9-81ED-4DB2-BD59-A6C34878D82A}">
                    <a16:rowId xmlns:a16="http://schemas.microsoft.com/office/drawing/2014/main" val="31973531"/>
                  </a:ext>
                </a:extLst>
              </a:tr>
              <a:tr h="410665">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Mg(HCO</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3</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7.5</a:t>
                      </a:r>
                    </a:p>
                  </a:txBody>
                  <a:tcPr/>
                </a:tc>
                <a:tc>
                  <a:txBody>
                    <a:bodyPr/>
                    <a:lstStyle/>
                    <a:p>
                      <a:r>
                        <a:rPr lang="en-US" sz="1800" dirty="0">
                          <a:solidFill>
                            <a:schemeClr val="tx1"/>
                          </a:solidFill>
                          <a:latin typeface="Calibri" panose="020F0502020204030204" pitchFamily="34" charset="0"/>
                          <a:cs typeface="Calibri" panose="020F0502020204030204" pitchFamily="34" charset="0"/>
                        </a:rPr>
                        <a:t>100/146 × 7.5 = 5.14</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2L</a:t>
                      </a:r>
                    </a:p>
                  </a:txBody>
                  <a:tcPr/>
                </a:tc>
                <a:extLst>
                  <a:ext uri="{0D108BD9-81ED-4DB2-BD59-A6C34878D82A}">
                    <a16:rowId xmlns:a16="http://schemas.microsoft.com/office/drawing/2014/main" val="3493552359"/>
                  </a:ext>
                </a:extLst>
              </a:tr>
              <a:tr h="410665">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CaSO</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4</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13.6</a:t>
                      </a:r>
                    </a:p>
                  </a:txBody>
                  <a:tcPr/>
                </a:tc>
                <a:tc>
                  <a:txBody>
                    <a:bodyPr/>
                    <a:lstStyle/>
                    <a:p>
                      <a:r>
                        <a:rPr lang="en-US" sz="1800" dirty="0">
                          <a:solidFill>
                            <a:schemeClr val="tx1"/>
                          </a:solidFill>
                          <a:latin typeface="Calibri" panose="020F0502020204030204" pitchFamily="34" charset="0"/>
                          <a:cs typeface="Calibri" panose="020F0502020204030204" pitchFamily="34" charset="0"/>
                        </a:rPr>
                        <a:t>100/136 × 13.6 = 10.0</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S</a:t>
                      </a:r>
                    </a:p>
                  </a:txBody>
                  <a:tcPr/>
                </a:tc>
                <a:extLst>
                  <a:ext uri="{0D108BD9-81ED-4DB2-BD59-A6C34878D82A}">
                    <a16:rowId xmlns:a16="http://schemas.microsoft.com/office/drawing/2014/main" val="122572535"/>
                  </a:ext>
                </a:extLst>
              </a:tr>
              <a:tr h="410665">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MgSO</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4</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12.0</a:t>
                      </a:r>
                    </a:p>
                  </a:txBody>
                  <a:tcPr/>
                </a:tc>
                <a:tc>
                  <a:txBody>
                    <a:bodyPr/>
                    <a:lstStyle/>
                    <a:p>
                      <a:r>
                        <a:rPr lang="en-US" sz="1800" dirty="0">
                          <a:solidFill>
                            <a:schemeClr val="tx1"/>
                          </a:solidFill>
                          <a:latin typeface="Calibri" panose="020F0502020204030204" pitchFamily="34" charset="0"/>
                          <a:cs typeface="Calibri" panose="020F0502020204030204" pitchFamily="34" charset="0"/>
                        </a:rPr>
                        <a:t>100/120 × 12 = 10.0</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L+S</a:t>
                      </a:r>
                    </a:p>
                  </a:txBody>
                  <a:tcPr/>
                </a:tc>
                <a:extLst>
                  <a:ext uri="{0D108BD9-81ED-4DB2-BD59-A6C34878D82A}">
                    <a16:rowId xmlns:a16="http://schemas.microsoft.com/office/drawing/2014/main" val="2651833433"/>
                  </a:ext>
                </a:extLst>
              </a:tr>
              <a:tr h="410665">
                <a:tc>
                  <a:txBody>
                    <a:bodyPr/>
                    <a:lstStyle/>
                    <a:p>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MgCl</a:t>
                      </a:r>
                      <a:r>
                        <a:rPr lang="en-US" sz="180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2.0</a:t>
                      </a:r>
                    </a:p>
                  </a:txBody>
                  <a:tcPr/>
                </a:tc>
                <a:tc>
                  <a:txBody>
                    <a:bodyPr/>
                    <a:lstStyle/>
                    <a:p>
                      <a:r>
                        <a:rPr lang="en-US" sz="1800" dirty="0">
                          <a:solidFill>
                            <a:schemeClr val="tx1"/>
                          </a:solidFill>
                          <a:latin typeface="Calibri" panose="020F0502020204030204" pitchFamily="34" charset="0"/>
                          <a:cs typeface="Calibri" panose="020F0502020204030204" pitchFamily="34" charset="0"/>
                        </a:rPr>
                        <a:t>100/95 2 = 2.11</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L+S</a:t>
                      </a:r>
                    </a:p>
                  </a:txBody>
                  <a:tcPr/>
                </a:tc>
                <a:extLst>
                  <a:ext uri="{0D108BD9-81ED-4DB2-BD59-A6C34878D82A}">
                    <a16:rowId xmlns:a16="http://schemas.microsoft.com/office/drawing/2014/main" val="2945304637"/>
                  </a:ext>
                </a:extLst>
              </a:tr>
              <a:tr h="410665">
                <a:tc>
                  <a:txBody>
                    <a:bodyPr/>
                    <a:lstStyle/>
                    <a:p>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NaCl</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1800" dirty="0">
                        <a:solidFill>
                          <a:schemeClr val="tx1"/>
                        </a:solidFill>
                        <a:latin typeface="Calibri" panose="020F0502020204030204" pitchFamily="34" charset="0"/>
                        <a:cs typeface="Calibri" panose="020F0502020204030204" pitchFamily="34" charset="0"/>
                      </a:endParaRPr>
                    </a:p>
                  </a:txBody>
                  <a:tcPr/>
                </a:tc>
                <a:tc>
                  <a:txBody>
                    <a:bodyPr/>
                    <a:lstStyle/>
                    <a:p>
                      <a:r>
                        <a:rPr lang="en-US" sz="1800" dirty="0">
                          <a:solidFill>
                            <a:schemeClr val="tx1"/>
                          </a:solidFill>
                          <a:latin typeface="Calibri" panose="020F0502020204030204" pitchFamily="34" charset="0"/>
                          <a:cs typeface="Calibri" panose="020F0502020204030204" pitchFamily="34" charset="0"/>
                        </a:rPr>
                        <a:t>4.7</a:t>
                      </a:r>
                    </a:p>
                  </a:txBody>
                  <a:tcPr/>
                </a:tc>
                <a:tc>
                  <a:txBody>
                    <a:bodyPr/>
                    <a:lstStyle/>
                    <a:p>
                      <a:r>
                        <a:rPr lang="en-US" sz="1800" dirty="0">
                          <a:solidFill>
                            <a:schemeClr val="tx1"/>
                          </a:solidFill>
                          <a:latin typeface="Calibri" panose="020F0502020204030204" pitchFamily="34" charset="0"/>
                          <a:cs typeface="Calibri" panose="020F0502020204030204" pitchFamily="34" charset="0"/>
                        </a:rPr>
                        <a:t>N.A.</a:t>
                      </a:r>
                    </a:p>
                  </a:txBody>
                  <a:tcPr/>
                </a:tc>
                <a:tc>
                  <a:txBody>
                    <a:bodyPr/>
                    <a:lstStyle/>
                    <a:p>
                      <a:pPr algn="ctr"/>
                      <a:r>
                        <a:rPr lang="en-US" sz="1800" b="1" dirty="0">
                          <a:solidFill>
                            <a:schemeClr val="tx1"/>
                          </a:solidFill>
                          <a:latin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3490994156"/>
                  </a:ext>
                </a:extLst>
              </a:tr>
            </a:tbl>
          </a:graphicData>
        </a:graphic>
      </p:graphicFrame>
      <p:sp>
        <p:nvSpPr>
          <p:cNvPr id="9" name="Rectangle 8">
            <a:extLst>
              <a:ext uri="{FF2B5EF4-FFF2-40B4-BE49-F238E27FC236}">
                <a16:creationId xmlns:a16="http://schemas.microsoft.com/office/drawing/2014/main" id="{2C8B0B77-301A-4076-B81B-31D600B1544E}"/>
              </a:ext>
            </a:extLst>
          </p:cNvPr>
          <p:cNvSpPr/>
          <p:nvPr/>
        </p:nvSpPr>
        <p:spPr>
          <a:xfrm>
            <a:off x="427287" y="2347451"/>
            <a:ext cx="8410276" cy="400110"/>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p>
        </p:txBody>
      </p:sp>
      <p:sp>
        <p:nvSpPr>
          <p:cNvPr id="2" name="Star: 5 Points 1">
            <a:extLst>
              <a:ext uri="{FF2B5EF4-FFF2-40B4-BE49-F238E27FC236}">
                <a16:creationId xmlns:a16="http://schemas.microsoft.com/office/drawing/2014/main" id="{7FE8DD57-5C78-F19F-3538-C40435899129}"/>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0241306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5" name="Shape 69">
            <a:extLst>
              <a:ext uri="{FF2B5EF4-FFF2-40B4-BE49-F238E27FC236}">
                <a16:creationId xmlns:a16="http://schemas.microsoft.com/office/drawing/2014/main" id="{7D6CB24F-0F9D-4497-A498-F026B6BE551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3CA4A86A-74F3-49CE-8D7F-D9713C778A8C}"/>
              </a:ext>
            </a:extLst>
          </p:cNvPr>
          <p:cNvSpPr/>
          <p:nvPr/>
        </p:nvSpPr>
        <p:spPr>
          <a:xfrm>
            <a:off x="1946787" y="623687"/>
            <a:ext cx="9828445" cy="1785104"/>
          </a:xfrm>
          <a:prstGeom prst="rect">
            <a:avLst/>
          </a:prstGeom>
        </p:spPr>
        <p:txBody>
          <a:bodyPr wrap="square">
            <a:spAutoFit/>
          </a:bodyPr>
          <a:lstStyle/>
          <a:p>
            <a:pPr lvl="0" algn="just">
              <a:spcAft>
                <a:spcPts val="6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quantity of lime and soda required for softening 50000 </a:t>
            </a:r>
            <a:r>
              <a:rPr lang="en-US"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litres</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of water containing the following salts per </a:t>
            </a:r>
            <a:r>
              <a:rPr lang="en-US"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litre</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Ca(HCO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8.1 mg; Mg(HCO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7.5 mg; CaSO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13.6 mg; MgSO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12.0 mg, MgCl</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2.0 mg, </a:t>
            </a:r>
            <a:r>
              <a:rPr lang="en-US" sz="2000" dirty="0" err="1">
                <a:solidFill>
                  <a:srgbClr val="FF0000"/>
                </a:solidFill>
                <a:latin typeface="Calibri" panose="020F0502020204030204" pitchFamily="34" charset="0"/>
                <a:ea typeface="Calibri" panose="020F0502020204030204" pitchFamily="34" charset="0"/>
                <a:cs typeface="Times New Roman" panose="02020603050405020304" pitchFamily="18" charset="0"/>
              </a:rPr>
              <a:t>NaCl</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4.7 mg.</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quantities of lime and soda required if purity is 90% for both lime and soda.</a:t>
            </a:r>
          </a:p>
        </p:txBody>
      </p:sp>
      <p:sp>
        <p:nvSpPr>
          <p:cNvPr id="9" name="Rectangle 8">
            <a:extLst>
              <a:ext uri="{FF2B5EF4-FFF2-40B4-BE49-F238E27FC236}">
                <a16:creationId xmlns:a16="http://schemas.microsoft.com/office/drawing/2014/main" id="{2C8B0B77-301A-4076-B81B-31D600B1544E}"/>
              </a:ext>
            </a:extLst>
          </p:cNvPr>
          <p:cNvSpPr/>
          <p:nvPr/>
        </p:nvSpPr>
        <p:spPr>
          <a:xfrm>
            <a:off x="427287" y="2347451"/>
            <a:ext cx="8410276" cy="400110"/>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C9B10BE-4A6D-4FF2-96BA-D63B49EED761}"/>
                  </a:ext>
                </a:extLst>
              </p:cNvPr>
              <p:cNvSpPr/>
              <p:nvPr/>
            </p:nvSpPr>
            <p:spPr>
              <a:xfrm>
                <a:off x="427287" y="2993997"/>
                <a:ext cx="10862754" cy="1196225"/>
              </a:xfrm>
              <a:prstGeom prst="rect">
                <a:avLst/>
              </a:prstGeom>
            </p:spPr>
            <p:txBody>
              <a:bodyPr wrap="square">
                <a:spAutoFit/>
              </a:bodyPr>
              <a:lstStyle/>
              <a:p>
                <a:pPr lvl="0" algn="just">
                  <a:spcAft>
                    <a:spcPts val="18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Lime required for softening </a:t>
                </a:r>
                <a14:m>
                  <m:oMath xmlns:m="http://schemas.openxmlformats.org/officeDocument/2006/math">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74</m:t>
                        </m:r>
                      </m:num>
                      <m:den>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100</m:t>
                        </m:r>
                      </m:den>
                    </m:f>
                    <m:d>
                      <m:dPr>
                        <m:begChr m:val="["/>
                        <m:endChr m:val="]"/>
                        <m:ctrlP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dPr>
                      <m:e>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5.0+2×5.15+10 +2.11</m:t>
                        </m:r>
                      </m:e>
                    </m:d>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×50000=1.0134</m:t>
                    </m:r>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𝑘𝑔</m:t>
                    </m:r>
                  </m:oMath>
                </a14:m>
                <a:endParaRPr lang="en-US" sz="2000"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800"/>
                  </a:spcAft>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Lime is 90% pure, so lime required </a:t>
                </a:r>
                <a14:m>
                  <m:oMath xmlns:m="http://schemas.openxmlformats.org/officeDocument/2006/math">
                    <m:r>
                      <a:rPr lang="en-US"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1.0134×</m:t>
                    </m:r>
                    <m:f>
                      <m:fPr>
                        <m:ctrlP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100</m:t>
                        </m:r>
                      </m:num>
                      <m:den>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90</m:t>
                        </m:r>
                      </m:den>
                    </m:f>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𝟏</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𝟏𝟐𝟔</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𝒌𝒈</m:t>
                    </m:r>
                  </m:oMath>
                </a14:m>
                <a:endParaRPr lang="en-US"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id="{BC9B10BE-4A6D-4FF2-96BA-D63B49EED761}"/>
                  </a:ext>
                </a:extLst>
              </p:cNvPr>
              <p:cNvSpPr>
                <a:spLocks noRot="1" noChangeAspect="1" noMove="1" noResize="1" noEditPoints="1" noAdjustHandles="1" noChangeArrowheads="1" noChangeShapeType="1" noTextEdit="1"/>
              </p:cNvSpPr>
              <p:nvPr/>
            </p:nvSpPr>
            <p:spPr>
              <a:xfrm>
                <a:off x="427287" y="2993997"/>
                <a:ext cx="10862754" cy="1196225"/>
              </a:xfrm>
              <a:prstGeom prst="rect">
                <a:avLst/>
              </a:prstGeom>
              <a:blipFill>
                <a:blip r:embed="rId4"/>
                <a:stretch>
                  <a:fillRect l="-561" b="-30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8BE6462-1B21-4A93-97B9-6C3CFC9387A8}"/>
                  </a:ext>
                </a:extLst>
              </p:cNvPr>
              <p:cNvSpPr/>
              <p:nvPr/>
            </p:nvSpPr>
            <p:spPr>
              <a:xfrm>
                <a:off x="427287" y="4628853"/>
                <a:ext cx="8410276" cy="1197507"/>
              </a:xfrm>
              <a:prstGeom prst="rect">
                <a:avLst/>
              </a:prstGeom>
            </p:spPr>
            <p:txBody>
              <a:bodyPr wrap="square">
                <a:spAutoFit/>
              </a:bodyPr>
              <a:lstStyle/>
              <a:p>
                <a:pPr lvl="0" algn="just">
                  <a:spcAft>
                    <a:spcPts val="1800"/>
                  </a:spcAft>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Soda required for softening </a:t>
                </a:r>
                <a14:m>
                  <m:oMath xmlns:m="http://schemas.openxmlformats.org/officeDocument/2006/math">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106</m:t>
                        </m:r>
                      </m:num>
                      <m:den>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100</m:t>
                        </m:r>
                      </m:den>
                    </m:f>
                    <m:d>
                      <m:dPr>
                        <m:begChr m:val="["/>
                        <m:endChr m:val="]"/>
                        <m:ctrlP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dPr>
                      <m:e>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10</m:t>
                        </m:r>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 +10+2.11</m:t>
                        </m:r>
                      </m:e>
                    </m:d>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×50000=0.9068 </m:t>
                    </m:r>
                    <m:r>
                      <a:rPr lang="en-US"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𝑘𝑔</m:t>
                    </m:r>
                  </m:oMath>
                </a14:m>
                <a:endParaRPr lang="en-IN" sz="2000" b="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algn="just">
                  <a:spcAft>
                    <a:spcPts val="1800"/>
                  </a:spcAft>
                </a:pP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Soda is 90% pure, so soda required </a:t>
                </a:r>
                <a14:m>
                  <m:oMath xmlns:m="http://schemas.openxmlformats.org/officeDocument/2006/math">
                    <m:r>
                      <a:rPr lang="en-US"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0.9068</m:t>
                    </m:r>
                    <m:r>
                      <a:rPr lang="en-IN"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
                      <m:fPr>
                        <m:ctrlPr>
                          <a:rPr lang="en-IN"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en-IN"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100</m:t>
                        </m:r>
                      </m:num>
                      <m:den>
                        <m:r>
                          <a:rPr lang="en-IN"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90</m:t>
                        </m:r>
                      </m:den>
                    </m:f>
                    <m:r>
                      <a:rPr lang="en-IN" sz="2000"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𝟏</m:t>
                    </m:r>
                    <m:r>
                      <a:rPr lang="en-IN"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en-IN" sz="2000" b="1"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𝟎𝟎𝟖</m:t>
                    </m:r>
                    <m:r>
                      <a:rPr lang="en-IN"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a:rPr lang="en-IN" sz="20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𝒌𝒈</m:t>
                    </m:r>
                  </m:oMath>
                </a14:m>
                <a:endParaRPr lang="en-US"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Rectangle 10">
                <a:extLst>
                  <a:ext uri="{FF2B5EF4-FFF2-40B4-BE49-F238E27FC236}">
                    <a16:creationId xmlns:a16="http://schemas.microsoft.com/office/drawing/2014/main" id="{C8BE6462-1B21-4A93-97B9-6C3CFC9387A8}"/>
                  </a:ext>
                </a:extLst>
              </p:cNvPr>
              <p:cNvSpPr>
                <a:spLocks noRot="1" noChangeAspect="1" noMove="1" noResize="1" noEditPoints="1" noAdjustHandles="1" noChangeArrowheads="1" noChangeShapeType="1" noTextEdit="1"/>
              </p:cNvSpPr>
              <p:nvPr/>
            </p:nvSpPr>
            <p:spPr>
              <a:xfrm>
                <a:off x="427287" y="4628853"/>
                <a:ext cx="8410276" cy="1197507"/>
              </a:xfrm>
              <a:prstGeom prst="rect">
                <a:avLst/>
              </a:prstGeom>
              <a:blipFill>
                <a:blip r:embed="rId5"/>
                <a:stretch>
                  <a:fillRect l="-725" b="-2538"/>
                </a:stretch>
              </a:blipFill>
            </p:spPr>
            <p:txBody>
              <a:bodyPr/>
              <a:lstStyle/>
              <a:p>
                <a:r>
                  <a:rPr lang="en-IN">
                    <a:noFill/>
                  </a:rPr>
                  <a:t> </a:t>
                </a:r>
              </a:p>
            </p:txBody>
          </p:sp>
        </mc:Fallback>
      </mc:AlternateContent>
      <p:sp>
        <p:nvSpPr>
          <p:cNvPr id="2" name="Star: 5 Points 1">
            <a:extLst>
              <a:ext uri="{FF2B5EF4-FFF2-40B4-BE49-F238E27FC236}">
                <a16:creationId xmlns:a16="http://schemas.microsoft.com/office/drawing/2014/main" id="{40E65B29-6238-1219-9868-39289BC9BF84}"/>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2739633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D9A43A8B-5DC3-45F2-8FDA-86FE37F1A42E}"/>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a:solidFill>
                  <a:srgbClr val="0070C0"/>
                </a:solidFill>
                <a:latin typeface="Calibri" panose="020F0502020204030204" pitchFamily="34" charset="0"/>
                <a:ea typeface="Calibri" panose="020F0502020204030204" pitchFamily="34" charset="0"/>
                <a:cs typeface="Times New Roman" panose="02020603050405020304" pitchFamily="18" charset="0"/>
              </a:rPr>
              <a:t>Problem</a:t>
            </a:r>
            <a:endParaRPr lang="en-US" sz="240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C986F625-E07A-4245-A907-B8FF29E811CB}"/>
              </a:ext>
            </a:extLst>
          </p:cNvPr>
          <p:cNvSpPr/>
          <p:nvPr/>
        </p:nvSpPr>
        <p:spPr>
          <a:xfrm>
            <a:off x="324649" y="623687"/>
            <a:ext cx="11431921" cy="1477328"/>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Calculate the amount of lime (84% pure) and soda (92% pure) required for softening 20,000 litre of hard water containing Ca(HCO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40.5 ppm;  Mg(HCO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36.5 mg; CaSO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34 mg; MgSO</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30 mg; CaCl</a:t>
            </a:r>
            <a:r>
              <a:rPr lang="en-IN"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27.75 mg; NaCl = 4.7 mg. </a:t>
            </a:r>
          </a:p>
          <a:p>
            <a:pPr lvl="0"/>
            <a:r>
              <a:rPr lang="en-US" altLang="en-US" sz="2000" dirty="0">
                <a:solidFill>
                  <a:srgbClr val="005400"/>
                </a:solidFill>
                <a:latin typeface="Calibri" panose="020F0502020204030204" pitchFamily="34" charset="0"/>
                <a:cs typeface="Calibri" panose="020F0502020204030204" pitchFamily="34" charset="0"/>
              </a:rPr>
              <a:t>MW: Ca(HCO</a:t>
            </a:r>
            <a:r>
              <a:rPr lang="en-US" altLang="en-US" sz="2000" baseline="-25000" dirty="0">
                <a:solidFill>
                  <a:srgbClr val="005400"/>
                </a:solidFill>
                <a:latin typeface="Calibri" panose="020F0502020204030204" pitchFamily="34" charset="0"/>
                <a:cs typeface="Calibri" panose="020F0502020204030204" pitchFamily="34" charset="0"/>
              </a:rPr>
              <a:t>3</a:t>
            </a:r>
            <a:r>
              <a:rPr lang="en-US" altLang="en-US" sz="2000" dirty="0">
                <a:solidFill>
                  <a:srgbClr val="005400"/>
                </a:solidFill>
                <a:latin typeface="Calibri" panose="020F0502020204030204" pitchFamily="34" charset="0"/>
                <a:cs typeface="Calibri" panose="020F0502020204030204" pitchFamily="34" charset="0"/>
              </a:rPr>
              <a:t>)</a:t>
            </a:r>
            <a:r>
              <a:rPr lang="en-US" altLang="en-US" sz="2000" baseline="-25000" dirty="0">
                <a:solidFill>
                  <a:srgbClr val="005400"/>
                </a:solidFill>
                <a:latin typeface="Calibri" panose="020F0502020204030204" pitchFamily="34" charset="0"/>
                <a:cs typeface="Calibri" panose="020F0502020204030204" pitchFamily="34" charset="0"/>
              </a:rPr>
              <a:t>2</a:t>
            </a:r>
            <a:r>
              <a:rPr lang="en-US" altLang="en-US" sz="2000" dirty="0">
                <a:solidFill>
                  <a:srgbClr val="005400"/>
                </a:solidFill>
                <a:latin typeface="Calibri" panose="020F0502020204030204" pitchFamily="34" charset="0"/>
                <a:cs typeface="Calibri" panose="020F0502020204030204" pitchFamily="34" charset="0"/>
              </a:rPr>
              <a:t> = 162; Mg(HCO</a:t>
            </a:r>
            <a:r>
              <a:rPr lang="en-US" altLang="en-US" sz="2000" baseline="-25000" dirty="0">
                <a:solidFill>
                  <a:srgbClr val="005400"/>
                </a:solidFill>
                <a:latin typeface="Calibri" panose="020F0502020204030204" pitchFamily="34" charset="0"/>
                <a:cs typeface="Calibri" panose="020F0502020204030204" pitchFamily="34" charset="0"/>
              </a:rPr>
              <a:t>3</a:t>
            </a:r>
            <a:r>
              <a:rPr lang="en-US" altLang="en-US" sz="2000" dirty="0">
                <a:solidFill>
                  <a:srgbClr val="005400"/>
                </a:solidFill>
                <a:latin typeface="Calibri" panose="020F0502020204030204" pitchFamily="34" charset="0"/>
                <a:cs typeface="Calibri" panose="020F0502020204030204" pitchFamily="34" charset="0"/>
              </a:rPr>
              <a:t>)</a:t>
            </a:r>
            <a:r>
              <a:rPr lang="en-US" altLang="en-US" sz="2000" baseline="-25000" dirty="0">
                <a:solidFill>
                  <a:srgbClr val="005400"/>
                </a:solidFill>
                <a:latin typeface="Calibri" panose="020F0502020204030204" pitchFamily="34" charset="0"/>
                <a:cs typeface="Calibri" panose="020F0502020204030204" pitchFamily="34" charset="0"/>
              </a:rPr>
              <a:t>2 </a:t>
            </a:r>
            <a:r>
              <a:rPr lang="en-US" altLang="en-US" sz="2000" dirty="0">
                <a:solidFill>
                  <a:srgbClr val="005400"/>
                </a:solidFill>
                <a:latin typeface="Calibri" panose="020F0502020204030204" pitchFamily="34" charset="0"/>
                <a:cs typeface="Calibri" panose="020F0502020204030204" pitchFamily="34" charset="0"/>
              </a:rPr>
              <a:t>= 146; CaSO</a:t>
            </a:r>
            <a:r>
              <a:rPr lang="en-US" altLang="en-US" sz="2000" baseline="-25000" dirty="0">
                <a:solidFill>
                  <a:srgbClr val="005400"/>
                </a:solidFill>
                <a:latin typeface="Calibri" panose="020F0502020204030204" pitchFamily="34" charset="0"/>
                <a:cs typeface="Calibri" panose="020F0502020204030204" pitchFamily="34" charset="0"/>
              </a:rPr>
              <a:t>4 </a:t>
            </a:r>
            <a:r>
              <a:rPr lang="en-US" altLang="en-US" sz="2000" dirty="0">
                <a:solidFill>
                  <a:srgbClr val="005400"/>
                </a:solidFill>
                <a:latin typeface="Calibri" panose="020F0502020204030204" pitchFamily="34" charset="0"/>
                <a:cs typeface="Calibri" panose="020F0502020204030204" pitchFamily="34" charset="0"/>
              </a:rPr>
              <a:t>= 136; MgSO</a:t>
            </a:r>
            <a:r>
              <a:rPr lang="en-US" altLang="en-US" sz="2000" baseline="-25000" dirty="0">
                <a:solidFill>
                  <a:srgbClr val="005400"/>
                </a:solidFill>
                <a:latin typeface="Calibri" panose="020F0502020204030204" pitchFamily="34" charset="0"/>
                <a:cs typeface="Calibri" panose="020F0502020204030204" pitchFamily="34" charset="0"/>
              </a:rPr>
              <a:t>4</a:t>
            </a:r>
            <a:r>
              <a:rPr lang="en-US" altLang="en-US" sz="2000" dirty="0">
                <a:solidFill>
                  <a:srgbClr val="005400"/>
                </a:solidFill>
                <a:latin typeface="Calibri" panose="020F0502020204030204" pitchFamily="34" charset="0"/>
                <a:cs typeface="Calibri" panose="020F0502020204030204" pitchFamily="34" charset="0"/>
              </a:rPr>
              <a:t> = 120; CaCl</a:t>
            </a:r>
            <a:r>
              <a:rPr lang="en-US" altLang="en-US" sz="2000" baseline="-25000" dirty="0">
                <a:solidFill>
                  <a:srgbClr val="005400"/>
                </a:solidFill>
                <a:latin typeface="Calibri" panose="020F0502020204030204" pitchFamily="34" charset="0"/>
                <a:cs typeface="Calibri" panose="020F0502020204030204" pitchFamily="34" charset="0"/>
              </a:rPr>
              <a:t>2</a:t>
            </a:r>
            <a:r>
              <a:rPr lang="en-US" altLang="en-US" sz="2000" dirty="0">
                <a:solidFill>
                  <a:srgbClr val="005400"/>
                </a:solidFill>
                <a:latin typeface="Calibri" panose="020F0502020204030204" pitchFamily="34" charset="0"/>
                <a:cs typeface="Calibri" panose="020F0502020204030204" pitchFamily="34" charset="0"/>
              </a:rPr>
              <a:t> = 111 </a:t>
            </a:r>
          </a:p>
        </p:txBody>
      </p:sp>
      <p:sp>
        <p:nvSpPr>
          <p:cNvPr id="6" name="Rectangle 5">
            <a:extLst>
              <a:ext uri="{FF2B5EF4-FFF2-40B4-BE49-F238E27FC236}">
                <a16:creationId xmlns:a16="http://schemas.microsoft.com/office/drawing/2014/main" id="{D67EF02C-9E98-4D52-8C79-F0490597A0A2}"/>
              </a:ext>
            </a:extLst>
          </p:cNvPr>
          <p:cNvSpPr/>
          <p:nvPr/>
        </p:nvSpPr>
        <p:spPr>
          <a:xfrm>
            <a:off x="293974" y="6030695"/>
            <a:ext cx="8410276" cy="461665"/>
          </a:xfrm>
          <a:prstGeom prst="rect">
            <a:avLst/>
          </a:prstGeom>
        </p:spPr>
        <p:txBody>
          <a:bodyPr wrap="square">
            <a:spAutoFit/>
          </a:bodyPr>
          <a:lstStyle/>
          <a:p>
            <a:pPr lvl="0" algn="just">
              <a:spcAft>
                <a:spcPts val="1200"/>
              </a:spcAft>
            </a:pPr>
            <a:r>
              <a:rPr lang="en-IN" sz="2400" b="1" dirty="0">
                <a:latin typeface="Calibri" panose="020F0502020204030204" pitchFamily="34" charset="0"/>
                <a:ea typeface="Calibri" panose="020F0502020204030204" pitchFamily="34" charset="0"/>
                <a:cs typeface="Times New Roman" panose="02020603050405020304" pitchFamily="18" charset="0"/>
              </a:rPr>
              <a:t>Answer: </a:t>
            </a:r>
            <a:r>
              <a:rPr lang="en-IN" sz="2400" dirty="0">
                <a:latin typeface="Calibri" panose="020F0502020204030204" pitchFamily="34" charset="0"/>
                <a:ea typeface="Calibri" panose="020F0502020204030204" pitchFamily="34" charset="0"/>
                <a:cs typeface="Times New Roman" panose="02020603050405020304" pitchFamily="18" charset="0"/>
              </a:rPr>
              <a:t>Lime = 1.762 kg, Soda = 1.728 kg </a:t>
            </a:r>
          </a:p>
        </p:txBody>
      </p:sp>
      <p:sp>
        <p:nvSpPr>
          <p:cNvPr id="2" name="Star: 5 Points 1">
            <a:extLst>
              <a:ext uri="{FF2B5EF4-FFF2-40B4-BE49-F238E27FC236}">
                <a16:creationId xmlns:a16="http://schemas.microsoft.com/office/drawing/2014/main" id="{B1706CDC-C485-32B4-B4D9-E727DF8F7574}"/>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517778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41D2C90-1B8A-46CF-96D6-E93C71FD83E8}"/>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58CA49A-11D4-4FE2-8341-AD130949B11C}"/>
              </a:ext>
            </a:extLst>
          </p:cNvPr>
          <p:cNvSpPr/>
          <p:nvPr/>
        </p:nvSpPr>
        <p:spPr>
          <a:xfrm>
            <a:off x="324650" y="623687"/>
            <a:ext cx="11431920" cy="1631216"/>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 water sample on analysis gave the following data:</a:t>
            </a:r>
          </a:p>
          <a:p>
            <a:pPr lvl="0" algn="just">
              <a:spcAft>
                <a:spcPts val="12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0.45 mg/L (MW=</a:t>
            </a:r>
            <a:r>
              <a:rPr lang="en-US" altLang="en-US" sz="2000" dirty="0">
                <a:solidFill>
                  <a:srgbClr val="FF0000"/>
                </a:solidFill>
                <a:latin typeface="Calibri" panose="020F0502020204030204" pitchFamily="34" charset="0"/>
                <a:cs typeface="Calibri" panose="020F0502020204030204" pitchFamily="34" charset="0"/>
              </a:rPr>
              <a:t>136</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MgCO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0.50 mg/L (MW=</a:t>
            </a:r>
            <a:r>
              <a:rPr lang="en-US" altLang="en-US" sz="2000" dirty="0">
                <a:solidFill>
                  <a:srgbClr val="FF0000"/>
                </a:solidFill>
                <a:latin typeface="Calibri" panose="020F0502020204030204" pitchFamily="34" charset="0"/>
                <a:cs typeface="Calibri" panose="020F0502020204030204" pitchFamily="34" charset="0"/>
              </a:rPr>
              <a:t>84.5</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MgSO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0.85 mg/L (MW=</a:t>
            </a:r>
            <a:r>
              <a:rPr lang="en-US" altLang="en-US" sz="2000" dirty="0">
                <a:solidFill>
                  <a:srgbClr val="FF0000"/>
                </a:solidFill>
                <a:latin typeface="Calibri" panose="020F0502020204030204" pitchFamily="34" charset="0"/>
                <a:cs typeface="Calibri" panose="020F0502020204030204" pitchFamily="34" charset="0"/>
              </a:rPr>
              <a:t>120</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MgCl</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0.80 mg/L (MW=</a:t>
            </a:r>
            <a:r>
              <a:rPr lang="en-US" altLang="en-US" sz="2000" dirty="0">
                <a:solidFill>
                  <a:srgbClr val="FF0000"/>
                </a:solidFill>
                <a:latin typeface="Calibri" panose="020F0502020204030204" pitchFamily="34" charset="0"/>
                <a:cs typeface="Calibri" panose="020F0502020204030204" pitchFamily="34" charset="0"/>
              </a:rPr>
              <a:t>95</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SiO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2.90 mg/L</a:t>
            </a:r>
          </a:p>
          <a:p>
            <a:pPr lvl="0" algn="just">
              <a:spcAft>
                <a:spcPts val="12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quantities of lime and soda required for 25000 lit water if purity is 90% for both lime and soda.</a:t>
            </a:r>
          </a:p>
        </p:txBody>
      </p:sp>
      <p:sp>
        <p:nvSpPr>
          <p:cNvPr id="6" name="Rectangle 5">
            <a:extLst>
              <a:ext uri="{FF2B5EF4-FFF2-40B4-BE49-F238E27FC236}">
                <a16:creationId xmlns:a16="http://schemas.microsoft.com/office/drawing/2014/main" id="{0EA3938D-5C10-4AB5-9A63-9B11973632AC}"/>
              </a:ext>
            </a:extLst>
          </p:cNvPr>
          <p:cNvSpPr/>
          <p:nvPr/>
        </p:nvSpPr>
        <p:spPr>
          <a:xfrm>
            <a:off x="324650" y="6117003"/>
            <a:ext cx="8410276" cy="400110"/>
          </a:xfrm>
          <a:prstGeom prst="rect">
            <a:avLst/>
          </a:prstGeom>
        </p:spPr>
        <p:txBody>
          <a:bodyPr wrap="square">
            <a:spAutoFit/>
          </a:bodyPr>
          <a:lstStyle/>
          <a:p>
            <a:pPr lvl="0" algn="just">
              <a:spcAft>
                <a:spcPts val="1200"/>
              </a:spcAft>
            </a:pPr>
            <a:r>
              <a:rPr lang="en-IN" sz="2000" b="1" dirty="0">
                <a:latin typeface="Calibri" panose="020F0502020204030204" pitchFamily="34" charset="0"/>
                <a:ea typeface="Calibri" panose="020F0502020204030204" pitchFamily="34" charset="0"/>
                <a:cs typeface="Times New Roman" panose="02020603050405020304" pitchFamily="18" charset="0"/>
              </a:rPr>
              <a:t>Answer: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Lime = 39.31 kg, Soda = 20.214 kg</a:t>
            </a:r>
          </a:p>
        </p:txBody>
      </p:sp>
      <p:sp>
        <p:nvSpPr>
          <p:cNvPr id="2" name="Star: 5 Points 1">
            <a:extLst>
              <a:ext uri="{FF2B5EF4-FFF2-40B4-BE49-F238E27FC236}">
                <a16:creationId xmlns:a16="http://schemas.microsoft.com/office/drawing/2014/main" id="{B355E038-E030-53BF-B89B-A84E1AE15315}"/>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748123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E4B5D445-F205-4D03-B639-D0EBCA0881A7}"/>
              </a:ext>
            </a:extLst>
          </p:cNvPr>
          <p:cNvSpPr/>
          <p:nvPr/>
        </p:nvSpPr>
        <p:spPr>
          <a:xfrm>
            <a:off x="324650" y="623687"/>
            <a:ext cx="11413260" cy="1169551"/>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Calculate the amount of lime and soda required for 18000 lit of a</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water sample which on analysis gave the following data:</a:t>
            </a:r>
          </a:p>
          <a:p>
            <a:pPr lvl="0" algn="just">
              <a:spcAft>
                <a:spcPts val="12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Temporary Ca hardness = 25 ppm, Permanent Ca hardness = 20 ppm, Permanent Mg hardness = 15 ppm</a:t>
            </a:r>
          </a:p>
        </p:txBody>
      </p:sp>
      <p:pic>
        <p:nvPicPr>
          <p:cNvPr id="9" name="Picture 8">
            <a:extLst>
              <a:ext uri="{FF2B5EF4-FFF2-40B4-BE49-F238E27FC236}">
                <a16:creationId xmlns:a16="http://schemas.microsoft.com/office/drawing/2014/main" id="{67CB4C0B-B488-4D06-B1F7-1B3BE8A85658}"/>
              </a:ext>
            </a:extLst>
          </p:cNvPr>
          <p:cNvPicPr>
            <a:picLocks noChangeAspect="1"/>
          </p:cNvPicPr>
          <p:nvPr/>
        </p:nvPicPr>
        <p:blipFill>
          <a:blip r:embed="rId4"/>
          <a:stretch>
            <a:fillRect/>
          </a:stretch>
        </p:blipFill>
        <p:spPr>
          <a:xfrm>
            <a:off x="2768970" y="2098520"/>
            <a:ext cx="6654060" cy="4088558"/>
          </a:xfrm>
          <a:prstGeom prst="rect">
            <a:avLst/>
          </a:prstGeom>
        </p:spPr>
      </p:pic>
      <p:sp>
        <p:nvSpPr>
          <p:cNvPr id="2" name="Star: 5 Points 1">
            <a:extLst>
              <a:ext uri="{FF2B5EF4-FFF2-40B4-BE49-F238E27FC236}">
                <a16:creationId xmlns:a16="http://schemas.microsoft.com/office/drawing/2014/main" id="{B33E5BC8-1A46-A0D9-2BA6-3E3FDFC386F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0019058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Rectangle 3">
            <a:extLst>
              <a:ext uri="{FF2B5EF4-FFF2-40B4-BE49-F238E27FC236}">
                <a16:creationId xmlns:a16="http://schemas.microsoft.com/office/drawing/2014/main" id="{E4B5D445-F205-4D03-B639-D0EBCA0881A7}"/>
              </a:ext>
            </a:extLst>
          </p:cNvPr>
          <p:cNvSpPr/>
          <p:nvPr/>
        </p:nvSpPr>
        <p:spPr>
          <a:xfrm>
            <a:off x="324650" y="623687"/>
            <a:ext cx="11413260" cy="1169551"/>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Calculate the amount of lime and soda required for 18000 lit of a</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water sample which on analysis gave the following data:</a:t>
            </a:r>
          </a:p>
          <a:p>
            <a:pPr lvl="0" algn="just">
              <a:spcAft>
                <a:spcPts val="12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Temporary Ca hardness = 25 ppm, Permanent Ca hardness = 20 ppm, Permanent Mg hardness = 15 ppm</a:t>
            </a:r>
          </a:p>
        </p:txBody>
      </p:sp>
      <p:pic>
        <p:nvPicPr>
          <p:cNvPr id="6" name="Picture 5">
            <a:extLst>
              <a:ext uri="{FF2B5EF4-FFF2-40B4-BE49-F238E27FC236}">
                <a16:creationId xmlns:a16="http://schemas.microsoft.com/office/drawing/2014/main" id="{48D26F27-30DA-4681-B6B7-0C43A1978398}"/>
              </a:ext>
            </a:extLst>
          </p:cNvPr>
          <p:cNvPicPr>
            <a:picLocks noChangeAspect="1"/>
          </p:cNvPicPr>
          <p:nvPr/>
        </p:nvPicPr>
        <p:blipFill rotWithShape="1">
          <a:blip r:embed="rId4"/>
          <a:srcRect l="7909" t="24536" b="31376"/>
          <a:stretch/>
        </p:blipFill>
        <p:spPr>
          <a:xfrm>
            <a:off x="643122" y="1841789"/>
            <a:ext cx="5627590" cy="4404288"/>
          </a:xfrm>
          <a:prstGeom prst="rect">
            <a:avLst/>
          </a:prstGeom>
        </p:spPr>
      </p:pic>
      <p:pic>
        <p:nvPicPr>
          <p:cNvPr id="7" name="Picture 6">
            <a:extLst>
              <a:ext uri="{FF2B5EF4-FFF2-40B4-BE49-F238E27FC236}">
                <a16:creationId xmlns:a16="http://schemas.microsoft.com/office/drawing/2014/main" id="{88AAF3DC-F98D-4130-B034-34A091419D44}"/>
              </a:ext>
            </a:extLst>
          </p:cNvPr>
          <p:cNvPicPr>
            <a:picLocks noChangeAspect="1"/>
          </p:cNvPicPr>
          <p:nvPr/>
        </p:nvPicPr>
        <p:blipFill rotWithShape="1">
          <a:blip r:embed="rId4"/>
          <a:srcRect l="8217" t="69312" r="36609" b="11590"/>
          <a:stretch/>
        </p:blipFill>
        <p:spPr>
          <a:xfrm>
            <a:off x="6749265" y="4593583"/>
            <a:ext cx="2920481" cy="1652494"/>
          </a:xfrm>
          <a:prstGeom prst="rect">
            <a:avLst/>
          </a:prstGeom>
        </p:spPr>
      </p:pic>
      <p:sp>
        <p:nvSpPr>
          <p:cNvPr id="2" name="Star: 5 Points 1">
            <a:extLst>
              <a:ext uri="{FF2B5EF4-FFF2-40B4-BE49-F238E27FC236}">
                <a16:creationId xmlns:a16="http://schemas.microsoft.com/office/drawing/2014/main" id="{E3D403FB-BEB1-F036-8EBE-7E148DCF040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7715728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5" name="Shape 69">
            <a:extLst>
              <a:ext uri="{FF2B5EF4-FFF2-40B4-BE49-F238E27FC236}">
                <a16:creationId xmlns:a16="http://schemas.microsoft.com/office/drawing/2014/main" id="{D351298A-4257-4B67-B287-D7174CA21B65}"/>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Calculations of the Requirement of Lime and Soda</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A4A2B73-5A16-480F-923F-644A6AD7E7F7}"/>
                  </a:ext>
                </a:extLst>
              </p:cNvPr>
              <p:cNvSpPr/>
              <p:nvPr/>
            </p:nvSpPr>
            <p:spPr>
              <a:xfrm>
                <a:off x="324649" y="698332"/>
                <a:ext cx="11450583" cy="3451458"/>
              </a:xfrm>
              <a:prstGeom prst="rect">
                <a:avLst/>
              </a:prstGeom>
            </p:spPr>
            <p:txBody>
              <a:bodyPr wrap="square">
                <a:spAutoFit/>
              </a:bodyPr>
              <a:lstStyle/>
              <a:p>
                <a:pPr algn="just"/>
                <a:r>
                  <a:rPr lang="en-US" sz="2000" b="1" dirty="0">
                    <a:latin typeface="Calibri" panose="020F0502020204030204" pitchFamily="34" charset="0"/>
                    <a:cs typeface="Calibri" panose="020F0502020204030204" pitchFamily="34" charset="0"/>
                  </a:rPr>
                  <a:t>Step 1. </a:t>
                </a:r>
                <a:r>
                  <a:rPr lang="en-US" sz="2000" dirty="0">
                    <a:latin typeface="Calibri" panose="020F0502020204030204" pitchFamily="34" charset="0"/>
                    <a:cs typeface="Calibri" panose="020F0502020204030204" pitchFamily="34" charset="0"/>
                  </a:rPr>
                  <a:t>The </a:t>
                </a:r>
                <a:r>
                  <a:rPr lang="en-US" sz="2000" u="sng" dirty="0">
                    <a:latin typeface="Calibri" panose="020F0502020204030204" pitchFamily="34" charset="0"/>
                    <a:cs typeface="Calibri" panose="020F0502020204030204" pitchFamily="34" charset="0"/>
                  </a:rPr>
                  <a:t>units</a:t>
                </a:r>
                <a:r>
                  <a:rPr lang="en-US" sz="2000" dirty="0">
                    <a:latin typeface="Calibri" panose="020F0502020204030204" pitchFamily="34" charset="0"/>
                    <a:cs typeface="Calibri" panose="020F0502020204030204" pitchFamily="34" charset="0"/>
                  </a:rPr>
                  <a:t> in which the impurities are analyzed and expressed are to be noted.</a:t>
                </a:r>
              </a:p>
              <a:p>
                <a:pPr marL="457200" indent="-457200" algn="just">
                  <a:buAutoNum type="arabicPeriod"/>
                </a:pPr>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Step 2. </a:t>
                </a:r>
                <a:r>
                  <a:rPr lang="en-US" sz="2000" dirty="0">
                    <a:latin typeface="Calibri" panose="020F0502020204030204" pitchFamily="34" charset="0"/>
                    <a:cs typeface="Calibri" panose="020F0502020204030204" pitchFamily="34" charset="0"/>
                  </a:rPr>
                  <a:t>Substances which do not contribute towards hardness (</a:t>
                </a:r>
                <a:r>
                  <a:rPr lang="en-US" sz="2000" dirty="0" err="1">
                    <a:latin typeface="Calibri" panose="020F0502020204030204" pitchFamily="34" charset="0"/>
                    <a:cs typeface="Calibri" panose="020F0502020204030204" pitchFamily="34" charset="0"/>
                  </a:rPr>
                  <a:t>KCl</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NaCl</a:t>
                </a:r>
                <a:r>
                  <a:rPr lang="en-US" sz="2000" dirty="0">
                    <a:latin typeface="Calibri" panose="020F0502020204030204" pitchFamily="34" charset="0"/>
                    <a:cs typeface="Calibri" panose="020F0502020204030204" pitchFamily="34" charset="0"/>
                  </a:rPr>
                  <a:t>, SiO</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Na</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SO</a:t>
                </a:r>
                <a:r>
                  <a:rPr lang="en-US" sz="2000" baseline="-25000" dirty="0">
                    <a:latin typeface="Calibri" panose="020F0502020204030204" pitchFamily="34" charset="0"/>
                    <a:cs typeface="Calibri" panose="020F0502020204030204" pitchFamily="34" charset="0"/>
                  </a:rPr>
                  <a:t>4</a:t>
                </a:r>
                <a:r>
                  <a:rPr lang="en-US" sz="2000" dirty="0">
                    <a:latin typeface="Calibri" panose="020F0502020204030204" pitchFamily="34" charset="0"/>
                    <a:cs typeface="Calibri" panose="020F0502020204030204" pitchFamily="34" charset="0"/>
                  </a:rPr>
                  <a:t> etc.) should be ignored and explicitly stated.</a:t>
                </a:r>
              </a:p>
              <a:p>
                <a:pPr algn="just"/>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Step 3. </a:t>
                </a:r>
                <a:r>
                  <a:rPr lang="en-US" sz="2000" dirty="0">
                    <a:solidFill>
                      <a:srgbClr val="FF0000"/>
                    </a:solidFill>
                    <a:latin typeface="Calibri" panose="020F0502020204030204" pitchFamily="34" charset="0"/>
                    <a:cs typeface="Calibri" panose="020F0502020204030204" pitchFamily="34" charset="0"/>
                  </a:rPr>
                  <a:t>A substance causing "hardness should be converted into their respective CaCO</a:t>
                </a:r>
                <a:r>
                  <a:rPr lang="en-US" sz="2000" baseline="-25000" dirty="0">
                    <a:solidFill>
                      <a:srgbClr val="FF0000"/>
                    </a:solidFill>
                    <a:latin typeface="Calibri" panose="020F0502020204030204" pitchFamily="34" charset="0"/>
                    <a:cs typeface="Calibri" panose="020F0502020204030204" pitchFamily="34" charset="0"/>
                  </a:rPr>
                  <a:t>3</a:t>
                </a:r>
                <a:r>
                  <a:rPr lang="en-US" sz="2000" dirty="0">
                    <a:solidFill>
                      <a:srgbClr val="FF0000"/>
                    </a:solidFill>
                    <a:latin typeface="Calibri" panose="020F0502020204030204" pitchFamily="34" charset="0"/>
                    <a:cs typeface="Calibri" panose="020F0502020204030204" pitchFamily="34" charset="0"/>
                  </a:rPr>
                  <a:t> equivalents.</a:t>
                </a:r>
              </a:p>
              <a:p>
                <a:pPr algn="just"/>
                <a:endParaRPr lang="en-US" sz="2000" dirty="0">
                  <a:solidFill>
                    <a:srgbClr val="FF0000"/>
                  </a:solidFill>
                  <a:latin typeface="Calibri" panose="020F0502020204030204" pitchFamily="34" charset="0"/>
                  <a:cs typeface="Calibri" panose="020F0502020204030204" pitchFamily="34" charset="0"/>
                </a:endParaRPr>
              </a:p>
              <a:p>
                <a:pPr algn="just">
                  <a:spcAft>
                    <a:spcPts val="600"/>
                  </a:spcAft>
                </a:pPr>
                <a:r>
                  <a:rPr lang="en-US" sz="2000" dirty="0">
                    <a:solidFill>
                      <a:schemeClr val="tx1"/>
                    </a:solidFill>
                    <a:latin typeface="Calibri" panose="020F0502020204030204" pitchFamily="34" charset="0"/>
                    <a:cs typeface="Calibri" panose="020F0502020204030204" pitchFamily="34" charset="0"/>
                  </a:rPr>
                  <a:t>CaCO</a:t>
                </a:r>
                <a:r>
                  <a:rPr lang="en-US" sz="2000" baseline="-25000" dirty="0">
                    <a:solidFill>
                      <a:schemeClr val="tx1"/>
                    </a:solidFill>
                    <a:latin typeface="Calibri" panose="020F0502020204030204" pitchFamily="34" charset="0"/>
                    <a:cs typeface="Calibri" panose="020F0502020204030204" pitchFamily="34" charset="0"/>
                  </a:rPr>
                  <a:t>3</a:t>
                </a:r>
                <a:r>
                  <a:rPr lang="en-US" sz="2000" dirty="0">
                    <a:solidFill>
                      <a:schemeClr val="tx1"/>
                    </a:solidFill>
                    <a:latin typeface="Calibri" panose="020F0502020204030204" pitchFamily="34" charset="0"/>
                    <a:cs typeface="Calibri" panose="020F0502020204030204" pitchFamily="34" charset="0"/>
                  </a:rPr>
                  <a:t> equivalent of hardness causing impurity </a:t>
                </a:r>
              </a:p>
              <a:p>
                <a:pPr algn="just">
                  <a:spcAft>
                    <a:spcPts val="600"/>
                  </a:spcAft>
                </a:pPr>
                <a:r>
                  <a:rPr lang="en-US" sz="2000" dirty="0">
                    <a:solidFill>
                      <a:schemeClr val="tx1"/>
                    </a:solidFill>
                    <a:latin typeface="Calibri" panose="020F0502020204030204" pitchFamily="34" charset="0"/>
                    <a:cs typeface="Calibri" panose="020F0502020204030204" pitchFamily="34" charset="0"/>
                  </a:rPr>
                  <a:t>	= </a:t>
                </a:r>
                <a14:m>
                  <m:oMath xmlns:m="http://schemas.openxmlformats.org/officeDocument/2006/math">
                    <m:f>
                      <m:fPr>
                        <m:ctrlPr>
                          <a:rPr lang="en-US" sz="2000" i="1" dirty="0" smtClean="0">
                            <a:solidFill>
                              <a:schemeClr val="tx1"/>
                            </a:solidFill>
                            <a:latin typeface="Cambria Math" panose="02040503050406030204" pitchFamily="18" charset="0"/>
                            <a:cs typeface="Calibri" panose="020F0502020204030204" pitchFamily="34" charset="0"/>
                          </a:rPr>
                        </m:ctrlPr>
                      </m:fPr>
                      <m:num>
                        <m:r>
                          <a:rPr lang="en-US" sz="2000" b="0" i="0" dirty="0" smtClean="0">
                            <a:solidFill>
                              <a:schemeClr val="tx1"/>
                            </a:solidFill>
                            <a:latin typeface="Cambria Math" panose="02040503050406030204" pitchFamily="18" charset="0"/>
                            <a:cs typeface="Calibri" panose="020F0502020204030204" pitchFamily="34" charset="0"/>
                          </a:rPr>
                          <m:t>100</m:t>
                        </m:r>
                      </m:num>
                      <m:den>
                        <m:r>
                          <a:rPr lang="en-US" sz="2000" b="0" i="0" dirty="0" smtClean="0">
                            <a:solidFill>
                              <a:schemeClr val="tx1"/>
                            </a:solidFill>
                            <a:latin typeface="Cambria Math" panose="02040503050406030204" pitchFamily="18" charset="0"/>
                            <a:cs typeface="Calibri" panose="020F0502020204030204" pitchFamily="34" charset="0"/>
                          </a:rPr>
                          <m:t>2</m:t>
                        </m:r>
                      </m:den>
                    </m:f>
                    <m:r>
                      <a:rPr lang="en-US" sz="200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chemical</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equivalent</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of</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impurity</m:t>
                    </m:r>
                    <m:r>
                      <a:rPr lang="en-US" sz="2000" b="0" i="0" dirty="0" smtClean="0">
                        <a:solidFill>
                          <a:schemeClr val="tx1"/>
                        </a:solidFill>
                        <a:latin typeface="Cambria Math" panose="02040503050406030204" pitchFamily="18" charset="0"/>
                        <a:cs typeface="Calibri" panose="020F0502020204030204" pitchFamily="34" charset="0"/>
                      </a:rPr>
                      <m:t>×</m:t>
                    </m:r>
                    <m:r>
                      <m:rPr>
                        <m:sty m:val="p"/>
                      </m:rPr>
                      <a:rPr lang="en-US" sz="2000" b="0" i="0" dirty="0" smtClean="0">
                        <a:solidFill>
                          <a:schemeClr val="tx1"/>
                        </a:solidFill>
                        <a:latin typeface="Cambria Math" panose="02040503050406030204" pitchFamily="18" charset="0"/>
                        <a:cs typeface="Calibri" panose="020F0502020204030204" pitchFamily="34" charset="0"/>
                      </a:rPr>
                      <m:t>weight</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of</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impurity</m:t>
                    </m:r>
                  </m:oMath>
                </a14:m>
                <a:endParaRPr lang="en-US" sz="2000" dirty="0">
                  <a:solidFill>
                    <a:schemeClr val="tx1"/>
                  </a:solidFill>
                  <a:latin typeface="Calibri" panose="020F0502020204030204" pitchFamily="34" charset="0"/>
                  <a:cs typeface="Calibri" panose="020F0502020204030204" pitchFamily="34" charset="0"/>
                </a:endParaRPr>
              </a:p>
              <a:p>
                <a:pPr algn="just"/>
                <a:r>
                  <a:rPr lang="en-US" sz="2000" dirty="0">
                    <a:solidFill>
                      <a:schemeClr val="tx1"/>
                    </a:solidFill>
                    <a:latin typeface="Calibri" panose="020F0502020204030204" pitchFamily="34" charset="0"/>
                    <a:cs typeface="Calibri" panose="020F0502020204030204" pitchFamily="34" charset="0"/>
                  </a:rPr>
                  <a:t>     		</a:t>
                </a:r>
                <a14:m>
                  <m:oMath xmlns:m="http://schemas.openxmlformats.org/officeDocument/2006/math">
                    <m:r>
                      <a:rPr lang="en-IN" sz="2000" b="0" i="0" dirty="0" smtClean="0">
                        <a:solidFill>
                          <a:schemeClr val="tx1"/>
                        </a:solidFill>
                        <a:latin typeface="Cambria Math" panose="02040503050406030204" pitchFamily="18" charset="0"/>
                        <a:cs typeface="Calibri" panose="020F0502020204030204" pitchFamily="34" charset="0"/>
                      </a:rPr>
                      <m:t> </m:t>
                    </m:r>
                    <m:r>
                      <a:rPr lang="en-US" sz="2000" b="0" i="1" dirty="0" smtClean="0">
                        <a:solidFill>
                          <a:schemeClr val="tx1"/>
                        </a:solidFill>
                        <a:latin typeface="Cambria Math" panose="02040503050406030204" pitchFamily="18" charset="0"/>
                        <a:cs typeface="Calibri" panose="020F0502020204030204" pitchFamily="34" charset="0"/>
                      </a:rPr>
                      <m:t>=</m:t>
                    </m:r>
                    <m:r>
                      <m:rPr>
                        <m:sty m:val="p"/>
                      </m:rPr>
                      <a:rPr lang="en-US" sz="2000" b="0" i="0" dirty="0" smtClean="0">
                        <a:solidFill>
                          <a:schemeClr val="tx1"/>
                        </a:solidFill>
                        <a:latin typeface="Cambria Math" panose="02040503050406030204" pitchFamily="18" charset="0"/>
                        <a:cs typeface="Calibri" panose="020F0502020204030204" pitchFamily="34" charset="0"/>
                      </a:rPr>
                      <m:t>multipliction</m:t>
                    </m:r>
                    <m:r>
                      <a:rPr lang="en-US" sz="2000" b="0" i="0" dirty="0" smtClean="0">
                        <a:solidFill>
                          <a:schemeClr val="tx1"/>
                        </a:solidFill>
                        <a:latin typeface="Cambria Math" panose="02040503050406030204" pitchFamily="18" charset="0"/>
                        <a:cs typeface="Calibri" panose="020F0502020204030204" pitchFamily="34" charset="0"/>
                      </a:rPr>
                      <m:t> </m:t>
                    </m:r>
                    <m:r>
                      <m:rPr>
                        <m:sty m:val="p"/>
                      </m:rPr>
                      <a:rPr lang="en-US" sz="2000" b="0" i="0" dirty="0" smtClean="0">
                        <a:solidFill>
                          <a:schemeClr val="tx1"/>
                        </a:solidFill>
                        <a:latin typeface="Cambria Math" panose="02040503050406030204" pitchFamily="18" charset="0"/>
                        <a:cs typeface="Calibri" panose="020F0502020204030204" pitchFamily="34" charset="0"/>
                      </a:rPr>
                      <m:t>factor</m:t>
                    </m:r>
                    <m:r>
                      <a:rPr lang="en-US" sz="2000" dirty="0">
                        <a:solidFill>
                          <a:schemeClr val="tx1"/>
                        </a:solidFill>
                        <a:latin typeface="Cambria Math" panose="02040503050406030204" pitchFamily="18" charset="0"/>
                        <a:cs typeface="Calibri" panose="020F0502020204030204" pitchFamily="34" charset="0"/>
                      </a:rPr>
                      <m:t>×</m:t>
                    </m:r>
                    <m:r>
                      <m:rPr>
                        <m:sty m:val="p"/>
                      </m:rPr>
                      <a:rPr lang="en-US" sz="2000" dirty="0">
                        <a:solidFill>
                          <a:schemeClr val="tx1"/>
                        </a:solidFill>
                        <a:latin typeface="Cambria Math" panose="02040503050406030204" pitchFamily="18" charset="0"/>
                        <a:cs typeface="Calibri" panose="020F0502020204030204" pitchFamily="34" charset="0"/>
                      </a:rPr>
                      <m:t>weight</m:t>
                    </m:r>
                    <m:r>
                      <a:rPr lang="en-US" sz="2000" dirty="0">
                        <a:solidFill>
                          <a:schemeClr val="tx1"/>
                        </a:solidFill>
                        <a:latin typeface="Cambria Math" panose="02040503050406030204" pitchFamily="18" charset="0"/>
                        <a:cs typeface="Calibri" panose="020F0502020204030204" pitchFamily="34" charset="0"/>
                      </a:rPr>
                      <m:t> </m:t>
                    </m:r>
                    <m:r>
                      <m:rPr>
                        <m:sty m:val="p"/>
                      </m:rPr>
                      <a:rPr lang="en-US" sz="2000" dirty="0">
                        <a:solidFill>
                          <a:schemeClr val="tx1"/>
                        </a:solidFill>
                        <a:latin typeface="Cambria Math" panose="02040503050406030204" pitchFamily="18" charset="0"/>
                        <a:cs typeface="Calibri" panose="020F0502020204030204" pitchFamily="34" charset="0"/>
                      </a:rPr>
                      <m:t>of</m:t>
                    </m:r>
                    <m:r>
                      <a:rPr lang="en-US" sz="2000" dirty="0">
                        <a:solidFill>
                          <a:schemeClr val="tx1"/>
                        </a:solidFill>
                        <a:latin typeface="Cambria Math" panose="02040503050406030204" pitchFamily="18" charset="0"/>
                        <a:cs typeface="Calibri" panose="020F0502020204030204" pitchFamily="34" charset="0"/>
                      </a:rPr>
                      <m:t> </m:t>
                    </m:r>
                    <m:r>
                      <m:rPr>
                        <m:sty m:val="p"/>
                      </m:rPr>
                      <a:rPr lang="en-US" sz="2000" dirty="0">
                        <a:solidFill>
                          <a:schemeClr val="tx1"/>
                        </a:solidFill>
                        <a:latin typeface="Cambria Math" panose="02040503050406030204" pitchFamily="18" charset="0"/>
                        <a:cs typeface="Calibri" panose="020F0502020204030204" pitchFamily="34" charset="0"/>
                      </a:rPr>
                      <m:t>impurity</m:t>
                    </m:r>
                  </m:oMath>
                </a14:m>
                <a:endParaRPr lang="en-US" sz="2000" dirty="0">
                  <a:solidFill>
                    <a:schemeClr val="tx1"/>
                  </a:solidFill>
                  <a:latin typeface="Calibri" panose="020F0502020204030204" pitchFamily="34" charset="0"/>
                  <a:cs typeface="Calibri" panose="020F0502020204030204" pitchFamily="34" charset="0"/>
                </a:endParaRPr>
              </a:p>
            </p:txBody>
          </p:sp>
        </mc:Choice>
        <mc:Fallback xmlns="">
          <p:sp>
            <p:nvSpPr>
              <p:cNvPr id="6" name="Rectangle 5">
                <a:extLst>
                  <a:ext uri="{FF2B5EF4-FFF2-40B4-BE49-F238E27FC236}">
                    <a16:creationId xmlns:a16="http://schemas.microsoft.com/office/drawing/2014/main" id="{FA4A2B73-5A16-480F-923F-644A6AD7E7F7}"/>
                  </a:ext>
                </a:extLst>
              </p:cNvPr>
              <p:cNvSpPr>
                <a:spLocks noRot="1" noChangeAspect="1" noMove="1" noResize="1" noEditPoints="1" noAdjustHandles="1" noChangeArrowheads="1" noChangeShapeType="1" noTextEdit="1"/>
              </p:cNvSpPr>
              <p:nvPr/>
            </p:nvSpPr>
            <p:spPr>
              <a:xfrm>
                <a:off x="324649" y="698332"/>
                <a:ext cx="11450583" cy="3451458"/>
              </a:xfrm>
              <a:prstGeom prst="rect">
                <a:avLst/>
              </a:prstGeom>
              <a:blipFill>
                <a:blip r:embed="rId4"/>
                <a:stretch>
                  <a:fillRect l="-532" t="-1060" r="-532" b="-883"/>
                </a:stretch>
              </a:blipFill>
            </p:spPr>
            <p:txBody>
              <a:bodyPr/>
              <a:lstStyle/>
              <a:p>
                <a:r>
                  <a:rPr lang="en-IN">
                    <a:noFill/>
                  </a:rPr>
                  <a:t> </a:t>
                </a:r>
              </a:p>
            </p:txBody>
          </p:sp>
        </mc:Fallback>
      </mc:AlternateContent>
      <p:sp>
        <p:nvSpPr>
          <p:cNvPr id="7" name="Rectangle 6">
            <a:extLst>
              <a:ext uri="{FF2B5EF4-FFF2-40B4-BE49-F238E27FC236}">
                <a16:creationId xmlns:a16="http://schemas.microsoft.com/office/drawing/2014/main" id="{0A6C6C20-C7E5-4ECE-97A5-64C482712623}"/>
              </a:ext>
            </a:extLst>
          </p:cNvPr>
          <p:cNvSpPr/>
          <p:nvPr/>
        </p:nvSpPr>
        <p:spPr>
          <a:xfrm>
            <a:off x="300100" y="4563777"/>
            <a:ext cx="11499679" cy="1938992"/>
          </a:xfrm>
          <a:prstGeom prst="rect">
            <a:avLst/>
          </a:prstGeom>
        </p:spPr>
        <p:txBody>
          <a:bodyPr wrap="square">
            <a:spAutoFit/>
          </a:bodyPr>
          <a:lstStyle/>
          <a:p>
            <a:endParaRPr lang="en-US" sz="2000" b="1"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Notes. </a:t>
            </a: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If the impurities are given as Ca(HCO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and Mg(HCO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a:t>
            </a:r>
            <a:r>
              <a:rPr lang="en-US" sz="2000" baseline="-25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 they must only be expressed in terms of CaCO</a:t>
            </a:r>
            <a:r>
              <a:rPr lang="en-US" sz="2000" baseline="-25000" dirty="0">
                <a:latin typeface="Calibri" panose="020F0502020204030204" pitchFamily="34" charset="0"/>
                <a:cs typeface="Calibri" panose="020F0502020204030204" pitchFamily="34" charset="0"/>
              </a:rPr>
              <a:t>3.</a:t>
            </a:r>
            <a:endParaRPr lang="en-US" sz="20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The amount expressed as CaCO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does not require any further conversion. </a:t>
            </a:r>
          </a:p>
          <a:p>
            <a:pPr marL="34290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However, the amount expressed as MgCO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should be converted into its CaCO</a:t>
            </a:r>
            <a:r>
              <a:rPr lang="en-US" sz="2000" baseline="-25000" dirty="0">
                <a:latin typeface="Calibri" panose="020F0502020204030204" pitchFamily="34" charset="0"/>
                <a:cs typeface="Calibri" panose="020F0502020204030204" pitchFamily="34" charset="0"/>
              </a:rPr>
              <a:t>3</a:t>
            </a:r>
            <a:r>
              <a:rPr lang="en-US" sz="2000" dirty="0">
                <a:latin typeface="Calibri" panose="020F0502020204030204" pitchFamily="34" charset="0"/>
                <a:cs typeface="Calibri" panose="020F0502020204030204" pitchFamily="34" charset="0"/>
              </a:rPr>
              <a:t> equivalents by multiplying with 100/84</a:t>
            </a:r>
          </a:p>
        </p:txBody>
      </p:sp>
      <p:sp>
        <p:nvSpPr>
          <p:cNvPr id="2" name="Star: 5 Points 1">
            <a:extLst>
              <a:ext uri="{FF2B5EF4-FFF2-40B4-BE49-F238E27FC236}">
                <a16:creationId xmlns:a16="http://schemas.microsoft.com/office/drawing/2014/main" id="{35AF588E-612F-4B9B-6C19-4EECAE2AA864}"/>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40208321"/>
      </p:ext>
    </p:extLst>
  </p:cSld>
  <p:clrMapOvr>
    <a:masterClrMapping/>
  </p:clrMapOvr>
  <p:transition spd="slow">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80AF137-6EBA-489E-8270-3962BBA610A5}"/>
                  </a:ext>
                </a:extLst>
              </p:cNvPr>
              <p:cNvSpPr/>
              <p:nvPr/>
            </p:nvSpPr>
            <p:spPr>
              <a:xfrm>
                <a:off x="171670" y="543038"/>
                <a:ext cx="11556910" cy="6120650"/>
              </a:xfrm>
              <a:prstGeom prst="rect">
                <a:avLst/>
              </a:prstGeom>
            </p:spPr>
            <p:txBody>
              <a:bodyPr wrap="square">
                <a:spAutoFit/>
              </a:bodyPr>
              <a:lstStyle/>
              <a:p>
                <a:pPr>
                  <a:spcAft>
                    <a:spcPts val="1200"/>
                  </a:spcAft>
                </a:pPr>
                <a:r>
                  <a:rPr lang="en-US" sz="2000" b="1" dirty="0">
                    <a:latin typeface="Calibri" panose="020F0502020204030204" pitchFamily="34" charset="0"/>
                    <a:cs typeface="Calibri" panose="020F0502020204030204" pitchFamily="34" charset="0"/>
                  </a:rPr>
                  <a:t>Step 4: </a:t>
                </a:r>
                <a:r>
                  <a:rPr lang="en-US" sz="2000" dirty="0">
                    <a:latin typeface="Calibri" panose="020F0502020204030204" pitchFamily="34" charset="0"/>
                    <a:cs typeface="Calibri" panose="020F0502020204030204" pitchFamily="34" charset="0"/>
                  </a:rPr>
                  <a:t>The </a:t>
                </a:r>
                <a:r>
                  <a:rPr lang="en-US" sz="2000" u="sng" dirty="0">
                    <a:latin typeface="Calibri" panose="020F0502020204030204" pitchFamily="34" charset="0"/>
                    <a:cs typeface="Calibri" panose="020F0502020204030204" pitchFamily="34" charset="0"/>
                  </a:rPr>
                  <a:t>amount of lime and soda required</a:t>
                </a:r>
                <a:r>
                  <a:rPr lang="en-US" sz="2000" dirty="0">
                    <a:latin typeface="Calibri" panose="020F0502020204030204" pitchFamily="34" charset="0"/>
                    <a:cs typeface="Calibri" panose="020F0502020204030204" pitchFamily="34" charset="0"/>
                  </a:rPr>
                  <a:t> are calculated as follows.</a:t>
                </a:r>
              </a:p>
              <a:p>
                <a:r>
                  <a:rPr lang="en-US" sz="2000" b="1" dirty="0">
                    <a:latin typeface="Calibri" panose="020F0502020204030204" pitchFamily="34" charset="0"/>
                    <a:cs typeface="Calibri" panose="020F0502020204030204" pitchFamily="34" charset="0"/>
                  </a:rPr>
                  <a:t>Lime = </a:t>
                </a:r>
                <a14:m>
                  <m:oMath xmlns:m="http://schemas.openxmlformats.org/officeDocument/2006/math">
                    <m:f>
                      <m:fPr>
                        <m:ctrlPr>
                          <a:rPr lang="en-US" sz="2000" i="1" dirty="0" smtClean="0">
                            <a:latin typeface="Cambria Math" panose="02040503050406030204" pitchFamily="18" charset="0"/>
                            <a:cs typeface="Calibri" panose="020F0502020204030204" pitchFamily="34" charset="0"/>
                          </a:rPr>
                        </m:ctrlPr>
                      </m:fPr>
                      <m:num>
                        <m:r>
                          <a:rPr lang="en-US" sz="2000" i="0" dirty="0" smtClean="0">
                            <a:latin typeface="Cambria Math" panose="02040503050406030204" pitchFamily="18" charset="0"/>
                            <a:cs typeface="Calibri" panose="020F0502020204030204" pitchFamily="34" charset="0"/>
                          </a:rPr>
                          <m:t>74</m:t>
                        </m:r>
                      </m:num>
                      <m:den>
                        <m:r>
                          <a:rPr lang="en-US" sz="2000" i="0" dirty="0" smtClean="0">
                            <a:latin typeface="Cambria Math" panose="02040503050406030204" pitchFamily="18" charset="0"/>
                            <a:cs typeface="Calibri" panose="020F0502020204030204" pitchFamily="34" charset="0"/>
                          </a:rPr>
                          <m:t>100</m:t>
                        </m:r>
                      </m:den>
                    </m:f>
                  </m:oMath>
                </a14:m>
                <a:r>
                  <a:rPr lang="en-US" sz="2000" dirty="0">
                    <a:latin typeface="Calibri" panose="020F0502020204030204" pitchFamily="34" charset="0"/>
                    <a:cs typeface="Calibri" panose="020F0502020204030204" pitchFamily="34" charset="0"/>
                  </a:rPr>
                  <a:t> {Temp Ca</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hardness </a:t>
                </a:r>
              </a:p>
              <a:p>
                <a:r>
                  <a:rPr lang="en-US" sz="2000" dirty="0">
                    <a:latin typeface="Calibri" panose="020F0502020204030204" pitchFamily="34" charset="0"/>
                    <a:cs typeface="Calibri" panose="020F0502020204030204" pitchFamily="34" charset="0"/>
                  </a:rPr>
                  <a:t>		+ (2 × Temp Mg</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hardness) </a:t>
                </a:r>
              </a:p>
              <a:p>
                <a:r>
                  <a:rPr lang="en-US" sz="2000" dirty="0">
                    <a:latin typeface="Calibri" panose="020F0502020204030204" pitchFamily="34" charset="0"/>
                    <a:cs typeface="Calibri" panose="020F0502020204030204" pitchFamily="34" charset="0"/>
                  </a:rPr>
                  <a:t>		+ Perm Mg</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hardness + </a:t>
                </a:r>
                <a:r>
                  <a:rPr lang="en-US" sz="2000" dirty="0">
                    <a:solidFill>
                      <a:schemeClr val="tx2">
                        <a:lumMod val="50000"/>
                      </a:schemeClr>
                    </a:solidFill>
                    <a:latin typeface="Calibri" panose="020F0502020204030204" pitchFamily="34" charset="0"/>
                    <a:cs typeface="Calibri" panose="020F0502020204030204" pitchFamily="34" charset="0"/>
                  </a:rPr>
                  <a:t>CO</a:t>
                </a:r>
                <a:r>
                  <a:rPr lang="en-US" sz="2000" baseline="-25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 </a:t>
                </a:r>
              </a:p>
              <a:p>
                <a:r>
                  <a:rPr lang="en-US" sz="2000" dirty="0">
                    <a:solidFill>
                      <a:schemeClr val="tx2">
                        <a:lumMod val="50000"/>
                      </a:schemeClr>
                    </a:solidFill>
                    <a:latin typeface="Calibri" panose="020F0502020204030204" pitchFamily="34" charset="0"/>
                    <a:cs typeface="Calibri" panose="020F0502020204030204" pitchFamily="34" charset="0"/>
                  </a:rPr>
                  <a:t>		+ </a:t>
                </a:r>
                <a:r>
                  <a:rPr lang="en-US" sz="2000" dirty="0" err="1">
                    <a:solidFill>
                      <a:schemeClr val="tx2">
                        <a:lumMod val="50000"/>
                      </a:schemeClr>
                    </a:solidFill>
                    <a:latin typeface="Calibri" panose="020F0502020204030204" pitchFamily="34" charset="0"/>
                    <a:cs typeface="Calibri" panose="020F0502020204030204" pitchFamily="34" charset="0"/>
                  </a:rPr>
                  <a:t>HCl</a:t>
                </a:r>
                <a:r>
                  <a:rPr lang="en-US" sz="2000" dirty="0">
                    <a:solidFill>
                      <a:schemeClr val="tx2">
                        <a:lumMod val="50000"/>
                      </a:schemeClr>
                    </a:solidFill>
                    <a:latin typeface="Calibri" panose="020F0502020204030204" pitchFamily="34" charset="0"/>
                    <a:cs typeface="Calibri" panose="020F0502020204030204" pitchFamily="34" charset="0"/>
                  </a:rPr>
                  <a:t> + H</a:t>
                </a:r>
                <a:r>
                  <a:rPr lang="en-US" sz="2000" baseline="-25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SO</a:t>
                </a:r>
                <a:r>
                  <a:rPr lang="en-US" sz="2000" baseline="-25000" dirty="0">
                    <a:solidFill>
                      <a:schemeClr val="tx2">
                        <a:lumMod val="50000"/>
                      </a:schemeClr>
                    </a:solidFill>
                    <a:latin typeface="Calibri" panose="020F0502020204030204" pitchFamily="34" charset="0"/>
                    <a:cs typeface="Calibri" panose="020F0502020204030204" pitchFamily="34" charset="0"/>
                  </a:rPr>
                  <a:t>4</a:t>
                </a:r>
                <a:r>
                  <a:rPr lang="en-US" sz="2000" dirty="0">
                    <a:solidFill>
                      <a:schemeClr val="tx2">
                        <a:lumMod val="50000"/>
                      </a:schemeClr>
                    </a:solidFill>
                    <a:latin typeface="Calibri" panose="020F0502020204030204" pitchFamily="34" charset="0"/>
                    <a:cs typeface="Calibri" panose="020F0502020204030204" pitchFamily="34" charset="0"/>
                  </a:rPr>
                  <a:t>+ HCO</a:t>
                </a:r>
                <a:r>
                  <a:rPr lang="en-US" sz="2000" baseline="30000" dirty="0">
                    <a:solidFill>
                      <a:schemeClr val="tx2">
                        <a:lumMod val="50000"/>
                      </a:schemeClr>
                    </a:solidFill>
                    <a:latin typeface="Calibri" panose="020F0502020204030204" pitchFamily="34" charset="0"/>
                    <a:cs typeface="Calibri" panose="020F0502020204030204" pitchFamily="34" charset="0"/>
                  </a:rPr>
                  <a:t>–</a:t>
                </a:r>
                <a:r>
                  <a:rPr lang="en-US" sz="2000" baseline="-25000" dirty="0">
                    <a:solidFill>
                      <a:schemeClr val="tx2">
                        <a:lumMod val="50000"/>
                      </a:schemeClr>
                    </a:solidFill>
                    <a:latin typeface="Calibri" panose="020F0502020204030204" pitchFamily="34" charset="0"/>
                    <a:cs typeface="Calibri" panose="020F0502020204030204" pitchFamily="34" charset="0"/>
                  </a:rPr>
                  <a:t>3</a:t>
                </a:r>
                <a:r>
                  <a:rPr lang="en-US" sz="2000" dirty="0">
                    <a:solidFill>
                      <a:schemeClr val="tx2">
                        <a:lumMod val="50000"/>
                      </a:schemeClr>
                    </a:solidFill>
                    <a:latin typeface="Calibri" panose="020F0502020204030204" pitchFamily="34" charset="0"/>
                    <a:cs typeface="Calibri" panose="020F0502020204030204" pitchFamily="34" charset="0"/>
                  </a:rPr>
                  <a:t> </a:t>
                </a:r>
              </a:p>
              <a:p>
                <a:r>
                  <a:rPr lang="en-US" sz="2000" dirty="0">
                    <a:solidFill>
                      <a:schemeClr val="tx2">
                        <a:lumMod val="50000"/>
                      </a:schemeClr>
                    </a:solidFill>
                    <a:latin typeface="Calibri" panose="020F0502020204030204" pitchFamily="34" charset="0"/>
                    <a:cs typeface="Calibri" panose="020F0502020204030204" pitchFamily="34" charset="0"/>
                  </a:rPr>
                  <a:t>		+ salts of Fe</a:t>
                </a:r>
                <a:r>
                  <a:rPr lang="en-US" sz="2000" baseline="30000" dirty="0">
                    <a:solidFill>
                      <a:schemeClr val="tx2">
                        <a:lumMod val="50000"/>
                      </a:schemeClr>
                    </a:solidFill>
                    <a:latin typeface="Calibri" panose="020F0502020204030204" pitchFamily="34" charset="0"/>
                    <a:cs typeface="Calibri" panose="020F0502020204030204" pitchFamily="34" charset="0"/>
                  </a:rPr>
                  <a:t>2+ </a:t>
                </a:r>
                <a:r>
                  <a:rPr lang="en-US" sz="2000" dirty="0">
                    <a:solidFill>
                      <a:schemeClr val="tx2">
                        <a:lumMod val="50000"/>
                      </a:schemeClr>
                    </a:solidFill>
                    <a:latin typeface="Calibri" panose="020F0502020204030204" pitchFamily="34" charset="0"/>
                    <a:cs typeface="Calibri" panose="020F0502020204030204" pitchFamily="34" charset="0"/>
                  </a:rPr>
                  <a:t>+ 3 × salts of Al</a:t>
                </a:r>
                <a:r>
                  <a:rPr lang="en-US" sz="2000" baseline="30000" dirty="0">
                    <a:solidFill>
                      <a:schemeClr val="tx2">
                        <a:lumMod val="50000"/>
                      </a:schemeClr>
                    </a:solidFill>
                    <a:latin typeface="Calibri" panose="020F0502020204030204" pitchFamily="34" charset="0"/>
                    <a:cs typeface="Calibri" panose="020F0502020204030204" pitchFamily="34" charset="0"/>
                  </a:rPr>
                  <a:t>3+</a:t>
                </a:r>
                <a:r>
                  <a:rPr lang="en-US" sz="2000" dirty="0">
                    <a:solidFill>
                      <a:schemeClr val="tx2">
                        <a:lumMod val="50000"/>
                      </a:schemeClr>
                    </a:solidFill>
                    <a:latin typeface="Calibri" panose="020F0502020204030204" pitchFamily="34" charset="0"/>
                    <a:cs typeface="Calibri" panose="020F0502020204030204" pitchFamily="34" charset="0"/>
                  </a:rPr>
                  <a:t> </a:t>
                </a:r>
              </a:p>
              <a:p>
                <a:pPr>
                  <a:spcAft>
                    <a:spcPts val="1200"/>
                  </a:spcAft>
                </a:pPr>
                <a:r>
                  <a:rPr lang="en-US" sz="2000" dirty="0">
                    <a:solidFill>
                      <a:schemeClr val="tx2">
                        <a:lumMod val="50000"/>
                      </a:schemeClr>
                    </a:solidFill>
                    <a:latin typeface="Calibri" panose="020F0502020204030204" pitchFamily="34" charset="0"/>
                    <a:cs typeface="Calibri" panose="020F0502020204030204" pitchFamily="34" charset="0"/>
                  </a:rPr>
                  <a:t>		– NaAlO</a:t>
                </a:r>
                <a:r>
                  <a:rPr lang="en-US" sz="2000" baseline="-25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a:t>
                </a:r>
              </a:p>
              <a:p>
                <a:r>
                  <a:rPr lang="en-US" sz="2000" b="1" dirty="0">
                    <a:latin typeface="Calibri" panose="020F0502020204030204" pitchFamily="34" charset="0"/>
                    <a:cs typeface="Calibri" panose="020F0502020204030204" pitchFamily="34" charset="0"/>
                  </a:rPr>
                  <a:t>Soda = </a:t>
                </a:r>
                <a14:m>
                  <m:oMath xmlns:m="http://schemas.openxmlformats.org/officeDocument/2006/math">
                    <m:f>
                      <m:fPr>
                        <m:ctrlPr>
                          <a:rPr lang="en-US" sz="2000" i="1" dirty="0" smtClean="0">
                            <a:latin typeface="Cambria Math" panose="02040503050406030204" pitchFamily="18" charset="0"/>
                            <a:cs typeface="Calibri" panose="020F0502020204030204" pitchFamily="34" charset="0"/>
                          </a:rPr>
                        </m:ctrlPr>
                      </m:fPr>
                      <m:num>
                        <m:r>
                          <a:rPr lang="en-US" sz="2000" i="1" dirty="0" smtClean="0">
                            <a:latin typeface="Cambria Math" panose="02040503050406030204" pitchFamily="18" charset="0"/>
                            <a:cs typeface="Calibri" panose="020F0502020204030204" pitchFamily="34" charset="0"/>
                          </a:rPr>
                          <m:t>106</m:t>
                        </m:r>
                      </m:num>
                      <m:den>
                        <m:r>
                          <a:rPr lang="en-US" sz="2000" i="1" dirty="0" smtClean="0">
                            <a:latin typeface="Cambria Math" panose="02040503050406030204" pitchFamily="18" charset="0"/>
                            <a:cs typeface="Calibri" panose="020F0502020204030204" pitchFamily="34" charset="0"/>
                          </a:rPr>
                          <m:t>100</m:t>
                        </m:r>
                      </m:den>
                    </m:f>
                  </m:oMath>
                </a14:m>
                <a:r>
                  <a:rPr lang="en-US" sz="2000" dirty="0">
                    <a:latin typeface="Calibri" panose="020F0502020204030204" pitchFamily="34" charset="0"/>
                    <a:cs typeface="Calibri" panose="020F0502020204030204" pitchFamily="34" charset="0"/>
                  </a:rPr>
                  <a:t> {Perm Ca</a:t>
                </a:r>
                <a:r>
                  <a:rPr lang="en-US" sz="2000" baseline="30000" dirty="0">
                    <a:latin typeface="Calibri" panose="020F0502020204030204" pitchFamily="34" charset="0"/>
                    <a:cs typeface="Calibri" panose="020F0502020204030204" pitchFamily="34" charset="0"/>
                  </a:rPr>
                  <a:t>2+ </a:t>
                </a:r>
                <a:r>
                  <a:rPr lang="en-US" sz="2000" dirty="0">
                    <a:latin typeface="Calibri" panose="020F0502020204030204" pitchFamily="34" charset="0"/>
                    <a:cs typeface="Calibri" panose="020F0502020204030204" pitchFamily="34" charset="0"/>
                  </a:rPr>
                  <a:t>hardness </a:t>
                </a:r>
              </a:p>
              <a:p>
                <a:r>
                  <a:rPr lang="en-US" sz="2000" dirty="0">
                    <a:latin typeface="Calibri" panose="020F0502020204030204" pitchFamily="34" charset="0"/>
                    <a:cs typeface="Calibri" panose="020F0502020204030204" pitchFamily="34" charset="0"/>
                  </a:rPr>
                  <a:t>		+ Perm Mg</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hardness </a:t>
                </a:r>
              </a:p>
              <a:p>
                <a:r>
                  <a:rPr lang="en-US" sz="2000" dirty="0">
                    <a:latin typeface="Calibri" panose="020F0502020204030204" pitchFamily="34" charset="0"/>
                    <a:cs typeface="Calibri" panose="020F0502020204030204" pitchFamily="34" charset="0"/>
                  </a:rPr>
                  <a:t>		</a:t>
                </a:r>
                <a:r>
                  <a:rPr lang="en-US" sz="2000" dirty="0">
                    <a:solidFill>
                      <a:schemeClr val="tx2">
                        <a:lumMod val="50000"/>
                      </a:schemeClr>
                    </a:solidFill>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a:t>
                </a:r>
                <a:r>
                  <a:rPr lang="en-US" sz="2000" dirty="0">
                    <a:solidFill>
                      <a:schemeClr val="tx2">
                        <a:lumMod val="50000"/>
                      </a:schemeClr>
                    </a:solidFill>
                    <a:latin typeface="Calibri" panose="020F0502020204030204" pitchFamily="34" charset="0"/>
                    <a:cs typeface="Calibri" panose="020F0502020204030204" pitchFamily="34" charset="0"/>
                  </a:rPr>
                  <a:t>salts of Fe</a:t>
                </a:r>
                <a:r>
                  <a:rPr lang="en-US" sz="2000" baseline="30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+ 3 × salts of Al</a:t>
                </a:r>
                <a:r>
                  <a:rPr lang="en-US" sz="2000" baseline="30000" dirty="0">
                    <a:solidFill>
                      <a:schemeClr val="tx2">
                        <a:lumMod val="50000"/>
                      </a:schemeClr>
                    </a:solidFill>
                    <a:latin typeface="Calibri" panose="020F0502020204030204" pitchFamily="34" charset="0"/>
                    <a:cs typeface="Calibri" panose="020F0502020204030204" pitchFamily="34" charset="0"/>
                  </a:rPr>
                  <a:t>3+</a:t>
                </a:r>
                <a:r>
                  <a:rPr lang="en-US" sz="2000" dirty="0">
                    <a:solidFill>
                      <a:schemeClr val="tx2">
                        <a:lumMod val="50000"/>
                      </a:schemeClr>
                    </a:solidFill>
                    <a:latin typeface="Calibri" panose="020F0502020204030204" pitchFamily="34" charset="0"/>
                    <a:cs typeface="Calibri" panose="020F0502020204030204" pitchFamily="34" charset="0"/>
                  </a:rPr>
                  <a:t> </a:t>
                </a:r>
              </a:p>
              <a:p>
                <a:r>
                  <a:rPr lang="en-US" sz="2000" dirty="0">
                    <a:solidFill>
                      <a:schemeClr val="tx2">
                        <a:lumMod val="50000"/>
                      </a:schemeClr>
                    </a:solidFill>
                    <a:latin typeface="Calibri" panose="020F0502020204030204" pitchFamily="34" charset="0"/>
                    <a:cs typeface="Calibri" panose="020F0502020204030204" pitchFamily="34" charset="0"/>
                  </a:rPr>
                  <a:t>		+ </a:t>
                </a:r>
                <a:r>
                  <a:rPr lang="en-US" sz="2000" dirty="0" err="1">
                    <a:solidFill>
                      <a:schemeClr val="tx2">
                        <a:lumMod val="50000"/>
                      </a:schemeClr>
                    </a:solidFill>
                    <a:latin typeface="Calibri" panose="020F0502020204030204" pitchFamily="34" charset="0"/>
                    <a:cs typeface="Calibri" panose="020F0502020204030204" pitchFamily="34" charset="0"/>
                  </a:rPr>
                  <a:t>HCl</a:t>
                </a:r>
                <a:r>
                  <a:rPr lang="en-US" sz="2000" dirty="0">
                    <a:solidFill>
                      <a:schemeClr val="tx2">
                        <a:lumMod val="50000"/>
                      </a:schemeClr>
                    </a:solidFill>
                    <a:latin typeface="Calibri" panose="020F0502020204030204" pitchFamily="34" charset="0"/>
                    <a:cs typeface="Calibri" panose="020F0502020204030204" pitchFamily="34" charset="0"/>
                  </a:rPr>
                  <a:t> + H</a:t>
                </a:r>
                <a:r>
                  <a:rPr lang="en-US" sz="2000" baseline="-25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SO</a:t>
                </a:r>
                <a:r>
                  <a:rPr lang="en-US" sz="2000" baseline="-25000" dirty="0">
                    <a:solidFill>
                      <a:schemeClr val="tx2">
                        <a:lumMod val="50000"/>
                      </a:schemeClr>
                    </a:solidFill>
                    <a:latin typeface="Calibri" panose="020F0502020204030204" pitchFamily="34" charset="0"/>
                    <a:cs typeface="Calibri" panose="020F0502020204030204" pitchFamily="34" charset="0"/>
                  </a:rPr>
                  <a:t>4</a:t>
                </a:r>
                <a:r>
                  <a:rPr lang="en-US" sz="2000" dirty="0">
                    <a:solidFill>
                      <a:schemeClr val="tx2">
                        <a:lumMod val="50000"/>
                      </a:schemeClr>
                    </a:solidFill>
                    <a:latin typeface="Calibri" panose="020F0502020204030204" pitchFamily="34" charset="0"/>
                    <a:cs typeface="Calibri" panose="020F0502020204030204" pitchFamily="34" charset="0"/>
                  </a:rPr>
                  <a:t> + HCO</a:t>
                </a:r>
                <a:r>
                  <a:rPr lang="en-US" sz="2000" baseline="30000" dirty="0">
                    <a:solidFill>
                      <a:schemeClr val="tx2">
                        <a:lumMod val="50000"/>
                      </a:schemeClr>
                    </a:solidFill>
                    <a:latin typeface="Calibri" panose="020F0502020204030204" pitchFamily="34" charset="0"/>
                    <a:cs typeface="Calibri" panose="020F0502020204030204" pitchFamily="34" charset="0"/>
                  </a:rPr>
                  <a:t>–</a:t>
                </a:r>
                <a:r>
                  <a:rPr lang="en-US" sz="2000" baseline="-25000" dirty="0">
                    <a:solidFill>
                      <a:schemeClr val="tx2">
                        <a:lumMod val="50000"/>
                      </a:schemeClr>
                    </a:solidFill>
                    <a:latin typeface="Calibri" panose="020F0502020204030204" pitchFamily="34" charset="0"/>
                    <a:cs typeface="Calibri" panose="020F0502020204030204" pitchFamily="34" charset="0"/>
                  </a:rPr>
                  <a:t>3</a:t>
                </a:r>
                <a:r>
                  <a:rPr lang="en-US" sz="2000" dirty="0">
                    <a:solidFill>
                      <a:schemeClr val="tx2">
                        <a:lumMod val="50000"/>
                      </a:schemeClr>
                    </a:solidFill>
                    <a:latin typeface="Calibri" panose="020F0502020204030204" pitchFamily="34" charset="0"/>
                    <a:cs typeface="Calibri" panose="020F0502020204030204" pitchFamily="34" charset="0"/>
                  </a:rPr>
                  <a:t> </a:t>
                </a:r>
              </a:p>
              <a:p>
                <a:r>
                  <a:rPr lang="en-US" sz="2000" dirty="0">
                    <a:solidFill>
                      <a:schemeClr val="tx2">
                        <a:lumMod val="50000"/>
                      </a:schemeClr>
                    </a:solidFill>
                    <a:latin typeface="Calibri" panose="020F0502020204030204" pitchFamily="34" charset="0"/>
                    <a:cs typeface="Calibri" panose="020F0502020204030204" pitchFamily="34" charset="0"/>
                  </a:rPr>
                  <a:t>		– NaAlO</a:t>
                </a:r>
                <a:r>
                  <a:rPr lang="en-US" sz="2000" baseline="-25000" dirty="0">
                    <a:solidFill>
                      <a:schemeClr val="tx2">
                        <a:lumMod val="50000"/>
                      </a:schemeClr>
                    </a:solidFill>
                    <a:latin typeface="Calibri" panose="020F0502020204030204" pitchFamily="34" charset="0"/>
                    <a:cs typeface="Calibri" panose="020F0502020204030204" pitchFamily="34" charset="0"/>
                  </a:rPr>
                  <a:t>2</a:t>
                </a:r>
                <a:r>
                  <a:rPr lang="en-US" sz="2000" dirty="0">
                    <a:solidFill>
                      <a:schemeClr val="tx2">
                        <a:lumMod val="50000"/>
                      </a:schemeClr>
                    </a:solidFill>
                    <a:latin typeface="Calibri" panose="020F0502020204030204" pitchFamily="34" charset="0"/>
                    <a:cs typeface="Calibri" panose="020F0502020204030204" pitchFamily="34" charset="0"/>
                  </a:rPr>
                  <a:t>}</a:t>
                </a:r>
              </a:p>
              <a:p>
                <a:endParaRPr lang="en-US" sz="2000" dirty="0">
                  <a:solidFill>
                    <a:schemeClr val="tx2">
                      <a:lumMod val="50000"/>
                    </a:schemeClr>
                  </a:solidFill>
                  <a:latin typeface="Calibri" panose="020F0502020204030204" pitchFamily="34" charset="0"/>
                  <a:cs typeface="Calibri" panose="020F0502020204030204" pitchFamily="34" charset="0"/>
                </a:endParaRPr>
              </a:p>
              <a:p>
                <a:pPr algn="just">
                  <a:spcAft>
                    <a:spcPts val="600"/>
                  </a:spcAft>
                </a:pPr>
                <a:r>
                  <a:rPr lang="en-US" sz="2000" b="1" dirty="0">
                    <a:latin typeface="Calibri" panose="020F0502020204030204" pitchFamily="34" charset="0"/>
                    <a:cs typeface="Calibri" panose="020F0502020204030204" pitchFamily="34" charset="0"/>
                  </a:rPr>
                  <a:t>Note.</a:t>
                </a:r>
                <a:r>
                  <a:rPr lang="en-US" sz="2000" dirty="0">
                    <a:latin typeface="Calibri" panose="020F0502020204030204" pitchFamily="34" charset="0"/>
                    <a:cs typeface="Calibri" panose="020F0502020204030204" pitchFamily="34" charset="0"/>
                  </a:rPr>
                  <a:t> If </a:t>
                </a:r>
                <a:r>
                  <a:rPr lang="en-US" sz="2000" u="sng" dirty="0">
                    <a:latin typeface="Calibri" panose="020F0502020204030204" pitchFamily="34" charset="0"/>
                    <a:cs typeface="Calibri" panose="020F0502020204030204" pitchFamily="34" charset="0"/>
                  </a:rPr>
                  <a:t>Ca</a:t>
                </a:r>
                <a:r>
                  <a:rPr lang="en-US" sz="2000" u="sng" baseline="30000" dirty="0">
                    <a:latin typeface="Calibri" panose="020F0502020204030204" pitchFamily="34" charset="0"/>
                    <a:cs typeface="Calibri" panose="020F0502020204030204" pitchFamily="34" charset="0"/>
                  </a:rPr>
                  <a:t>2+</a:t>
                </a:r>
                <a:r>
                  <a:rPr lang="en-US" sz="2000" u="sng" dirty="0">
                    <a:latin typeface="Calibri" panose="020F0502020204030204" pitchFamily="34" charset="0"/>
                    <a:cs typeface="Calibri" panose="020F0502020204030204" pitchFamily="34" charset="0"/>
                  </a:rPr>
                  <a:t> and Mg</a:t>
                </a:r>
                <a:r>
                  <a:rPr lang="en-US" sz="2000" u="sng"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is given, </a:t>
                </a:r>
              </a:p>
              <a:p>
                <a:pPr marL="342900" lvl="1" indent="-342900" algn="just">
                  <a:spcAft>
                    <a:spcPts val="6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1 equivalent of lime and 1 equivalent of soda is required for Mg</a:t>
                </a:r>
                <a:r>
                  <a:rPr lang="en-US" sz="2000" baseline="30000" dirty="0">
                    <a:latin typeface="Calibri" panose="020F0502020204030204" pitchFamily="34" charset="0"/>
                    <a:cs typeface="Calibri" panose="020F0502020204030204" pitchFamily="34" charset="0"/>
                  </a:rPr>
                  <a:t>2+ </a:t>
                </a:r>
              </a:p>
              <a:p>
                <a:pPr marL="342900" indent="-342900" algn="just">
                  <a:spcAft>
                    <a:spcPts val="6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1 equivalent of soda is required for Ca</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a:t>
                </a:r>
              </a:p>
              <a:p>
                <a:pPr marL="342900" indent="-342900" algn="just">
                  <a:spcAft>
                    <a:spcPts val="12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The ions Ca</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and Mg</a:t>
                </a:r>
                <a:r>
                  <a:rPr lang="en-US" sz="2000" baseline="30000" dirty="0">
                    <a:latin typeface="Calibri" panose="020F0502020204030204" pitchFamily="34" charset="0"/>
                    <a:cs typeface="Calibri" panose="020F0502020204030204" pitchFamily="34" charset="0"/>
                  </a:rPr>
                  <a:t>2+</a:t>
                </a:r>
                <a:r>
                  <a:rPr lang="en-US" sz="2000" dirty="0">
                    <a:latin typeface="Calibri" panose="020F0502020204030204" pitchFamily="34" charset="0"/>
                    <a:cs typeface="Calibri" panose="020F0502020204030204" pitchFamily="34" charset="0"/>
                  </a:rPr>
                  <a:t> are treated as permanent hardness due to Ca and  Mg.</a:t>
                </a:r>
              </a:p>
            </p:txBody>
          </p:sp>
        </mc:Choice>
        <mc:Fallback xmlns="">
          <p:sp>
            <p:nvSpPr>
              <p:cNvPr id="5" name="Rectangle 4">
                <a:extLst>
                  <a:ext uri="{FF2B5EF4-FFF2-40B4-BE49-F238E27FC236}">
                    <a16:creationId xmlns:a16="http://schemas.microsoft.com/office/drawing/2014/main" id="{080AF137-6EBA-489E-8270-3962BBA610A5}"/>
                  </a:ext>
                </a:extLst>
              </p:cNvPr>
              <p:cNvSpPr>
                <a:spLocks noRot="1" noChangeAspect="1" noMove="1" noResize="1" noEditPoints="1" noAdjustHandles="1" noChangeArrowheads="1" noChangeShapeType="1" noTextEdit="1"/>
              </p:cNvSpPr>
              <p:nvPr/>
            </p:nvSpPr>
            <p:spPr>
              <a:xfrm>
                <a:off x="171670" y="543038"/>
                <a:ext cx="11556910" cy="6120650"/>
              </a:xfrm>
              <a:prstGeom prst="rect">
                <a:avLst/>
              </a:prstGeom>
              <a:blipFill>
                <a:blip r:embed="rId4"/>
                <a:stretch>
                  <a:fillRect l="-527" t="-498" b="-797"/>
                </a:stretch>
              </a:blipFill>
            </p:spPr>
            <p:txBody>
              <a:bodyPr/>
              <a:lstStyle/>
              <a:p>
                <a:r>
                  <a:rPr lang="en-IN">
                    <a:noFill/>
                  </a:rPr>
                  <a:t> </a:t>
                </a:r>
              </a:p>
            </p:txBody>
          </p:sp>
        </mc:Fallback>
      </mc:AlternateContent>
      <p:sp>
        <p:nvSpPr>
          <p:cNvPr id="6" name="Shape 69">
            <a:extLst>
              <a:ext uri="{FF2B5EF4-FFF2-40B4-BE49-F238E27FC236}">
                <a16:creationId xmlns:a16="http://schemas.microsoft.com/office/drawing/2014/main" id="{104E7FC0-53AD-435F-BE85-6D72BCDAFAF3}"/>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Calculations of the Requirement of Lime and Soda</a:t>
            </a:r>
          </a:p>
        </p:txBody>
      </p:sp>
      <p:sp>
        <p:nvSpPr>
          <p:cNvPr id="2" name="Star: 5 Points 1">
            <a:extLst>
              <a:ext uri="{FF2B5EF4-FFF2-40B4-BE49-F238E27FC236}">
                <a16:creationId xmlns:a16="http://schemas.microsoft.com/office/drawing/2014/main" id="{0017485E-8796-5F18-659E-3F6650D6A36B}"/>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1649169"/>
      </p:ext>
    </p:extLst>
  </p:cSld>
  <p:clrMapOvr>
    <a:masterClrMapping/>
  </p:clrMapOvr>
  <p:transition spd="slow">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5" name="Rectangle 4">
            <a:extLst>
              <a:ext uri="{FF2B5EF4-FFF2-40B4-BE49-F238E27FC236}">
                <a16:creationId xmlns:a16="http://schemas.microsoft.com/office/drawing/2014/main" id="{B77DB647-B97E-4082-B492-1FAFD292C715}"/>
              </a:ext>
            </a:extLst>
          </p:cNvPr>
          <p:cNvSpPr/>
          <p:nvPr/>
        </p:nvSpPr>
        <p:spPr>
          <a:xfrm>
            <a:off x="287383" y="770708"/>
            <a:ext cx="11469188" cy="5170646"/>
          </a:xfrm>
          <a:prstGeom prst="rect">
            <a:avLst/>
          </a:prstGeom>
        </p:spPr>
        <p:txBody>
          <a:bodyPr wrap="square">
            <a:spAutoFit/>
          </a:bodyPr>
          <a:lstStyle/>
          <a:p>
            <a:pPr algn="just">
              <a:spcAft>
                <a:spcPts val="600"/>
              </a:spcAft>
            </a:pPr>
            <a:r>
              <a:rPr lang="en-US" sz="2000" b="1" dirty="0">
                <a:latin typeface="Calibri" panose="020F0502020204030204" pitchFamily="34" charset="0"/>
                <a:cs typeface="Calibri" panose="020F0502020204030204" pitchFamily="34" charset="0"/>
              </a:rPr>
              <a:t>Step 5. </a:t>
            </a:r>
            <a:r>
              <a:rPr lang="en-US" sz="2000" u="sng" dirty="0">
                <a:latin typeface="Calibri" panose="020F0502020204030204" pitchFamily="34" charset="0"/>
                <a:cs typeface="Calibri" panose="020F0502020204030204" pitchFamily="34" charset="0"/>
              </a:rPr>
              <a:t>If the lime and soda used are </a:t>
            </a:r>
            <a:r>
              <a:rPr lang="en-US" sz="2000" b="1" u="sng" dirty="0">
                <a:latin typeface="Calibri" panose="020F0502020204030204" pitchFamily="34" charset="0"/>
                <a:cs typeface="Calibri" panose="020F0502020204030204" pitchFamily="34" charset="0"/>
              </a:rPr>
              <a:t>impure</a:t>
            </a:r>
            <a:r>
              <a:rPr lang="en-US" sz="2000" dirty="0">
                <a:latin typeface="Calibri" panose="020F0502020204030204" pitchFamily="34" charset="0"/>
                <a:cs typeface="Calibri" panose="020F0502020204030204" pitchFamily="34" charset="0"/>
              </a:rPr>
              <a:t> and if the percentage purity is given, then the actual requirements of the chemicals should be calculated accordingly. </a:t>
            </a:r>
          </a:p>
          <a:p>
            <a:pPr marL="342900" indent="-342900" algn="just">
              <a:spcAft>
                <a:spcPts val="6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Thus, if lime is 90% pure, then the value obtained in step (6) must be multiplied by 100/90 to get actual lime requirement. </a:t>
            </a:r>
          </a:p>
          <a:p>
            <a:pPr marL="342900" indent="-342900" algn="just">
              <a:spcAft>
                <a:spcPts val="600"/>
              </a:spcAft>
              <a:buFont typeface="Arial" panose="020B0604020202020204" pitchFamily="34" charset="0"/>
              <a:buChar char="•"/>
            </a:pPr>
            <a:r>
              <a:rPr lang="en-US" sz="2000" dirty="0">
                <a:latin typeface="Calibri" panose="020F0502020204030204" pitchFamily="34" charset="0"/>
                <a:cs typeface="Calibri" panose="020F0502020204030204" pitchFamily="34" charset="0"/>
              </a:rPr>
              <a:t>Similarly, if the soda is 95% pure then the value obtained in step (6) is multiplied by 100/95 to get actual soda requirement.</a:t>
            </a:r>
          </a:p>
          <a:p>
            <a:pPr marL="342900" indent="-342900" algn="just">
              <a:spcAft>
                <a:spcPts val="600"/>
              </a:spcAft>
              <a:buFont typeface="Arial" panose="020B0604020202020204" pitchFamily="34" charset="0"/>
              <a:buChar char="•"/>
            </a:pPr>
            <a:r>
              <a:rPr lang="en-US" sz="2000" b="1" dirty="0">
                <a:latin typeface="Calibri" panose="020F0502020204030204" pitchFamily="34" charset="0"/>
                <a:cs typeface="Calibri" panose="020F0502020204030204" pitchFamily="34" charset="0"/>
              </a:rPr>
              <a:t>Lime/soda =</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value obtained from step 4 </a:t>
            </a:r>
            <a:r>
              <a:rPr lang="en-US" sz="2000" dirty="0">
                <a:latin typeface="Calibri" panose="020F0502020204030204" pitchFamily="34" charset="0"/>
                <a:cs typeface="Calibri" panose="020F0502020204030204" pitchFamily="34" charset="0"/>
              </a:rPr>
              <a:t>× (100 / % purity)</a:t>
            </a:r>
          </a:p>
          <a:p>
            <a:pPr marL="342900" indent="-342900" algn="just">
              <a:spcAft>
                <a:spcPts val="600"/>
              </a:spcAf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indent="-342900" algn="just">
              <a:spcAft>
                <a:spcPts val="600"/>
              </a:spcAf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Step 6. </a:t>
            </a:r>
            <a:r>
              <a:rPr lang="en-US" sz="2000" dirty="0">
                <a:latin typeface="Calibri" panose="020F0502020204030204" pitchFamily="34" charset="0"/>
                <a:cs typeface="Calibri" panose="020F0502020204030204" pitchFamily="34" charset="0"/>
              </a:rPr>
              <a:t>The value obtained in step (6) is also </a:t>
            </a:r>
            <a:r>
              <a:rPr lang="en-US" sz="2000" u="sng" dirty="0">
                <a:latin typeface="Calibri" panose="020F0502020204030204" pitchFamily="34" charset="0"/>
                <a:cs typeface="Calibri" panose="020F0502020204030204" pitchFamily="34" charset="0"/>
              </a:rPr>
              <a:t>multiplied by the volume of water</a:t>
            </a:r>
            <a:r>
              <a:rPr lang="en-US" sz="2000" dirty="0">
                <a:latin typeface="Calibri" panose="020F0502020204030204" pitchFamily="34" charset="0"/>
                <a:cs typeface="Calibri" panose="020F0502020204030204" pitchFamily="34" charset="0"/>
              </a:rPr>
              <a:t> which has to be purified.</a:t>
            </a:r>
          </a:p>
          <a:p>
            <a:pPr algn="just"/>
            <a:endParaRPr lang="en-US" sz="2000" dirty="0">
              <a:latin typeface="Calibri" panose="020F0502020204030204" pitchFamily="34" charset="0"/>
              <a:cs typeface="Calibri" panose="020F0502020204030204" pitchFamily="34" charset="0"/>
            </a:endParaRPr>
          </a:p>
          <a:p>
            <a:pPr algn="just"/>
            <a:r>
              <a:rPr lang="en-US" sz="2000" dirty="0">
                <a:latin typeface="Calibri" panose="020F0502020204030204" pitchFamily="34" charset="0"/>
                <a:cs typeface="Calibri" panose="020F0502020204030204" pitchFamily="34" charset="0"/>
              </a:rPr>
              <a:t>Thus, the final formula for calculating the amount of lime or soda required is given as</a:t>
            </a:r>
          </a:p>
          <a:p>
            <a:pPr algn="just"/>
            <a:endParaRPr lang="en-US" sz="20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000" b="1" dirty="0">
                <a:latin typeface="Calibri" panose="020F0502020204030204" pitchFamily="34" charset="0"/>
                <a:cs typeface="Calibri" panose="020F0502020204030204" pitchFamily="34" charset="0"/>
              </a:rPr>
              <a:t>Lime/soda =</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value obtained from step 5 </a:t>
            </a:r>
            <a:r>
              <a:rPr lang="en-US" sz="2000" dirty="0">
                <a:latin typeface="Calibri" panose="020F0502020204030204" pitchFamily="34" charset="0"/>
                <a:cs typeface="Calibri" panose="020F0502020204030204" pitchFamily="34" charset="0"/>
              </a:rPr>
              <a:t>× volume of water in liter × (100 / % purity)</a:t>
            </a:r>
          </a:p>
          <a:p>
            <a:pPr marL="342900" indent="-342900" algn="just">
              <a:spcAft>
                <a:spcPts val="600"/>
              </a:spcAf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p:txBody>
      </p:sp>
      <p:sp>
        <p:nvSpPr>
          <p:cNvPr id="6" name="Shape 69">
            <a:extLst>
              <a:ext uri="{FF2B5EF4-FFF2-40B4-BE49-F238E27FC236}">
                <a16:creationId xmlns:a16="http://schemas.microsoft.com/office/drawing/2014/main" id="{062AE3BE-65D8-423B-8086-8C2D3750C9F3}"/>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Calculations of the Requirement of Lime and Soda</a:t>
            </a:r>
          </a:p>
        </p:txBody>
      </p:sp>
      <p:sp>
        <p:nvSpPr>
          <p:cNvPr id="2" name="Star: 5 Points 1">
            <a:extLst>
              <a:ext uri="{FF2B5EF4-FFF2-40B4-BE49-F238E27FC236}">
                <a16:creationId xmlns:a16="http://schemas.microsoft.com/office/drawing/2014/main" id="{7FF4B4C9-22AF-AC96-7904-CF8C9EA53CF3}"/>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62725206"/>
      </p:ext>
    </p:extLst>
  </p:cSld>
  <p:clrMapOvr>
    <a:masterClrMapping/>
  </p:clrMapOvr>
  <p:transition spd="slow">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18E2C750-6B0E-4761-81C2-BD5829AE266F}"/>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52F3D504-B6B3-4ED6-80A1-563E0E2516BB}"/>
              </a:ext>
            </a:extLst>
          </p:cNvPr>
          <p:cNvSpPr/>
          <p:nvPr/>
        </p:nvSpPr>
        <p:spPr>
          <a:xfrm>
            <a:off x="324649" y="623687"/>
            <a:ext cx="11394599" cy="707886"/>
          </a:xfrm>
          <a:prstGeom prst="rect">
            <a:avLst/>
          </a:prstGeom>
        </p:spPr>
        <p:txBody>
          <a:bodyPr wrap="square">
            <a:spAutoFit/>
          </a:bodyPr>
          <a:lstStyle/>
          <a:p>
            <a:pPr lvl="0" algn="just">
              <a:spcAft>
                <a:spcPts val="12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 water sample have the following impurities : Ca</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20ppm; Mg</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18 ppm; HCO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183 ppm; 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24 ppm. Calculate the amount of lime and soda needed for softening. </a:t>
            </a:r>
            <a:endPar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9E171E23-CF1C-4C81-902B-AFF937EBB1F3}"/>
              </a:ext>
            </a:extLst>
          </p:cNvPr>
          <p:cNvPicPr>
            <a:picLocks noChangeAspect="1"/>
          </p:cNvPicPr>
          <p:nvPr/>
        </p:nvPicPr>
        <p:blipFill rotWithShape="1">
          <a:blip r:embed="rId4"/>
          <a:srcRect l="7077" t="9628" r="9272" b="61488"/>
          <a:stretch/>
        </p:blipFill>
        <p:spPr>
          <a:xfrm>
            <a:off x="228256" y="1314918"/>
            <a:ext cx="5570907" cy="2856356"/>
          </a:xfrm>
          <a:prstGeom prst="rect">
            <a:avLst/>
          </a:prstGeom>
        </p:spPr>
      </p:pic>
      <p:sp>
        <p:nvSpPr>
          <p:cNvPr id="9" name="TextBox 3">
            <a:extLst>
              <a:ext uri="{FF2B5EF4-FFF2-40B4-BE49-F238E27FC236}">
                <a16:creationId xmlns:a16="http://schemas.microsoft.com/office/drawing/2014/main" id="{89230BF8-71F4-4BBE-9D81-F0C6C50A4092}"/>
              </a:ext>
            </a:extLst>
          </p:cNvPr>
          <p:cNvSpPr txBox="1">
            <a:spLocks noChangeArrowheads="1"/>
          </p:cNvSpPr>
          <p:nvPr/>
        </p:nvSpPr>
        <p:spPr bwMode="auto">
          <a:xfrm>
            <a:off x="228256" y="4241248"/>
            <a:ext cx="2912977" cy="369332"/>
          </a:xfrm>
          <a:prstGeom prst="rect">
            <a:avLst/>
          </a:prstGeom>
          <a:noFill/>
          <a:ln w="9525">
            <a:noFill/>
            <a:miter lim="800000"/>
            <a:headEnd/>
            <a:tailEnd/>
          </a:ln>
        </p:spPr>
        <p:txBody>
          <a:bodyPr wrap="none">
            <a:spAutoFit/>
          </a:bodyPr>
          <a:lstStyle/>
          <a:p>
            <a:r>
              <a:rPr lang="en-US" altLang="en-US" sz="1800" b="1" dirty="0">
                <a:solidFill>
                  <a:srgbClr val="C00000"/>
                </a:solidFill>
                <a:latin typeface="Calibri" panose="020F0502020204030204" pitchFamily="34" charset="0"/>
                <a:cs typeface="Calibri" panose="020F0502020204030204" pitchFamily="34" charset="0"/>
              </a:rPr>
              <a:t>Lime required for softening: </a:t>
            </a:r>
          </a:p>
        </p:txBody>
      </p:sp>
      <p:grpSp>
        <p:nvGrpSpPr>
          <p:cNvPr id="10" name="Group 12">
            <a:extLst>
              <a:ext uri="{FF2B5EF4-FFF2-40B4-BE49-F238E27FC236}">
                <a16:creationId xmlns:a16="http://schemas.microsoft.com/office/drawing/2014/main" id="{5DDC76D2-BFEC-4A65-B0AB-B5ED43EB0066}"/>
              </a:ext>
            </a:extLst>
          </p:cNvPr>
          <p:cNvGrpSpPr>
            <a:grpSpLocks/>
          </p:cNvGrpSpPr>
          <p:nvPr/>
        </p:nvGrpSpPr>
        <p:grpSpPr bwMode="auto">
          <a:xfrm>
            <a:off x="228256" y="4558202"/>
            <a:ext cx="6643438" cy="767860"/>
            <a:chOff x="46499" y="2667000"/>
            <a:chExt cx="7396921" cy="767694"/>
          </a:xfrm>
        </p:grpSpPr>
        <p:sp>
          <p:nvSpPr>
            <p:cNvPr id="19" name="TextBox 3">
              <a:extLst>
                <a:ext uri="{FF2B5EF4-FFF2-40B4-BE49-F238E27FC236}">
                  <a16:creationId xmlns:a16="http://schemas.microsoft.com/office/drawing/2014/main" id="{92F8A161-C3CA-45E4-8747-ADCF1D729802}"/>
                </a:ext>
              </a:extLst>
            </p:cNvPr>
            <p:cNvSpPr txBox="1">
              <a:spLocks noChangeArrowheads="1"/>
            </p:cNvSpPr>
            <p:nvPr/>
          </p:nvSpPr>
          <p:spPr bwMode="auto">
            <a:xfrm>
              <a:off x="1322943" y="2743200"/>
              <a:ext cx="6120477" cy="646191"/>
            </a:xfrm>
            <a:prstGeom prst="rect">
              <a:avLst/>
            </a:prstGeom>
            <a:noFill/>
            <a:ln w="9525">
              <a:noFill/>
              <a:miter lim="800000"/>
              <a:headEnd/>
              <a:tailEnd/>
            </a:ln>
          </p:spPr>
          <p:txBody>
            <a:bodyPr wrap="none">
              <a:spAutoFit/>
            </a:bodyPr>
            <a:lstStyle/>
            <a:p>
              <a:r>
                <a:rPr lang="en-US" altLang="en-US" sz="1800" dirty="0">
                  <a:latin typeface="Calibri" panose="020F0502020204030204" pitchFamily="34" charset="0"/>
                  <a:cs typeface="Calibri" panose="020F0502020204030204" pitchFamily="34" charset="0"/>
                </a:rPr>
                <a:t>[ Temp. Ca</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+ 2×Temp. Mg</a:t>
              </a:r>
              <a:r>
                <a:rPr lang="en-US" altLang="en-US" sz="1800" baseline="30000" dirty="0">
                  <a:latin typeface="Calibri" panose="020F0502020204030204" pitchFamily="34" charset="0"/>
                  <a:cs typeface="Calibri" panose="020F0502020204030204" pitchFamily="34" charset="0"/>
                </a:rPr>
                <a:t>2+ </a:t>
              </a:r>
              <a:r>
                <a:rPr lang="en-US" altLang="en-US" sz="1800" dirty="0">
                  <a:latin typeface="Calibri" panose="020F0502020204030204" pitchFamily="34" charset="0"/>
                  <a:cs typeface="Calibri" panose="020F0502020204030204" pitchFamily="34" charset="0"/>
                </a:rPr>
                <a:t>+ Perm. (Mg</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Fe</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Al</a:t>
              </a:r>
              <a:r>
                <a:rPr lang="en-US" altLang="en-US" sz="1800" baseline="30000" dirty="0">
                  <a:latin typeface="Calibri" panose="020F0502020204030204" pitchFamily="34" charset="0"/>
                  <a:cs typeface="Calibri" panose="020F0502020204030204" pitchFamily="34" charset="0"/>
                </a:rPr>
                <a:t>3+</a:t>
              </a:r>
              <a:r>
                <a:rPr lang="en-US" altLang="en-US" sz="1800" dirty="0">
                  <a:latin typeface="Calibri" panose="020F0502020204030204" pitchFamily="34" charset="0"/>
                  <a:cs typeface="Calibri" panose="020F0502020204030204" pitchFamily="34" charset="0"/>
                </a:rPr>
                <a:t>)</a:t>
              </a:r>
            </a:p>
            <a:p>
              <a:r>
                <a:rPr lang="en-US" altLang="en-US" sz="1800" dirty="0">
                  <a:latin typeface="Calibri" panose="020F0502020204030204" pitchFamily="34" charset="0"/>
                  <a:cs typeface="Calibri" panose="020F0502020204030204" pitchFamily="34" charset="0"/>
                </a:rPr>
                <a:t>                                + CO</a:t>
              </a:r>
              <a:r>
                <a:rPr lang="en-US" altLang="en-US" sz="1800" baseline="-25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H</a:t>
              </a:r>
              <a:r>
                <a:rPr lang="en-US" altLang="en-US" sz="1800" baseline="30000" dirty="0">
                  <a:latin typeface="Calibri" panose="020F0502020204030204" pitchFamily="34" charset="0"/>
                  <a:cs typeface="Calibri" panose="020F0502020204030204" pitchFamily="34" charset="0"/>
                </a:rPr>
                <a:t>+</a:t>
              </a:r>
              <a:r>
                <a:rPr lang="en-US" altLang="en-US" sz="1800" dirty="0">
                  <a:latin typeface="Calibri" panose="020F0502020204030204" pitchFamily="34" charset="0"/>
                  <a:cs typeface="Calibri" panose="020F0502020204030204" pitchFamily="34" charset="0"/>
                </a:rPr>
                <a:t> (HCl or H</a:t>
              </a:r>
              <a:r>
                <a:rPr lang="en-US" altLang="en-US" sz="1800" baseline="-25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SO</a:t>
              </a:r>
              <a:r>
                <a:rPr lang="en-US" altLang="en-US" sz="1800" baseline="-25000" dirty="0">
                  <a:latin typeface="Calibri" panose="020F0502020204030204" pitchFamily="34" charset="0"/>
                  <a:cs typeface="Calibri" panose="020F0502020204030204" pitchFamily="34" charset="0"/>
                </a:rPr>
                <a:t>4</a:t>
              </a:r>
              <a:r>
                <a:rPr lang="en-US" altLang="en-US" sz="1800" dirty="0">
                  <a:latin typeface="Calibri" panose="020F0502020204030204" pitchFamily="34" charset="0"/>
                  <a:cs typeface="Calibri" panose="020F0502020204030204" pitchFamily="34" charset="0"/>
                </a:rPr>
                <a:t>) + HCO</a:t>
              </a:r>
              <a:r>
                <a:rPr lang="en-US" altLang="en-US" sz="1800" baseline="-25000" dirty="0">
                  <a:latin typeface="Calibri" panose="020F0502020204030204" pitchFamily="34" charset="0"/>
                  <a:cs typeface="Calibri" panose="020F0502020204030204" pitchFamily="34" charset="0"/>
                </a:rPr>
                <a:t>3</a:t>
              </a:r>
              <a:r>
                <a:rPr lang="en-US" altLang="en-US" sz="1800" baseline="30000" dirty="0">
                  <a:latin typeface="Calibri" panose="020F0502020204030204" pitchFamily="34" charset="0"/>
                  <a:cs typeface="Calibri" panose="020F0502020204030204" pitchFamily="34" charset="0"/>
                </a:rPr>
                <a:t>-</a:t>
              </a:r>
              <a:r>
                <a:rPr lang="en-US" altLang="en-US" sz="1800" dirty="0">
                  <a:latin typeface="Calibri" panose="020F0502020204030204" pitchFamily="34" charset="0"/>
                  <a:cs typeface="Calibri" panose="020F0502020204030204" pitchFamily="34" charset="0"/>
                </a:rPr>
                <a:t>]</a:t>
              </a:r>
            </a:p>
          </p:txBody>
        </p:sp>
        <p:grpSp>
          <p:nvGrpSpPr>
            <p:cNvPr id="20" name="Group 10">
              <a:extLst>
                <a:ext uri="{FF2B5EF4-FFF2-40B4-BE49-F238E27FC236}">
                  <a16:creationId xmlns:a16="http://schemas.microsoft.com/office/drawing/2014/main" id="{549693EF-BBF9-4702-BA2C-B0FE0D8F331A}"/>
                </a:ext>
              </a:extLst>
            </p:cNvPr>
            <p:cNvGrpSpPr>
              <a:grpSpLocks/>
            </p:cNvGrpSpPr>
            <p:nvPr/>
          </p:nvGrpSpPr>
          <p:grpSpPr bwMode="auto">
            <a:xfrm>
              <a:off x="427354" y="2667000"/>
              <a:ext cx="868046" cy="767694"/>
              <a:chOff x="1600200" y="1902993"/>
              <a:chExt cx="868046" cy="767694"/>
            </a:xfrm>
          </p:grpSpPr>
          <p:sp>
            <p:nvSpPr>
              <p:cNvPr id="22" name="TextBox 4">
                <a:extLst>
                  <a:ext uri="{FF2B5EF4-FFF2-40B4-BE49-F238E27FC236}">
                    <a16:creationId xmlns:a16="http://schemas.microsoft.com/office/drawing/2014/main" id="{C253EF4D-B70E-456E-8071-529A262568DB}"/>
                  </a:ext>
                </a:extLst>
              </p:cNvPr>
              <p:cNvSpPr txBox="1">
                <a:spLocks noChangeArrowheads="1"/>
              </p:cNvSpPr>
              <p:nvPr/>
            </p:nvSpPr>
            <p:spPr bwMode="auto">
              <a:xfrm>
                <a:off x="1746775" y="1902993"/>
                <a:ext cx="466192" cy="369252"/>
              </a:xfrm>
              <a:prstGeom prst="rect">
                <a:avLst/>
              </a:prstGeom>
              <a:noFill/>
              <a:ln w="9525">
                <a:noFill/>
                <a:miter lim="800000"/>
                <a:headEnd/>
                <a:tailEnd/>
              </a:ln>
            </p:spPr>
            <p:txBody>
              <a:bodyPr wrap="none">
                <a:spAutoFit/>
              </a:bodyPr>
              <a:lstStyle/>
              <a:p>
                <a:r>
                  <a:rPr lang="en-US" altLang="en-US" sz="1800">
                    <a:latin typeface="Calibri" panose="020F0502020204030204" pitchFamily="34" charset="0"/>
                    <a:cs typeface="Calibri" panose="020F0502020204030204" pitchFamily="34" charset="0"/>
                  </a:rPr>
                  <a:t>74</a:t>
                </a:r>
              </a:p>
            </p:txBody>
          </p:sp>
          <p:sp>
            <p:nvSpPr>
              <p:cNvPr id="23" name="TextBox 5">
                <a:extLst>
                  <a:ext uri="{FF2B5EF4-FFF2-40B4-BE49-F238E27FC236}">
                    <a16:creationId xmlns:a16="http://schemas.microsoft.com/office/drawing/2014/main" id="{507FA499-E0BD-43AA-A7ED-CCA845D42FD7}"/>
                  </a:ext>
                </a:extLst>
              </p:cNvPr>
              <p:cNvSpPr txBox="1">
                <a:spLocks noChangeArrowheads="1"/>
              </p:cNvSpPr>
              <p:nvPr/>
            </p:nvSpPr>
            <p:spPr bwMode="auto">
              <a:xfrm>
                <a:off x="1671666" y="2301435"/>
                <a:ext cx="596485" cy="369252"/>
              </a:xfrm>
              <a:prstGeom prst="rect">
                <a:avLst/>
              </a:prstGeom>
              <a:noFill/>
              <a:ln w="9525">
                <a:noFill/>
                <a:miter lim="800000"/>
                <a:headEnd/>
                <a:tailEnd/>
              </a:ln>
            </p:spPr>
            <p:txBody>
              <a:bodyPr wrap="none">
                <a:spAutoFit/>
              </a:bodyPr>
              <a:lstStyle/>
              <a:p>
                <a:r>
                  <a:rPr lang="en-US" altLang="en-US" sz="1800">
                    <a:latin typeface="Calibri" panose="020F0502020204030204" pitchFamily="34" charset="0"/>
                    <a:cs typeface="Calibri" panose="020F0502020204030204" pitchFamily="34" charset="0"/>
                  </a:rPr>
                  <a:t>100</a:t>
                </a:r>
              </a:p>
            </p:txBody>
          </p:sp>
          <p:cxnSp>
            <p:nvCxnSpPr>
              <p:cNvPr id="24" name="Straight Connector 18">
                <a:extLst>
                  <a:ext uri="{FF2B5EF4-FFF2-40B4-BE49-F238E27FC236}">
                    <a16:creationId xmlns:a16="http://schemas.microsoft.com/office/drawing/2014/main" id="{4CC4240F-3700-4980-8E4F-3474519F82C9}"/>
                  </a:ext>
                </a:extLst>
              </p:cNvPr>
              <p:cNvCxnSpPr>
                <a:cxnSpLocks noChangeShapeType="1"/>
              </p:cNvCxnSpPr>
              <p:nvPr/>
            </p:nvCxnSpPr>
            <p:spPr bwMode="auto">
              <a:xfrm>
                <a:off x="1600200" y="2283993"/>
                <a:ext cx="868046" cy="0"/>
              </a:xfrm>
              <a:prstGeom prst="line">
                <a:avLst/>
              </a:prstGeom>
              <a:noFill/>
              <a:ln w="12700" algn="ctr">
                <a:solidFill>
                  <a:schemeClr val="tx1"/>
                </a:solidFill>
                <a:round/>
                <a:headEnd type="none" w="sm" len="sm"/>
                <a:tailEnd type="none" w="sm" len="sm"/>
              </a:ln>
              <a:effectLst/>
            </p:spPr>
          </p:cxnSp>
        </p:grpSp>
        <p:sp>
          <p:nvSpPr>
            <p:cNvPr id="21" name="TextBox 11">
              <a:extLst>
                <a:ext uri="{FF2B5EF4-FFF2-40B4-BE49-F238E27FC236}">
                  <a16:creationId xmlns:a16="http://schemas.microsoft.com/office/drawing/2014/main" id="{4DCB6AEC-3264-4F3E-8A67-6DF1E97E8903}"/>
                </a:ext>
              </a:extLst>
            </p:cNvPr>
            <p:cNvSpPr txBox="1">
              <a:spLocks noChangeArrowheads="1"/>
            </p:cNvSpPr>
            <p:nvPr/>
          </p:nvSpPr>
          <p:spPr bwMode="auto">
            <a:xfrm>
              <a:off x="46499" y="2834609"/>
              <a:ext cx="334117" cy="369252"/>
            </a:xfrm>
            <a:prstGeom prst="rect">
              <a:avLst/>
            </a:prstGeom>
            <a:noFill/>
            <a:ln w="9525">
              <a:noFill/>
              <a:miter lim="800000"/>
              <a:headEnd/>
              <a:tailEnd/>
            </a:ln>
          </p:spPr>
          <p:txBody>
            <a:bodyPr wrap="none">
              <a:spAutoFit/>
            </a:bodyPr>
            <a:lstStyle/>
            <a:p>
              <a:r>
                <a:rPr lang="en-US" altLang="en-US" sz="1800">
                  <a:latin typeface="Calibri" panose="020F0502020204030204" pitchFamily="34" charset="0"/>
                  <a:cs typeface="Calibri" panose="020F0502020204030204" pitchFamily="34" charset="0"/>
                </a:rPr>
                <a:t>=</a:t>
              </a:r>
            </a:p>
          </p:txBody>
        </p:sp>
      </p:grpSp>
      <p:sp>
        <p:nvSpPr>
          <p:cNvPr id="11" name="TextBox 14">
            <a:extLst>
              <a:ext uri="{FF2B5EF4-FFF2-40B4-BE49-F238E27FC236}">
                <a16:creationId xmlns:a16="http://schemas.microsoft.com/office/drawing/2014/main" id="{38D582B1-7C62-43B4-9B6D-CC1282B74A4F}"/>
              </a:ext>
            </a:extLst>
          </p:cNvPr>
          <p:cNvSpPr txBox="1">
            <a:spLocks noChangeArrowheads="1"/>
          </p:cNvSpPr>
          <p:nvPr/>
        </p:nvSpPr>
        <p:spPr bwMode="auto">
          <a:xfrm>
            <a:off x="290346" y="5253074"/>
            <a:ext cx="2925801" cy="369332"/>
          </a:xfrm>
          <a:prstGeom prst="rect">
            <a:avLst/>
          </a:prstGeom>
          <a:noFill/>
          <a:ln w="9525">
            <a:noFill/>
            <a:miter lim="800000"/>
            <a:headEnd/>
            <a:tailEnd/>
          </a:ln>
        </p:spPr>
        <p:txBody>
          <a:bodyPr wrap="none">
            <a:spAutoFit/>
          </a:bodyPr>
          <a:lstStyle/>
          <a:p>
            <a:r>
              <a:rPr lang="en-US" altLang="en-US" sz="1800" b="1" dirty="0">
                <a:solidFill>
                  <a:srgbClr val="C00000"/>
                </a:solidFill>
                <a:latin typeface="Calibri" panose="020F0502020204030204" pitchFamily="34" charset="0"/>
                <a:cs typeface="Calibri" panose="020F0502020204030204" pitchFamily="34" charset="0"/>
              </a:rPr>
              <a:t>Soda required for softening: </a:t>
            </a:r>
          </a:p>
        </p:txBody>
      </p:sp>
      <p:grpSp>
        <p:nvGrpSpPr>
          <p:cNvPr id="12" name="Group 15">
            <a:extLst>
              <a:ext uri="{FF2B5EF4-FFF2-40B4-BE49-F238E27FC236}">
                <a16:creationId xmlns:a16="http://schemas.microsoft.com/office/drawing/2014/main" id="{FF2A2F15-8111-47C6-BB02-42398C2471E9}"/>
              </a:ext>
            </a:extLst>
          </p:cNvPr>
          <p:cNvGrpSpPr>
            <a:grpSpLocks/>
          </p:cNvGrpSpPr>
          <p:nvPr/>
        </p:nvGrpSpPr>
        <p:grpSpPr bwMode="auto">
          <a:xfrm>
            <a:off x="228256" y="5755215"/>
            <a:ext cx="5955099" cy="767860"/>
            <a:chOff x="46499" y="2667000"/>
            <a:chExt cx="6630264" cy="767695"/>
          </a:xfrm>
        </p:grpSpPr>
        <p:sp>
          <p:nvSpPr>
            <p:cNvPr id="13" name="TextBox 16">
              <a:extLst>
                <a:ext uri="{FF2B5EF4-FFF2-40B4-BE49-F238E27FC236}">
                  <a16:creationId xmlns:a16="http://schemas.microsoft.com/office/drawing/2014/main" id="{2FF43F9B-691B-4654-9FAF-81985D3FD061}"/>
                </a:ext>
              </a:extLst>
            </p:cNvPr>
            <p:cNvSpPr txBox="1">
              <a:spLocks noChangeArrowheads="1"/>
            </p:cNvSpPr>
            <p:nvPr/>
          </p:nvSpPr>
          <p:spPr bwMode="auto">
            <a:xfrm>
              <a:off x="1295400" y="2743200"/>
              <a:ext cx="5381363" cy="646192"/>
            </a:xfrm>
            <a:prstGeom prst="rect">
              <a:avLst/>
            </a:prstGeom>
            <a:noFill/>
            <a:ln w="9525">
              <a:noFill/>
              <a:miter lim="800000"/>
              <a:headEnd/>
              <a:tailEnd/>
            </a:ln>
          </p:spPr>
          <p:txBody>
            <a:bodyPr wrap="none">
              <a:spAutoFit/>
            </a:bodyPr>
            <a:lstStyle/>
            <a:p>
              <a:r>
                <a:rPr lang="en-US" altLang="en-US" sz="1800" dirty="0">
                  <a:latin typeface="Calibri" panose="020F0502020204030204" pitchFamily="34" charset="0"/>
                  <a:cs typeface="Calibri" panose="020F0502020204030204" pitchFamily="34" charset="0"/>
                </a:rPr>
                <a:t>[ Perm. (Ca</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Mg</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Fe</a:t>
              </a:r>
              <a:r>
                <a:rPr lang="en-US" altLang="en-US" sz="1800" baseline="30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 + Al</a:t>
              </a:r>
              <a:r>
                <a:rPr lang="en-US" altLang="en-US" sz="1800" baseline="30000" dirty="0">
                  <a:latin typeface="Calibri" panose="020F0502020204030204" pitchFamily="34" charset="0"/>
                  <a:cs typeface="Calibri" panose="020F0502020204030204" pitchFamily="34" charset="0"/>
                </a:rPr>
                <a:t>3+</a:t>
              </a:r>
              <a:r>
                <a:rPr lang="en-US" altLang="en-US" sz="1800" dirty="0">
                  <a:latin typeface="Calibri" panose="020F0502020204030204" pitchFamily="34" charset="0"/>
                  <a:cs typeface="Calibri" panose="020F0502020204030204" pitchFamily="34" charset="0"/>
                </a:rPr>
                <a:t>) + H</a:t>
              </a:r>
              <a:r>
                <a:rPr lang="en-US" altLang="en-US" sz="1800" baseline="30000" dirty="0">
                  <a:latin typeface="Calibri" panose="020F0502020204030204" pitchFamily="34" charset="0"/>
                  <a:cs typeface="Calibri" panose="020F0502020204030204" pitchFamily="34" charset="0"/>
                </a:rPr>
                <a:t>+</a:t>
              </a:r>
              <a:r>
                <a:rPr lang="en-US" altLang="en-US" sz="1800" dirty="0">
                  <a:latin typeface="Calibri" panose="020F0502020204030204" pitchFamily="34" charset="0"/>
                  <a:cs typeface="Calibri" panose="020F0502020204030204" pitchFamily="34" charset="0"/>
                </a:rPr>
                <a:t> (HCl or</a:t>
              </a:r>
            </a:p>
            <a:p>
              <a:r>
                <a:rPr lang="en-US" altLang="en-US" sz="1800" dirty="0">
                  <a:latin typeface="Calibri" panose="020F0502020204030204" pitchFamily="34" charset="0"/>
                  <a:cs typeface="Calibri" panose="020F0502020204030204" pitchFamily="34" charset="0"/>
                </a:rPr>
                <a:t>                                                             H</a:t>
              </a:r>
              <a:r>
                <a:rPr lang="en-US" altLang="en-US" sz="1800" baseline="-25000" dirty="0">
                  <a:latin typeface="Calibri" panose="020F0502020204030204" pitchFamily="34" charset="0"/>
                  <a:cs typeface="Calibri" panose="020F0502020204030204" pitchFamily="34" charset="0"/>
                </a:rPr>
                <a:t>2</a:t>
              </a:r>
              <a:r>
                <a:rPr lang="en-US" altLang="en-US" sz="1800" dirty="0">
                  <a:latin typeface="Calibri" panose="020F0502020204030204" pitchFamily="34" charset="0"/>
                  <a:cs typeface="Calibri" panose="020F0502020204030204" pitchFamily="34" charset="0"/>
                </a:rPr>
                <a:t>SO</a:t>
              </a:r>
              <a:r>
                <a:rPr lang="en-US" altLang="en-US" sz="1800" baseline="-25000" dirty="0">
                  <a:latin typeface="Calibri" panose="020F0502020204030204" pitchFamily="34" charset="0"/>
                  <a:cs typeface="Calibri" panose="020F0502020204030204" pitchFamily="34" charset="0"/>
                </a:rPr>
                <a:t>4</a:t>
              </a:r>
              <a:r>
                <a:rPr lang="en-US" altLang="en-US" sz="1800" dirty="0">
                  <a:latin typeface="Calibri" panose="020F0502020204030204" pitchFamily="34" charset="0"/>
                  <a:cs typeface="Calibri" panose="020F0502020204030204" pitchFamily="34" charset="0"/>
                </a:rPr>
                <a:t>) - HCO</a:t>
              </a:r>
              <a:r>
                <a:rPr lang="en-US" altLang="en-US" sz="1800" baseline="-25000" dirty="0">
                  <a:latin typeface="Calibri" panose="020F0502020204030204" pitchFamily="34" charset="0"/>
                  <a:cs typeface="Calibri" panose="020F0502020204030204" pitchFamily="34" charset="0"/>
                </a:rPr>
                <a:t>3</a:t>
              </a:r>
              <a:r>
                <a:rPr lang="en-US" altLang="en-US" sz="1800" baseline="30000" dirty="0">
                  <a:latin typeface="Calibri" panose="020F0502020204030204" pitchFamily="34" charset="0"/>
                  <a:cs typeface="Calibri" panose="020F0502020204030204" pitchFamily="34" charset="0"/>
                </a:rPr>
                <a:t>-</a:t>
              </a:r>
              <a:r>
                <a:rPr lang="en-US" altLang="en-US" sz="1800" dirty="0">
                  <a:latin typeface="Calibri" panose="020F0502020204030204" pitchFamily="34" charset="0"/>
                  <a:cs typeface="Calibri" panose="020F0502020204030204" pitchFamily="34" charset="0"/>
                </a:rPr>
                <a:t>]</a:t>
              </a:r>
            </a:p>
          </p:txBody>
        </p:sp>
        <p:grpSp>
          <p:nvGrpSpPr>
            <p:cNvPr id="14" name="Group 17">
              <a:extLst>
                <a:ext uri="{FF2B5EF4-FFF2-40B4-BE49-F238E27FC236}">
                  <a16:creationId xmlns:a16="http://schemas.microsoft.com/office/drawing/2014/main" id="{EE6538A0-953C-44B4-A81B-BE121C0D32CB}"/>
                </a:ext>
              </a:extLst>
            </p:cNvPr>
            <p:cNvGrpSpPr>
              <a:grpSpLocks/>
            </p:cNvGrpSpPr>
            <p:nvPr/>
          </p:nvGrpSpPr>
          <p:grpSpPr bwMode="auto">
            <a:xfrm>
              <a:off x="427354" y="2667000"/>
              <a:ext cx="868046" cy="767695"/>
              <a:chOff x="1600200" y="1902993"/>
              <a:chExt cx="868046" cy="767695"/>
            </a:xfrm>
          </p:grpSpPr>
          <p:sp>
            <p:nvSpPr>
              <p:cNvPr id="16" name="TextBox 19">
                <a:extLst>
                  <a:ext uri="{FF2B5EF4-FFF2-40B4-BE49-F238E27FC236}">
                    <a16:creationId xmlns:a16="http://schemas.microsoft.com/office/drawing/2014/main" id="{90F43924-C292-4C52-938F-AC809F1127FC}"/>
                  </a:ext>
                </a:extLst>
              </p:cNvPr>
              <p:cNvSpPr txBox="1">
                <a:spLocks noChangeArrowheads="1"/>
              </p:cNvSpPr>
              <p:nvPr/>
            </p:nvSpPr>
            <p:spPr bwMode="auto">
              <a:xfrm>
                <a:off x="1630046" y="1902993"/>
                <a:ext cx="596462" cy="369253"/>
              </a:xfrm>
              <a:prstGeom prst="rect">
                <a:avLst/>
              </a:prstGeom>
              <a:noFill/>
              <a:ln w="9525">
                <a:noFill/>
                <a:miter lim="800000"/>
                <a:headEnd/>
                <a:tailEnd/>
              </a:ln>
            </p:spPr>
            <p:txBody>
              <a:bodyPr wrap="none">
                <a:spAutoFit/>
              </a:bodyPr>
              <a:lstStyle/>
              <a:p>
                <a:r>
                  <a:rPr lang="en-US" altLang="en-US" sz="1800">
                    <a:latin typeface="Calibri" panose="020F0502020204030204" pitchFamily="34" charset="0"/>
                    <a:cs typeface="Calibri" panose="020F0502020204030204" pitchFamily="34" charset="0"/>
                  </a:rPr>
                  <a:t>106</a:t>
                </a:r>
              </a:p>
            </p:txBody>
          </p:sp>
          <p:sp>
            <p:nvSpPr>
              <p:cNvPr id="17" name="TextBox 20">
                <a:extLst>
                  <a:ext uri="{FF2B5EF4-FFF2-40B4-BE49-F238E27FC236}">
                    <a16:creationId xmlns:a16="http://schemas.microsoft.com/office/drawing/2014/main" id="{00E47E13-DBFE-4876-B531-41F0B7372880}"/>
                  </a:ext>
                </a:extLst>
              </p:cNvPr>
              <p:cNvSpPr txBox="1">
                <a:spLocks noChangeArrowheads="1"/>
              </p:cNvSpPr>
              <p:nvPr/>
            </p:nvSpPr>
            <p:spPr bwMode="auto">
              <a:xfrm>
                <a:off x="1644123" y="2301435"/>
                <a:ext cx="596462" cy="369253"/>
              </a:xfrm>
              <a:prstGeom prst="rect">
                <a:avLst/>
              </a:prstGeom>
              <a:noFill/>
              <a:ln w="9525">
                <a:noFill/>
                <a:miter lim="800000"/>
                <a:headEnd/>
                <a:tailEnd/>
              </a:ln>
            </p:spPr>
            <p:txBody>
              <a:bodyPr wrap="none">
                <a:spAutoFit/>
              </a:bodyPr>
              <a:lstStyle/>
              <a:p>
                <a:r>
                  <a:rPr lang="en-US" altLang="en-US" sz="1800">
                    <a:latin typeface="Calibri" panose="020F0502020204030204" pitchFamily="34" charset="0"/>
                    <a:cs typeface="Calibri" panose="020F0502020204030204" pitchFamily="34" charset="0"/>
                  </a:rPr>
                  <a:t>100</a:t>
                </a:r>
              </a:p>
            </p:txBody>
          </p:sp>
          <p:cxnSp>
            <p:nvCxnSpPr>
              <p:cNvPr id="18" name="Straight Connector 21">
                <a:extLst>
                  <a:ext uri="{FF2B5EF4-FFF2-40B4-BE49-F238E27FC236}">
                    <a16:creationId xmlns:a16="http://schemas.microsoft.com/office/drawing/2014/main" id="{02C9FA70-EA7D-4F09-8D6C-B6AF58CF4B9F}"/>
                  </a:ext>
                </a:extLst>
              </p:cNvPr>
              <p:cNvCxnSpPr>
                <a:cxnSpLocks noChangeShapeType="1"/>
              </p:cNvCxnSpPr>
              <p:nvPr/>
            </p:nvCxnSpPr>
            <p:spPr bwMode="auto">
              <a:xfrm>
                <a:off x="1600200" y="2283993"/>
                <a:ext cx="868046" cy="0"/>
              </a:xfrm>
              <a:prstGeom prst="line">
                <a:avLst/>
              </a:prstGeom>
              <a:noFill/>
              <a:ln w="12700" algn="ctr">
                <a:solidFill>
                  <a:schemeClr val="tx1"/>
                </a:solidFill>
                <a:round/>
                <a:headEnd type="none" w="sm" len="sm"/>
                <a:tailEnd type="none" w="sm" len="sm"/>
              </a:ln>
              <a:effectLst/>
            </p:spPr>
          </p:cxnSp>
        </p:grpSp>
        <p:sp>
          <p:nvSpPr>
            <p:cNvPr id="15" name="TextBox 18">
              <a:extLst>
                <a:ext uri="{FF2B5EF4-FFF2-40B4-BE49-F238E27FC236}">
                  <a16:creationId xmlns:a16="http://schemas.microsoft.com/office/drawing/2014/main" id="{A411851F-B1FE-447E-871D-9D23593505F9}"/>
                </a:ext>
              </a:extLst>
            </p:cNvPr>
            <p:cNvSpPr txBox="1">
              <a:spLocks noChangeArrowheads="1"/>
            </p:cNvSpPr>
            <p:nvPr/>
          </p:nvSpPr>
          <p:spPr bwMode="auto">
            <a:xfrm>
              <a:off x="46499" y="2834609"/>
              <a:ext cx="334104" cy="369253"/>
            </a:xfrm>
            <a:prstGeom prst="rect">
              <a:avLst/>
            </a:prstGeom>
            <a:noFill/>
            <a:ln w="9525">
              <a:noFill/>
              <a:miter lim="800000"/>
              <a:headEnd/>
              <a:tailEnd/>
            </a:ln>
          </p:spPr>
          <p:txBody>
            <a:bodyPr wrap="none">
              <a:spAutoFit/>
            </a:bodyPr>
            <a:lstStyle/>
            <a:p>
              <a:r>
                <a:rPr lang="en-US" altLang="en-US" sz="1800" dirty="0">
                  <a:latin typeface="Calibri" panose="020F0502020204030204" pitchFamily="34" charset="0"/>
                  <a:cs typeface="Calibri" panose="020F0502020204030204" pitchFamily="34" charset="0"/>
                </a:rPr>
                <a:t>=</a:t>
              </a:r>
            </a:p>
          </p:txBody>
        </p:sp>
      </p:grpSp>
      <p:pic>
        <p:nvPicPr>
          <p:cNvPr id="25" name="Picture 24">
            <a:extLst>
              <a:ext uri="{FF2B5EF4-FFF2-40B4-BE49-F238E27FC236}">
                <a16:creationId xmlns:a16="http://schemas.microsoft.com/office/drawing/2014/main" id="{1D2824D1-9056-4D23-A85B-40BF11E9D8E9}"/>
              </a:ext>
            </a:extLst>
          </p:cNvPr>
          <p:cNvPicPr>
            <a:picLocks noChangeAspect="1"/>
          </p:cNvPicPr>
          <p:nvPr/>
        </p:nvPicPr>
        <p:blipFill rotWithShape="1">
          <a:blip r:embed="rId4"/>
          <a:srcRect l="7382" t="38102" r="31202" b="37193"/>
          <a:stretch/>
        </p:blipFill>
        <p:spPr>
          <a:xfrm>
            <a:off x="6392839" y="1434137"/>
            <a:ext cx="4343487" cy="2594476"/>
          </a:xfrm>
          <a:prstGeom prst="rect">
            <a:avLst/>
          </a:prstGeom>
        </p:spPr>
      </p:pic>
      <p:pic>
        <p:nvPicPr>
          <p:cNvPr id="26" name="Picture 25">
            <a:extLst>
              <a:ext uri="{FF2B5EF4-FFF2-40B4-BE49-F238E27FC236}">
                <a16:creationId xmlns:a16="http://schemas.microsoft.com/office/drawing/2014/main" id="{6179DC40-7DD6-484E-AAE3-B4CE6D462A0A}"/>
              </a:ext>
            </a:extLst>
          </p:cNvPr>
          <p:cNvPicPr>
            <a:picLocks noChangeAspect="1"/>
          </p:cNvPicPr>
          <p:nvPr/>
        </p:nvPicPr>
        <p:blipFill rotWithShape="1">
          <a:blip r:embed="rId4"/>
          <a:srcRect l="7382" t="63101" r="5625" b="7410"/>
          <a:stretch/>
        </p:blipFill>
        <p:spPr>
          <a:xfrm>
            <a:off x="6739595" y="4018688"/>
            <a:ext cx="4979653" cy="2506562"/>
          </a:xfrm>
          <a:prstGeom prst="rect">
            <a:avLst/>
          </a:prstGeom>
        </p:spPr>
      </p:pic>
      <p:sp>
        <p:nvSpPr>
          <p:cNvPr id="2" name="Star: 5 Points 1">
            <a:extLst>
              <a:ext uri="{FF2B5EF4-FFF2-40B4-BE49-F238E27FC236}">
                <a16:creationId xmlns:a16="http://schemas.microsoft.com/office/drawing/2014/main" id="{7E1A8029-925D-B44E-9C5C-D14A837C2CF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654378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ADCA6810-EA3B-4218-BFCB-4B62CF20851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Practice 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ECAE736C-6C93-4453-BC1F-51AE1D02ACE1}"/>
              </a:ext>
            </a:extLst>
          </p:cNvPr>
          <p:cNvSpPr/>
          <p:nvPr/>
        </p:nvSpPr>
        <p:spPr>
          <a:xfrm>
            <a:off x="324650" y="623687"/>
            <a:ext cx="11469244" cy="1169551"/>
          </a:xfrm>
          <a:prstGeom prst="rect">
            <a:avLst/>
          </a:prstGeom>
        </p:spPr>
        <p:txBody>
          <a:bodyPr wrap="square">
            <a:spAutoFit/>
          </a:bodyPr>
          <a:lstStyle/>
          <a:p>
            <a:pPr lvl="0" algn="just">
              <a:spcAft>
                <a:spcPts val="6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 water sample on analysis gave the following data:</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Ca</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30 mg/L; Mg</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24 mg/L; CO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24mg/L; K</a:t>
            </a:r>
            <a:r>
              <a:rPr lang="en-US" sz="2000" baseline="30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10 mg/L</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Calculate the quantities of lime (90%) and soda (94%) required to soften one million liters of water sample. </a:t>
            </a:r>
          </a:p>
        </p:txBody>
      </p:sp>
      <p:sp>
        <p:nvSpPr>
          <p:cNvPr id="9" name="Rectangle 8">
            <a:extLst>
              <a:ext uri="{FF2B5EF4-FFF2-40B4-BE49-F238E27FC236}">
                <a16:creationId xmlns:a16="http://schemas.microsoft.com/office/drawing/2014/main" id="{4BB85814-C0C1-4332-A40B-BAD90485A20D}"/>
              </a:ext>
            </a:extLst>
          </p:cNvPr>
          <p:cNvSpPr/>
          <p:nvPr/>
        </p:nvSpPr>
        <p:spPr>
          <a:xfrm>
            <a:off x="324650" y="3052619"/>
            <a:ext cx="11469244" cy="1831271"/>
          </a:xfrm>
          <a:prstGeom prst="rect">
            <a:avLst/>
          </a:prstGeom>
        </p:spPr>
        <p:txBody>
          <a:bodyPr wrap="square">
            <a:spAutoFit/>
          </a:bodyPr>
          <a:lstStyle/>
          <a:p>
            <a:pPr lvl="0" algn="just">
              <a:spcAft>
                <a:spcPts val="600"/>
              </a:spcAft>
            </a:pP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Q.</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Explain with chemical equation and calculate the amount of lime and soda needed for softening 1,00,000 liters of water containing following: </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HCl = 7.3 mg/L; Al</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(SO</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34.2 mg/L; MgCl</a:t>
            </a:r>
            <a:r>
              <a:rPr lang="en-US" sz="20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 9.5 mg/L; NaCl = 29.25 mg/L</a:t>
            </a:r>
          </a:p>
          <a:p>
            <a:pPr lvl="0" algn="just">
              <a:spcAft>
                <a:spcPts val="600"/>
              </a:spcAft>
            </a:pP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Purity of lime is 90% and that of the soda is 98%.</a:t>
            </a:r>
          </a:p>
          <a:p>
            <a:pPr lvl="0" algn="just">
              <a:spcAft>
                <a:spcPts val="600"/>
              </a:spcAft>
            </a:pP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MW: Ca(HCO</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=162; Mg(HCO</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=146; CaSO</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=136; MgSO</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=120; MgCl</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=95; Al</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(SO</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4</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1800" baseline="-25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3</a:t>
            </a:r>
            <a:r>
              <a:rPr lang="en-US" sz="1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114</a:t>
            </a:r>
          </a:p>
        </p:txBody>
      </p:sp>
      <p:sp>
        <p:nvSpPr>
          <p:cNvPr id="2" name="Star: 5 Points 1">
            <a:extLst>
              <a:ext uri="{FF2B5EF4-FFF2-40B4-BE49-F238E27FC236}">
                <a16:creationId xmlns:a16="http://schemas.microsoft.com/office/drawing/2014/main" id="{228C0D3C-DCD0-6C21-FF7B-06688650F940}"/>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4531134"/>
      </p:ext>
    </p:extLst>
  </p:cSld>
  <p:clrMapOvr>
    <a:masterClrMapping/>
  </p:clrMapOvr>
  <p:transition spd="slow">
    <p:cu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ADCA6810-EA3B-4218-BFCB-4B62CF208516}"/>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Practice Problems</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DED933D-5D27-49E8-80A2-D7781BD4D844}"/>
              </a:ext>
            </a:extLst>
          </p:cNvPr>
          <p:cNvPicPr>
            <a:picLocks noChangeAspect="1"/>
          </p:cNvPicPr>
          <p:nvPr/>
        </p:nvPicPr>
        <p:blipFill rotWithShape="1">
          <a:blip r:embed="rId4"/>
          <a:srcRect l="7640" t="8988" b="56023"/>
          <a:stretch/>
        </p:blipFill>
        <p:spPr>
          <a:xfrm>
            <a:off x="324651" y="862151"/>
            <a:ext cx="5771350" cy="3379902"/>
          </a:xfrm>
          <a:prstGeom prst="rect">
            <a:avLst/>
          </a:prstGeom>
        </p:spPr>
      </p:pic>
      <p:pic>
        <p:nvPicPr>
          <p:cNvPr id="6" name="Picture 5">
            <a:extLst>
              <a:ext uri="{FF2B5EF4-FFF2-40B4-BE49-F238E27FC236}">
                <a16:creationId xmlns:a16="http://schemas.microsoft.com/office/drawing/2014/main" id="{7D81CC5A-D671-4EBD-A5EF-00FDE9C0E8CD}"/>
              </a:ext>
            </a:extLst>
          </p:cNvPr>
          <p:cNvPicPr>
            <a:picLocks noChangeAspect="1"/>
          </p:cNvPicPr>
          <p:nvPr/>
        </p:nvPicPr>
        <p:blipFill rotWithShape="1">
          <a:blip r:embed="rId4"/>
          <a:srcRect l="7095" t="44360" r="892" b="5463"/>
          <a:stretch/>
        </p:blipFill>
        <p:spPr>
          <a:xfrm>
            <a:off x="6085131" y="822961"/>
            <a:ext cx="5974678" cy="5036664"/>
          </a:xfrm>
          <a:prstGeom prst="rect">
            <a:avLst/>
          </a:prstGeom>
        </p:spPr>
      </p:pic>
      <p:sp>
        <p:nvSpPr>
          <p:cNvPr id="2" name="Star: 5 Points 1">
            <a:extLst>
              <a:ext uri="{FF2B5EF4-FFF2-40B4-BE49-F238E27FC236}">
                <a16:creationId xmlns:a16="http://schemas.microsoft.com/office/drawing/2014/main" id="{10C103D4-5336-8D36-C966-172325151A8F}"/>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5399603"/>
      </p:ext>
    </p:extLst>
  </p:cSld>
  <p:clrMapOvr>
    <a:masterClrMapping/>
  </p:clrMapOvr>
  <p:transition spd="slow">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a:blip r:embed="rId4"/>
          <a:stretch>
            <a:fillRect/>
          </a:stretch>
        </p:blipFill>
        <p:spPr>
          <a:xfrm>
            <a:off x="2576238" y="771596"/>
            <a:ext cx="6844399" cy="3474734"/>
          </a:xfrm>
          <a:prstGeom prst="rect">
            <a:avLst/>
          </a:prstGeom>
        </p:spPr>
      </p:pic>
    </p:spTree>
    <p:extLst>
      <p:ext uri="{BB962C8B-B14F-4D97-AF65-F5344CB8AC3E}">
        <p14:creationId xmlns:p14="http://schemas.microsoft.com/office/powerpoint/2010/main" val="3366960191"/>
      </p:ext>
    </p:extLst>
  </p:cSld>
  <p:clrMapOvr>
    <a:masterClrMapping/>
  </p:clrMapOvr>
  <p:transition spd="slow">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a:blip r:embed="rId4"/>
          <a:stretch>
            <a:fillRect/>
          </a:stretch>
        </p:blipFill>
        <p:spPr>
          <a:xfrm>
            <a:off x="2384052" y="1096329"/>
            <a:ext cx="5533016" cy="1866633"/>
          </a:xfrm>
          <a:prstGeom prst="rect">
            <a:avLst/>
          </a:prstGeom>
        </p:spPr>
      </p:pic>
      <p:pic>
        <p:nvPicPr>
          <p:cNvPr id="4" name="Picture 3"/>
          <p:cNvPicPr>
            <a:picLocks noChangeAspect="1"/>
          </p:cNvPicPr>
          <p:nvPr/>
        </p:nvPicPr>
        <p:blipFill>
          <a:blip r:embed="rId5"/>
          <a:stretch>
            <a:fillRect/>
          </a:stretch>
        </p:blipFill>
        <p:spPr>
          <a:xfrm>
            <a:off x="7041440" y="725417"/>
            <a:ext cx="4489039" cy="2178015"/>
          </a:xfrm>
          <a:prstGeom prst="rect">
            <a:avLst/>
          </a:prstGeom>
        </p:spPr>
      </p:pic>
      <p:pic>
        <p:nvPicPr>
          <p:cNvPr id="5" name="Picture 4"/>
          <p:cNvPicPr>
            <a:picLocks noChangeAspect="1"/>
          </p:cNvPicPr>
          <p:nvPr/>
        </p:nvPicPr>
        <p:blipFill>
          <a:blip r:embed="rId6"/>
          <a:stretch>
            <a:fillRect/>
          </a:stretch>
        </p:blipFill>
        <p:spPr>
          <a:xfrm>
            <a:off x="7466645" y="5273997"/>
            <a:ext cx="3357768" cy="1218363"/>
          </a:xfrm>
          <a:prstGeom prst="rect">
            <a:avLst/>
          </a:prstGeom>
        </p:spPr>
      </p:pic>
      <p:pic>
        <p:nvPicPr>
          <p:cNvPr id="7" name="Picture 6"/>
          <p:cNvPicPr>
            <a:picLocks noChangeAspect="1"/>
          </p:cNvPicPr>
          <p:nvPr/>
        </p:nvPicPr>
        <p:blipFill>
          <a:blip r:embed="rId7"/>
          <a:stretch>
            <a:fillRect/>
          </a:stretch>
        </p:blipFill>
        <p:spPr>
          <a:xfrm>
            <a:off x="7404258" y="3022492"/>
            <a:ext cx="3482542" cy="2156738"/>
          </a:xfrm>
          <a:prstGeom prst="rect">
            <a:avLst/>
          </a:prstGeom>
        </p:spPr>
      </p:pic>
    </p:spTree>
    <p:extLst>
      <p:ext uri="{BB962C8B-B14F-4D97-AF65-F5344CB8AC3E}">
        <p14:creationId xmlns:p14="http://schemas.microsoft.com/office/powerpoint/2010/main" val="337793377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a:blip r:embed="rId4"/>
          <a:stretch>
            <a:fillRect/>
          </a:stretch>
        </p:blipFill>
        <p:spPr>
          <a:xfrm>
            <a:off x="519476" y="961148"/>
            <a:ext cx="5576524" cy="2454650"/>
          </a:xfrm>
          <a:prstGeom prst="rect">
            <a:avLst/>
          </a:prstGeom>
        </p:spPr>
      </p:pic>
      <p:pic>
        <p:nvPicPr>
          <p:cNvPr id="5" name="Picture 4"/>
          <p:cNvPicPr>
            <a:picLocks noChangeAspect="1"/>
          </p:cNvPicPr>
          <p:nvPr/>
        </p:nvPicPr>
        <p:blipFill>
          <a:blip r:embed="rId5"/>
          <a:stretch>
            <a:fillRect/>
          </a:stretch>
        </p:blipFill>
        <p:spPr>
          <a:xfrm>
            <a:off x="7041440" y="725417"/>
            <a:ext cx="4489039" cy="2178015"/>
          </a:xfrm>
          <a:prstGeom prst="rect">
            <a:avLst/>
          </a:prstGeom>
        </p:spPr>
      </p:pic>
    </p:spTree>
    <p:extLst>
      <p:ext uri="{BB962C8B-B14F-4D97-AF65-F5344CB8AC3E}">
        <p14:creationId xmlns:p14="http://schemas.microsoft.com/office/powerpoint/2010/main" val="393005717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rotWithShape="1">
          <a:blip r:embed="rId4"/>
          <a:srcRect t="71432"/>
          <a:stretch/>
        </p:blipFill>
        <p:spPr>
          <a:xfrm>
            <a:off x="678020" y="796413"/>
            <a:ext cx="10596531" cy="1376516"/>
          </a:xfrm>
          <a:prstGeom prst="rect">
            <a:avLst/>
          </a:prstGeom>
        </p:spPr>
      </p:pic>
    </p:spTree>
    <p:extLst>
      <p:ext uri="{BB962C8B-B14F-4D97-AF65-F5344CB8AC3E}">
        <p14:creationId xmlns:p14="http://schemas.microsoft.com/office/powerpoint/2010/main" val="3775513"/>
      </p:ext>
    </p:extLst>
  </p:cSld>
  <p:clrMapOvr>
    <a:masterClrMapping/>
  </p:clrMapOvr>
  <p:transition spd="slow">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a:blip r:embed="rId4"/>
          <a:stretch>
            <a:fillRect/>
          </a:stretch>
        </p:blipFill>
        <p:spPr>
          <a:xfrm>
            <a:off x="2580051" y="759098"/>
            <a:ext cx="6805285" cy="1522729"/>
          </a:xfrm>
          <a:prstGeom prst="rect">
            <a:avLst/>
          </a:prstGeom>
        </p:spPr>
      </p:pic>
      <p:pic>
        <p:nvPicPr>
          <p:cNvPr id="5" name="Picture 4"/>
          <p:cNvPicPr>
            <a:picLocks noChangeAspect="1"/>
          </p:cNvPicPr>
          <p:nvPr/>
        </p:nvPicPr>
        <p:blipFill>
          <a:blip r:embed="rId5"/>
          <a:stretch>
            <a:fillRect/>
          </a:stretch>
        </p:blipFill>
        <p:spPr>
          <a:xfrm>
            <a:off x="2749617" y="3079069"/>
            <a:ext cx="6028840" cy="2017023"/>
          </a:xfrm>
          <a:prstGeom prst="rect">
            <a:avLst/>
          </a:prstGeom>
        </p:spPr>
      </p:pic>
      <p:sp>
        <p:nvSpPr>
          <p:cNvPr id="6" name="Rectangle 5">
            <a:extLst>
              <a:ext uri="{FF2B5EF4-FFF2-40B4-BE49-F238E27FC236}">
                <a16:creationId xmlns:a16="http://schemas.microsoft.com/office/drawing/2014/main" id="{9894195D-DC89-80B2-815F-63A82FF25FEA}"/>
              </a:ext>
            </a:extLst>
          </p:cNvPr>
          <p:cNvSpPr/>
          <p:nvPr/>
        </p:nvSpPr>
        <p:spPr>
          <a:xfrm>
            <a:off x="488198" y="4080387"/>
            <a:ext cx="6135329" cy="18745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8379807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5" name="Picture 4"/>
          <p:cNvPicPr>
            <a:picLocks noChangeAspect="1"/>
          </p:cNvPicPr>
          <p:nvPr/>
        </p:nvPicPr>
        <p:blipFill rotWithShape="1">
          <a:blip r:embed="rId4"/>
          <a:srcRect b="60314"/>
          <a:stretch/>
        </p:blipFill>
        <p:spPr>
          <a:xfrm>
            <a:off x="476108" y="1238917"/>
            <a:ext cx="8470696" cy="1911423"/>
          </a:xfrm>
          <a:prstGeom prst="rect">
            <a:avLst/>
          </a:prstGeom>
        </p:spPr>
      </p:pic>
    </p:spTree>
    <p:extLst>
      <p:ext uri="{BB962C8B-B14F-4D97-AF65-F5344CB8AC3E}">
        <p14:creationId xmlns:p14="http://schemas.microsoft.com/office/powerpoint/2010/main" val="770182957"/>
      </p:ext>
    </p:extLst>
  </p:cSld>
  <p:clrMapOvr>
    <a:masterClrMapping/>
  </p:clrMapOvr>
  <p:transition spd="slow">
    <p:cu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rotWithShape="1">
          <a:blip r:embed="rId4"/>
          <a:srcRect b="88837"/>
          <a:stretch/>
        </p:blipFill>
        <p:spPr>
          <a:xfrm>
            <a:off x="485663" y="654597"/>
            <a:ext cx="8071664" cy="651689"/>
          </a:xfrm>
          <a:prstGeom prst="rect">
            <a:avLst/>
          </a:prstGeom>
        </p:spPr>
      </p:pic>
      <p:pic>
        <p:nvPicPr>
          <p:cNvPr id="7" name="Picture 6">
            <a:extLst>
              <a:ext uri="{FF2B5EF4-FFF2-40B4-BE49-F238E27FC236}">
                <a16:creationId xmlns:a16="http://schemas.microsoft.com/office/drawing/2014/main" id="{5F6C6ACE-F8BA-E151-94FF-D241993D37E6}"/>
              </a:ext>
            </a:extLst>
          </p:cNvPr>
          <p:cNvPicPr>
            <a:picLocks noChangeAspect="1"/>
          </p:cNvPicPr>
          <p:nvPr/>
        </p:nvPicPr>
        <p:blipFill rotWithShape="1">
          <a:blip r:embed="rId4"/>
          <a:srcRect t="45085" r="13841" b="38487"/>
          <a:stretch/>
        </p:blipFill>
        <p:spPr>
          <a:xfrm>
            <a:off x="485663" y="1261634"/>
            <a:ext cx="6954519" cy="959052"/>
          </a:xfrm>
          <a:prstGeom prst="rect">
            <a:avLst/>
          </a:prstGeom>
        </p:spPr>
      </p:pic>
      <p:pic>
        <p:nvPicPr>
          <p:cNvPr id="9" name="Picture 8">
            <a:extLst>
              <a:ext uri="{FF2B5EF4-FFF2-40B4-BE49-F238E27FC236}">
                <a16:creationId xmlns:a16="http://schemas.microsoft.com/office/drawing/2014/main" id="{D230DCEF-8B5A-121E-1084-502529CD011F}"/>
              </a:ext>
            </a:extLst>
          </p:cNvPr>
          <p:cNvPicPr>
            <a:picLocks noChangeAspect="1"/>
          </p:cNvPicPr>
          <p:nvPr/>
        </p:nvPicPr>
        <p:blipFill rotWithShape="1">
          <a:blip r:embed="rId4"/>
          <a:srcRect t="69330" r="13841" b="-351"/>
          <a:stretch/>
        </p:blipFill>
        <p:spPr>
          <a:xfrm>
            <a:off x="485662" y="2220686"/>
            <a:ext cx="6954519" cy="1810996"/>
          </a:xfrm>
          <a:prstGeom prst="rect">
            <a:avLst/>
          </a:prstGeom>
        </p:spPr>
      </p:pic>
      <p:sp>
        <p:nvSpPr>
          <p:cNvPr id="10" name="AutoShape 2">
            <a:extLst>
              <a:ext uri="{FF2B5EF4-FFF2-40B4-BE49-F238E27FC236}">
                <a16:creationId xmlns:a16="http://schemas.microsoft.com/office/drawing/2014/main" id="{420832A5-C60D-40F9-C2A1-BBF40BC949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C4B351A2-E412-8D7C-8C65-D722904CE7EB}"/>
              </a:ext>
            </a:extLst>
          </p:cNvPr>
          <p:cNvPicPr>
            <a:picLocks noChangeAspect="1"/>
          </p:cNvPicPr>
          <p:nvPr/>
        </p:nvPicPr>
        <p:blipFill>
          <a:blip r:embed="rId5"/>
          <a:stretch>
            <a:fillRect/>
          </a:stretch>
        </p:blipFill>
        <p:spPr>
          <a:xfrm>
            <a:off x="5281126" y="2531060"/>
            <a:ext cx="6332375" cy="3411086"/>
          </a:xfrm>
          <a:prstGeom prst="rect">
            <a:avLst/>
          </a:prstGeom>
        </p:spPr>
      </p:pic>
      <p:sp>
        <p:nvSpPr>
          <p:cNvPr id="4" name="Rectangle 3">
            <a:extLst>
              <a:ext uri="{FF2B5EF4-FFF2-40B4-BE49-F238E27FC236}">
                <a16:creationId xmlns:a16="http://schemas.microsoft.com/office/drawing/2014/main" id="{807FE1A8-783F-80C6-ABCD-D8BBFFBF7F04}"/>
              </a:ext>
            </a:extLst>
          </p:cNvPr>
          <p:cNvSpPr/>
          <p:nvPr/>
        </p:nvSpPr>
        <p:spPr>
          <a:xfrm>
            <a:off x="1101398" y="2040119"/>
            <a:ext cx="4049162" cy="19222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0970039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2" name="Picture 1"/>
          <p:cNvPicPr>
            <a:picLocks noChangeAspect="1"/>
          </p:cNvPicPr>
          <p:nvPr/>
        </p:nvPicPr>
        <p:blipFill>
          <a:blip r:embed="rId4"/>
          <a:stretch>
            <a:fillRect/>
          </a:stretch>
        </p:blipFill>
        <p:spPr>
          <a:xfrm>
            <a:off x="760235" y="815220"/>
            <a:ext cx="6484936" cy="3749910"/>
          </a:xfrm>
          <a:prstGeom prst="rect">
            <a:avLst/>
          </a:prstGeom>
        </p:spPr>
      </p:pic>
      <p:pic>
        <p:nvPicPr>
          <p:cNvPr id="6" name="Picture 5"/>
          <p:cNvPicPr>
            <a:picLocks noChangeAspect="1"/>
          </p:cNvPicPr>
          <p:nvPr/>
        </p:nvPicPr>
        <p:blipFill>
          <a:blip r:embed="rId5"/>
          <a:stretch>
            <a:fillRect/>
          </a:stretch>
        </p:blipFill>
        <p:spPr>
          <a:xfrm>
            <a:off x="7041440" y="4345377"/>
            <a:ext cx="3891785" cy="1412130"/>
          </a:xfrm>
          <a:prstGeom prst="rect">
            <a:avLst/>
          </a:prstGeom>
        </p:spPr>
      </p:pic>
      <p:pic>
        <p:nvPicPr>
          <p:cNvPr id="10" name="Picture 9">
            <a:extLst>
              <a:ext uri="{FF2B5EF4-FFF2-40B4-BE49-F238E27FC236}">
                <a16:creationId xmlns:a16="http://schemas.microsoft.com/office/drawing/2014/main" id="{129ABCC5-75D3-F71D-EB48-AD61AD9FBC35}"/>
              </a:ext>
            </a:extLst>
          </p:cNvPr>
          <p:cNvPicPr>
            <a:picLocks noChangeAspect="1"/>
          </p:cNvPicPr>
          <p:nvPr/>
        </p:nvPicPr>
        <p:blipFill>
          <a:blip r:embed="rId6"/>
          <a:stretch>
            <a:fillRect/>
          </a:stretch>
        </p:blipFill>
        <p:spPr>
          <a:xfrm>
            <a:off x="7041440" y="1533163"/>
            <a:ext cx="4666980" cy="2513981"/>
          </a:xfrm>
          <a:prstGeom prst="rect">
            <a:avLst/>
          </a:prstGeom>
        </p:spPr>
      </p:pic>
    </p:spTree>
    <p:extLst>
      <p:ext uri="{BB962C8B-B14F-4D97-AF65-F5344CB8AC3E}">
        <p14:creationId xmlns:p14="http://schemas.microsoft.com/office/powerpoint/2010/main" val="302387482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68431193-A9B4-702B-6DC7-F3763E4739C0}"/>
              </a:ext>
            </a:extLst>
          </p:cNvPr>
          <p:cNvPicPr>
            <a:picLocks noChangeAspect="1"/>
          </p:cNvPicPr>
          <p:nvPr/>
        </p:nvPicPr>
        <p:blipFill>
          <a:blip r:embed="rId4"/>
          <a:stretch>
            <a:fillRect/>
          </a:stretch>
        </p:blipFill>
        <p:spPr>
          <a:xfrm>
            <a:off x="513183" y="857854"/>
            <a:ext cx="7037661" cy="5477631"/>
          </a:xfrm>
          <a:prstGeom prst="rect">
            <a:avLst/>
          </a:prstGeom>
        </p:spPr>
      </p:pic>
      <p:sp>
        <p:nvSpPr>
          <p:cNvPr id="2" name="Rectangle 1">
            <a:extLst>
              <a:ext uri="{FF2B5EF4-FFF2-40B4-BE49-F238E27FC236}">
                <a16:creationId xmlns:a16="http://schemas.microsoft.com/office/drawing/2014/main" id="{90252291-2350-CEDC-04F6-A0F0A4964A4D}"/>
              </a:ext>
            </a:extLst>
          </p:cNvPr>
          <p:cNvSpPr/>
          <p:nvPr/>
        </p:nvSpPr>
        <p:spPr>
          <a:xfrm>
            <a:off x="1268547" y="2608838"/>
            <a:ext cx="6774240" cy="7242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891568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5" name="Picture 4">
            <a:extLst>
              <a:ext uri="{FF2B5EF4-FFF2-40B4-BE49-F238E27FC236}">
                <a16:creationId xmlns:a16="http://schemas.microsoft.com/office/drawing/2014/main" id="{12831174-EC9C-7D6B-290C-0FC346971B45}"/>
              </a:ext>
            </a:extLst>
          </p:cNvPr>
          <p:cNvPicPr>
            <a:picLocks noChangeAspect="1"/>
          </p:cNvPicPr>
          <p:nvPr/>
        </p:nvPicPr>
        <p:blipFill>
          <a:blip r:embed="rId4"/>
          <a:stretch>
            <a:fillRect/>
          </a:stretch>
        </p:blipFill>
        <p:spPr>
          <a:xfrm>
            <a:off x="2526572" y="825941"/>
            <a:ext cx="6530481" cy="5375546"/>
          </a:xfrm>
          <a:prstGeom prst="rect">
            <a:avLst/>
          </a:prstGeom>
        </p:spPr>
      </p:pic>
      <p:sp>
        <p:nvSpPr>
          <p:cNvPr id="4" name="Rectangle 3">
            <a:extLst>
              <a:ext uri="{FF2B5EF4-FFF2-40B4-BE49-F238E27FC236}">
                <a16:creationId xmlns:a16="http://schemas.microsoft.com/office/drawing/2014/main" id="{97608C3D-BEAE-5BCF-5F3D-782085D66854}"/>
              </a:ext>
            </a:extLst>
          </p:cNvPr>
          <p:cNvSpPr/>
          <p:nvPr/>
        </p:nvSpPr>
        <p:spPr>
          <a:xfrm>
            <a:off x="983412" y="5223999"/>
            <a:ext cx="6400614" cy="1088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151331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6" name="Picture 5">
            <a:extLst>
              <a:ext uri="{FF2B5EF4-FFF2-40B4-BE49-F238E27FC236}">
                <a16:creationId xmlns:a16="http://schemas.microsoft.com/office/drawing/2014/main" id="{45FF2E89-2CF7-4A61-F676-345C3327A2EA}"/>
              </a:ext>
            </a:extLst>
          </p:cNvPr>
          <p:cNvPicPr>
            <a:picLocks noChangeAspect="1"/>
          </p:cNvPicPr>
          <p:nvPr/>
        </p:nvPicPr>
        <p:blipFill>
          <a:blip r:embed="rId4"/>
          <a:stretch>
            <a:fillRect/>
          </a:stretch>
        </p:blipFill>
        <p:spPr>
          <a:xfrm>
            <a:off x="299132" y="806311"/>
            <a:ext cx="8506759" cy="1467743"/>
          </a:xfrm>
          <a:prstGeom prst="rect">
            <a:avLst/>
          </a:prstGeom>
        </p:spPr>
      </p:pic>
      <p:pic>
        <p:nvPicPr>
          <p:cNvPr id="5" name="Picture 4">
            <a:extLst>
              <a:ext uri="{FF2B5EF4-FFF2-40B4-BE49-F238E27FC236}">
                <a16:creationId xmlns:a16="http://schemas.microsoft.com/office/drawing/2014/main" id="{4626BA84-35CE-0E2E-8694-5BAFD8F3B0FC}"/>
              </a:ext>
            </a:extLst>
          </p:cNvPr>
          <p:cNvPicPr>
            <a:picLocks noChangeAspect="1"/>
          </p:cNvPicPr>
          <p:nvPr/>
        </p:nvPicPr>
        <p:blipFill>
          <a:blip r:embed="rId5"/>
          <a:stretch>
            <a:fillRect/>
          </a:stretch>
        </p:blipFill>
        <p:spPr>
          <a:xfrm>
            <a:off x="435393" y="2530944"/>
            <a:ext cx="6896698" cy="3520745"/>
          </a:xfrm>
          <a:prstGeom prst="rect">
            <a:avLst/>
          </a:prstGeom>
        </p:spPr>
      </p:pic>
      <p:sp>
        <p:nvSpPr>
          <p:cNvPr id="2" name="Rectangle 1">
            <a:extLst>
              <a:ext uri="{FF2B5EF4-FFF2-40B4-BE49-F238E27FC236}">
                <a16:creationId xmlns:a16="http://schemas.microsoft.com/office/drawing/2014/main" id="{2E549871-127B-DA1A-E8DD-58538E37FE36}"/>
              </a:ext>
            </a:extLst>
          </p:cNvPr>
          <p:cNvSpPr/>
          <p:nvPr/>
        </p:nvSpPr>
        <p:spPr>
          <a:xfrm>
            <a:off x="324650" y="1946787"/>
            <a:ext cx="8072098" cy="5841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3179394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A4A4F8B-3DA8-04D6-2FD5-2896D6426327}"/>
              </a:ext>
            </a:extLst>
          </p:cNvPr>
          <p:cNvSpPr>
            <a:spLocks noGrp="1"/>
          </p:cNvSpPr>
          <p:nvPr>
            <p:ph type="sldNum" idx="12"/>
          </p:nvPr>
        </p:nvSpPr>
        <p:spPr/>
        <p:txBody>
          <a:bodyPr/>
          <a:lstStyle/>
          <a:p>
            <a:fld id="{00000000-1234-1234-1234-123412341234}" type="slidenum">
              <a:rPr lang="en" smtClean="0"/>
              <a:pPr/>
              <a:t>92</a:t>
            </a:fld>
            <a:endParaRPr lang="en"/>
          </a:p>
        </p:txBody>
      </p:sp>
      <p:pic>
        <p:nvPicPr>
          <p:cNvPr id="7" name="Picture 6">
            <a:extLst>
              <a:ext uri="{FF2B5EF4-FFF2-40B4-BE49-F238E27FC236}">
                <a16:creationId xmlns:a16="http://schemas.microsoft.com/office/drawing/2014/main" id="{9AF99AE8-8E21-96BC-C1E2-EA8E12F2F6E2}"/>
              </a:ext>
            </a:extLst>
          </p:cNvPr>
          <p:cNvPicPr>
            <a:picLocks noChangeAspect="1"/>
          </p:cNvPicPr>
          <p:nvPr/>
        </p:nvPicPr>
        <p:blipFill>
          <a:blip r:embed="rId2"/>
          <a:stretch>
            <a:fillRect/>
          </a:stretch>
        </p:blipFill>
        <p:spPr>
          <a:xfrm>
            <a:off x="3218010" y="1391987"/>
            <a:ext cx="5309302" cy="4793836"/>
          </a:xfrm>
          <a:prstGeom prst="rect">
            <a:avLst/>
          </a:prstGeom>
        </p:spPr>
      </p:pic>
      <p:pic>
        <p:nvPicPr>
          <p:cNvPr id="9" name="Picture 8">
            <a:extLst>
              <a:ext uri="{FF2B5EF4-FFF2-40B4-BE49-F238E27FC236}">
                <a16:creationId xmlns:a16="http://schemas.microsoft.com/office/drawing/2014/main" id="{C6CE9B1C-26DA-F102-CAD6-61DDAED31633}"/>
              </a:ext>
            </a:extLst>
          </p:cNvPr>
          <p:cNvPicPr>
            <a:picLocks noChangeAspect="1"/>
          </p:cNvPicPr>
          <p:nvPr/>
        </p:nvPicPr>
        <p:blipFill>
          <a:blip r:embed="rId3"/>
          <a:stretch>
            <a:fillRect/>
          </a:stretch>
        </p:blipFill>
        <p:spPr>
          <a:xfrm>
            <a:off x="675279" y="755813"/>
            <a:ext cx="8734536" cy="765069"/>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B5AB8F6-2217-2AC2-76E1-8BC400E2D5BB}"/>
                  </a:ext>
                </a:extLst>
              </p14:cNvPr>
              <p14:cNvContentPartPr/>
              <p14:nvPr/>
            </p14:nvContentPartPr>
            <p14:xfrm>
              <a:off x="-638456" y="1041689"/>
              <a:ext cx="360" cy="360"/>
            </p14:xfrm>
          </p:contentPart>
        </mc:Choice>
        <mc:Fallback xmlns="">
          <p:pic>
            <p:nvPicPr>
              <p:cNvPr id="3" name="Ink 2">
                <a:extLst>
                  <a:ext uri="{FF2B5EF4-FFF2-40B4-BE49-F238E27FC236}">
                    <a16:creationId xmlns:a16="http://schemas.microsoft.com/office/drawing/2014/main" id="{8B5AB8F6-2217-2AC2-76E1-8BC400E2D5BB}"/>
                  </a:ext>
                </a:extLst>
              </p:cNvPr>
              <p:cNvPicPr/>
              <p:nvPr/>
            </p:nvPicPr>
            <p:blipFill>
              <a:blip r:embed="rId5"/>
              <a:stretch>
                <a:fillRect/>
              </a:stretch>
            </p:blipFill>
            <p:spPr>
              <a:xfrm>
                <a:off x="-674096" y="969689"/>
                <a:ext cx="72000" cy="144000"/>
              </a:xfrm>
              <a:prstGeom prst="rect">
                <a:avLst/>
              </a:prstGeom>
            </p:spPr>
          </p:pic>
        </mc:Fallback>
      </mc:AlternateContent>
    </p:spTree>
    <p:extLst>
      <p:ext uri="{BB962C8B-B14F-4D97-AF65-F5344CB8AC3E}">
        <p14:creationId xmlns:p14="http://schemas.microsoft.com/office/powerpoint/2010/main" val="11125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02441F28-2DC2-5643-E099-ED8BA905B025}"/>
              </a:ext>
            </a:extLst>
          </p:cNvPr>
          <p:cNvPicPr>
            <a:picLocks noChangeAspect="1"/>
          </p:cNvPicPr>
          <p:nvPr/>
        </p:nvPicPr>
        <p:blipFill>
          <a:blip r:embed="rId4"/>
          <a:stretch>
            <a:fillRect/>
          </a:stretch>
        </p:blipFill>
        <p:spPr>
          <a:xfrm>
            <a:off x="580103" y="799374"/>
            <a:ext cx="5837960" cy="5259252"/>
          </a:xfrm>
          <a:prstGeom prst="rect">
            <a:avLst/>
          </a:prstGeom>
        </p:spPr>
      </p:pic>
      <p:pic>
        <p:nvPicPr>
          <p:cNvPr id="6" name="Picture 5">
            <a:extLst>
              <a:ext uri="{FF2B5EF4-FFF2-40B4-BE49-F238E27FC236}">
                <a16:creationId xmlns:a16="http://schemas.microsoft.com/office/drawing/2014/main" id="{C94575CD-515A-8056-27FD-663765FEE11E}"/>
              </a:ext>
            </a:extLst>
          </p:cNvPr>
          <p:cNvPicPr>
            <a:picLocks noChangeAspect="1"/>
          </p:cNvPicPr>
          <p:nvPr/>
        </p:nvPicPr>
        <p:blipFill>
          <a:blip r:embed="rId5"/>
          <a:stretch>
            <a:fillRect/>
          </a:stretch>
        </p:blipFill>
        <p:spPr>
          <a:xfrm>
            <a:off x="6418063" y="3812245"/>
            <a:ext cx="4457877" cy="2463248"/>
          </a:xfrm>
          <a:prstGeom prst="rect">
            <a:avLst/>
          </a:prstGeom>
        </p:spPr>
      </p:pic>
    </p:spTree>
    <p:extLst>
      <p:ext uri="{BB962C8B-B14F-4D97-AF65-F5344CB8AC3E}">
        <p14:creationId xmlns:p14="http://schemas.microsoft.com/office/powerpoint/2010/main" val="4063440118"/>
      </p:ext>
    </p:extLst>
  </p:cSld>
  <p:clrMapOvr>
    <a:masterClrMapping/>
  </p:clrMapOvr>
  <p:transition spd="slow">
    <p:cu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C3C7CE51-D358-828A-D682-E5C141FFFA1E}"/>
              </a:ext>
            </a:extLst>
          </p:cNvPr>
          <p:cNvPicPr>
            <a:picLocks noChangeAspect="1"/>
          </p:cNvPicPr>
          <p:nvPr/>
        </p:nvPicPr>
        <p:blipFill>
          <a:blip r:embed="rId4"/>
          <a:stretch>
            <a:fillRect/>
          </a:stretch>
        </p:blipFill>
        <p:spPr>
          <a:xfrm>
            <a:off x="2949676" y="774820"/>
            <a:ext cx="6678499" cy="5633858"/>
          </a:xfrm>
          <a:prstGeom prst="rect">
            <a:avLst/>
          </a:prstGeom>
        </p:spPr>
      </p:pic>
    </p:spTree>
    <p:extLst>
      <p:ext uri="{BB962C8B-B14F-4D97-AF65-F5344CB8AC3E}">
        <p14:creationId xmlns:p14="http://schemas.microsoft.com/office/powerpoint/2010/main" val="4016107465"/>
      </p:ext>
    </p:extLst>
  </p:cSld>
  <p:clrMapOvr>
    <a:masterClrMapping/>
  </p:clrMapOvr>
  <p:transition spd="slow">
    <p:cu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B6674A9D-F437-3C7B-75F6-4264D7800A65}"/>
              </a:ext>
            </a:extLst>
          </p:cNvPr>
          <p:cNvPicPr>
            <a:picLocks noChangeAspect="1"/>
          </p:cNvPicPr>
          <p:nvPr/>
        </p:nvPicPr>
        <p:blipFill>
          <a:blip r:embed="rId4"/>
          <a:stretch>
            <a:fillRect/>
          </a:stretch>
        </p:blipFill>
        <p:spPr>
          <a:xfrm>
            <a:off x="448056" y="862042"/>
            <a:ext cx="10661903" cy="5427663"/>
          </a:xfrm>
          <a:prstGeom prst="rect">
            <a:avLst/>
          </a:prstGeom>
        </p:spPr>
      </p:pic>
    </p:spTree>
    <p:extLst>
      <p:ext uri="{BB962C8B-B14F-4D97-AF65-F5344CB8AC3E}">
        <p14:creationId xmlns:p14="http://schemas.microsoft.com/office/powerpoint/2010/main" val="1820386844"/>
      </p:ext>
    </p:extLst>
  </p:cSld>
  <p:clrMapOvr>
    <a:masterClrMapping/>
  </p:clrMapOvr>
  <p:transition spd="slow">
    <p:cu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FBE45DF5-2098-0271-660D-AC0F1BDBC400}"/>
              </a:ext>
            </a:extLst>
          </p:cNvPr>
          <p:cNvPicPr>
            <a:picLocks noChangeAspect="1"/>
          </p:cNvPicPr>
          <p:nvPr/>
        </p:nvPicPr>
        <p:blipFill>
          <a:blip r:embed="rId4"/>
          <a:stretch>
            <a:fillRect/>
          </a:stretch>
        </p:blipFill>
        <p:spPr>
          <a:xfrm>
            <a:off x="2297101" y="1226629"/>
            <a:ext cx="7597798" cy="4404742"/>
          </a:xfrm>
          <a:prstGeom prst="rect">
            <a:avLst/>
          </a:prstGeom>
        </p:spPr>
      </p:pic>
      <p:sp>
        <p:nvSpPr>
          <p:cNvPr id="5" name="Rectangle 4">
            <a:extLst>
              <a:ext uri="{FF2B5EF4-FFF2-40B4-BE49-F238E27FC236}">
                <a16:creationId xmlns:a16="http://schemas.microsoft.com/office/drawing/2014/main" id="{6EE0313A-0203-07B4-B857-0D7D32F2F854}"/>
              </a:ext>
            </a:extLst>
          </p:cNvPr>
          <p:cNvSpPr/>
          <p:nvPr/>
        </p:nvSpPr>
        <p:spPr>
          <a:xfrm>
            <a:off x="2428567" y="4748981"/>
            <a:ext cx="6735097" cy="13789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0657237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pic>
        <p:nvPicPr>
          <p:cNvPr id="4" name="Picture 3">
            <a:extLst>
              <a:ext uri="{FF2B5EF4-FFF2-40B4-BE49-F238E27FC236}">
                <a16:creationId xmlns:a16="http://schemas.microsoft.com/office/drawing/2014/main" id="{723AB00D-0B12-E882-1D48-BE2DDD4360FB}"/>
              </a:ext>
            </a:extLst>
          </p:cNvPr>
          <p:cNvPicPr>
            <a:picLocks noChangeAspect="1"/>
          </p:cNvPicPr>
          <p:nvPr/>
        </p:nvPicPr>
        <p:blipFill>
          <a:blip r:embed="rId4"/>
          <a:stretch>
            <a:fillRect/>
          </a:stretch>
        </p:blipFill>
        <p:spPr>
          <a:xfrm>
            <a:off x="733492" y="698297"/>
            <a:ext cx="10280271" cy="899238"/>
          </a:xfrm>
          <a:prstGeom prst="rect">
            <a:avLst/>
          </a:prstGeom>
        </p:spPr>
      </p:pic>
      <p:pic>
        <p:nvPicPr>
          <p:cNvPr id="6" name="Picture 5">
            <a:extLst>
              <a:ext uri="{FF2B5EF4-FFF2-40B4-BE49-F238E27FC236}">
                <a16:creationId xmlns:a16="http://schemas.microsoft.com/office/drawing/2014/main" id="{E4848490-4E42-1E8B-65DB-678609FA3994}"/>
              </a:ext>
            </a:extLst>
          </p:cNvPr>
          <p:cNvPicPr>
            <a:picLocks noChangeAspect="1"/>
          </p:cNvPicPr>
          <p:nvPr/>
        </p:nvPicPr>
        <p:blipFill>
          <a:blip r:embed="rId5"/>
          <a:stretch>
            <a:fillRect/>
          </a:stretch>
        </p:blipFill>
        <p:spPr>
          <a:xfrm>
            <a:off x="3151452" y="1391497"/>
            <a:ext cx="5889096" cy="5100863"/>
          </a:xfrm>
          <a:prstGeom prst="rect">
            <a:avLst/>
          </a:prstGeom>
        </p:spPr>
      </p:pic>
    </p:spTree>
    <p:extLst>
      <p:ext uri="{BB962C8B-B14F-4D97-AF65-F5344CB8AC3E}">
        <p14:creationId xmlns:p14="http://schemas.microsoft.com/office/powerpoint/2010/main" val="478758453"/>
      </p:ext>
    </p:extLst>
  </p:cSld>
  <p:clrMapOvr>
    <a:masterClrMapping/>
  </p:clrMapOvr>
  <p:transition spd="slow">
    <p:cu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63740A6-B73C-46F4-A496-78E4268691C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Problem: How much NaCl is required to regenerate zeolite bed?</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CE84844-16EA-E66C-9022-F0B3EB6F02D6}"/>
                  </a:ext>
                </a:extLst>
              </p:cNvPr>
              <p:cNvSpPr/>
              <p:nvPr/>
            </p:nvSpPr>
            <p:spPr>
              <a:xfrm>
                <a:off x="324650" y="655906"/>
                <a:ext cx="11393738" cy="707886"/>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An exhausted zeolite softener was recovered using </a:t>
                </a:r>
                <a14:m>
                  <m:oMath xmlns:m="http://schemas.openxmlformats.org/officeDocument/2006/math">
                    <m:r>
                      <a:rPr lang="en-IN" sz="2000" i="1" dirty="0" smtClean="0">
                        <a:latin typeface="Cambria Math" panose="02040503050406030204" pitchFamily="18" charset="0"/>
                        <a:ea typeface="Calibri" panose="020F0502020204030204" pitchFamily="34" charset="0"/>
                        <a:cs typeface="Times New Roman" panose="02020603050405020304" pitchFamily="18" charset="0"/>
                      </a:rPr>
                      <m:t>𝑥</m:t>
                    </m:r>
                  </m:oMath>
                </a14:m>
                <a:r>
                  <a:rPr lang="en-IN" sz="2000" dirty="0">
                    <a:latin typeface="Calibri" panose="020F0502020204030204" pitchFamily="34" charset="0"/>
                    <a:ea typeface="Calibri" panose="020F0502020204030204" pitchFamily="34" charset="0"/>
                    <a:cs typeface="Times New Roman" panose="02020603050405020304" pitchFamily="18" charset="0"/>
                  </a:rPr>
                  <a:t> lit of </a:t>
                </a:r>
                <a14:m>
                  <m:oMath xmlns:m="http://schemas.openxmlformats.org/officeDocument/2006/math">
                    <m:r>
                      <a:rPr lang="en-IN" sz="2000" b="0" i="1" smtClean="0">
                        <a:latin typeface="Cambria Math" panose="02040503050406030204" pitchFamily="18" charset="0"/>
                        <a:ea typeface="Calibri" panose="020F0502020204030204" pitchFamily="34" charset="0"/>
                        <a:cs typeface="Times New Roman" panose="02020603050405020304" pitchFamily="18" charset="0"/>
                      </a:rPr>
                      <m:t>𝑦</m:t>
                    </m:r>
                  </m:oMath>
                </a14:m>
                <a:r>
                  <a:rPr lang="en-IN" sz="2000" dirty="0">
                    <a:latin typeface="Calibri" panose="020F0502020204030204" pitchFamily="34" charset="0"/>
                    <a:ea typeface="Calibri" panose="020F0502020204030204" pitchFamily="34" charset="0"/>
                    <a:cs typeface="Times New Roman" panose="02020603050405020304" pitchFamily="18" charset="0"/>
                  </a:rPr>
                  <a:t> gm/L NaCl solution. How much water having hardness of </a:t>
                </a:r>
                <a14:m>
                  <m:oMath xmlns:m="http://schemas.openxmlformats.org/officeDocument/2006/math">
                    <m:r>
                      <a:rPr lang="en-IN" sz="2000" b="0" i="1" dirty="0" smtClean="0">
                        <a:latin typeface="Cambria Math" panose="02040503050406030204" pitchFamily="18" charset="0"/>
                        <a:ea typeface="Calibri" panose="020F0502020204030204" pitchFamily="34" charset="0"/>
                        <a:cs typeface="Times New Roman" panose="02020603050405020304" pitchFamily="18" charset="0"/>
                      </a:rPr>
                      <m:t>𝑧</m:t>
                    </m:r>
                  </m:oMath>
                </a14:m>
                <a:r>
                  <a:rPr lang="en-IN" sz="2000" dirty="0">
                    <a:latin typeface="Calibri" panose="020F0502020204030204" pitchFamily="34" charset="0"/>
                    <a:ea typeface="Calibri" panose="020F0502020204030204" pitchFamily="34" charset="0"/>
                    <a:cs typeface="Times New Roman" panose="02020603050405020304" pitchFamily="18" charset="0"/>
                  </a:rPr>
                  <a:t> ppm can be softened using this bed? </a:t>
                </a:r>
              </a:p>
            </p:txBody>
          </p:sp>
        </mc:Choice>
        <mc:Fallback xmlns="">
          <p:sp>
            <p:nvSpPr>
              <p:cNvPr id="2" name="Rectangle 1">
                <a:extLst>
                  <a:ext uri="{FF2B5EF4-FFF2-40B4-BE49-F238E27FC236}">
                    <a16:creationId xmlns:a16="http://schemas.microsoft.com/office/drawing/2014/main" id="{0CE84844-16EA-E66C-9022-F0B3EB6F02D6}"/>
                  </a:ext>
                </a:extLst>
              </p:cNvPr>
              <p:cNvSpPr>
                <a:spLocks noRot="1" noChangeAspect="1" noMove="1" noResize="1" noEditPoints="1" noAdjustHandles="1" noChangeArrowheads="1" noChangeShapeType="1" noTextEdit="1"/>
              </p:cNvSpPr>
              <p:nvPr/>
            </p:nvSpPr>
            <p:spPr>
              <a:xfrm>
                <a:off x="324650" y="655906"/>
                <a:ext cx="11393738" cy="707886"/>
              </a:xfrm>
              <a:prstGeom prst="rect">
                <a:avLst/>
              </a:prstGeom>
              <a:blipFill>
                <a:blip r:embed="rId4"/>
                <a:stretch>
                  <a:fillRect l="-535" t="-5172" r="-589" b="-146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E958C6EA-B037-ECBF-CDDA-48976167B42F}"/>
                  </a:ext>
                </a:extLst>
              </p:cNvPr>
              <p:cNvSpPr/>
              <p:nvPr/>
            </p:nvSpPr>
            <p:spPr>
              <a:xfrm>
                <a:off x="310583" y="1470426"/>
                <a:ext cx="11407805" cy="1015663"/>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 zeolite softener was used to remove the hardness of </a:t>
                </a:r>
                <a14:m>
                  <m:oMath xmlns:m="http://schemas.openxmlformats.org/officeDocument/2006/math">
                    <m:r>
                      <a:rPr lang="en-IN" sz="2000" i="1" dirty="0" smtClean="0">
                        <a:latin typeface="Cambria Math" panose="02040503050406030204" pitchFamily="18" charset="0"/>
                        <a:ea typeface="Calibri" panose="020F0502020204030204" pitchFamily="34" charset="0"/>
                        <a:cs typeface="Times New Roman" panose="02020603050405020304" pitchFamily="18" charset="0"/>
                      </a:rPr>
                      <m:t>𝑥</m:t>
                    </m:r>
                  </m:oMath>
                </a14:m>
                <a:r>
                  <a:rPr lang="en-IN" sz="2000" dirty="0">
                    <a:latin typeface="Calibri" panose="020F0502020204030204" pitchFamily="34" charset="0"/>
                    <a:ea typeface="Calibri" panose="020F0502020204030204" pitchFamily="34" charset="0"/>
                    <a:cs typeface="Times New Roman" panose="02020603050405020304" pitchFamily="18" charset="0"/>
                  </a:rPr>
                  <a:t> litres of hard-water completely. The softener required </a:t>
                </a:r>
                <a14:m>
                  <m:oMath xmlns:m="http://schemas.openxmlformats.org/officeDocument/2006/math">
                    <m:r>
                      <a:rPr lang="en-IN" sz="2000" b="0" i="1" smtClean="0">
                        <a:latin typeface="Cambria Math" panose="02040503050406030204" pitchFamily="18" charset="0"/>
                        <a:ea typeface="Calibri" panose="020F0502020204030204" pitchFamily="34" charset="0"/>
                        <a:cs typeface="Times New Roman" panose="02020603050405020304" pitchFamily="18" charset="0"/>
                      </a:rPr>
                      <m:t>𝑦</m:t>
                    </m:r>
                  </m:oMath>
                </a14:m>
                <a:r>
                  <a:rPr lang="en-IN" sz="2000" dirty="0">
                    <a:latin typeface="Calibri" panose="020F0502020204030204" pitchFamily="34" charset="0"/>
                    <a:ea typeface="Calibri" panose="020F0502020204030204" pitchFamily="34" charset="0"/>
                    <a:cs typeface="Times New Roman" panose="02020603050405020304" pitchFamily="18" charset="0"/>
                  </a:rPr>
                  <a:t> litres of NaCl solution containing </a:t>
                </a:r>
                <a14:m>
                  <m:oMath xmlns:m="http://schemas.openxmlformats.org/officeDocument/2006/math">
                    <m:r>
                      <a:rPr lang="en-IN" sz="2000" b="0" i="1" smtClean="0">
                        <a:latin typeface="Cambria Math" panose="02040503050406030204" pitchFamily="18" charset="0"/>
                        <a:ea typeface="Calibri" panose="020F0502020204030204" pitchFamily="34" charset="0"/>
                        <a:cs typeface="Times New Roman" panose="02020603050405020304" pitchFamily="18" charset="0"/>
                      </a:rPr>
                      <m:t>𝑧</m:t>
                    </m:r>
                  </m:oMath>
                </a14:m>
                <a:r>
                  <a:rPr lang="en-IN" sz="2000" dirty="0">
                    <a:latin typeface="Calibri" panose="020F0502020204030204" pitchFamily="34" charset="0"/>
                    <a:ea typeface="Calibri" panose="020F0502020204030204" pitchFamily="34" charset="0"/>
                    <a:cs typeface="Times New Roman" panose="02020603050405020304" pitchFamily="18" charset="0"/>
                  </a:rPr>
                  <a:t> g/litre of NaCl for regeneration. Calculate the hardness in ppm. </a:t>
                </a:r>
              </a:p>
            </p:txBody>
          </p:sp>
        </mc:Choice>
        <mc:Fallback xmlns="">
          <p:sp>
            <p:nvSpPr>
              <p:cNvPr id="24" name="Rectangle 23">
                <a:extLst>
                  <a:ext uri="{FF2B5EF4-FFF2-40B4-BE49-F238E27FC236}">
                    <a16:creationId xmlns:a16="http://schemas.microsoft.com/office/drawing/2014/main" id="{E958C6EA-B037-ECBF-CDDA-48976167B42F}"/>
                  </a:ext>
                </a:extLst>
              </p:cNvPr>
              <p:cNvSpPr>
                <a:spLocks noRot="1" noChangeAspect="1" noMove="1" noResize="1" noEditPoints="1" noAdjustHandles="1" noChangeArrowheads="1" noChangeShapeType="1" noTextEdit="1"/>
              </p:cNvSpPr>
              <p:nvPr/>
            </p:nvSpPr>
            <p:spPr>
              <a:xfrm>
                <a:off x="310583" y="1470426"/>
                <a:ext cx="11407805" cy="1015663"/>
              </a:xfrm>
              <a:prstGeom prst="rect">
                <a:avLst/>
              </a:prstGeom>
              <a:blipFill>
                <a:blip r:embed="rId5"/>
                <a:stretch>
                  <a:fillRect l="-588" t="-2994" r="-534" b="-9581"/>
                </a:stretch>
              </a:blipFill>
            </p:spPr>
            <p:txBody>
              <a:bodyPr/>
              <a:lstStyle/>
              <a:p>
                <a:r>
                  <a:rPr lang="en-IN">
                    <a:noFill/>
                  </a:rPr>
                  <a:t> </a:t>
                </a:r>
              </a:p>
            </p:txBody>
          </p:sp>
        </mc:Fallback>
      </mc:AlternateContent>
      <p:grpSp>
        <p:nvGrpSpPr>
          <p:cNvPr id="36" name="Group 35">
            <a:extLst>
              <a:ext uri="{FF2B5EF4-FFF2-40B4-BE49-F238E27FC236}">
                <a16:creationId xmlns:a16="http://schemas.microsoft.com/office/drawing/2014/main" id="{57F71C48-0A7E-685F-5D34-CE2E18CC629D}"/>
              </a:ext>
            </a:extLst>
          </p:cNvPr>
          <p:cNvGrpSpPr/>
          <p:nvPr/>
        </p:nvGrpSpPr>
        <p:grpSpPr>
          <a:xfrm>
            <a:off x="2447123" y="2630580"/>
            <a:ext cx="8590873" cy="3515236"/>
            <a:chOff x="3223909" y="2493463"/>
            <a:chExt cx="8590873" cy="3515236"/>
          </a:xfrm>
        </p:grpSpPr>
        <p:grpSp>
          <p:nvGrpSpPr>
            <p:cNvPr id="23" name="Group 22">
              <a:extLst>
                <a:ext uri="{FF2B5EF4-FFF2-40B4-BE49-F238E27FC236}">
                  <a16:creationId xmlns:a16="http://schemas.microsoft.com/office/drawing/2014/main" id="{F2CF590E-A3FA-9EFE-2E3B-14F2E0D38EF4}"/>
                </a:ext>
              </a:extLst>
            </p:cNvPr>
            <p:cNvGrpSpPr/>
            <p:nvPr/>
          </p:nvGrpSpPr>
          <p:grpSpPr>
            <a:xfrm>
              <a:off x="3223909" y="2493463"/>
              <a:ext cx="8590873" cy="3515236"/>
              <a:chOff x="3558206" y="1624293"/>
              <a:chExt cx="8590873" cy="3515236"/>
            </a:xfrm>
          </p:grpSpPr>
          <p:sp>
            <p:nvSpPr>
              <p:cNvPr id="6" name="TextBox 5">
                <a:extLst>
                  <a:ext uri="{FF2B5EF4-FFF2-40B4-BE49-F238E27FC236}">
                    <a16:creationId xmlns:a16="http://schemas.microsoft.com/office/drawing/2014/main" id="{FEB4E714-F4C4-4CB5-9BB3-8A6BD2CF142E}"/>
                  </a:ext>
                </a:extLst>
              </p:cNvPr>
              <p:cNvSpPr txBox="1"/>
              <p:nvPr/>
            </p:nvSpPr>
            <p:spPr>
              <a:xfrm>
                <a:off x="7076857" y="2169100"/>
                <a:ext cx="5072222" cy="400110"/>
              </a:xfrm>
              <a:prstGeom prst="rect">
                <a:avLst/>
              </a:prstGeom>
              <a:noFill/>
              <a:ln>
                <a:solidFill>
                  <a:srgbClr val="7030A0"/>
                </a:solidFill>
              </a:ln>
            </p:spPr>
            <p:txBody>
              <a:bodyPr wrap="none" rtlCol="0">
                <a:spAutoFit/>
              </a:bodyPr>
              <a:lstStyle/>
              <a:p>
                <a:r>
                  <a:rPr lang="en-US" sz="2000" dirty="0">
                    <a:latin typeface="Calibri" panose="020F0502020204030204" pitchFamily="34" charset="0"/>
                    <a:cs typeface="Calibri" panose="020F0502020204030204" pitchFamily="34" charset="0"/>
                  </a:rPr>
                  <a:t>Volume of NaCl solution used for regeneration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1D28BC-1FE8-4CCD-B02E-8F420F01F7BC}"/>
                      </a:ext>
                    </a:extLst>
                  </p:cNvPr>
                  <p:cNvSpPr txBox="1"/>
                  <p:nvPr/>
                </p:nvSpPr>
                <p:spPr>
                  <a:xfrm>
                    <a:off x="3558206" y="3193013"/>
                    <a:ext cx="5811936" cy="856901"/>
                  </a:xfrm>
                  <a:prstGeom prst="rect">
                    <a:avLst/>
                  </a:prstGeom>
                  <a:noFill/>
                  <a:ln>
                    <a:solidFill>
                      <a:srgbClr val="7030A0"/>
                    </a:solidFill>
                  </a:ln>
                </p:spPr>
                <p:txBody>
                  <a:bodyPr wrap="square" rtlCol="0">
                    <a:spAutoFit/>
                  </a:bodyPr>
                  <a:lstStyle/>
                  <a:p>
                    <a:pPr algn="ctr"/>
                    <a:r>
                      <a:rPr lang="en-US" sz="3200" dirty="0">
                        <a:latin typeface="Calibri" panose="020F0502020204030204" pitchFamily="34" charset="0"/>
                        <a:cs typeface="Calibri" panose="020F0502020204030204" pitchFamily="34" charset="0"/>
                      </a:rPr>
                      <a:t>Hardness </a:t>
                    </a:r>
                    <a14:m>
                      <m:oMath xmlns:m="http://schemas.openxmlformats.org/officeDocument/2006/math">
                        <m:r>
                          <a:rPr lang="en-US" sz="3200" i="1" dirty="0" smtClean="0">
                            <a:latin typeface="Cambria Math" panose="02040503050406030204" pitchFamily="18" charset="0"/>
                            <a:cs typeface="Calibri" panose="020F0502020204030204" pitchFamily="34" charset="0"/>
                          </a:rPr>
                          <m:t>=</m:t>
                        </m:r>
                        <m:f>
                          <m:fPr>
                            <m:ctrlPr>
                              <a:rPr lang="en-IN" sz="3200" b="0" i="1" dirty="0" smtClean="0">
                                <a:latin typeface="Cambria Math" panose="02040503050406030204" pitchFamily="18" charset="0"/>
                                <a:cs typeface="Calibri" panose="020F0502020204030204" pitchFamily="34" charset="0"/>
                              </a:rPr>
                            </m:ctrlPr>
                          </m:fPr>
                          <m:num>
                            <m:r>
                              <a:rPr lang="en-IN" sz="3200" b="0" i="1" dirty="0" smtClean="0">
                                <a:latin typeface="Cambria Math" panose="02040503050406030204" pitchFamily="18" charset="0"/>
                                <a:cs typeface="Calibri" panose="020F0502020204030204" pitchFamily="34" charset="0"/>
                              </a:rPr>
                              <m:t>50</m:t>
                            </m:r>
                          </m:num>
                          <m:den>
                            <m:r>
                              <a:rPr lang="en-IN" sz="3200" b="0" i="1" dirty="0" smtClean="0">
                                <a:latin typeface="Cambria Math" panose="02040503050406030204" pitchFamily="18" charset="0"/>
                                <a:cs typeface="Calibri" panose="020F0502020204030204" pitchFamily="34" charset="0"/>
                              </a:rPr>
                              <m:t>58.5</m:t>
                            </m:r>
                          </m:den>
                        </m:f>
                        <m:r>
                          <a:rPr lang="en-IN" sz="3200" b="0" i="1" dirty="0" smtClean="0">
                            <a:latin typeface="Cambria Math" panose="02040503050406030204" pitchFamily="18" charset="0"/>
                            <a:cs typeface="Calibri" panose="020F0502020204030204" pitchFamily="34" charset="0"/>
                          </a:rPr>
                          <m:t>×</m:t>
                        </m:r>
                        <m:r>
                          <a:rPr lang="en-IN" sz="3200" b="0" i="1" dirty="0" smtClean="0">
                            <a:latin typeface="Cambria Math" panose="02040503050406030204" pitchFamily="18" charset="0"/>
                            <a:cs typeface="Calibri" panose="020F0502020204030204" pitchFamily="34" charset="0"/>
                          </a:rPr>
                          <m:t>𝑚</m:t>
                        </m:r>
                        <m:r>
                          <a:rPr lang="en-IN" sz="3200" b="0" i="1" dirty="0" smtClean="0">
                            <a:latin typeface="Cambria Math" panose="02040503050406030204" pitchFamily="18" charset="0"/>
                            <a:cs typeface="Calibri" panose="020F0502020204030204" pitchFamily="34" charset="0"/>
                          </a:rPr>
                          <m:t>×</m:t>
                        </m:r>
                        <m:sSup>
                          <m:sSupPr>
                            <m:ctrlPr>
                              <a:rPr lang="en-IN" sz="3200" b="0" i="1" dirty="0" smtClean="0">
                                <a:latin typeface="Cambria Math" panose="02040503050406030204" pitchFamily="18" charset="0"/>
                                <a:cs typeface="Calibri" panose="020F0502020204030204" pitchFamily="34" charset="0"/>
                              </a:rPr>
                            </m:ctrlPr>
                          </m:sSupPr>
                          <m:e>
                            <m:r>
                              <a:rPr lang="en-IN" sz="3200" b="0" i="1" dirty="0" smtClean="0">
                                <a:latin typeface="Cambria Math" panose="02040503050406030204" pitchFamily="18" charset="0"/>
                                <a:cs typeface="Calibri" panose="020F0502020204030204" pitchFamily="34" charset="0"/>
                              </a:rPr>
                              <m:t>10</m:t>
                            </m:r>
                          </m:e>
                          <m:sup>
                            <m:r>
                              <a:rPr lang="en-IN" sz="3200" b="0" i="1" dirty="0" smtClean="0">
                                <a:latin typeface="Cambria Math" panose="02040503050406030204" pitchFamily="18" charset="0"/>
                                <a:cs typeface="Calibri" panose="020F0502020204030204" pitchFamily="34" charset="0"/>
                              </a:rPr>
                              <m:t>3</m:t>
                            </m:r>
                          </m:sup>
                        </m:sSup>
                        <m:r>
                          <a:rPr lang="en-IN" sz="3200" b="0" i="1" dirty="0" smtClean="0">
                            <a:latin typeface="Cambria Math" panose="02040503050406030204" pitchFamily="18" charset="0"/>
                            <a:cs typeface="Calibri" panose="020F0502020204030204" pitchFamily="34" charset="0"/>
                          </a:rPr>
                          <m:t>×</m:t>
                        </m:r>
                        <m:f>
                          <m:fPr>
                            <m:ctrlPr>
                              <a:rPr lang="en-IN" sz="3200" b="0" i="1" dirty="0" smtClean="0">
                                <a:latin typeface="Cambria Math" panose="02040503050406030204" pitchFamily="18" charset="0"/>
                                <a:cs typeface="Calibri" panose="020F0502020204030204" pitchFamily="34" charset="0"/>
                              </a:rPr>
                            </m:ctrlPr>
                          </m:fPr>
                          <m:num>
                            <m:sSub>
                              <m:sSubPr>
                                <m:ctrlPr>
                                  <a:rPr lang="en-IN" sz="3200" b="0" i="1" dirty="0" smtClean="0">
                                    <a:latin typeface="Cambria Math" panose="02040503050406030204" pitchFamily="18" charset="0"/>
                                    <a:cs typeface="Calibri" panose="020F0502020204030204" pitchFamily="34" charset="0"/>
                                  </a:rPr>
                                </m:ctrlPr>
                              </m:sSubPr>
                              <m:e>
                                <m:r>
                                  <a:rPr lang="en-IN" sz="3200" b="0" i="1" dirty="0" smtClean="0">
                                    <a:latin typeface="Cambria Math" panose="02040503050406030204" pitchFamily="18" charset="0"/>
                                    <a:cs typeface="Calibri" panose="020F0502020204030204" pitchFamily="34" charset="0"/>
                                  </a:rPr>
                                  <m:t>𝑉</m:t>
                                </m:r>
                              </m:e>
                              <m:sub>
                                <m:r>
                                  <a:rPr lang="en-IN" sz="3200" b="0" i="1" dirty="0" smtClean="0">
                                    <a:latin typeface="Cambria Math" panose="02040503050406030204" pitchFamily="18" charset="0"/>
                                    <a:cs typeface="Calibri" panose="020F0502020204030204" pitchFamily="34" charset="0"/>
                                  </a:rPr>
                                  <m:t>2</m:t>
                                </m:r>
                              </m:sub>
                            </m:sSub>
                          </m:num>
                          <m:den>
                            <m:sSub>
                              <m:sSubPr>
                                <m:ctrlPr>
                                  <a:rPr lang="en-IN" sz="3200" b="0" i="1" dirty="0" smtClean="0">
                                    <a:latin typeface="Cambria Math" panose="02040503050406030204" pitchFamily="18" charset="0"/>
                                    <a:cs typeface="Calibri" panose="020F0502020204030204" pitchFamily="34" charset="0"/>
                                  </a:rPr>
                                </m:ctrlPr>
                              </m:sSubPr>
                              <m:e>
                                <m:r>
                                  <a:rPr lang="en-IN" sz="3200" b="0" i="1" dirty="0" smtClean="0">
                                    <a:latin typeface="Cambria Math" panose="02040503050406030204" pitchFamily="18" charset="0"/>
                                    <a:cs typeface="Calibri" panose="020F0502020204030204" pitchFamily="34" charset="0"/>
                                  </a:rPr>
                                  <m:t>𝑉</m:t>
                                </m:r>
                              </m:e>
                              <m:sub>
                                <m:r>
                                  <a:rPr lang="en-IN" sz="3200" b="0" i="1" dirty="0" smtClean="0">
                                    <a:latin typeface="Cambria Math" panose="02040503050406030204" pitchFamily="18" charset="0"/>
                                    <a:cs typeface="Calibri" panose="020F0502020204030204" pitchFamily="34" charset="0"/>
                                  </a:rPr>
                                  <m:t>1</m:t>
                                </m:r>
                              </m:sub>
                            </m:sSub>
                          </m:den>
                        </m:f>
                      </m:oMath>
                    </a14:m>
                    <a:endParaRPr lang="en-US" sz="3200" dirty="0">
                      <a:latin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461D28BC-1FE8-4CCD-B02E-8F420F01F7BC}"/>
                      </a:ext>
                    </a:extLst>
                  </p:cNvPr>
                  <p:cNvSpPr txBox="1">
                    <a:spLocks noRot="1" noChangeAspect="1" noMove="1" noResize="1" noEditPoints="1" noAdjustHandles="1" noChangeArrowheads="1" noChangeShapeType="1" noTextEdit="1"/>
                  </p:cNvSpPr>
                  <p:nvPr/>
                </p:nvSpPr>
                <p:spPr>
                  <a:xfrm>
                    <a:off x="3558206" y="3193013"/>
                    <a:ext cx="5811936" cy="856901"/>
                  </a:xfrm>
                  <a:prstGeom prst="rect">
                    <a:avLst/>
                  </a:prstGeom>
                  <a:blipFill>
                    <a:blip r:embed="rId6"/>
                    <a:stretch>
                      <a:fillRect b="-4225"/>
                    </a:stretch>
                  </a:blipFill>
                  <a:ln>
                    <a:solidFill>
                      <a:srgbClr val="7030A0"/>
                    </a:solidFill>
                  </a:ln>
                </p:spPr>
                <p:txBody>
                  <a:bodyPr/>
                  <a:lstStyle/>
                  <a:p>
                    <a:r>
                      <a:rPr lang="en-IN">
                        <a:noFill/>
                      </a:rPr>
                      <a:t> </a:t>
                    </a:r>
                  </a:p>
                </p:txBody>
              </p:sp>
            </mc:Fallback>
          </mc:AlternateContent>
          <p:sp>
            <p:nvSpPr>
              <p:cNvPr id="5" name="TextBox 4">
                <a:extLst>
                  <a:ext uri="{FF2B5EF4-FFF2-40B4-BE49-F238E27FC236}">
                    <a16:creationId xmlns:a16="http://schemas.microsoft.com/office/drawing/2014/main" id="{140DBD43-9301-5378-B54D-8DDE0287C7E0}"/>
                  </a:ext>
                </a:extLst>
              </p:cNvPr>
              <p:cNvSpPr txBox="1"/>
              <p:nvPr/>
            </p:nvSpPr>
            <p:spPr>
              <a:xfrm>
                <a:off x="7764122" y="4739419"/>
                <a:ext cx="3068469" cy="400110"/>
              </a:xfrm>
              <a:prstGeom prst="rect">
                <a:avLst/>
              </a:prstGeom>
              <a:noFill/>
              <a:ln>
                <a:solidFill>
                  <a:srgbClr val="7030A0"/>
                </a:solidFill>
              </a:ln>
            </p:spPr>
            <p:txBody>
              <a:bodyPr wrap="none" rtlCol="0">
                <a:spAutoFit/>
              </a:bodyPr>
              <a:lstStyle/>
              <a:p>
                <a:r>
                  <a:rPr lang="en-US" sz="2000" dirty="0">
                    <a:latin typeface="Calibri" panose="020F0502020204030204" pitchFamily="34" charset="0"/>
                    <a:cs typeface="Calibri" panose="020F0502020204030204" pitchFamily="34" charset="0"/>
                  </a:rPr>
                  <a:t>Total vol. of water softened</a:t>
                </a:r>
              </a:p>
            </p:txBody>
          </p:sp>
          <p:sp>
            <p:nvSpPr>
              <p:cNvPr id="9" name="TextBox 8">
                <a:extLst>
                  <a:ext uri="{FF2B5EF4-FFF2-40B4-BE49-F238E27FC236}">
                    <a16:creationId xmlns:a16="http://schemas.microsoft.com/office/drawing/2014/main" id="{EDB77B95-5F7D-DDCF-1728-DFA813EDFC44}"/>
                  </a:ext>
                </a:extLst>
              </p:cNvPr>
              <p:cNvSpPr txBox="1"/>
              <p:nvPr/>
            </p:nvSpPr>
            <p:spPr>
              <a:xfrm>
                <a:off x="4605743" y="1624293"/>
                <a:ext cx="3765774" cy="400110"/>
              </a:xfrm>
              <a:prstGeom prst="rect">
                <a:avLst/>
              </a:prstGeom>
              <a:noFill/>
              <a:ln>
                <a:solidFill>
                  <a:srgbClr val="7030A0"/>
                </a:solidFill>
              </a:ln>
            </p:spPr>
            <p:txBody>
              <a:bodyPr wrap="none" rtlCol="0">
                <a:spAutoFit/>
              </a:bodyPr>
              <a:lstStyle/>
              <a:p>
                <a:r>
                  <a:rPr lang="en-US" sz="2000" dirty="0">
                    <a:latin typeface="Calibri" panose="020F0502020204030204" pitchFamily="34" charset="0"/>
                    <a:cs typeface="Calibri" panose="020F0502020204030204" pitchFamily="34" charset="0"/>
                  </a:rPr>
                  <a:t>Amount of NaCl present in V</a:t>
                </a:r>
                <a:r>
                  <a:rPr lang="en-US" sz="2000" baseline="-25000" dirty="0">
                    <a:latin typeface="Calibri" panose="020F0502020204030204" pitchFamily="34" charset="0"/>
                    <a:cs typeface="Calibri" panose="020F0502020204030204" pitchFamily="34" charset="0"/>
                  </a:rPr>
                  <a:t>2 </a:t>
                </a:r>
                <a:r>
                  <a:rPr lang="en-US" sz="2000" dirty="0">
                    <a:latin typeface="Calibri" panose="020F0502020204030204" pitchFamily="34" charset="0"/>
                    <a:cs typeface="Calibri" panose="020F0502020204030204" pitchFamily="34" charset="0"/>
                  </a:rPr>
                  <a:t>(gm)</a:t>
                </a:r>
              </a:p>
            </p:txBody>
          </p:sp>
          <p:sp>
            <p:nvSpPr>
              <p:cNvPr id="10" name="TextBox 9">
                <a:extLst>
                  <a:ext uri="{FF2B5EF4-FFF2-40B4-BE49-F238E27FC236}">
                    <a16:creationId xmlns:a16="http://schemas.microsoft.com/office/drawing/2014/main" id="{A072F346-0C60-FBA9-B62B-39BE7E38EAC0}"/>
                  </a:ext>
                </a:extLst>
              </p:cNvPr>
              <p:cNvSpPr txBox="1"/>
              <p:nvPr/>
            </p:nvSpPr>
            <p:spPr>
              <a:xfrm>
                <a:off x="4848747" y="4739419"/>
                <a:ext cx="2626040" cy="400110"/>
              </a:xfrm>
              <a:prstGeom prst="rect">
                <a:avLst/>
              </a:prstGeom>
              <a:noFill/>
              <a:ln>
                <a:solidFill>
                  <a:srgbClr val="7030A0"/>
                </a:solidFill>
              </a:ln>
            </p:spPr>
            <p:txBody>
              <a:bodyPr wrap="none" rtlCol="0">
                <a:spAutoFit/>
              </a:bodyPr>
              <a:lstStyle/>
              <a:p>
                <a:r>
                  <a:rPr lang="en-US" sz="2000" dirty="0">
                    <a:latin typeface="Calibri" panose="020F0502020204030204" pitchFamily="34" charset="0"/>
                    <a:cs typeface="Calibri" panose="020F0502020204030204" pitchFamily="34" charset="0"/>
                  </a:rPr>
                  <a:t>Equivalent wt. of NaCl </a:t>
                </a:r>
              </a:p>
            </p:txBody>
          </p:sp>
          <p:cxnSp>
            <p:nvCxnSpPr>
              <p:cNvPr id="12" name="Straight Arrow Connector 11">
                <a:extLst>
                  <a:ext uri="{FF2B5EF4-FFF2-40B4-BE49-F238E27FC236}">
                    <a16:creationId xmlns:a16="http://schemas.microsoft.com/office/drawing/2014/main" id="{3DA714DE-F59C-465B-DC23-4A08E3864203}"/>
                  </a:ext>
                </a:extLst>
              </p:cNvPr>
              <p:cNvCxnSpPr>
                <a:cxnSpLocks/>
              </p:cNvCxnSpPr>
              <p:nvPr/>
            </p:nvCxnSpPr>
            <p:spPr>
              <a:xfrm>
                <a:off x="7064656" y="1933629"/>
                <a:ext cx="12201" cy="1493898"/>
              </a:xfrm>
              <a:prstGeom prst="straightConnector1">
                <a:avLst/>
              </a:prstGeom>
              <a:ln w="19050">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BFB6B4CB-3500-07E2-741B-967883739419}"/>
                  </a:ext>
                </a:extLst>
              </p:cNvPr>
              <p:cNvCxnSpPr>
                <a:cxnSpLocks/>
              </p:cNvCxnSpPr>
              <p:nvPr/>
            </p:nvCxnSpPr>
            <p:spPr>
              <a:xfrm>
                <a:off x="9038547" y="2559830"/>
                <a:ext cx="0" cy="570620"/>
              </a:xfrm>
              <a:prstGeom prst="straightConnector1">
                <a:avLst/>
              </a:prstGeom>
              <a:ln w="19050">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498C9991-D833-9D9C-8F80-C87B6B8D5E90}"/>
                  </a:ext>
                </a:extLst>
              </p:cNvPr>
              <p:cNvCxnSpPr>
                <a:cxnSpLocks/>
              </p:cNvCxnSpPr>
              <p:nvPr/>
            </p:nvCxnSpPr>
            <p:spPr>
              <a:xfrm flipV="1">
                <a:off x="9038547" y="4122691"/>
                <a:ext cx="0" cy="616728"/>
              </a:xfrm>
              <a:prstGeom prst="straightConnector1">
                <a:avLst/>
              </a:prstGeom>
              <a:ln w="19050">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3FA4070-B21E-A064-6619-6230938518EB}"/>
                  </a:ext>
                </a:extLst>
              </p:cNvPr>
              <p:cNvCxnSpPr>
                <a:cxnSpLocks/>
              </p:cNvCxnSpPr>
              <p:nvPr/>
            </p:nvCxnSpPr>
            <p:spPr>
              <a:xfrm flipV="1">
                <a:off x="6139246" y="4122691"/>
                <a:ext cx="0" cy="685578"/>
              </a:xfrm>
              <a:prstGeom prst="straightConnector1">
                <a:avLst/>
              </a:prstGeom>
              <a:ln w="19050">
                <a:solidFill>
                  <a:srgbClr val="7030A0"/>
                </a:solidFill>
                <a:tailEnd type="triangle"/>
              </a:ln>
            </p:spPr>
            <p:style>
              <a:lnRef idx="1">
                <a:schemeClr val="dk1"/>
              </a:lnRef>
              <a:fillRef idx="0">
                <a:schemeClr val="dk1"/>
              </a:fillRef>
              <a:effectRef idx="0">
                <a:schemeClr val="dk1"/>
              </a:effectRef>
              <a:fontRef idx="minor">
                <a:schemeClr val="tx1"/>
              </a:fontRef>
            </p:style>
          </p:cxnSp>
        </p:grpSp>
        <p:sp>
          <p:nvSpPr>
            <p:cNvPr id="34" name="TextBox 33">
              <a:extLst>
                <a:ext uri="{FF2B5EF4-FFF2-40B4-BE49-F238E27FC236}">
                  <a16:creationId xmlns:a16="http://schemas.microsoft.com/office/drawing/2014/main" id="{C93CB77E-8508-60CF-08BB-A475BBA9FA4B}"/>
                </a:ext>
              </a:extLst>
            </p:cNvPr>
            <p:cNvSpPr txBox="1"/>
            <p:nvPr/>
          </p:nvSpPr>
          <p:spPr>
            <a:xfrm>
              <a:off x="3784345" y="3134870"/>
              <a:ext cx="2701381" cy="400110"/>
            </a:xfrm>
            <a:prstGeom prst="rect">
              <a:avLst/>
            </a:prstGeom>
            <a:noFill/>
            <a:ln>
              <a:solidFill>
                <a:srgbClr val="7030A0"/>
              </a:solidFill>
            </a:ln>
          </p:spPr>
          <p:txBody>
            <a:bodyPr wrap="none" rtlCol="0">
              <a:spAutoFit/>
            </a:bodyPr>
            <a:lstStyle/>
            <a:p>
              <a:r>
                <a:rPr lang="en-US" sz="2000" dirty="0">
                  <a:latin typeface="Calibri" panose="020F0502020204030204" pitchFamily="34" charset="0"/>
                  <a:cs typeface="Calibri" panose="020F0502020204030204" pitchFamily="34" charset="0"/>
                </a:rPr>
                <a:t>Equivalent wt. of CaCO</a:t>
              </a:r>
              <a:r>
                <a:rPr lang="en-US" sz="2000" baseline="-25000" dirty="0">
                  <a:latin typeface="Calibri" panose="020F0502020204030204" pitchFamily="34" charset="0"/>
                  <a:cs typeface="Calibri" panose="020F0502020204030204" pitchFamily="34" charset="0"/>
                </a:rPr>
                <a:t>3</a:t>
              </a:r>
            </a:p>
          </p:txBody>
        </p:sp>
        <p:cxnSp>
          <p:nvCxnSpPr>
            <p:cNvPr id="35" name="Straight Arrow Connector 34">
              <a:extLst>
                <a:ext uri="{FF2B5EF4-FFF2-40B4-BE49-F238E27FC236}">
                  <a16:creationId xmlns:a16="http://schemas.microsoft.com/office/drawing/2014/main" id="{7D21B3F4-84F4-287E-4161-9000AD865739}"/>
                </a:ext>
              </a:extLst>
            </p:cNvPr>
            <p:cNvCxnSpPr>
              <a:cxnSpLocks/>
            </p:cNvCxnSpPr>
            <p:nvPr/>
          </p:nvCxnSpPr>
          <p:spPr>
            <a:xfrm>
              <a:off x="5792902" y="3438380"/>
              <a:ext cx="0" cy="570620"/>
            </a:xfrm>
            <a:prstGeom prst="straightConnector1">
              <a:avLst/>
            </a:prstGeom>
            <a:ln w="19050">
              <a:solidFill>
                <a:srgbClr val="7030A0"/>
              </a:solidFill>
              <a:tailEnd type="triangle"/>
            </a:ln>
          </p:spPr>
          <p:style>
            <a:lnRef idx="1">
              <a:schemeClr val="dk1"/>
            </a:lnRef>
            <a:fillRef idx="0">
              <a:schemeClr val="dk1"/>
            </a:fillRef>
            <a:effectRef idx="0">
              <a:schemeClr val="dk1"/>
            </a:effectRef>
            <a:fontRef idx="minor">
              <a:schemeClr val="tx1"/>
            </a:fontRef>
          </p:style>
        </p:cxnSp>
      </p:grpSp>
      <p:sp>
        <p:nvSpPr>
          <p:cNvPr id="11" name="Star: 5 Points 10">
            <a:extLst>
              <a:ext uri="{FF2B5EF4-FFF2-40B4-BE49-F238E27FC236}">
                <a16:creationId xmlns:a16="http://schemas.microsoft.com/office/drawing/2014/main" id="{969F4F6D-79AB-0DD6-98F2-1B8892E98D1D}"/>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8777480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E682C630-6916-4E8D-A6C6-A4030216A29B}"/>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Water softening</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B2D62DAA-E36F-4DEF-B80E-3C93FA1D1B46}"/>
              </a:ext>
            </a:extLst>
          </p:cNvPr>
          <p:cNvSpPr/>
          <p:nvPr/>
        </p:nvSpPr>
        <p:spPr>
          <a:xfrm>
            <a:off x="324650" y="623687"/>
            <a:ext cx="9643068" cy="5016758"/>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Removal of hardness  – </a:t>
            </a:r>
          </a:p>
          <a:p>
            <a:pPr lvl="0" algn="just">
              <a:spcAft>
                <a:spcPts val="1200"/>
              </a:spcAft>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Hardness is …</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Primarily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Ca</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Mg</a:t>
            </a:r>
          </a:p>
          <a:p>
            <a:pPr marL="342900" lvl="0" indent="-342900" algn="just">
              <a:spcAft>
                <a:spcPts val="1200"/>
              </a:spcAft>
              <a:buFont typeface="Arial" panose="020B0604020202020204" pitchFamily="34" charset="0"/>
              <a:buChar char="•"/>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and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Fe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Mn</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St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Al</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salts</a:t>
            </a:r>
          </a:p>
          <a:p>
            <a:pPr lvl="0" algn="just">
              <a:spcAft>
                <a:spcPts val="1200"/>
              </a:spcAft>
            </a:pP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Ions like </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Na</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K</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NH</a:t>
            </a:r>
            <a:r>
              <a:rPr lang="en-IN" sz="2000" b="1" baseline="-25000" dirty="0">
                <a:solidFill>
                  <a:schemeClr val="tx1"/>
                </a:solidFill>
                <a:latin typeface="Calibri" panose="020F0502020204030204" pitchFamily="34" charset="0"/>
                <a:ea typeface="Calibri" panose="020F0502020204030204" pitchFamily="34" charset="0"/>
                <a:cs typeface="Times New Roman" panose="02020603050405020304" pitchFamily="18" charset="0"/>
              </a:rPr>
              <a:t>4</a:t>
            </a:r>
            <a:r>
              <a:rPr lang="en-IN" sz="2000" b="1"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do </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NOT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cause hardness</a:t>
            </a: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endPar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lvl="0" algn="just">
              <a:spcAft>
                <a:spcPts val="1200"/>
              </a:spcAft>
            </a:pPr>
            <a:r>
              <a:rPr lang="en-IN"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How do we remove hardness?</a:t>
            </a: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Ion exchange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Ca/Mg with ions H</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/OH</a:t>
            </a:r>
            <a:r>
              <a:rPr lang="en-IN" sz="2000" baseline="30000" dirty="0">
                <a:solidFill>
                  <a:schemeClr val="tx1"/>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Ion exchange resin process</a:t>
            </a:r>
            <a:endPar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Ion exchange</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Ca/Mg with Na </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Zeolite process</a:t>
            </a:r>
            <a:r>
              <a:rPr lang="en-IN"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p>
          <a:p>
            <a:pPr marL="342900" indent="-342900" algn="just">
              <a:spcAft>
                <a:spcPts val="1200"/>
              </a:spcAft>
              <a:buFont typeface="Arial" panose="020B0604020202020204" pitchFamily="34" charset="0"/>
              <a:buChar char="•"/>
            </a:pPr>
            <a:r>
              <a:rPr lang="en-IN" sz="2000" b="1" dirty="0">
                <a:solidFill>
                  <a:schemeClr val="tx1"/>
                </a:solidFill>
                <a:latin typeface="Calibri" panose="020F0502020204030204" pitchFamily="34" charset="0"/>
                <a:ea typeface="Calibri" panose="020F0502020204030204" pitchFamily="34" charset="0"/>
                <a:cs typeface="Times New Roman" panose="02020603050405020304" pitchFamily="18" charset="0"/>
              </a:rPr>
              <a:t>Precipitation</a:t>
            </a:r>
            <a:r>
              <a:rPr lang="en-IN"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of Ca and Mg</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chemeClr val="tx1"/>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lang="en-US"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Soda-Lime process</a:t>
            </a:r>
            <a:endParaRPr lang="en-IN" sz="2000" b="1"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1591348"/>
      </p:ext>
    </p:extLst>
  </p:cSld>
  <p:clrMapOvr>
    <a:masterClrMapping/>
  </p:clrMapOvr>
  <p:transition spd="slow">
    <p:cu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B63740A6-B73C-46F4-A496-78E4268691C0}"/>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 typical 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9237195B-EFA4-4357-832D-0972868C4358}"/>
              </a:ext>
            </a:extLst>
          </p:cNvPr>
          <p:cNvSpPr/>
          <p:nvPr/>
        </p:nvSpPr>
        <p:spPr>
          <a:xfrm>
            <a:off x="324649" y="623687"/>
            <a:ext cx="11407805" cy="1015663"/>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 zeolite softener was used to remove the hardness of 10000 litres of hard-water completely. The softener required 200 litres of </a:t>
            </a:r>
            <a:r>
              <a:rPr lang="en-IN" sz="2000" dirty="0" err="1">
                <a:latin typeface="Calibri" panose="020F0502020204030204" pitchFamily="34" charset="0"/>
                <a:ea typeface="Calibri" panose="020F0502020204030204" pitchFamily="34" charset="0"/>
                <a:cs typeface="Times New Roman" panose="02020603050405020304" pitchFamily="18" charset="0"/>
              </a:rPr>
              <a:t>NaCl</a:t>
            </a:r>
            <a:r>
              <a:rPr lang="en-IN" sz="2000" dirty="0">
                <a:latin typeface="Calibri" panose="020F0502020204030204" pitchFamily="34" charset="0"/>
                <a:ea typeface="Calibri" panose="020F0502020204030204" pitchFamily="34" charset="0"/>
                <a:cs typeface="Times New Roman" panose="02020603050405020304" pitchFamily="18" charset="0"/>
              </a:rPr>
              <a:t> solution containing 150 g/litre of </a:t>
            </a:r>
            <a:r>
              <a:rPr lang="en-IN" sz="2000" dirty="0" err="1">
                <a:latin typeface="Calibri" panose="020F0502020204030204" pitchFamily="34" charset="0"/>
                <a:ea typeface="Calibri" panose="020F0502020204030204" pitchFamily="34" charset="0"/>
                <a:cs typeface="Times New Roman" panose="02020603050405020304" pitchFamily="18" charset="0"/>
              </a:rPr>
              <a:t>NaCl</a:t>
            </a:r>
            <a:r>
              <a:rPr lang="en-IN" sz="2000" dirty="0">
                <a:latin typeface="Calibri" panose="020F0502020204030204" pitchFamily="34" charset="0"/>
                <a:ea typeface="Calibri" panose="020F0502020204030204" pitchFamily="34" charset="0"/>
                <a:cs typeface="Times New Roman" panose="02020603050405020304" pitchFamily="18" charset="0"/>
              </a:rPr>
              <a:t> for regeneration. Calculate the hardness in ppm. </a:t>
            </a:r>
          </a:p>
        </p:txBody>
      </p:sp>
      <p:pic>
        <p:nvPicPr>
          <p:cNvPr id="9" name="Picture 8">
            <a:extLst>
              <a:ext uri="{FF2B5EF4-FFF2-40B4-BE49-F238E27FC236}">
                <a16:creationId xmlns:a16="http://schemas.microsoft.com/office/drawing/2014/main" id="{F72FF579-2271-4F33-94C3-C42C317BFAE0}"/>
              </a:ext>
            </a:extLst>
          </p:cNvPr>
          <p:cNvPicPr>
            <a:picLocks noChangeAspect="1"/>
          </p:cNvPicPr>
          <p:nvPr/>
        </p:nvPicPr>
        <p:blipFill rotWithShape="1">
          <a:blip r:embed="rId4"/>
          <a:srcRect l="6964" t="12113" r="29328" b="53332"/>
          <a:stretch/>
        </p:blipFill>
        <p:spPr>
          <a:xfrm>
            <a:off x="464004" y="1934745"/>
            <a:ext cx="6269206" cy="3936852"/>
          </a:xfrm>
          <a:prstGeom prst="rect">
            <a:avLst/>
          </a:prstGeom>
        </p:spPr>
      </p:pic>
      <p:pic>
        <p:nvPicPr>
          <p:cNvPr id="2" name="Picture 1">
            <a:extLst>
              <a:ext uri="{FF2B5EF4-FFF2-40B4-BE49-F238E27FC236}">
                <a16:creationId xmlns:a16="http://schemas.microsoft.com/office/drawing/2014/main" id="{ECB6971C-0A6D-9084-09CA-922A4B9D445B}"/>
              </a:ext>
            </a:extLst>
          </p:cNvPr>
          <p:cNvPicPr>
            <a:picLocks noChangeAspect="1"/>
          </p:cNvPicPr>
          <p:nvPr/>
        </p:nvPicPr>
        <p:blipFill>
          <a:blip r:embed="rId5"/>
          <a:stretch>
            <a:fillRect/>
          </a:stretch>
        </p:blipFill>
        <p:spPr>
          <a:xfrm>
            <a:off x="6288056" y="1384699"/>
            <a:ext cx="5579295" cy="2372485"/>
          </a:xfrm>
          <a:prstGeom prst="rect">
            <a:avLst/>
          </a:prstGeom>
        </p:spPr>
      </p:pic>
      <p:sp>
        <p:nvSpPr>
          <p:cNvPr id="6" name="Star: 5 Points 5">
            <a:extLst>
              <a:ext uri="{FF2B5EF4-FFF2-40B4-BE49-F238E27FC236}">
                <a16:creationId xmlns:a16="http://schemas.microsoft.com/office/drawing/2014/main" id="{7F4FF3DE-C0E7-48BE-5CE8-EF965C9208A1}"/>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10072073"/>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5" name="Shape 69">
            <a:extLst>
              <a:ext uri="{FF2B5EF4-FFF2-40B4-BE49-F238E27FC236}">
                <a16:creationId xmlns:a16="http://schemas.microsoft.com/office/drawing/2014/main" id="{5248C23B-BE8C-4342-8066-1703A8E074E2}"/>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 typical 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4847C55C-22B6-4128-A252-906ABA9253FF}"/>
              </a:ext>
            </a:extLst>
          </p:cNvPr>
          <p:cNvSpPr/>
          <p:nvPr/>
        </p:nvSpPr>
        <p:spPr>
          <a:xfrm>
            <a:off x="324650" y="634320"/>
            <a:ext cx="11393738" cy="707886"/>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An exhausted zeolite softener was recovered using 150 lit of 150 gm/L </a:t>
            </a:r>
            <a:r>
              <a:rPr lang="en-IN" sz="2000" dirty="0" err="1">
                <a:latin typeface="Calibri" panose="020F0502020204030204" pitchFamily="34" charset="0"/>
                <a:ea typeface="Calibri" panose="020F0502020204030204" pitchFamily="34" charset="0"/>
                <a:cs typeface="Times New Roman" panose="02020603050405020304" pitchFamily="18" charset="0"/>
              </a:rPr>
              <a:t>NaCl</a:t>
            </a:r>
            <a:r>
              <a:rPr lang="en-IN" sz="2000" dirty="0">
                <a:latin typeface="Calibri" panose="020F0502020204030204" pitchFamily="34" charset="0"/>
                <a:ea typeface="Calibri" panose="020F0502020204030204" pitchFamily="34" charset="0"/>
                <a:cs typeface="Times New Roman" panose="02020603050405020304" pitchFamily="18" charset="0"/>
              </a:rPr>
              <a:t> solution. How much water having hardness of 500 ppm can be softened using this bed? </a:t>
            </a:r>
          </a:p>
        </p:txBody>
      </p:sp>
      <p:pic>
        <p:nvPicPr>
          <p:cNvPr id="9" name="Picture 8">
            <a:extLst>
              <a:ext uri="{FF2B5EF4-FFF2-40B4-BE49-F238E27FC236}">
                <a16:creationId xmlns:a16="http://schemas.microsoft.com/office/drawing/2014/main" id="{B31452D8-543D-4CBD-AA7C-3592D7E9E27E}"/>
              </a:ext>
            </a:extLst>
          </p:cNvPr>
          <p:cNvPicPr>
            <a:picLocks noChangeAspect="1"/>
          </p:cNvPicPr>
          <p:nvPr/>
        </p:nvPicPr>
        <p:blipFill rotWithShape="1">
          <a:blip r:embed="rId4"/>
          <a:srcRect l="5770" t="56771" r="20148"/>
          <a:stretch/>
        </p:blipFill>
        <p:spPr>
          <a:xfrm>
            <a:off x="6096000" y="2745608"/>
            <a:ext cx="5546057" cy="3746752"/>
          </a:xfrm>
          <a:prstGeom prst="rect">
            <a:avLst/>
          </a:prstGeom>
        </p:spPr>
      </p:pic>
      <p:pic>
        <p:nvPicPr>
          <p:cNvPr id="2" name="Picture 1">
            <a:extLst>
              <a:ext uri="{FF2B5EF4-FFF2-40B4-BE49-F238E27FC236}">
                <a16:creationId xmlns:a16="http://schemas.microsoft.com/office/drawing/2014/main" id="{44CCC654-1708-A724-9DFA-5D422E8CFDF6}"/>
              </a:ext>
            </a:extLst>
          </p:cNvPr>
          <p:cNvPicPr>
            <a:picLocks noChangeAspect="1"/>
          </p:cNvPicPr>
          <p:nvPr/>
        </p:nvPicPr>
        <p:blipFill>
          <a:blip r:embed="rId5"/>
          <a:stretch>
            <a:fillRect/>
          </a:stretch>
        </p:blipFill>
        <p:spPr>
          <a:xfrm>
            <a:off x="324650" y="1426395"/>
            <a:ext cx="6528434" cy="2776088"/>
          </a:xfrm>
          <a:prstGeom prst="rect">
            <a:avLst/>
          </a:prstGeom>
        </p:spPr>
      </p:pic>
      <p:sp>
        <p:nvSpPr>
          <p:cNvPr id="4" name="Star: 5 Points 3">
            <a:extLst>
              <a:ext uri="{FF2B5EF4-FFF2-40B4-BE49-F238E27FC236}">
                <a16:creationId xmlns:a16="http://schemas.microsoft.com/office/drawing/2014/main" id="{D013D844-D349-0EE7-864E-6093657B47B1}"/>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8949636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8" name="Picture 7" descr="A picture containing food, drawing&#10;&#10;Description automatically generated">
            <a:extLst>
              <a:ext uri="{FF2B5EF4-FFF2-40B4-BE49-F238E27FC236}">
                <a16:creationId xmlns:a16="http://schemas.microsoft.com/office/drawing/2014/main" id="{E6931349-E548-4140-88B6-54D4FA4B1BBF}"/>
              </a:ext>
            </a:extLst>
          </p:cNvPr>
          <p:cNvPicPr>
            <a:picLocks noChangeAspect="1"/>
          </p:cNvPicPr>
          <p:nvPr/>
        </p:nvPicPr>
        <p:blipFill>
          <a:blip r:embed="rId3"/>
          <a:stretch>
            <a:fillRect/>
          </a:stretch>
        </p:blipFill>
        <p:spPr>
          <a:xfrm>
            <a:off x="9967718" y="115006"/>
            <a:ext cx="2092091" cy="413859"/>
          </a:xfrm>
          <a:prstGeom prst="rect">
            <a:avLst/>
          </a:prstGeom>
        </p:spPr>
      </p:pic>
      <p:sp>
        <p:nvSpPr>
          <p:cNvPr id="4" name="Shape 69">
            <a:extLst>
              <a:ext uri="{FF2B5EF4-FFF2-40B4-BE49-F238E27FC236}">
                <a16:creationId xmlns:a16="http://schemas.microsoft.com/office/drawing/2014/main" id="{9B0E039F-39E3-4EFB-B255-5A97D0FC92B9}"/>
              </a:ext>
            </a:extLst>
          </p:cNvPr>
          <p:cNvSpPr txBox="1"/>
          <p:nvPr/>
        </p:nvSpPr>
        <p:spPr>
          <a:xfrm>
            <a:off x="324650" y="68563"/>
            <a:ext cx="8379600" cy="489810"/>
          </a:xfrm>
          <a:prstGeom prst="rect">
            <a:avLst/>
          </a:prstGeom>
          <a:noFill/>
          <a:ln>
            <a:noFill/>
          </a:ln>
        </p:spPr>
        <p:txBody>
          <a:bodyPr lIns="91425" tIns="91425" rIns="91425" bIns="91425" anchor="t" anchorCtr="0">
            <a:noAutofit/>
          </a:bodyPr>
          <a:lstStyle/>
          <a:p>
            <a:r>
              <a:rPr lang="en-US" sz="24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 typical problem</a:t>
            </a:r>
            <a:endParaRPr lang="en-US" sz="24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C3B72B75-076C-4240-B442-9D674D247215}"/>
              </a:ext>
            </a:extLst>
          </p:cNvPr>
          <p:cNvSpPr/>
          <p:nvPr/>
        </p:nvSpPr>
        <p:spPr>
          <a:xfrm>
            <a:off x="324649" y="623687"/>
            <a:ext cx="11407805" cy="1015663"/>
          </a:xfrm>
          <a:prstGeom prst="rect">
            <a:avLst/>
          </a:prstGeom>
        </p:spPr>
        <p:txBody>
          <a:bodyPr wrap="square">
            <a:spAutoFit/>
          </a:bodyPr>
          <a:lstStyle/>
          <a:p>
            <a:pPr lvl="0" algn="just">
              <a:spcAft>
                <a:spcPts val="1200"/>
              </a:spcAft>
            </a:pPr>
            <a:r>
              <a:rPr lang="en-IN" sz="2000" dirty="0">
                <a:latin typeface="Calibri" panose="020F0502020204030204" pitchFamily="34" charset="0"/>
                <a:ea typeface="Calibri" panose="020F0502020204030204" pitchFamily="34" charset="0"/>
                <a:cs typeface="Times New Roman" panose="02020603050405020304" pitchFamily="18" charset="0"/>
              </a:rPr>
              <a:t>A zeolite softener was used to remove the hardness of 95000 litres of hard-water completely. The softener required 475 litres of </a:t>
            </a:r>
            <a:r>
              <a:rPr lang="en-IN" sz="2000" dirty="0" err="1">
                <a:latin typeface="Calibri" panose="020F0502020204030204" pitchFamily="34" charset="0"/>
                <a:ea typeface="Calibri" panose="020F0502020204030204" pitchFamily="34" charset="0"/>
                <a:cs typeface="Times New Roman" panose="02020603050405020304" pitchFamily="18" charset="0"/>
              </a:rPr>
              <a:t>NaCl</a:t>
            </a:r>
            <a:r>
              <a:rPr lang="en-IN" sz="2000" dirty="0">
                <a:latin typeface="Calibri" panose="020F0502020204030204" pitchFamily="34" charset="0"/>
                <a:ea typeface="Calibri" panose="020F0502020204030204" pitchFamily="34" charset="0"/>
                <a:cs typeface="Times New Roman" panose="02020603050405020304" pitchFamily="18" charset="0"/>
              </a:rPr>
              <a:t> solution containing 18 g/litre of </a:t>
            </a:r>
            <a:r>
              <a:rPr lang="en-IN" sz="2000" dirty="0" err="1">
                <a:latin typeface="Calibri" panose="020F0502020204030204" pitchFamily="34" charset="0"/>
                <a:ea typeface="Calibri" panose="020F0502020204030204" pitchFamily="34" charset="0"/>
                <a:cs typeface="Times New Roman" panose="02020603050405020304" pitchFamily="18" charset="0"/>
              </a:rPr>
              <a:t>NaCl</a:t>
            </a:r>
            <a:r>
              <a:rPr lang="en-IN" sz="2000" dirty="0">
                <a:latin typeface="Calibri" panose="020F0502020204030204" pitchFamily="34" charset="0"/>
                <a:ea typeface="Calibri" panose="020F0502020204030204" pitchFamily="34" charset="0"/>
                <a:cs typeface="Times New Roman" panose="02020603050405020304" pitchFamily="18" charset="0"/>
              </a:rPr>
              <a:t> for regeneration. Calculate the hardness in ppm. </a:t>
            </a:r>
          </a:p>
        </p:txBody>
      </p:sp>
      <p:pic>
        <p:nvPicPr>
          <p:cNvPr id="6" name="Picture 5">
            <a:extLst>
              <a:ext uri="{FF2B5EF4-FFF2-40B4-BE49-F238E27FC236}">
                <a16:creationId xmlns:a16="http://schemas.microsoft.com/office/drawing/2014/main" id="{ADA1398D-B6D1-A247-87A8-34E62DAA1BB4}"/>
              </a:ext>
            </a:extLst>
          </p:cNvPr>
          <p:cNvPicPr>
            <a:picLocks noChangeAspect="1"/>
          </p:cNvPicPr>
          <p:nvPr/>
        </p:nvPicPr>
        <p:blipFill>
          <a:blip r:embed="rId4"/>
          <a:stretch>
            <a:fillRect/>
          </a:stretch>
        </p:blipFill>
        <p:spPr>
          <a:xfrm>
            <a:off x="516705" y="1639350"/>
            <a:ext cx="5579295" cy="2372485"/>
          </a:xfrm>
          <a:prstGeom prst="rect">
            <a:avLst/>
          </a:prstGeom>
        </p:spPr>
      </p:pic>
      <p:sp>
        <p:nvSpPr>
          <p:cNvPr id="2" name="Star: 5 Points 1">
            <a:extLst>
              <a:ext uri="{FF2B5EF4-FFF2-40B4-BE49-F238E27FC236}">
                <a16:creationId xmlns:a16="http://schemas.microsoft.com/office/drawing/2014/main" id="{D1E8F176-6427-3DC2-F494-82962B81E543}"/>
              </a:ext>
            </a:extLst>
          </p:cNvPr>
          <p:cNvSpPr/>
          <p:nvPr/>
        </p:nvSpPr>
        <p:spPr>
          <a:xfrm>
            <a:off x="78658" y="6353596"/>
            <a:ext cx="353961" cy="3539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89182504"/>
      </p:ext>
    </p:extLst>
  </p:cSld>
  <p:clrMapOvr>
    <a:masterClrMapping/>
  </p:clrMapOvr>
  <p:transition spd="slow">
    <p:cut/>
  </p:transition>
</p:sld>
</file>

<file path=ppt/theme/theme1.xml><?xml version="1.0" encoding="utf-8"?>
<a:theme xmlns:a="http://schemas.openxmlformats.org/drawingml/2006/main"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amsChannelId xmlns="8cb4b5df-4ffb-4093-99ce-d04cb5c4cbbb" xsi:nil="true"/>
    <Invited_Teachers xmlns="8cb4b5df-4ffb-4093-99ce-d04cb5c4cbbb" xsi:nil="true"/>
    <IsNotebookLocked xmlns="8cb4b5df-4ffb-4093-99ce-d04cb5c4cbbb" xsi:nil="true"/>
    <Owner xmlns="8cb4b5df-4ffb-4093-99ce-d04cb5c4cbbb">
      <UserInfo>
        <DisplayName/>
        <AccountId xsi:nil="true"/>
        <AccountType/>
      </UserInfo>
    </Owner>
    <NotebookType xmlns="8cb4b5df-4ffb-4093-99ce-d04cb5c4cbbb" xsi:nil="true"/>
    <Students xmlns="8cb4b5df-4ffb-4093-99ce-d04cb5c4cbbb">
      <UserInfo>
        <DisplayName/>
        <AccountId xsi:nil="true"/>
        <AccountType/>
      </UserInfo>
    </Students>
    <Math_Settings xmlns="8cb4b5df-4ffb-4093-99ce-d04cb5c4cbbb" xsi:nil="true"/>
    <AppVersion xmlns="8cb4b5df-4ffb-4093-99ce-d04cb5c4cbbb" xsi:nil="true"/>
    <FolderType xmlns="8cb4b5df-4ffb-4093-99ce-d04cb5c4cbbb" xsi:nil="true"/>
    <Distribution_Groups xmlns="8cb4b5df-4ffb-4093-99ce-d04cb5c4cbbb" xsi:nil="true"/>
    <Self_Registration_Enabled xmlns="8cb4b5df-4ffb-4093-99ce-d04cb5c4cbbb" xsi:nil="true"/>
    <Is_Collaboration_Space_Locked xmlns="8cb4b5df-4ffb-4093-99ce-d04cb5c4cbbb" xsi:nil="true"/>
    <LMS_Mappings xmlns="8cb4b5df-4ffb-4093-99ce-d04cb5c4cbbb" xsi:nil="true"/>
    <Teachers xmlns="8cb4b5df-4ffb-4093-99ce-d04cb5c4cbbb">
      <UserInfo>
        <DisplayName/>
        <AccountId xsi:nil="true"/>
        <AccountType/>
      </UserInfo>
    </Teachers>
    <Student_Groups xmlns="8cb4b5df-4ffb-4093-99ce-d04cb5c4cbbb">
      <UserInfo>
        <DisplayName/>
        <AccountId xsi:nil="true"/>
        <AccountType/>
      </UserInfo>
    </Student_Groups>
    <DefaultSectionNames xmlns="8cb4b5df-4ffb-4093-99ce-d04cb5c4cbbb" xsi:nil="true"/>
    <Invited_Students xmlns="8cb4b5df-4ffb-4093-99ce-d04cb5c4cbbb" xsi:nil="true"/>
    <CultureName xmlns="8cb4b5df-4ffb-4093-99ce-d04cb5c4cbbb" xsi:nil="true"/>
    <Templates xmlns="8cb4b5df-4ffb-4093-99ce-d04cb5c4cbbb" xsi:nil="true"/>
    <Has_Teacher_Only_SectionGroup xmlns="8cb4b5df-4ffb-4093-99ce-d04cb5c4cbb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588AC8EC23846A4D32BDB38A12146" ma:contentTypeVersion="33" ma:contentTypeDescription="Create a new document." ma:contentTypeScope="" ma:versionID="f04c192a8aca73290c09b6f5735972a2">
  <xsd:schema xmlns:xsd="http://www.w3.org/2001/XMLSchema" xmlns:xs="http://www.w3.org/2001/XMLSchema" xmlns:p="http://schemas.microsoft.com/office/2006/metadata/properties" xmlns:ns3="8cb4b5df-4ffb-4093-99ce-d04cb5c4cbbb" xmlns:ns4="f6fd6d35-c125-48ef-ad4e-9f4d9ce16f47" targetNamespace="http://schemas.microsoft.com/office/2006/metadata/properties" ma:root="true" ma:fieldsID="2157949ed0db3c88d28ea37f9e488f06" ns3:_="" ns4:_="">
    <xsd:import namespace="8cb4b5df-4ffb-4093-99ce-d04cb5c4cbbb"/>
    <xsd:import namespace="f6fd6d35-c125-48ef-ad4e-9f4d9ce16f47"/>
    <xsd:element name="properties">
      <xsd:complexType>
        <xsd:sequence>
          <xsd:element name="documentManagement">
            <xsd:complexType>
              <xsd:all>
                <xsd:element ref="ns3:MediaServiceMetadata" minOccurs="0"/>
                <xsd:element ref="ns3:MediaServiceFastMetadata" minOccurs="0"/>
                <xsd:element ref="ns3:MediaServiceAutoTags" minOccurs="0"/>
                <xsd:element ref="ns4:SharedWithUsers" minOccurs="0"/>
                <xsd:element ref="ns3:MediaServiceOCR" minOccurs="0"/>
                <xsd:element ref="ns3:MediaServiceDateTaken" minOccurs="0"/>
                <xsd:element ref="ns4:SharedWithDetails" minOccurs="0"/>
                <xsd:element ref="ns4:SharingHintHash" minOccurs="0"/>
                <xsd:element ref="ns3:MediaServiceGenerationTime" minOccurs="0"/>
                <xsd:element ref="ns3:MediaServiceEventHashCode"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4b5df-4ffb-4093-99ce-d04cb5c4cbbb"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NotebookType" ma:index="18" nillable="true" ma:displayName="Notebook Type" ma:internalName="NotebookType">
      <xsd:simpleType>
        <xsd:restriction base="dms:Text"/>
      </xsd:simpleType>
    </xsd:element>
    <xsd:element name="FolderType" ma:index="19" nillable="true" ma:displayName="Folder Type" ma:internalName="FolderType">
      <xsd:simpleType>
        <xsd:restriction base="dms:Text"/>
      </xsd:simpleType>
    </xsd:element>
    <xsd:element name="CultureName" ma:index="20" nillable="true" ma:displayName="Culture Name" ma:internalName="CultureName">
      <xsd:simpleType>
        <xsd:restriction base="dms:Text"/>
      </xsd:simpleType>
    </xsd:element>
    <xsd:element name="AppVersion" ma:index="21" nillable="true" ma:displayName="App Version" ma:internalName="AppVersion">
      <xsd:simpleType>
        <xsd:restriction base="dms:Text"/>
      </xsd:simpleType>
    </xsd:element>
    <xsd:element name="TeamsChannelId" ma:index="22" nillable="true" ma:displayName="Teams Channel Id" ma:internalName="TeamsChannelId">
      <xsd:simpleType>
        <xsd:restriction base="dms:Text"/>
      </xsd:simpleType>
    </xsd:element>
    <xsd:element name="Owner" ma:index="2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4" nillable="true" ma:displayName="Math Settings" ma:internalName="Math_Settings">
      <xsd:simpleType>
        <xsd:restriction base="dms:Text"/>
      </xsd:simpleType>
    </xsd:element>
    <xsd:element name="DefaultSectionNames" ma:index="25" nillable="true" ma:displayName="Default Section Names" ma:internalName="DefaultSectionNames">
      <xsd:simpleType>
        <xsd:restriction base="dms:Note">
          <xsd:maxLength value="255"/>
        </xsd:restriction>
      </xsd:simpleType>
    </xsd:element>
    <xsd:element name="Templates" ma:index="26" nillable="true" ma:displayName="Templates" ma:internalName="Templates">
      <xsd:simpleType>
        <xsd:restriction base="dms:Note">
          <xsd:maxLength value="255"/>
        </xsd:restriction>
      </xsd:simpleType>
    </xsd:element>
    <xsd:element name="Teachers" ma:index="2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0" nillable="true" ma:displayName="Distribution Groups" ma:internalName="Distribution_Groups">
      <xsd:simpleType>
        <xsd:restriction base="dms:Note">
          <xsd:maxLength value="255"/>
        </xsd:restriction>
      </xsd:simpleType>
    </xsd:element>
    <xsd:element name="LMS_Mappings" ma:index="31" nillable="true" ma:displayName="LMS Mappings" ma:internalName="LMS_Mappings">
      <xsd:simpleType>
        <xsd:restriction base="dms:Note">
          <xsd:maxLength value="255"/>
        </xsd:restriction>
      </xsd:simpleType>
    </xsd:element>
    <xsd:element name="Invited_Teachers" ma:index="32" nillable="true" ma:displayName="Invited Teachers" ma:internalName="Invited_Teachers">
      <xsd:simpleType>
        <xsd:restriction base="dms:Note">
          <xsd:maxLength value="255"/>
        </xsd:restriction>
      </xsd:simpleType>
    </xsd:element>
    <xsd:element name="Invited_Students" ma:index="33" nillable="true" ma:displayName="Invited Students" ma:internalName="Invited_Students">
      <xsd:simpleType>
        <xsd:restriction base="dms:Note">
          <xsd:maxLength value="255"/>
        </xsd:restriction>
      </xsd:simpleType>
    </xsd:element>
    <xsd:element name="Self_Registration_Enabled" ma:index="34" nillable="true" ma:displayName="Self Registration Enabled" ma:internalName="Self_Registration_Enabled">
      <xsd:simpleType>
        <xsd:restriction base="dms:Boolean"/>
      </xsd:simpleType>
    </xsd:element>
    <xsd:element name="Has_Teacher_Only_SectionGroup" ma:index="35" nillable="true" ma:displayName="Has Teacher Only SectionGroup" ma:internalName="Has_Teacher_Only_SectionGroup">
      <xsd:simpleType>
        <xsd:restriction base="dms:Boolean"/>
      </xsd:simpleType>
    </xsd:element>
    <xsd:element name="Is_Collaboration_Space_Locked" ma:index="36" nillable="true" ma:displayName="Is Collaboration Space Locked" ma:internalName="Is_Collaboration_Space_Locked">
      <xsd:simpleType>
        <xsd:restriction base="dms:Boolean"/>
      </xsd:simpleType>
    </xsd:element>
    <xsd:element name="IsNotebookLocked" ma:index="37" nillable="true" ma:displayName="Is Notebook Locked" ma:internalName="IsNotebookLocked">
      <xsd:simpleType>
        <xsd:restriction base="dms:Boolean"/>
      </xsd:simpleType>
    </xsd:element>
    <xsd:element name="MediaServiceAutoKeyPoints" ma:index="38" nillable="true" ma:displayName="MediaServiceAutoKeyPoints" ma:hidden="true" ma:internalName="MediaServiceAutoKeyPoints" ma:readOnly="true">
      <xsd:simpleType>
        <xsd:restriction base="dms:Note"/>
      </xsd:simpleType>
    </xsd:element>
    <xsd:element name="MediaServiceKeyPoints" ma:index="39" nillable="true" ma:displayName="KeyPoints" ma:internalName="MediaServiceKeyPoints" ma:readOnly="true">
      <xsd:simpleType>
        <xsd:restriction base="dms:Note">
          <xsd:maxLength value="255"/>
        </xsd:restriction>
      </xsd:simpleType>
    </xsd:element>
    <xsd:element name="MediaServiceLocation" ma:index="4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fd6d35-c125-48ef-ad4e-9f4d9ce16f47"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82DA04-C210-424D-8667-B0BA3FDFDCAC}">
  <ds:schemaRefs>
    <ds:schemaRef ds:uri="http://schemas.microsoft.com/sharepoint/v3/contenttype/forms"/>
  </ds:schemaRefs>
</ds:datastoreItem>
</file>

<file path=customXml/itemProps2.xml><?xml version="1.0" encoding="utf-8"?>
<ds:datastoreItem xmlns:ds="http://schemas.openxmlformats.org/officeDocument/2006/customXml" ds:itemID="{2FC21545-AF6E-4D8E-82A5-F0067392E794}">
  <ds:schemaRefs>
    <ds:schemaRef ds:uri="f6fd6d35-c125-48ef-ad4e-9f4d9ce16f47"/>
    <ds:schemaRef ds:uri="8cb4b5df-4ffb-4093-99ce-d04cb5c4cbbb"/>
    <ds:schemaRef ds:uri="http://purl.org/dc/dcmitype/"/>
    <ds:schemaRef ds:uri="http://purl.org/dc/elements/1.1/"/>
    <ds:schemaRef ds:uri="http://schemas.openxmlformats.org/package/2006/metadata/core-propertie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D1504C5D-9DDE-4388-AA2D-6793C1EE17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4b5df-4ffb-4093-99ce-d04cb5c4cbbb"/>
    <ds:schemaRef ds:uri="f6fd6d35-c125-48ef-ad4e-9f4d9ce16f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49161</TotalTime>
  <Words>6448</Words>
  <Application>Microsoft Office PowerPoint</Application>
  <PresentationFormat>Widescreen</PresentationFormat>
  <Paragraphs>678</Paragraphs>
  <Slides>103</Slides>
  <Notes>83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103</vt:i4>
      </vt:variant>
    </vt:vector>
  </HeadingPairs>
  <TitlesOfParts>
    <vt:vector size="111" baseType="lpstr">
      <vt:lpstr>Arial</vt:lpstr>
      <vt:lpstr>Calibri</vt:lpstr>
      <vt:lpstr>Cambria</vt:lpstr>
      <vt:lpstr>Cambria Math</vt:lpstr>
      <vt:lpstr>Times New Roman</vt:lpstr>
      <vt:lpstr>simple-light</vt:lpstr>
      <vt:lpstr>CS ChemDraw Drawing</vt:lpstr>
      <vt:lpstr>MDLDrawObject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susruta-vm</dc:creator>
  <cp:lastModifiedBy>Dr. Meenakshi Pilania [MU - Jaipur]</cp:lastModifiedBy>
  <cp:revision>326</cp:revision>
  <dcterms:modified xsi:type="dcterms:W3CDTF">2026-04-04T06:12:09Z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0x010100845588AC8EC23846A4D32BDB38A12146</vt:lpwstr>
  </property>
</Properties>
</file>