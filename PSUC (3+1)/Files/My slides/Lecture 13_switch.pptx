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</p:sldMasterIdLst>
  <p:notesMasterIdLst>
    <p:notesMasterId r:id="rId23"/>
  </p:notesMasterIdLst>
  <p:sldIdLst>
    <p:sldId id="257" r:id="rId5"/>
    <p:sldId id="291" r:id="rId6"/>
    <p:sldId id="306" r:id="rId7"/>
    <p:sldId id="307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338E73-1B85-430D-A71D-DB4BB1C618B7}" v="1" dt="2025-09-01T10:47:57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3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custSel addSld modSld">
      <pc:chgData name="Arvind Kumar Mehta [MU - Jaipur]" userId="05c91892-566a-4226-a371-aa1d586f0be7" providerId="ADAL" clId="{B053A5CE-0A90-414C-9281-C211CC0B95EF}" dt="2025-09-01T11:17:19.909" v="85" actId="403"/>
      <pc:docMkLst>
        <pc:docMk/>
      </pc:docMkLst>
      <pc:sldChg chg="modSp mod">
        <pc:chgData name="Arvind Kumar Mehta [MU - Jaipur]" userId="05c91892-566a-4226-a371-aa1d586f0be7" providerId="ADAL" clId="{B053A5CE-0A90-414C-9281-C211CC0B95EF}" dt="2025-09-01T11:17:19.909" v="85" actId="403"/>
        <pc:sldMkLst>
          <pc:docMk/>
          <pc:sldMk cId="4086229874" sldId="291"/>
        </pc:sldMkLst>
        <pc:spChg chg="mod">
          <ac:chgData name="Arvind Kumar Mehta [MU - Jaipur]" userId="05c91892-566a-4226-a371-aa1d586f0be7" providerId="ADAL" clId="{B053A5CE-0A90-414C-9281-C211CC0B95EF}" dt="2025-09-01T10:48:31.120" v="13" actId="207"/>
          <ac:spMkLst>
            <pc:docMk/>
            <pc:sldMk cId="4086229874" sldId="291"/>
            <ac:spMk id="15363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5-09-01T11:17:19.909" v="85" actId="403"/>
          <ac:spMkLst>
            <pc:docMk/>
            <pc:sldMk cId="4086229874" sldId="291"/>
            <ac:spMk id="92162" creationId="{00000000-0000-0000-0000-000000000000}"/>
          </ac:spMkLst>
        </pc:spChg>
      </pc:sldChg>
      <pc:sldChg chg="addSp delSp modSp new mod modClrScheme chgLayout">
        <pc:chgData name="Arvind Kumar Mehta [MU - Jaipur]" userId="05c91892-566a-4226-a371-aa1d586f0be7" providerId="ADAL" clId="{B053A5CE-0A90-414C-9281-C211CC0B95EF}" dt="2025-09-01T10:49:00.130" v="16" actId="22"/>
        <pc:sldMkLst>
          <pc:docMk/>
          <pc:sldMk cId="198461597" sldId="306"/>
        </pc:sldMkLst>
        <pc:spChg chg="del">
          <ac:chgData name="Arvind Kumar Mehta [MU - Jaipur]" userId="05c91892-566a-4226-a371-aa1d586f0be7" providerId="ADAL" clId="{B053A5CE-0A90-414C-9281-C211CC0B95EF}" dt="2025-09-01T10:48:59.162" v="15" actId="700"/>
          <ac:spMkLst>
            <pc:docMk/>
            <pc:sldMk cId="198461597" sldId="306"/>
            <ac:spMk id="2" creationId="{6BB8F2D8-B4F4-4DBC-80C5-06ED46F09A88}"/>
          </ac:spMkLst>
        </pc:spChg>
        <pc:spChg chg="del">
          <ac:chgData name="Arvind Kumar Mehta [MU - Jaipur]" userId="05c91892-566a-4226-a371-aa1d586f0be7" providerId="ADAL" clId="{B053A5CE-0A90-414C-9281-C211CC0B95EF}" dt="2025-09-01T10:48:59.162" v="15" actId="700"/>
          <ac:spMkLst>
            <pc:docMk/>
            <pc:sldMk cId="198461597" sldId="306"/>
            <ac:spMk id="3" creationId="{1706ABC8-4453-BDBC-46BE-88C4C335AF83}"/>
          </ac:spMkLst>
        </pc:spChg>
        <pc:spChg chg="mod ord">
          <ac:chgData name="Arvind Kumar Mehta [MU - Jaipur]" userId="05c91892-566a-4226-a371-aa1d586f0be7" providerId="ADAL" clId="{B053A5CE-0A90-414C-9281-C211CC0B95EF}" dt="2025-09-01T10:48:59.162" v="15" actId="700"/>
          <ac:spMkLst>
            <pc:docMk/>
            <pc:sldMk cId="198461597" sldId="306"/>
            <ac:spMk id="4" creationId="{EBED32FC-AEE5-721F-49AE-749C98B10B8B}"/>
          </ac:spMkLst>
        </pc:spChg>
        <pc:spChg chg="mod ord">
          <ac:chgData name="Arvind Kumar Mehta [MU - Jaipur]" userId="05c91892-566a-4226-a371-aa1d586f0be7" providerId="ADAL" clId="{B053A5CE-0A90-414C-9281-C211CC0B95EF}" dt="2025-09-01T10:48:59.162" v="15" actId="700"/>
          <ac:spMkLst>
            <pc:docMk/>
            <pc:sldMk cId="198461597" sldId="306"/>
            <ac:spMk id="5" creationId="{32B17A77-1CBD-F3AC-413C-3F35F9280FEB}"/>
          </ac:spMkLst>
        </pc:spChg>
        <pc:picChg chg="add">
          <ac:chgData name="Arvind Kumar Mehta [MU - Jaipur]" userId="05c91892-566a-4226-a371-aa1d586f0be7" providerId="ADAL" clId="{B053A5CE-0A90-414C-9281-C211CC0B95EF}" dt="2025-09-01T10:49:00.130" v="16" actId="22"/>
          <ac:picMkLst>
            <pc:docMk/>
            <pc:sldMk cId="198461597" sldId="306"/>
            <ac:picMk id="7" creationId="{33EBBCD0-25D6-D86D-DD71-2116A2D64614}"/>
          </ac:picMkLst>
        </pc:picChg>
      </pc:sldChg>
      <pc:sldChg chg="addSp modSp new mod">
        <pc:chgData name="Arvind Kumar Mehta [MU - Jaipur]" userId="05c91892-566a-4226-a371-aa1d586f0be7" providerId="ADAL" clId="{B053A5CE-0A90-414C-9281-C211CC0B95EF}" dt="2025-09-01T10:50:23.892" v="76" actId="5793"/>
        <pc:sldMkLst>
          <pc:docMk/>
          <pc:sldMk cId="4213520231" sldId="307"/>
        </pc:sldMkLst>
        <pc:spChg chg="add mod">
          <ac:chgData name="Arvind Kumar Mehta [MU - Jaipur]" userId="05c91892-566a-4226-a371-aa1d586f0be7" providerId="ADAL" clId="{B053A5CE-0A90-414C-9281-C211CC0B95EF}" dt="2025-09-01T10:50:23.892" v="76" actId="5793"/>
          <ac:spMkLst>
            <pc:docMk/>
            <pc:sldMk cId="4213520231" sldId="307"/>
            <ac:spMk id="5" creationId="{135B78F8-F8E4-C804-D609-6FC241C734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0D58-E4F7-4FC3-B219-1D20EE7F0FFC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0463E-A946-4DB7-84F1-2B38F7DE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3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AB102D-7F36-45A2-93C7-F8978E4D0DE0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260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/>
              <a:t>Evaluates the (</a:t>
            </a:r>
            <a:r>
              <a:rPr lang="en-US" altLang="en-US" b="1">
                <a:solidFill>
                  <a:schemeClr val="accent2"/>
                </a:solidFill>
                <a:latin typeface="Tempus Sans ITC" panose="04020404030D07020202" pitchFamily="82" charset="0"/>
              </a:rPr>
              <a:t>expression</a:t>
            </a:r>
            <a:r>
              <a:rPr lang="en-US" altLang="en-US"/>
              <a:t>) and compares its integer or character value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/>
              <a:t>with the values following each </a:t>
            </a:r>
            <a:r>
              <a:rPr lang="en-US" altLang="en-US" b="1">
                <a:solidFill>
                  <a:srgbClr val="993300"/>
                </a:solidFill>
              </a:rPr>
              <a:t>case</a:t>
            </a:r>
            <a:r>
              <a:rPr lang="en-US" altLang="en-US"/>
              <a:t> label.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/>
          </a:p>
          <a:p>
            <a:pPr algn="just" eaLnBrk="1" hangingPunct="1">
              <a:lnSpc>
                <a:spcPct val="80000"/>
              </a:lnSpc>
            </a:pPr>
            <a:r>
              <a:rPr lang="en-US" altLang="en-US"/>
              <a:t>1. If a match is found between (</a:t>
            </a:r>
            <a:r>
              <a:rPr lang="en-US" altLang="en-US" b="1">
                <a:solidFill>
                  <a:schemeClr val="accent2"/>
                </a:solidFill>
                <a:latin typeface="Tempus Sans ITC" panose="04020404030D07020202" pitchFamily="82" charset="0"/>
              </a:rPr>
              <a:t>expression</a:t>
            </a:r>
            <a:r>
              <a:rPr lang="en-US" altLang="en-US"/>
              <a:t>) and one of the values, execution is transferred to the statement(s) that follows the </a:t>
            </a:r>
            <a:r>
              <a:rPr lang="en-US" altLang="en-US" b="1">
                <a:solidFill>
                  <a:srgbClr val="993300"/>
                </a:solidFill>
              </a:rPr>
              <a:t>case</a:t>
            </a:r>
            <a:r>
              <a:rPr lang="en-US" altLang="en-US"/>
              <a:t> label.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00"/>
          </a:p>
          <a:p>
            <a:pPr algn="just" eaLnBrk="1" hangingPunct="1">
              <a:lnSpc>
                <a:spcPct val="80000"/>
              </a:lnSpc>
            </a:pPr>
            <a:r>
              <a:rPr lang="en-US" altLang="en-US"/>
              <a:t>2. If no match is found, execution is transferred to the statement(s) following the optional </a:t>
            </a:r>
            <a:r>
              <a:rPr lang="en-US" altLang="en-US" b="1">
                <a:solidFill>
                  <a:srgbClr val="993300"/>
                </a:solidFill>
              </a:rPr>
              <a:t>default</a:t>
            </a:r>
            <a:r>
              <a:rPr lang="en-US" altLang="en-US"/>
              <a:t> label.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800"/>
          </a:p>
          <a:p>
            <a:pPr algn="just" eaLnBrk="1" hangingPunct="1">
              <a:lnSpc>
                <a:spcPct val="80000"/>
              </a:lnSpc>
            </a:pPr>
            <a:r>
              <a:rPr lang="en-US" altLang="en-US"/>
              <a:t>3. If no match is found and there is no </a:t>
            </a:r>
            <a:r>
              <a:rPr lang="en-US" altLang="en-US" b="1">
                <a:solidFill>
                  <a:srgbClr val="993300"/>
                </a:solidFill>
              </a:rPr>
              <a:t>default</a:t>
            </a:r>
            <a:r>
              <a:rPr lang="en-US" altLang="en-US"/>
              <a:t> label, execution passes to the first statement following the switch statement closing brace, the </a:t>
            </a:r>
            <a:r>
              <a:rPr lang="en-US" altLang="en-US" b="1" i="1">
                <a:solidFill>
                  <a:srgbClr val="993300"/>
                </a:solidFill>
              </a:rPr>
              <a:t>next_statemen</a:t>
            </a:r>
            <a:r>
              <a:rPr lang="en-US" altLang="en-US" i="1">
                <a:solidFill>
                  <a:srgbClr val="993300"/>
                </a:solidFill>
              </a:rPr>
              <a:t>t</a:t>
            </a:r>
            <a:r>
              <a:rPr lang="en-US" altLang="en-US"/>
              <a:t>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800"/>
          </a:p>
          <a:p>
            <a:pPr algn="just" eaLnBrk="1" hangingPunct="1">
              <a:lnSpc>
                <a:spcPct val="80000"/>
              </a:lnSpc>
            </a:pPr>
            <a:r>
              <a:rPr lang="en-US" altLang="en-US"/>
              <a:t>4. To ensure that only the statements associated with the matching template are executed, include a </a:t>
            </a:r>
            <a:r>
              <a:rPr lang="en-US" altLang="en-US" b="1">
                <a:solidFill>
                  <a:srgbClr val="C00000"/>
                </a:solidFill>
                <a:latin typeface="Tempus Sans ITC" panose="04020404030D07020202" pitchFamily="82" charset="0"/>
              </a:rPr>
              <a:t>break statement</a:t>
            </a:r>
            <a:r>
              <a:rPr lang="en-US" altLang="en-US">
                <a:solidFill>
                  <a:srgbClr val="C00000"/>
                </a:solidFill>
              </a:rPr>
              <a:t> </a:t>
            </a:r>
            <a:r>
              <a:rPr lang="en-US" altLang="en-US"/>
              <a:t>where needed, which terminates the entire switch statement.</a:t>
            </a:r>
          </a:p>
          <a:p>
            <a:pPr algn="just" eaLnBrk="1" hangingPunct="1">
              <a:lnSpc>
                <a:spcPct val="80000"/>
              </a:lnSpc>
            </a:pPr>
            <a:endParaRPr lang="en-US" altLang="ko-KR" sz="800">
              <a:ea typeface="Gulim" panose="020B0600000101010101" pitchFamily="34" charset="-127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ko-KR">
                <a:ea typeface="Gulim" panose="020B0600000101010101" pitchFamily="34" charset="-127"/>
              </a:rPr>
              <a:t>5.  As usual the statement(s) can also be a block of code put in curly braces.</a:t>
            </a:r>
            <a:endParaRPr lang="en-US" altLang="en-US"/>
          </a:p>
          <a:p>
            <a:pPr eaLnBrk="1" hangingPunct="1"/>
            <a:endParaRPr lang="en-US" altLang="en-US"/>
          </a:p>
          <a:p>
            <a:endParaRPr lang="en-US" altLang="en-US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49DB32-2CD2-4D40-913E-F0716731580E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3639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5710A4-3A6C-42F1-AE40-E7D333AE4D69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2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4745-080E-4B88-8B8B-2992D21A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4FCC-663F-4763-BD22-ED6902EE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37EB-2F3B-4811-9996-207993A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43CB-7323-4262-87D6-7B99671EEF6F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6A9E-BCDE-41C3-9CC5-60E5429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BD90-BB00-4963-8C24-3F10ACC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458-8B79-452D-921E-0ECB61C2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3611-6A6B-4C43-BC3F-2D55523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9E3-AC0D-450F-9A49-5C61C4E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34DE-A213-4DBF-B2D5-27A0D72B1D83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0025-6DC4-4532-92BB-0035F529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8A83-CA99-4D72-B625-29725E2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62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A839-A5B7-418C-BCAD-FF5ECF04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F598-AD66-4E78-BD33-F2CAFCE8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A7E6-34A8-42D9-8468-C791AC8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920D-9639-4856-9B9F-12F9400DDFAD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F426-0C69-4147-90A0-49BD071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6A7B-B42C-4261-9E1C-BAE9C18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AE-95E6-4734-B0CA-6B3F17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3265-9837-449F-B9B5-10EF38B97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79CB-7734-4551-8220-E3D4D913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4707-78EE-4BB5-92F6-BB536223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1EBE8-9873-4ED1-B7EC-BE7822C48A17}" type="datetime1">
              <a:rPr lang="en-US" smtClean="0"/>
              <a:t>9/1/2025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88337-0745-4DB8-BCBB-B2C3787A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57A4B-F2B7-413C-B502-1F67C91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1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5BA4-0615-4F7C-873A-1CE0AB72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5B24-BF8C-46F6-860A-58543765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5C70-C911-4814-925A-E28281B6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32A8-B556-4ADA-B8D9-24C84CAD7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47CDF-2C21-477A-9E4F-D478C9090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FE3E-BEF0-4D27-86EA-E7C12757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C761-9FDC-4D29-A20A-65B526911599}" type="datetime1">
              <a:rPr lang="en-US" smtClean="0"/>
              <a:t>9/1/2025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35C4-93B3-4934-8FAB-308E4C47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61A2-2E89-45BF-9912-25CADFD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7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8C8-DCFC-42DE-B589-797097CE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FAD1B-25A8-401B-A470-BB8F690D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C6958-6B40-4FD2-9851-1D46ED0D4386}" type="datetime1">
              <a:rPr lang="en-US" smtClean="0"/>
              <a:t>9/1/2025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8D88C-4868-4C00-B069-222F73C2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B5A61-237C-4FD4-82DC-2C14D4A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0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15D0-8CE4-4634-A3FA-8B102DF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78CA-3445-42B3-B339-9B1723549B64}" type="datetime1">
              <a:rPr lang="en-US" smtClean="0"/>
              <a:t>9/1/2025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C80B2-EC71-4848-8516-94910D3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BB75-7581-4616-954C-12FD6B12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5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DD6-0EDC-410D-B6A9-C0379C9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99FBF-7F3F-496B-8533-E5759A0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0088-0DCF-454C-BCA0-E08A6B5C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FB6B-25DA-4495-8891-E5462B4A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273F7-94E4-45F6-B0AD-5DF0F2702E0F}" type="datetime1">
              <a:rPr lang="en-US" smtClean="0"/>
              <a:t>9/1/2025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F900-E8EB-4577-9FD7-128CBF6F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CEBB4-9CD1-4A50-A6DB-D2C7080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6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0DBF-BFAB-445E-ACC4-A51766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BF54-ABF7-4365-A8C2-EEA4EEFAD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747-C8FB-4EF1-8EDF-C5EE17A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E11C-023F-4B6F-B57A-7042D73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16FEC-082F-4DB3-8FD6-23FB07F623E1}" type="datetime1">
              <a:rPr lang="en-US" smtClean="0"/>
              <a:t>9/1/2025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7CEB-9DD0-4B74-BE5C-FB70FBC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B171-7A1B-4CAC-8C40-29BB693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3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4F1F-5027-4E1F-89BF-075A57C9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E24CC-301E-4D8A-BFC7-3ED1E685B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9E63-03AB-4658-B659-F96379FA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37EC-3558-49A3-AB6F-D78AF19726C7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7C7C-EA7C-43D7-9C98-4953DDD9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E119-F33A-43B2-ACCD-2210AE6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6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DDC8D-D96B-4CF8-B742-313A77CE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A008-CAC5-4BD4-B085-79537F13E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35-5983-430E-9A6F-966CA34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F360-2D98-450A-8BA7-87D5F68AF617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1584-0A77-4AB0-ABA1-EF7A9661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3395-9EB0-45A5-9312-7EF200F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E960E-A823-46A1-B92C-C835BEC3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4212-C96E-427C-881B-D2A40765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9243"/>
            <a:ext cx="8245806" cy="490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C667-5E2D-43CB-81C1-2C89384C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8657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E4EB9-82DB-45D3-B2B0-3D262134240D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0E833-EA5E-4A50-A759-535E45CB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8203" y="6356351"/>
            <a:ext cx="6581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1001                     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6493-223E-484B-B535-A556B9BB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356351"/>
            <a:ext cx="3591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EA51C-495D-44A2-B925-9AAC4BD9F0A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885180"/>
            <a:ext cx="5314950" cy="110251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Decision Making, Branching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71700" y="3146823"/>
            <a:ext cx="4800600" cy="193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4000" b="1" dirty="0"/>
              <a:t>Switch and Break</a:t>
            </a:r>
          </a:p>
        </p:txBody>
      </p:sp>
    </p:spTree>
    <p:extLst>
      <p:ext uri="{BB962C8B-B14F-4D97-AF65-F5344CB8AC3E}">
        <p14:creationId xmlns:p14="http://schemas.microsoft.com/office/powerpoint/2010/main" val="346444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608570"/>
            <a:ext cx="5372100" cy="5143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200" dirty="0"/>
              <a:t>The </a:t>
            </a:r>
            <a:r>
              <a:rPr lang="en-US" altLang="en-US" sz="3200" dirty="0">
                <a:solidFill>
                  <a:srgbClr val="C00000"/>
                </a:solidFill>
              </a:rPr>
              <a:t>switch</a:t>
            </a:r>
            <a:r>
              <a:rPr lang="en-US" altLang="en-US" sz="3200" dirty="0"/>
              <a:t> Statement</a:t>
            </a:r>
          </a:p>
        </p:txBody>
      </p:sp>
      <p:sp>
        <p:nvSpPr>
          <p:cNvPr id="9216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732807-8155-4128-8EDC-D5DE5E1388B6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5643361" y="6401991"/>
            <a:ext cx="33147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5782C0-C9E1-4FF7-8302-F47D4B18F3F5}" type="slidenum">
              <a:rPr lang="en-US" altLang="en-US" b="0" smtClean="0"/>
              <a:pPr/>
              <a:t>2</a:t>
            </a:fld>
            <a:endParaRPr lang="en-US" altLang="en-US" b="0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628650" y="1122920"/>
            <a:ext cx="8179019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14313" indent="-214313">
              <a:buFont typeface="Wingdings" pitchFamily="2" charset="2"/>
              <a:buChar char="Ø"/>
              <a:defRPr/>
            </a:pPr>
            <a:r>
              <a:rPr lang="en-IN" sz="2800" dirty="0"/>
              <a:t>switch</a:t>
            </a:r>
            <a:r>
              <a:rPr lang="en-IN" sz="3200" dirty="0"/>
              <a:t> is a control statement in C that allows you to </a:t>
            </a:r>
            <a:r>
              <a:rPr lang="en-IN" sz="3200" dirty="0">
                <a:solidFill>
                  <a:srgbClr val="FF0000"/>
                </a:solidFill>
              </a:rPr>
              <a:t>execute one block of code out of many </a:t>
            </a:r>
            <a:r>
              <a:rPr lang="en-IN" sz="3200" dirty="0"/>
              <a:t>options, based on the value of an expression.</a:t>
            </a:r>
          </a:p>
          <a:p>
            <a:pPr marL="214313" indent="-214313">
              <a:buFont typeface="Wingdings" pitchFamily="2" charset="2"/>
              <a:buChar char="Ø"/>
              <a:defRPr/>
            </a:pPr>
            <a:endParaRPr lang="en-IN" sz="3200" dirty="0"/>
          </a:p>
          <a:p>
            <a:pPr marL="214313" indent="-214313">
              <a:buFont typeface="Wingdings" pitchFamily="2" charset="2"/>
              <a:buChar char="Ø"/>
              <a:defRPr/>
            </a:pPr>
            <a:r>
              <a:rPr lang="en-IN" sz="3200" dirty="0"/>
              <a:t>It’s like a cleaner alternative to writing multiple </a:t>
            </a:r>
            <a:r>
              <a:rPr lang="en-IN" sz="2800" dirty="0"/>
              <a:t>if-else</a:t>
            </a:r>
            <a:r>
              <a:rPr lang="en-IN" sz="3200" dirty="0"/>
              <a:t> statements.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8622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D32FC-AEE5-721F-49AE-749C98B1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34DE-A213-4DBF-B2D5-27A0D72B1D83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17A77-1CBD-F3AC-413C-3F35F928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BBCD0-25D6-D86D-DD71-2116A2D64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419100"/>
            <a:ext cx="634365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958549-CEB7-5DE2-C2B1-3049D504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78CA-3445-42B3-B339-9B1723549B64}" type="datetime1">
              <a:rPr lang="en-US" smtClean="0"/>
              <a:t>9/1/2025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68F910-5E00-D2CC-BB3C-749BA716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B78F8-F8E4-C804-D609-6FC241C734B8}"/>
              </a:ext>
            </a:extLst>
          </p:cNvPr>
          <p:cNvSpPr txBox="1"/>
          <p:nvPr/>
        </p:nvSpPr>
        <p:spPr>
          <a:xfrm>
            <a:off x="415158" y="495622"/>
            <a:ext cx="837149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Points to Remember:</a:t>
            </a:r>
          </a:p>
          <a:p>
            <a:pPr>
              <a:buFont typeface="+mj-lt"/>
              <a:buAutoNum type="arabicPeriod"/>
            </a:pPr>
            <a:r>
              <a:rPr lang="en-IN" sz="2800" dirty="0"/>
              <a:t>The </a:t>
            </a:r>
            <a:r>
              <a:rPr lang="en-IN" sz="2800" b="1" dirty="0"/>
              <a:t>expression</a:t>
            </a:r>
            <a:r>
              <a:rPr lang="en-IN" sz="2800" dirty="0"/>
              <a:t> inside </a:t>
            </a:r>
            <a:r>
              <a:rPr lang="en-IN" sz="2800" dirty="0">
                <a:latin typeface="Courier New" panose="02070309020205020404" pitchFamily="49" charset="0"/>
              </a:rPr>
              <a:t>switch</a:t>
            </a:r>
            <a:r>
              <a:rPr lang="en-IN" sz="2800" dirty="0"/>
              <a:t> must evaluate to an integer or character (not float/double).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Courier New" panose="02070309020205020404" pitchFamily="49" charset="0"/>
              </a:rPr>
              <a:t>case</a:t>
            </a:r>
            <a:r>
              <a:rPr lang="en-IN" sz="2800" dirty="0"/>
              <a:t> labels must be </a:t>
            </a:r>
            <a:r>
              <a:rPr lang="en-IN" sz="2800" b="1" dirty="0"/>
              <a:t>constant values</a:t>
            </a:r>
            <a:r>
              <a:rPr lang="en-IN" sz="2800" dirty="0"/>
              <a:t>.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Courier New" panose="02070309020205020404" pitchFamily="49" charset="0"/>
              </a:rPr>
              <a:t>break;</a:t>
            </a:r>
            <a:r>
              <a:rPr lang="en-IN" sz="2800" dirty="0"/>
              <a:t> is used to transfer control out of the switch</a:t>
            </a:r>
            <a:br>
              <a:rPr lang="en-IN" sz="2800" dirty="0"/>
            </a:br>
            <a:endParaRPr lang="en-IN" sz="2800" dirty="0"/>
          </a:p>
          <a:p>
            <a:pPr>
              <a:buFont typeface="+mj-lt"/>
              <a:buAutoNum type="arabicPeriod"/>
            </a:pPr>
            <a:r>
              <a:rPr lang="en-IN" sz="2800" dirty="0"/>
              <a:t>Without </a:t>
            </a:r>
            <a:r>
              <a:rPr lang="en-IN" sz="2800" dirty="0">
                <a:latin typeface="Courier New" panose="02070309020205020404" pitchFamily="49" charset="0"/>
              </a:rPr>
              <a:t>break</a:t>
            </a:r>
            <a:r>
              <a:rPr lang="en-IN" sz="2800" dirty="0"/>
              <a:t>, execution “falls through” to the next case.</a:t>
            </a:r>
          </a:p>
          <a:p>
            <a:pPr>
              <a:buFont typeface="+mj-lt"/>
              <a:buAutoNum type="arabicPeriod"/>
            </a:pPr>
            <a:r>
              <a:rPr lang="en-IN" sz="2800" dirty="0">
                <a:latin typeface="Courier New" panose="02070309020205020404" pitchFamily="49" charset="0"/>
              </a:rPr>
              <a:t>default</a:t>
            </a:r>
            <a:r>
              <a:rPr lang="en-IN" sz="2800" dirty="0"/>
              <a:t> is optional and runs if no case matches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1352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971550"/>
            <a:ext cx="5372100" cy="514350"/>
          </a:xfrm>
        </p:spPr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switch</a:t>
            </a:r>
            <a:r>
              <a:rPr lang="en-US" altLang="en-US"/>
              <a:t> statement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/>
              <a:t>  </a:t>
            </a:r>
          </a:p>
        </p:txBody>
      </p:sp>
      <p:sp>
        <p:nvSpPr>
          <p:cNvPr id="9421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0BD635-A1A4-4A2B-A746-496B02C21C5E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9421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B6A186-ECC7-4D43-95EA-5DBF1CCE701B}" type="slidenum">
              <a:rPr lang="en-US" altLang="en-US" b="0" smtClean="0"/>
              <a:pPr/>
              <a:t>5</a:t>
            </a:fld>
            <a:endParaRPr lang="en-US" altLang="en-US" b="0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824248" y="1714501"/>
            <a:ext cx="6605253" cy="4967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switch ( </a:t>
            </a:r>
            <a:r>
              <a:rPr lang="en-US" altLang="en-US" sz="1600" b="1" i="1" dirty="0"/>
              <a:t>expression </a:t>
            </a:r>
            <a:r>
              <a:rPr lang="en-US" altLang="en-US" sz="1600" b="1" dirty="0"/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{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>
                <a:solidFill>
                  <a:srgbClr val="008000"/>
                </a:solidFill>
              </a:rPr>
              <a:t>case </a:t>
            </a:r>
            <a:r>
              <a:rPr lang="en-US" altLang="en-US" sz="1600" b="1" i="1" dirty="0">
                <a:solidFill>
                  <a:srgbClr val="008000"/>
                </a:solidFill>
              </a:rPr>
              <a:t>value1</a:t>
            </a:r>
            <a:r>
              <a:rPr lang="en-US" altLang="en-US" sz="1600" b="1" dirty="0">
                <a:solidFill>
                  <a:srgbClr val="008000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	...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	</a:t>
            </a:r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break;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>
                <a:solidFill>
                  <a:srgbClr val="008000"/>
                </a:solidFill>
              </a:rPr>
              <a:t>case </a:t>
            </a:r>
            <a:r>
              <a:rPr lang="en-US" altLang="en-US" sz="1600" b="1" i="1" dirty="0">
                <a:solidFill>
                  <a:srgbClr val="008000"/>
                </a:solidFill>
              </a:rPr>
              <a:t>value2</a:t>
            </a:r>
            <a:r>
              <a:rPr lang="en-US" altLang="en-US" sz="1600" b="1" dirty="0">
                <a:solidFill>
                  <a:srgbClr val="008000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	...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	</a:t>
            </a:r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break;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>
                <a:solidFill>
                  <a:srgbClr val="008000"/>
                </a:solidFill>
              </a:rPr>
              <a:t>case </a:t>
            </a:r>
            <a:r>
              <a:rPr lang="en-US" altLang="en-US" sz="1600" b="1" i="1" dirty="0">
                <a:solidFill>
                  <a:srgbClr val="008000"/>
                </a:solidFill>
              </a:rPr>
              <a:t>value n</a:t>
            </a:r>
            <a:r>
              <a:rPr lang="en-US" altLang="en-US" sz="1600" b="1" dirty="0">
                <a:solidFill>
                  <a:srgbClr val="008000"/>
                </a:solidFill>
              </a:rPr>
              <a:t>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	...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	</a:t>
            </a:r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break;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>
                <a:solidFill>
                  <a:srgbClr val="008000"/>
                </a:solidFill>
              </a:rPr>
              <a:t>default: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i="1" dirty="0"/>
              <a:t>	program statement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	...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1600" b="1" dirty="0"/>
              <a:t>}</a:t>
            </a:r>
          </a:p>
        </p:txBody>
      </p:sp>
      <p:sp>
        <p:nvSpPr>
          <p:cNvPr id="94213" name="AutoShape 5"/>
          <p:cNvSpPr>
            <a:spLocks noChangeArrowheads="1"/>
          </p:cNvSpPr>
          <p:nvPr/>
        </p:nvSpPr>
        <p:spPr bwMode="auto">
          <a:xfrm>
            <a:off x="4000493" y="1520448"/>
            <a:ext cx="3496386" cy="2788407"/>
          </a:xfrm>
          <a:prstGeom prst="cloudCallout">
            <a:avLst>
              <a:gd name="adj1" fmla="val -70894"/>
              <a:gd name="adj2" fmla="val -39102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400" b="0" dirty="0">
                <a:latin typeface="+mn-lt"/>
              </a:rPr>
              <a:t>The </a:t>
            </a:r>
            <a:r>
              <a:rPr lang="en-US" altLang="en-US" sz="1400" b="0" i="1" dirty="0">
                <a:latin typeface="+mn-lt"/>
              </a:rPr>
              <a:t>expression  </a:t>
            </a:r>
            <a:r>
              <a:rPr lang="en-US" altLang="en-US" sz="1400" b="0" dirty="0">
                <a:latin typeface="+mn-lt"/>
              </a:rPr>
              <a:t>is successively compared against the values  </a:t>
            </a:r>
            <a:r>
              <a:rPr lang="en-US" altLang="en-US" sz="1400" b="0" i="1" dirty="0">
                <a:latin typeface="+mn-lt"/>
              </a:rPr>
              <a:t>value1</a:t>
            </a:r>
            <a:r>
              <a:rPr lang="en-US" altLang="en-US" sz="1400" b="0" dirty="0">
                <a:latin typeface="+mn-lt"/>
              </a:rPr>
              <a:t>, </a:t>
            </a:r>
            <a:r>
              <a:rPr lang="en-US" altLang="en-US" sz="1400" b="0" i="1" dirty="0">
                <a:latin typeface="+mn-lt"/>
              </a:rPr>
              <a:t>value2, ..., </a:t>
            </a:r>
            <a:r>
              <a:rPr lang="en-US" altLang="en-US" sz="1400" b="0" i="1" dirty="0" err="1">
                <a:latin typeface="+mn-lt"/>
              </a:rPr>
              <a:t>value</a:t>
            </a:r>
            <a:r>
              <a:rPr lang="en-US" altLang="en-US" sz="1400" i="1" dirty="0" err="1">
                <a:latin typeface="+mn-lt"/>
              </a:rPr>
              <a:t>n</a:t>
            </a:r>
            <a:r>
              <a:rPr lang="en-US" altLang="en-US" sz="1400" b="0" dirty="0">
                <a:latin typeface="+mn-lt"/>
              </a:rPr>
              <a:t>. If a case is found whose value is equal to the value of  </a:t>
            </a:r>
            <a:r>
              <a:rPr lang="en-US" altLang="en-US" sz="1400" b="0" i="1" dirty="0">
                <a:latin typeface="+mn-lt"/>
              </a:rPr>
              <a:t>expression</a:t>
            </a:r>
            <a:r>
              <a:rPr lang="en-US" altLang="en-US" sz="1400" b="0" dirty="0">
                <a:latin typeface="+mn-lt"/>
              </a:rPr>
              <a:t>, the program statements that follow the case are executed.</a:t>
            </a:r>
          </a:p>
        </p:txBody>
      </p:sp>
      <p:sp>
        <p:nvSpPr>
          <p:cNvPr id="94214" name="Text Box 8"/>
          <p:cNvSpPr txBox="1">
            <a:spLocks noChangeArrowheads="1"/>
          </p:cNvSpPr>
          <p:nvPr/>
        </p:nvSpPr>
        <p:spPr bwMode="auto">
          <a:xfrm>
            <a:off x="4000493" y="4327115"/>
            <a:ext cx="4098702" cy="19897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+mn-lt"/>
              </a:rPr>
              <a:t>The switch test expression must be one with an integer value  (including type char) (No float !). </a:t>
            </a:r>
          </a:p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en-US" dirty="0">
                <a:latin typeface="+mn-lt"/>
              </a:rPr>
              <a:t>The case values must be integer-type  constants   or integer constant expressions (You can't use a variable for a case label !)</a:t>
            </a:r>
          </a:p>
        </p:txBody>
      </p:sp>
    </p:spTree>
    <p:extLst>
      <p:ext uri="{BB962C8B-B14F-4D97-AF65-F5344CB8AC3E}">
        <p14:creationId xmlns:p14="http://schemas.microsoft.com/office/powerpoint/2010/main" val="6112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971550"/>
            <a:ext cx="5372100" cy="5143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>
                <a:latin typeface="Courier New" panose="02070309020205020404" pitchFamily="49" charset="0"/>
              </a:rPr>
              <a:t>switch-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 sz="2400">
                <a:solidFill>
                  <a:schemeClr val="accent2"/>
                </a:solidFill>
                <a:latin typeface="Tempus Sans ITC" panose="04020404030D07020202" pitchFamily="82" charset="0"/>
              </a:rPr>
              <a:t>control flow </a:t>
            </a:r>
          </a:p>
        </p:txBody>
      </p:sp>
      <p:sp>
        <p:nvSpPr>
          <p:cNvPr id="9523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4FECE9-932B-4939-BE49-94567820A9C3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95236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D3AC99-5B45-400F-93E9-D98861C6FF10}" type="slidenum">
              <a:rPr lang="en-US" altLang="en-US" b="0" smtClean="0"/>
              <a:pPr/>
              <a:t>6</a:t>
            </a:fld>
            <a:endParaRPr lang="en-US" altLang="en-US" b="0"/>
          </a:p>
        </p:txBody>
      </p:sp>
      <p:pic>
        <p:nvPicPr>
          <p:cNvPr id="95235" name="Picture 7" descr="Picture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485900"/>
            <a:ext cx="4757134" cy="405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503102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Title 3"/>
          <p:cNvSpPr>
            <a:spLocks noGrp="1"/>
          </p:cNvSpPr>
          <p:nvPr>
            <p:ph type="title"/>
          </p:nvPr>
        </p:nvSpPr>
        <p:spPr>
          <a:xfrm>
            <a:off x="2057400" y="440731"/>
            <a:ext cx="5372100" cy="514350"/>
          </a:xfrm>
        </p:spPr>
        <p:txBody>
          <a:bodyPr/>
          <a:lstStyle/>
          <a:p>
            <a:pPr algn="ctr"/>
            <a:r>
              <a:rPr lang="en-US" altLang="en-US" sz="2400" dirty="0"/>
              <a:t>switch-</a:t>
            </a:r>
            <a:r>
              <a:rPr lang="en-US" altLang="en-US" sz="2100" dirty="0">
                <a:solidFill>
                  <a:schemeClr val="accent2"/>
                </a:solidFill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Tempus Sans ITC" panose="04020404030D07020202" pitchFamily="82" charset="0"/>
              </a:rPr>
              <a:t>example 1</a:t>
            </a:r>
            <a:endParaRPr lang="en-US" altLang="en-US" sz="2400" dirty="0"/>
          </a:p>
        </p:txBody>
      </p:sp>
      <p:sp>
        <p:nvSpPr>
          <p:cNvPr id="97282" name="Content Placeholder 1"/>
          <p:cNvSpPr>
            <a:spLocks noGrp="1"/>
          </p:cNvSpPr>
          <p:nvPr>
            <p:ph idx="1"/>
          </p:nvPr>
        </p:nvSpPr>
        <p:spPr bwMode="auto">
          <a:xfrm>
            <a:off x="1081825" y="824248"/>
            <a:ext cx="6967471" cy="4470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#include&lt;</a:t>
            </a:r>
            <a:r>
              <a:rPr lang="en-US" altLang="en-US" sz="1800" b="1" dirty="0" err="1"/>
              <a:t>stdio.h</a:t>
            </a:r>
            <a:r>
              <a:rPr lang="en-US" altLang="en-US" sz="1800" b="1" dirty="0"/>
              <a:t>&gt;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 err="1"/>
              <a:t>int</a:t>
            </a:r>
            <a:r>
              <a:rPr lang="en-US" altLang="en-US" sz="1800" b="1" dirty="0"/>
              <a:t> main()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 err="1"/>
              <a:t>int</a:t>
            </a:r>
            <a:r>
              <a:rPr lang="en-US" altLang="en-US" sz="1800" b="1" dirty="0"/>
              <a:t> choice;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(“Enter your choice: 1-yes, 2-no\n”);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scanf(“%</a:t>
            </a:r>
            <a:r>
              <a:rPr lang="en-US" altLang="en-US" sz="1800" b="1" dirty="0" err="1"/>
              <a:t>d”,&amp;choice</a:t>
            </a:r>
            <a:r>
              <a:rPr lang="en-US" altLang="en-US" sz="1800" b="1" dirty="0"/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switch(choice)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	case 1: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(“YESSSSSSS……”);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	     	break;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	case 2: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(“NOOOOOO……”);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	     	break;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	default: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(“DEFAULT CASE…….”);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	}	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(“The choice is %</a:t>
            </a:r>
            <a:r>
              <a:rPr lang="en-US" altLang="en-US" sz="1800" b="1" dirty="0" err="1"/>
              <a:t>d”,choice</a:t>
            </a:r>
            <a:r>
              <a:rPr lang="en-US" altLang="en-US" sz="1800" b="1" dirty="0"/>
              <a:t>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return 0;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b="1" dirty="0"/>
              <a:t>}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b="1" dirty="0"/>
          </a:p>
        </p:txBody>
      </p:sp>
      <p:sp>
        <p:nvSpPr>
          <p:cNvPr id="9728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D3E416-0BB2-42A3-A08C-F1692B978E4B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97283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5587821" y="6447632"/>
            <a:ext cx="33147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40F8B3-5C85-47B8-98E2-E65CBAAA1782}" type="slidenum">
              <a:rPr lang="en-US" altLang="en-US" b="0" smtClean="0">
                <a:solidFill>
                  <a:srgbClr val="000000"/>
                </a:solidFill>
              </a:rPr>
              <a:pPr/>
              <a:t>7</a:t>
            </a:fld>
            <a:endParaRPr lang="en-US" alt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00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971550"/>
            <a:ext cx="5372100" cy="514350"/>
          </a:xfrm>
        </p:spPr>
        <p:txBody>
          <a:bodyPr/>
          <a:lstStyle/>
          <a:p>
            <a:pPr algn="ctr"/>
            <a:r>
              <a:rPr lang="en-US" altLang="en-US" b="1"/>
              <a:t>switch-</a:t>
            </a:r>
            <a:r>
              <a:rPr lang="en-US" altLang="en-US" sz="2400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chemeClr val="accent2"/>
                </a:solidFill>
                <a:latin typeface="Tempus Sans ITC" panose="04020404030D07020202" pitchFamily="82" charset="0"/>
              </a:rPr>
              <a:t>example 2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9830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27279" y="1657350"/>
            <a:ext cx="2730321" cy="42862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buFontTx/>
              <a:buNone/>
            </a:pPr>
            <a:r>
              <a:rPr lang="en-US" altLang="en-US" sz="1600" b="1" dirty="0"/>
              <a:t>scanf(“%</a:t>
            </a:r>
            <a:r>
              <a:rPr lang="en-US" altLang="en-US" sz="1600" b="1" dirty="0" err="1"/>
              <a:t>d”,&amp;mark</a:t>
            </a:r>
            <a:r>
              <a:rPr lang="en-US" altLang="en-US" sz="1600" b="1" dirty="0"/>
              <a:t>);</a:t>
            </a:r>
          </a:p>
          <a:p>
            <a:pPr eaLnBrk="1" hangingPunct="1">
              <a:buFontTx/>
              <a:buNone/>
            </a:pPr>
            <a:endParaRPr lang="en-US" altLang="en-US" sz="1600" b="1" dirty="0"/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switch (mark)</a:t>
            </a:r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case 100:</a:t>
            </a:r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case  90:</a:t>
            </a:r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case  80:   </a:t>
            </a:r>
            <a:r>
              <a:rPr lang="en-US" altLang="en-US" sz="1600" b="1" dirty="0"/>
              <a:t>grade=‘A’;</a:t>
            </a:r>
          </a:p>
          <a:p>
            <a:pPr eaLnBrk="1" hangingPunct="1">
              <a:buFontTx/>
              <a:buNone/>
            </a:pPr>
            <a:r>
              <a:rPr lang="en-US" altLang="en-US" sz="1600" b="1" dirty="0"/>
              <a:t>		     break;</a:t>
            </a:r>
          </a:p>
          <a:p>
            <a:pPr eaLnBrk="1" hangingPunct="1">
              <a:buFontTx/>
              <a:buNone/>
            </a:pPr>
            <a:endParaRPr lang="en-US" altLang="en-US" sz="1600" b="1" dirty="0">
              <a:solidFill>
                <a:srgbClr val="9933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case  70:</a:t>
            </a:r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case  60:</a:t>
            </a:r>
          </a:p>
          <a:p>
            <a:pPr eaLnBrk="1" hangingPunct="1">
              <a:buFontTx/>
              <a:buNone/>
            </a:pPr>
            <a:r>
              <a:rPr lang="en-US" altLang="en-US" sz="1600" b="1" dirty="0">
                <a:solidFill>
                  <a:srgbClr val="993300"/>
                </a:solidFill>
              </a:rPr>
              <a:t>		   </a:t>
            </a:r>
            <a:r>
              <a:rPr lang="en-US" altLang="en-US" sz="1600" b="1" dirty="0"/>
              <a:t>grade=‘B’;</a:t>
            </a:r>
          </a:p>
          <a:p>
            <a:pPr eaLnBrk="1" hangingPunct="1">
              <a:buFontTx/>
              <a:buNone/>
            </a:pPr>
            <a:r>
              <a:rPr lang="en-US" altLang="en-US" sz="1600" b="1" dirty="0"/>
              <a:t>		   break;</a:t>
            </a:r>
          </a:p>
          <a:p>
            <a:pPr eaLnBrk="1" hangingPunct="1">
              <a:buFontTx/>
              <a:buNone/>
            </a:pPr>
            <a:endParaRPr lang="en-US" altLang="en-US" sz="1600" b="1" dirty="0"/>
          </a:p>
        </p:txBody>
      </p:sp>
      <p:sp>
        <p:nvSpPr>
          <p:cNvPr id="9831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73DE1F-26A7-4B34-B3C9-36689C731427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98309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5617604" y="6447632"/>
            <a:ext cx="33147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A242E9-6A2D-4705-B112-68F1AE51BED9}" type="slidenum">
              <a:rPr lang="en-US" altLang="en-US" b="0" smtClean="0"/>
              <a:pPr/>
              <a:t>8</a:t>
            </a:fld>
            <a:endParaRPr lang="en-US" altLang="en-US" b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293495" y="1828799"/>
            <a:ext cx="3307455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>
              <a:spcBef>
                <a:spcPct val="20000"/>
              </a:spcBef>
              <a:defRPr/>
            </a:pPr>
            <a:endParaRPr lang="en-US" sz="1600" b="1" kern="0" dirty="0">
              <a:solidFill>
                <a:srgbClr val="993300"/>
              </a:solidFill>
            </a:endParaRP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>
                <a:solidFill>
                  <a:srgbClr val="993300"/>
                </a:solidFill>
              </a:rPr>
              <a:t>case  50: 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>
                <a:solidFill>
                  <a:srgbClr val="993300"/>
                </a:solidFill>
              </a:rPr>
              <a:t>		   </a:t>
            </a:r>
            <a:r>
              <a:rPr lang="en-US" sz="1600" b="1" kern="0" dirty="0"/>
              <a:t>grade=‘C’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/>
              <a:t>		   break;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>
                <a:solidFill>
                  <a:srgbClr val="993300"/>
                </a:solidFill>
              </a:rPr>
              <a:t>case 40: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>
                <a:solidFill>
                  <a:srgbClr val="993300"/>
                </a:solidFill>
              </a:rPr>
              <a:t>		   </a:t>
            </a:r>
            <a:r>
              <a:rPr lang="en-US" sz="1600" b="1" kern="0" dirty="0"/>
              <a:t>grade=‘D’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/>
              <a:t>		   break;</a:t>
            </a:r>
          </a:p>
          <a:p>
            <a:pPr marL="257175" indent="-257175">
              <a:spcBef>
                <a:spcPct val="20000"/>
              </a:spcBef>
              <a:defRPr/>
            </a:pPr>
            <a:endParaRPr lang="en-US" sz="1600" b="1" kern="0" dirty="0">
              <a:solidFill>
                <a:srgbClr val="993300"/>
              </a:solidFill>
            </a:endParaRP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>
                <a:solidFill>
                  <a:srgbClr val="993300"/>
                </a:solidFill>
              </a:rPr>
              <a:t>default:   </a:t>
            </a:r>
            <a:r>
              <a:rPr lang="en-US" sz="1600" b="1" kern="0" dirty="0"/>
              <a:t>grade=‘F’;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/>
              <a:t>		   break;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>
                <a:solidFill>
                  <a:srgbClr val="993300"/>
                </a:solidFill>
              </a:rPr>
              <a:t>	}  </a:t>
            </a:r>
          </a:p>
          <a:p>
            <a:pPr marL="257175" indent="-257175">
              <a:spcBef>
                <a:spcPct val="20000"/>
              </a:spcBef>
              <a:defRPr/>
            </a:pPr>
            <a:r>
              <a:rPr lang="en-US" sz="1600" b="1" kern="0" dirty="0"/>
              <a:t> </a:t>
            </a:r>
            <a:r>
              <a:rPr lang="en-US" sz="1600" b="1" kern="0" dirty="0" err="1"/>
              <a:t>printf</a:t>
            </a:r>
            <a:r>
              <a:rPr lang="en-US" sz="1600" b="1" kern="0" dirty="0"/>
              <a:t>(“%</a:t>
            </a:r>
            <a:r>
              <a:rPr lang="en-US" sz="1600" b="1" kern="0" dirty="0" err="1"/>
              <a:t>c”,grade</a:t>
            </a:r>
            <a:r>
              <a:rPr lang="en-US" sz="1600" b="1" kern="0" dirty="0"/>
              <a:t>);	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975547" y="1485900"/>
            <a:ext cx="0" cy="445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433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971550"/>
            <a:ext cx="5372100" cy="5143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An Example – switch case 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94430" y="1365161"/>
            <a:ext cx="4163420" cy="4778062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char </a:t>
            </a:r>
            <a:r>
              <a:rPr lang="en-US" altLang="en-US" sz="1800" b="1" dirty="0" err="1"/>
              <a:t>ch</a:t>
            </a:r>
            <a:r>
              <a:rPr lang="en-US" altLang="en-US" sz="1800" b="1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scanf)(“%c”,&amp;</a:t>
            </a:r>
            <a:r>
              <a:rPr lang="en-US" altLang="en-US" sz="1800" b="1" dirty="0" err="1"/>
              <a:t>ch</a:t>
            </a:r>
            <a:r>
              <a:rPr lang="en-US" altLang="en-US" sz="1800" b="1" dirty="0"/>
              <a:t>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switch(</a:t>
            </a:r>
            <a:r>
              <a:rPr lang="en-US" altLang="en-US" sz="1800" b="1" dirty="0" err="1"/>
              <a:t>ch</a:t>
            </a:r>
            <a:r>
              <a:rPr lang="en-US" altLang="en-US" sz="1800" b="1" dirty="0"/>
              <a:t>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case ‘a’ 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(“Vowel”); 		        break;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case ‘e’ 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(“Vowel”); 		        break;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case ‘</a:t>
            </a:r>
            <a:r>
              <a:rPr lang="en-US" altLang="en-US" sz="1800" b="1" dirty="0" err="1">
                <a:solidFill>
                  <a:srgbClr val="FF0000"/>
                </a:solidFill>
              </a:rPr>
              <a:t>i</a:t>
            </a:r>
            <a:r>
              <a:rPr lang="en-US" altLang="en-US" sz="1800" b="1" dirty="0">
                <a:solidFill>
                  <a:srgbClr val="FF0000"/>
                </a:solidFill>
              </a:rPr>
              <a:t>’ 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(“Vowel”); 		       break;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case ‘o’ 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(“Vowel”); 		        break;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case ‘u’ 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(“Vowel”); 	  	        break;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default: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(“Not a Vowel”); 	} </a:t>
            </a:r>
          </a:p>
        </p:txBody>
      </p:sp>
      <p:sp>
        <p:nvSpPr>
          <p:cNvPr id="10035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DEED85-2899-4FE0-9169-C104425E90D3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10035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5475936" y="6401991"/>
            <a:ext cx="33147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C3BE32-C864-4226-B029-73290E59F670}" type="slidenum">
              <a:rPr lang="en-US" altLang="en-US" b="0" smtClean="0"/>
              <a:pPr/>
              <a:t>9</a:t>
            </a:fld>
            <a:endParaRPr lang="en-US" altLang="en-US" b="0" dirty="0"/>
          </a:p>
        </p:txBody>
      </p:sp>
      <p:sp>
        <p:nvSpPr>
          <p:cNvPr id="100356" name="Rectangle 5"/>
          <p:cNvSpPr>
            <a:spLocks noChangeArrowheads="1"/>
          </p:cNvSpPr>
          <p:nvPr/>
        </p:nvSpPr>
        <p:spPr bwMode="auto">
          <a:xfrm>
            <a:off x="4083845" y="3137297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350"/>
          </a:p>
        </p:txBody>
      </p:sp>
    </p:spTree>
    <p:extLst>
      <p:ext uri="{BB962C8B-B14F-4D97-AF65-F5344CB8AC3E}">
        <p14:creationId xmlns:p14="http://schemas.microsoft.com/office/powerpoint/2010/main" val="1602186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971550"/>
            <a:ext cx="5372100" cy="5143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An Example – switch case 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931831" y="1657350"/>
            <a:ext cx="3897469" cy="42291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char </a:t>
            </a:r>
            <a:r>
              <a:rPr lang="en-US" altLang="en-US" sz="1800" b="1" dirty="0" err="1"/>
              <a:t>ch</a:t>
            </a:r>
            <a:r>
              <a:rPr lang="en-US" altLang="en-US" sz="1800" b="1" dirty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scanf(“%c”,&amp;</a:t>
            </a:r>
            <a:r>
              <a:rPr lang="en-US" altLang="en-US" sz="1800" b="1" dirty="0" err="1"/>
              <a:t>ch</a:t>
            </a:r>
            <a:r>
              <a:rPr lang="en-US" altLang="en-US" sz="1800" b="1" dirty="0"/>
              <a:t>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switch(</a:t>
            </a:r>
            <a:r>
              <a:rPr lang="en-US" altLang="en-US" sz="1800" b="1" dirty="0" err="1"/>
              <a:t>ch</a:t>
            </a:r>
            <a:r>
              <a:rPr lang="en-US" altLang="en-US" sz="1800" b="1" dirty="0"/>
              <a:t>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case ‘a’: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	case ‘e’: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	case ‘</a:t>
            </a:r>
            <a:r>
              <a:rPr lang="en-US" altLang="en-US" sz="1800" b="1" dirty="0" err="1">
                <a:solidFill>
                  <a:srgbClr val="FF0000"/>
                </a:solidFill>
              </a:rPr>
              <a:t>i</a:t>
            </a:r>
            <a:r>
              <a:rPr lang="en-US" altLang="en-US" sz="1800" b="1" dirty="0">
                <a:solidFill>
                  <a:srgbClr val="FF0000"/>
                </a:solidFill>
              </a:rPr>
              <a:t>’ 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	case ‘o’ </a:t>
            </a:r>
            <a:r>
              <a:rPr lang="en-US" altLang="en-US" sz="1800" b="1" dirty="0"/>
              <a:t>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</a:t>
            </a:r>
            <a:r>
              <a:rPr lang="en-US" altLang="en-US" sz="1800" b="1" dirty="0">
                <a:solidFill>
                  <a:srgbClr val="FF0000"/>
                </a:solidFill>
              </a:rPr>
              <a:t>case ‘u’ </a:t>
            </a:r>
            <a:r>
              <a:rPr lang="en-US" altLang="en-US" sz="1800" b="1" dirty="0"/>
              <a:t>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(“Vowel”); 	  	        break;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default: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(“Not a Vowel”); 	} </a:t>
            </a:r>
          </a:p>
        </p:txBody>
      </p:sp>
      <p:sp>
        <p:nvSpPr>
          <p:cNvPr id="101382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0FD2B8-282B-4AE5-97BE-823140C98460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101381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5669119" y="6447632"/>
            <a:ext cx="3314700" cy="2738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882ADC-11C1-4FAD-997F-8C238CFAD912}" type="slidenum">
              <a:rPr lang="en-US" altLang="en-US" b="0" smtClean="0"/>
              <a:pPr/>
              <a:t>10</a:t>
            </a:fld>
            <a:endParaRPr lang="en-US" altLang="en-US" b="0" dirty="0"/>
          </a:p>
        </p:txBody>
      </p:sp>
      <p:sp>
        <p:nvSpPr>
          <p:cNvPr id="101380" name="Rectangle 5"/>
          <p:cNvSpPr>
            <a:spLocks noChangeArrowheads="1"/>
          </p:cNvSpPr>
          <p:nvPr/>
        </p:nvSpPr>
        <p:spPr bwMode="auto">
          <a:xfrm>
            <a:off x="4083845" y="3137297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350"/>
          </a:p>
        </p:txBody>
      </p:sp>
    </p:spTree>
    <p:extLst>
      <p:ext uri="{BB962C8B-B14F-4D97-AF65-F5344CB8AC3E}">
        <p14:creationId xmlns:p14="http://schemas.microsoft.com/office/powerpoint/2010/main" val="90119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- </a:t>
            </a:r>
            <a:r>
              <a:rPr lang="en-US" altLang="en-US" dirty="0">
                <a:latin typeface="Courier New" panose="02070309020205020404" pitchFamily="49" charset="0"/>
              </a:rPr>
              <a:t>switch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/>
              <a:t>   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629150" y="1120397"/>
            <a:ext cx="3886200" cy="5235954"/>
          </a:xfrm>
        </p:spPr>
        <p:txBody>
          <a:bodyPr>
            <a:normAutofit/>
          </a:bodyPr>
          <a:lstStyle/>
          <a:p>
            <a:pPr marL="342900" lvl="1" indent="0">
              <a:buNone/>
              <a:defRPr/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case ‘*':</a:t>
            </a:r>
            <a:b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en-US" b="1" dirty="0"/>
              <a:t>result=value1*value2;</a:t>
            </a:r>
          </a:p>
          <a:p>
            <a:pPr marL="342900" lvl="1" indent="0">
              <a:buNone/>
              <a:defRPr/>
            </a:pPr>
            <a:r>
              <a:rPr lang="en-US" altLang="en-US" b="1" dirty="0"/>
              <a:t>	</a:t>
            </a:r>
            <a:r>
              <a:rPr lang="en-US" altLang="en-US" b="1" dirty="0" err="1"/>
              <a:t>printf</a:t>
            </a:r>
            <a:r>
              <a:rPr lang="en-US" altLang="en-US" b="1" dirty="0"/>
              <a:t>(“%</a:t>
            </a:r>
            <a:r>
              <a:rPr lang="en-US" altLang="en-US" b="1" dirty="0" err="1"/>
              <a:t>f”,result</a:t>
            </a:r>
            <a:r>
              <a:rPr lang="en-US" altLang="en-US" b="1" dirty="0"/>
              <a:t>);</a:t>
            </a:r>
          </a:p>
          <a:p>
            <a:pPr marL="342900" lvl="1" indent="0">
              <a:buNone/>
              <a:defRPr/>
            </a:pPr>
            <a:r>
              <a:rPr lang="en-US" altLang="en-US" b="1" dirty="0"/>
              <a:t>	break;</a:t>
            </a:r>
          </a:p>
          <a:p>
            <a:pPr marL="342900" lvl="1" indent="0">
              <a:buNone/>
              <a:defRPr/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case ‘/':</a:t>
            </a:r>
            <a:b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en-US" b="1" dirty="0"/>
              <a:t> if ( value2 == 0 ) </a:t>
            </a:r>
          </a:p>
          <a:p>
            <a:pPr marL="685800" lvl="2" indent="0">
              <a:buNone/>
              <a:defRPr/>
            </a:pPr>
            <a:r>
              <a:rPr lang="en-US" altLang="en-US" sz="1800" b="1" dirty="0"/>
              <a:t>  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(“Division by zero.\n“);</a:t>
            </a:r>
          </a:p>
          <a:p>
            <a:pPr marL="685800" lvl="2" indent="0">
              <a:buNone/>
              <a:defRPr/>
            </a:pPr>
            <a:r>
              <a:rPr lang="en-US" altLang="en-US" sz="1800" b="1" dirty="0"/>
              <a:t>else result=value1 / value2;	</a:t>
            </a:r>
          </a:p>
          <a:p>
            <a:pPr marL="685800" lvl="2" indent="0">
              <a:buNone/>
              <a:defRPr/>
            </a:pPr>
            <a:r>
              <a:rPr lang="en-US" altLang="en-US" sz="1800" b="1" dirty="0"/>
              <a:t>   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(“%</a:t>
            </a:r>
            <a:r>
              <a:rPr lang="en-US" altLang="en-US" sz="1800" b="1" dirty="0" err="1"/>
              <a:t>f”,result</a:t>
            </a:r>
            <a:r>
              <a:rPr lang="en-US" altLang="en-US" sz="1800" b="1" dirty="0"/>
              <a:t>);</a:t>
            </a:r>
          </a:p>
          <a:p>
            <a:pPr marL="685800" lvl="2" indent="0">
              <a:buNone/>
              <a:defRPr/>
            </a:pPr>
            <a:r>
              <a:rPr lang="en-US" altLang="en-US" sz="1800" b="1" dirty="0"/>
              <a:t>break;</a:t>
            </a:r>
          </a:p>
          <a:p>
            <a:pPr marL="342900" lvl="1" indent="0">
              <a:buNone/>
              <a:defRPr/>
            </a:pPr>
            <a:r>
              <a:rPr lang="en-US" altLang="en-US" b="1" dirty="0"/>
              <a:t>default;</a:t>
            </a:r>
          </a:p>
          <a:p>
            <a:pPr marL="342900" lvl="1" indent="0">
              <a:buNone/>
              <a:defRPr/>
            </a:pPr>
            <a:r>
              <a:rPr lang="en-US" altLang="en-US" b="1" dirty="0" err="1"/>
              <a:t>printf</a:t>
            </a:r>
            <a:r>
              <a:rPr lang="en-US" altLang="en-US" b="1" dirty="0"/>
              <a:t>(“Unknown Operator”);</a:t>
            </a:r>
          </a:p>
          <a:p>
            <a:pPr marL="342900" lvl="1" indent="0">
              <a:buNone/>
              <a:defRPr/>
            </a:pPr>
            <a:r>
              <a:rPr lang="en-US" altLang="en-US" b="1" dirty="0"/>
              <a:t>}</a:t>
            </a:r>
          </a:p>
          <a:p>
            <a:pPr marL="342900" lvl="1" indent="0">
              <a:buNone/>
              <a:defRPr/>
            </a:pPr>
            <a:r>
              <a:rPr lang="en-US" altLang="en-US" b="1" dirty="0"/>
              <a:t>return 0;</a:t>
            </a:r>
          </a:p>
          <a:p>
            <a:pPr marL="0" indent="0">
              <a:buNone/>
              <a:defRPr/>
            </a:pPr>
            <a:r>
              <a:rPr lang="en-US" altLang="en-US" sz="1800" b="1" dirty="0"/>
              <a:t>}</a:t>
            </a:r>
          </a:p>
          <a:p>
            <a:endParaRPr lang="en-US" sz="1800" b="1" dirty="0"/>
          </a:p>
        </p:txBody>
      </p:sp>
      <p:sp>
        <p:nvSpPr>
          <p:cNvPr id="10240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B82711-F303-4BD1-AE06-9C139BF89E55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10240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BFDA6A-54CE-47B9-B129-1E2F33BBECEC}" type="slidenum">
              <a:rPr lang="en-US" altLang="en-US" b="0" smtClean="0"/>
              <a:pPr/>
              <a:t>11</a:t>
            </a:fld>
            <a:endParaRPr lang="en-US" altLang="en-US" b="0"/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269543" y="1120397"/>
            <a:ext cx="4302457" cy="53553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b="0" dirty="0">
                <a:latin typeface="+mn-lt"/>
              </a:rPr>
              <a:t>/* </a:t>
            </a:r>
            <a:r>
              <a:rPr lang="en-US" altLang="en-US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Program to evaluate simple expressions of the form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value operator value </a:t>
            </a:r>
            <a:r>
              <a:rPr lang="en-US" altLang="en-US" dirty="0">
                <a:solidFill>
                  <a:srgbClr val="C00000"/>
                </a:solidFill>
                <a:latin typeface="+mn-lt"/>
              </a:rPr>
              <a:t>*/</a:t>
            </a:r>
            <a:endParaRPr lang="en-US" altLang="en-US" dirty="0">
              <a:latin typeface="+mn-lt"/>
            </a:endParaRPr>
          </a:p>
          <a:p>
            <a:pPr eaLnBrk="1" hangingPunct="1">
              <a:defRPr/>
            </a:pPr>
            <a:r>
              <a:rPr lang="en-US" altLang="en-US" dirty="0">
                <a:latin typeface="+mn-lt"/>
              </a:rPr>
              <a:t>#include &lt;</a:t>
            </a:r>
            <a:r>
              <a:rPr lang="en-US" altLang="en-US" dirty="0" err="1">
                <a:latin typeface="+mn-lt"/>
              </a:rPr>
              <a:t>stdio.h</a:t>
            </a:r>
            <a:r>
              <a:rPr lang="en-US" altLang="en-US" dirty="0">
                <a:latin typeface="+mn-lt"/>
              </a:rPr>
              <a:t>&gt;</a:t>
            </a:r>
          </a:p>
          <a:p>
            <a:pPr eaLnBrk="1" hangingPunct="1">
              <a:defRPr/>
            </a:pPr>
            <a:r>
              <a:rPr lang="en-US" altLang="en-US" dirty="0" err="1">
                <a:latin typeface="+mn-lt"/>
              </a:rPr>
              <a:t>int</a:t>
            </a:r>
            <a:r>
              <a:rPr lang="en-US" altLang="en-US" dirty="0">
                <a:latin typeface="+mn-lt"/>
              </a:rPr>
              <a:t> main (void)</a:t>
            </a:r>
          </a:p>
          <a:p>
            <a:pPr eaLnBrk="1" hangingPunct="1">
              <a:defRPr/>
            </a:pPr>
            <a:r>
              <a:rPr lang="en-US" altLang="en-US" dirty="0">
                <a:latin typeface="+mn-lt"/>
              </a:rPr>
              <a:t> {          </a:t>
            </a:r>
            <a:r>
              <a:rPr lang="en-US" altLang="en-US" dirty="0">
                <a:solidFill>
                  <a:srgbClr val="C00000"/>
                </a:solidFill>
                <a:latin typeface="+mn-lt"/>
              </a:rPr>
              <a:t>float value1, value2;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C00000"/>
                </a:solidFill>
                <a:latin typeface="+mn-lt"/>
              </a:rPr>
              <a:t>char operator;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rgbClr val="C00000"/>
                </a:solidFill>
                <a:latin typeface="+mn-lt"/>
              </a:rPr>
              <a:t>float result;</a:t>
            </a:r>
            <a:endParaRPr lang="en-US" altLang="en-US" dirty="0">
              <a:latin typeface="+mn-lt"/>
            </a:endParaRPr>
          </a:p>
          <a:p>
            <a:pPr lvl="1" eaLnBrk="1" hangingPunct="1">
              <a:defRPr/>
            </a:pPr>
            <a:r>
              <a:rPr lang="en-US" altLang="en-US" dirty="0" err="1">
                <a:latin typeface="+mn-lt"/>
              </a:rPr>
              <a:t>printf</a:t>
            </a:r>
            <a:r>
              <a:rPr lang="en-US" altLang="en-US" dirty="0">
                <a:latin typeface="+mn-lt"/>
              </a:rPr>
              <a:t>("Type in your expression.\n“);</a:t>
            </a: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scanf(“%f %c %f”, &amp;value1,&amp;operator,&amp;value2);</a:t>
            </a: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switch (operator) </a:t>
            </a: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 {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case '+': </a:t>
            </a:r>
            <a:endParaRPr lang="en-US" altLang="en-US" dirty="0">
              <a:latin typeface="+mn-lt"/>
            </a:endParaRP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	result=value1+value2;</a:t>
            </a: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	</a:t>
            </a:r>
            <a:r>
              <a:rPr lang="en-US" altLang="en-US" dirty="0" err="1">
                <a:latin typeface="+mn-lt"/>
              </a:rPr>
              <a:t>printf</a:t>
            </a:r>
            <a:r>
              <a:rPr lang="en-US" altLang="en-US" dirty="0">
                <a:latin typeface="+mn-lt"/>
              </a:rPr>
              <a:t>(“%</a:t>
            </a:r>
            <a:r>
              <a:rPr lang="en-US" altLang="en-US" dirty="0" err="1">
                <a:latin typeface="+mn-lt"/>
              </a:rPr>
              <a:t>f”,result</a:t>
            </a:r>
            <a:r>
              <a:rPr lang="en-US" altLang="en-US" dirty="0">
                <a:latin typeface="+mn-lt"/>
              </a:rPr>
              <a:t>);</a:t>
            </a: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	break;</a:t>
            </a:r>
          </a:p>
          <a:p>
            <a:pPr lvl="1" eaLnBrk="1" hangingPunct="1"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case '-':</a:t>
            </a:r>
            <a:b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	</a:t>
            </a:r>
            <a:r>
              <a:rPr lang="en-US" altLang="en-US" dirty="0">
                <a:latin typeface="+mn-lt"/>
              </a:rPr>
              <a:t>result=value1-value2;</a:t>
            </a: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	</a:t>
            </a:r>
            <a:r>
              <a:rPr lang="en-US" altLang="en-US" dirty="0" err="1">
                <a:latin typeface="+mn-lt"/>
              </a:rPr>
              <a:t>printf</a:t>
            </a:r>
            <a:r>
              <a:rPr lang="en-US" altLang="en-US" dirty="0">
                <a:latin typeface="+mn-lt"/>
              </a:rPr>
              <a:t>(“%</a:t>
            </a:r>
            <a:r>
              <a:rPr lang="en-US" altLang="en-US" dirty="0" err="1">
                <a:latin typeface="+mn-lt"/>
              </a:rPr>
              <a:t>f”,result</a:t>
            </a:r>
            <a:r>
              <a:rPr lang="en-US" altLang="en-US" dirty="0">
                <a:latin typeface="+mn-lt"/>
              </a:rPr>
              <a:t>);</a:t>
            </a:r>
          </a:p>
          <a:p>
            <a:pPr lvl="1" eaLnBrk="1" hangingPunct="1">
              <a:defRPr/>
            </a:pPr>
            <a:r>
              <a:rPr lang="en-US" altLang="en-US" dirty="0">
                <a:latin typeface="+mn-lt"/>
              </a:rPr>
              <a:t>	break;</a:t>
            </a:r>
          </a:p>
        </p:txBody>
      </p:sp>
    </p:spTree>
    <p:extLst>
      <p:ext uri="{BB962C8B-B14F-4D97-AF65-F5344CB8AC3E}">
        <p14:creationId xmlns:p14="http://schemas.microsoft.com/office/powerpoint/2010/main" val="1793881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1" y="753270"/>
            <a:ext cx="5886450" cy="41195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100" dirty="0"/>
              <a:t>What is the output of the following code snippet? </a:t>
            </a:r>
          </a:p>
        </p:txBody>
      </p:sp>
      <p:sp>
        <p:nvSpPr>
          <p:cNvPr id="10342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00753" y="1600201"/>
            <a:ext cx="7043098" cy="42981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 err="1"/>
              <a:t>int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iNum</a:t>
            </a:r>
            <a:r>
              <a:rPr lang="en-US" altLang="en-US" sz="1800" b="1" dirty="0"/>
              <a:t> = 2;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switch(</a:t>
            </a:r>
            <a:r>
              <a:rPr lang="en-US" altLang="en-US" sz="1800" b="1" dirty="0" err="1"/>
              <a:t>iNum</a:t>
            </a:r>
            <a:r>
              <a:rPr lang="en-US" altLang="en-US" sz="1800" b="1" dirty="0"/>
              <a:t>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case 1: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	  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(“ONE”);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	       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case 2: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	  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(“TWO”);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                  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case 3: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	  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(“THREE”);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                     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default: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	  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(“INVALID”);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			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800" b="1" dirty="0"/>
              <a:t>} </a:t>
            </a:r>
          </a:p>
        </p:txBody>
      </p:sp>
      <p:sp>
        <p:nvSpPr>
          <p:cNvPr id="10343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3CD3F9-82E0-4523-B669-B3D39EFE4484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103429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123C16-2ADA-44DA-9659-7E2F57F3607C}" type="slidenum">
              <a:rPr lang="en-US" altLang="en-US" b="0" smtClean="0"/>
              <a:pPr/>
              <a:t>12</a:t>
            </a:fld>
            <a:endParaRPr lang="en-US" altLang="en-US" b="0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628901"/>
            <a:ext cx="2743200" cy="1912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710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>
          <a:xfrm>
            <a:off x="1914525" y="775495"/>
            <a:ext cx="5886450" cy="41195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100" dirty="0"/>
              <a:t>What is the output of the following code snippet?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759854" y="1390918"/>
            <a:ext cx="3966692" cy="394665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 err="1"/>
              <a:t>iNum</a:t>
            </a:r>
            <a:r>
              <a:rPr lang="en-US" sz="1800" b="1" dirty="0"/>
              <a:t> = 2;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switch(</a:t>
            </a:r>
            <a:r>
              <a:rPr lang="en-US" sz="1800" b="1" dirty="0" err="1"/>
              <a:t>iNum</a:t>
            </a:r>
            <a:r>
              <a:rPr lang="en-US" sz="1800" b="1" dirty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 {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    default: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		</a:t>
            </a:r>
            <a:r>
              <a:rPr lang="en-US" sz="1800" b="1" dirty="0" err="1"/>
              <a:t>printf</a:t>
            </a:r>
            <a:r>
              <a:rPr lang="en-US" sz="1800" b="1" dirty="0"/>
              <a:t>(“INVALID”);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     case 1: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		</a:t>
            </a:r>
            <a:r>
              <a:rPr lang="en-US" sz="1800" b="1" dirty="0" err="1"/>
              <a:t>printf</a:t>
            </a:r>
            <a:r>
              <a:rPr lang="en-US" sz="1800" b="1" dirty="0"/>
              <a:t>(“ONE”);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     case 2: 	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		</a:t>
            </a:r>
            <a:r>
              <a:rPr lang="en-US" sz="1800" b="1" dirty="0" err="1"/>
              <a:t>printf</a:t>
            </a:r>
            <a:r>
              <a:rPr lang="en-US" sz="1800" b="1" dirty="0"/>
              <a:t>(“TWO”);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		break;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      case 3: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		</a:t>
            </a:r>
            <a:r>
              <a:rPr lang="en-US" sz="1800" b="1" dirty="0" err="1"/>
              <a:t>printf</a:t>
            </a:r>
            <a:r>
              <a:rPr lang="en-US" sz="1800" b="1" dirty="0"/>
              <a:t>(“THREE”;)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1800" b="1" dirty="0"/>
              <a:t>} </a:t>
            </a:r>
          </a:p>
        </p:txBody>
      </p:sp>
      <p:sp>
        <p:nvSpPr>
          <p:cNvPr id="10445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39A5C4-8187-4043-A038-34295E0F0E23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10445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E9555D-151D-4419-935D-55E85D455B72}" type="slidenum">
              <a:rPr lang="en-US" altLang="en-US" b="0" smtClean="0"/>
              <a:pPr/>
              <a:t>13</a:t>
            </a:fld>
            <a:endParaRPr lang="en-US" altLang="en-US" b="0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783" y="2000251"/>
            <a:ext cx="2628900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769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>
          <a:xfrm>
            <a:off x="2005794" y="512367"/>
            <a:ext cx="5886450" cy="41195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100" dirty="0"/>
              <a:t>What is the output of the following code snippet?   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46976" y="1262130"/>
            <a:ext cx="4365938" cy="4018293"/>
          </a:xfrm>
          <a:ln>
            <a:miter lim="800000"/>
            <a:headEnd/>
            <a:tailEnd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switch (</a:t>
            </a:r>
            <a:r>
              <a:rPr lang="en-US" altLang="en-US" sz="2000" b="1" dirty="0" err="1">
                <a:latin typeface="+mj-lt"/>
              </a:rPr>
              <a:t>iDepartmentCode</a:t>
            </a:r>
            <a:r>
              <a:rPr lang="en-US" altLang="en-US" sz="2000" b="1" dirty="0">
                <a:latin typeface="+mj-lt"/>
              </a:rPr>
              <a:t>)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{ 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	case 110 : </a:t>
            </a:r>
            <a:r>
              <a:rPr lang="en-US" altLang="en-US" sz="2000" b="1" dirty="0" err="1">
                <a:latin typeface="+mj-lt"/>
              </a:rPr>
              <a:t>printf</a:t>
            </a:r>
            <a:r>
              <a:rPr lang="en-US" altLang="en-US" sz="2000" b="1" dirty="0">
                <a:latin typeface="+mj-lt"/>
              </a:rPr>
              <a:t>(“HRD ”); 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	case 115 : </a:t>
            </a:r>
            <a:r>
              <a:rPr lang="en-US" altLang="en-US" sz="2000" b="1" dirty="0" err="1">
                <a:latin typeface="+mj-lt"/>
              </a:rPr>
              <a:t>printf</a:t>
            </a:r>
            <a:r>
              <a:rPr lang="en-US" altLang="en-US" sz="2000" b="1" dirty="0">
                <a:latin typeface="+mj-lt"/>
              </a:rPr>
              <a:t>(“IVS ”); 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	case 125 : </a:t>
            </a:r>
            <a:r>
              <a:rPr lang="en-US" altLang="en-US" sz="2000" b="1" dirty="0" err="1">
                <a:latin typeface="+mj-lt"/>
              </a:rPr>
              <a:t>printf</a:t>
            </a:r>
            <a:r>
              <a:rPr lang="en-US" altLang="en-US" sz="2000" b="1" dirty="0">
                <a:latin typeface="+mj-lt"/>
              </a:rPr>
              <a:t>(“E&amp;R ”); 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	case 135 : </a:t>
            </a:r>
            <a:r>
              <a:rPr lang="en-US" altLang="en-US" sz="2000" b="1" dirty="0" err="1">
                <a:latin typeface="+mj-lt"/>
              </a:rPr>
              <a:t>printf</a:t>
            </a:r>
            <a:r>
              <a:rPr lang="en-US" altLang="en-US" sz="2000" b="1" dirty="0">
                <a:latin typeface="+mj-lt"/>
              </a:rPr>
              <a:t>(“CCD ”); 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}</a:t>
            </a:r>
          </a:p>
          <a:p>
            <a:pPr eaLnBrk="1" hangingPunct="1">
              <a:buFontTx/>
              <a:buNone/>
              <a:defRPr/>
            </a:pPr>
            <a:endParaRPr lang="en-US" altLang="en-US" sz="2000" b="1" dirty="0">
              <a:latin typeface="+mj-lt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latin typeface="+mj-lt"/>
              </a:rPr>
              <a:t>	</a:t>
            </a:r>
            <a:r>
              <a:rPr lang="en-US" altLang="en-US" sz="2000" b="1" dirty="0">
                <a:solidFill>
                  <a:srgbClr val="008000"/>
                </a:solidFill>
                <a:latin typeface="+mj-lt"/>
              </a:rPr>
              <a:t>Assume </a:t>
            </a:r>
            <a:r>
              <a:rPr lang="en-US" altLang="en-US" sz="2000" b="1" dirty="0" err="1">
                <a:solidFill>
                  <a:srgbClr val="008000"/>
                </a:solidFill>
                <a:latin typeface="+mj-lt"/>
              </a:rPr>
              <a:t>iDepartmentCode</a:t>
            </a:r>
            <a:r>
              <a:rPr lang="en-US" altLang="en-US" sz="2000" b="1" dirty="0">
                <a:solidFill>
                  <a:srgbClr val="008000"/>
                </a:solidFill>
                <a:latin typeface="+mj-lt"/>
              </a:rPr>
              <a:t> is 115 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000" b="1" dirty="0">
                <a:solidFill>
                  <a:srgbClr val="008000"/>
                </a:solidFill>
                <a:latin typeface="+mj-lt"/>
              </a:rPr>
              <a:t>	find the output ?</a:t>
            </a:r>
          </a:p>
        </p:txBody>
      </p:sp>
      <p:sp>
        <p:nvSpPr>
          <p:cNvPr id="10547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79C147-FF6C-4778-850C-4AD4204B7D4A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105477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E801A9-900D-41D9-ADE0-ADFB034037C9}" type="slidenum">
              <a:rPr lang="en-US" altLang="en-US" b="0" smtClean="0"/>
              <a:pPr/>
              <a:t>14</a:t>
            </a:fld>
            <a:endParaRPr lang="en-US" altLang="en-US" b="0"/>
          </a:p>
        </p:txBody>
      </p:sp>
      <p:sp>
        <p:nvSpPr>
          <p:cNvPr id="36868" name="AutoShape 4"/>
          <p:cNvSpPr>
            <a:spLocks noChangeArrowheads="1"/>
          </p:cNvSpPr>
          <p:nvPr/>
        </p:nvSpPr>
        <p:spPr bwMode="auto">
          <a:xfrm>
            <a:off x="5657850" y="2571750"/>
            <a:ext cx="2000250" cy="1943100"/>
          </a:xfrm>
          <a:prstGeom prst="verticalScroll">
            <a:avLst>
              <a:gd name="adj" fmla="val 12500"/>
            </a:avLst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350"/>
              <a:t>IVS  E&amp;R  CCD</a:t>
            </a:r>
          </a:p>
        </p:txBody>
      </p:sp>
    </p:spTree>
    <p:extLst>
      <p:ext uri="{BB962C8B-B14F-4D97-AF65-F5344CB8AC3E}">
        <p14:creationId xmlns:p14="http://schemas.microsoft.com/office/powerpoint/2010/main" val="164714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254326"/>
            <a:ext cx="5886450" cy="41195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100" dirty="0"/>
              <a:t>What is the output of the following code snippet?   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146220" y="1666282"/>
            <a:ext cx="3400022" cy="423224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 err="1"/>
              <a:t>int</a:t>
            </a:r>
            <a:r>
              <a:rPr lang="en-US" altLang="en-US" sz="1800" b="1" dirty="0"/>
              <a:t> </a:t>
            </a:r>
            <a:r>
              <a:rPr lang="en-US" altLang="en-US" sz="1800" b="1" dirty="0" err="1"/>
              <a:t>iNum</a:t>
            </a:r>
            <a:r>
              <a:rPr lang="en-US" altLang="en-US" sz="1800" b="1" dirty="0"/>
              <a:t> = 2;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switch(</a:t>
            </a:r>
            <a:r>
              <a:rPr lang="en-US" altLang="en-US" sz="1800" b="1" dirty="0" err="1"/>
              <a:t>iNum</a:t>
            </a:r>
            <a:r>
              <a:rPr lang="en-US" altLang="en-US" sz="1800" b="1" dirty="0"/>
              <a:t>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    case 1.5: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	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(“ONE AND HALF”);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	     break;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case 2: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	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(“TWO”);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case ‘A’ 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	      </a:t>
            </a:r>
            <a:r>
              <a:rPr lang="en-US" altLang="en-US" sz="1800" b="1" dirty="0" err="1"/>
              <a:t>printf</a:t>
            </a:r>
            <a:r>
              <a:rPr lang="en-US" altLang="en-US" sz="1800" b="1" dirty="0"/>
              <a:t>(“A character”);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b="1" dirty="0"/>
              <a:t>} </a:t>
            </a:r>
          </a:p>
        </p:txBody>
      </p:sp>
      <p:sp>
        <p:nvSpPr>
          <p:cNvPr id="106502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9874E5-A040-4B4A-AFC8-726CDC6BEA12}" type="datetime1">
              <a:rPr lang="en-US" altLang="en-US" smtClean="0"/>
              <a:t>9/1/2025</a:t>
            </a:fld>
            <a:endParaRPr lang="en-US" altLang="en-US"/>
          </a:p>
        </p:txBody>
      </p:sp>
      <p:sp>
        <p:nvSpPr>
          <p:cNvPr id="10650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E1DFB2-BAA5-4806-8E45-D83D17B5809E}" type="slidenum">
              <a:rPr lang="en-US" altLang="en-US" b="0" smtClean="0"/>
              <a:pPr/>
              <a:t>15</a:t>
            </a:fld>
            <a:endParaRPr lang="en-US" altLang="en-US" b="0"/>
          </a:p>
        </p:txBody>
      </p:sp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511030"/>
            <a:ext cx="2857500" cy="226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651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3C3A-0DE5-46A6-8B55-026DF4A7C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Check Validity: </a:t>
            </a:r>
          </a:p>
          <a:p>
            <a:r>
              <a:rPr lang="en-US" dirty="0"/>
              <a:t>switch(1+2+23)</a:t>
            </a:r>
          </a:p>
          <a:p>
            <a:r>
              <a:rPr lang="en-US" dirty="0"/>
              <a:t>switch(1*2+3%4)</a:t>
            </a:r>
          </a:p>
          <a:p>
            <a:r>
              <a:rPr lang="en-US" dirty="0"/>
              <a:t>switch(a*</a:t>
            </a:r>
            <a:r>
              <a:rPr lang="en-US" dirty="0" err="1"/>
              <a:t>b+c</a:t>
            </a:r>
            <a:r>
              <a:rPr lang="en-US" dirty="0"/>
              <a:t>*d)</a:t>
            </a:r>
          </a:p>
          <a:p>
            <a:r>
              <a:rPr lang="en-US" dirty="0"/>
              <a:t>switch(</a:t>
            </a:r>
            <a:r>
              <a:rPr lang="en-US" dirty="0" err="1"/>
              <a:t>a+b+c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Important Points: </a:t>
            </a:r>
          </a:p>
          <a:p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Duplicate case values are not allowed</a:t>
            </a:r>
          </a:p>
          <a:p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Nesting of switch statements is allowed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06310-7BEE-43ED-AC73-6D3BC7A3A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34DE-A213-4DBF-B2D5-27A0D72B1D83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F2019-AB45-4A4A-B729-5514FAFC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066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4993-D997-4DF4-8ED8-8E2059DF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8129-F205-43D8-8803-4C47B028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34DE-A213-4DBF-B2D5-27A0D72B1D83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4DBC15-EEDD-4646-BE6C-DE2D647A5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17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EC01262-2CD9-497A-8FAB-18E18F2F0D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45611"/>
            <a:ext cx="6585136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1;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x + 1;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"Choice is 1"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"Choice is 2"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"Choice other than 1 and 2"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         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4E8133-E2C9-4E39-84D2-E5E50C44F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6159376"/>
            <a:ext cx="2585644" cy="366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Output::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Choice is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87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ACB3-59CC-4FB1-A182-A6F51E65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295D-1B61-426A-A7BF-E834DBDB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734DE-A213-4DBF-B2D5-27A0D72B1D83}" type="datetime1">
              <a:rPr lang="en-US" smtClean="0"/>
              <a:t>9/1/2025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2ACDB-916D-4A46-9D23-2A31D075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18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C9D670-CADB-4E41-9CE3-7DD7CE13AD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49" y="1503200"/>
            <a:ext cx="6181583" cy="41857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1;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"Choice is 1"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1+1: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"Choice is 2"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Output::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96DC2A9-A12F-4DD6-9B55-962DA37E8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49" y="53548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Compiler Error: duplicate case value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14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PSUC2018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UC2018 Template" id="{93EF96F5-E747-46F5-91A5-49A1A8F17C25}" vid="{65C9EF66-907A-46B3-BC73-6E107B4F26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F5B91811CE1479B5AC94E7432E9CC" ma:contentTypeVersion="2" ma:contentTypeDescription="Create a new document." ma:contentTypeScope="" ma:versionID="4a831d451a7fb25de5e597603941a9bf">
  <xsd:schema xmlns:xsd="http://www.w3.org/2001/XMLSchema" xmlns:xs="http://www.w3.org/2001/XMLSchema" xmlns:p="http://schemas.microsoft.com/office/2006/metadata/properties" xmlns:ns2="09eb9e8c-5042-4e07-b1e7-8851b83ebf39" targetNamespace="http://schemas.microsoft.com/office/2006/metadata/properties" ma:root="true" ma:fieldsID="15c452275c1f3b5e8a1dd815a4fe5520" ns2:_="">
    <xsd:import namespace="09eb9e8c-5042-4e07-b1e7-8851b83ebf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b9e8c-5042-4e07-b1e7-8851b83ebf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EE1F0F-459A-4EBE-A427-254ADA769C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D00D79-F238-44BF-B550-0A917C1994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eb9e8c-5042-4e07-b1e7-8851b83ebf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6FA0CC-B597-4E18-BD7E-88C6BA917D7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PSUC2018 Template</Template>
  <TotalTime>1919</TotalTime>
  <Words>1458</Words>
  <Application>Microsoft Office PowerPoint</Application>
  <PresentationFormat>On-screen Show (4:3)</PresentationFormat>
  <Paragraphs>284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Gulim</vt:lpstr>
      <vt:lpstr>Arial</vt:lpstr>
      <vt:lpstr>Calibri</vt:lpstr>
      <vt:lpstr>Consolas</vt:lpstr>
      <vt:lpstr>Courier New</vt:lpstr>
      <vt:lpstr>Tempus Sans ITC</vt:lpstr>
      <vt:lpstr>urw-din</vt:lpstr>
      <vt:lpstr>Wingdings</vt:lpstr>
      <vt:lpstr>PSUC2018 Template</vt:lpstr>
      <vt:lpstr>Decision Making, Branching</vt:lpstr>
      <vt:lpstr>The switch Statement</vt:lpstr>
      <vt:lpstr>PowerPoint Presentation</vt:lpstr>
      <vt:lpstr>PowerPoint Presentation</vt:lpstr>
      <vt:lpstr>The switch statement</vt:lpstr>
      <vt:lpstr>switch- control flow </vt:lpstr>
      <vt:lpstr>switch- example 1</vt:lpstr>
      <vt:lpstr>switch- example 2</vt:lpstr>
      <vt:lpstr>An Example – switch case </vt:lpstr>
      <vt:lpstr>An Example – switch case </vt:lpstr>
      <vt:lpstr>Example - switch</vt:lpstr>
      <vt:lpstr>What is the output of the following code snippet? </vt:lpstr>
      <vt:lpstr>What is the output of the following code snippet? </vt:lpstr>
      <vt:lpstr>What is the output of the following code snippet?   </vt:lpstr>
      <vt:lpstr>What is the output of the following code snippet?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Making, Branching &amp; Switch</dc:title>
  <dc:creator>Mahe</dc:creator>
  <cp:lastModifiedBy>Arvind Kumar Mehta [MU - Jaipur]</cp:lastModifiedBy>
  <cp:revision>49</cp:revision>
  <dcterms:created xsi:type="dcterms:W3CDTF">2018-05-08T11:06:27Z</dcterms:created>
  <dcterms:modified xsi:type="dcterms:W3CDTF">2025-09-01T11:17:27Z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0x01010016DF5B91811CE1479B5AC94E7432E9CC</vt:lpwstr>
  </property>
</Properties>
</file>