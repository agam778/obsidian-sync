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9"/>
  </p:notesMasterIdLst>
  <p:handoutMasterIdLst>
    <p:handoutMasterId r:id="rId10"/>
  </p:handoutMasterIdLst>
  <p:sldIdLst>
    <p:sldId id="295" r:id="rId2"/>
    <p:sldId id="296" r:id="rId3"/>
    <p:sldId id="268" r:id="rId4"/>
    <p:sldId id="266" r:id="rId5"/>
    <p:sldId id="297" r:id="rId6"/>
    <p:sldId id="298" r:id="rId7"/>
    <p:sldId id="299" r:id="rId8"/>
  </p:sldIdLst>
  <p:sldSz cx="9144000" cy="6858000" type="screen4x3"/>
  <p:notesSz cx="6954838" cy="93091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918" autoAdjust="0"/>
  </p:normalViewPr>
  <p:slideViewPr>
    <p:cSldViewPr>
      <p:cViewPr varScale="1">
        <p:scale>
          <a:sx n="53" d="100"/>
          <a:sy n="53" d="100"/>
        </p:scale>
        <p:origin x="1588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E32EEF-0C2F-4005-9BE9-3F2B4F162264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B954D3C2-D4EA-49C9-8B4D-9AB59609B157}">
      <dgm:prSet custT="1"/>
      <dgm:spPr/>
      <dgm:t>
        <a:bodyPr/>
        <a:lstStyle/>
        <a:p>
          <a:r>
            <a:rPr lang="en-US" altLang="en-US" sz="1800" b="1" dirty="0"/>
            <a:t>Name must begin with a letter or underscore ( _ ) and can be followed by any combination of letters, underscores, or digits.</a:t>
          </a:r>
        </a:p>
      </dgm:t>
    </dgm:pt>
    <dgm:pt modelId="{60B2DC1A-7B48-4FD8-BB3E-9D81C49A4BB8}" type="parTrans" cxnId="{014D1C31-CD89-4EE6-B6CD-5B2D3E9C5CF5}">
      <dgm:prSet/>
      <dgm:spPr/>
      <dgm:t>
        <a:bodyPr/>
        <a:lstStyle/>
        <a:p>
          <a:endParaRPr lang="en-IN"/>
        </a:p>
      </dgm:t>
    </dgm:pt>
    <dgm:pt modelId="{34844B1C-4C1F-41E7-9F78-56A8A37FEBC1}" type="sibTrans" cxnId="{014D1C31-CD89-4EE6-B6CD-5B2D3E9C5CF5}">
      <dgm:prSet/>
      <dgm:spPr/>
      <dgm:t>
        <a:bodyPr/>
        <a:lstStyle/>
        <a:p>
          <a:endParaRPr lang="en-IN"/>
        </a:p>
      </dgm:t>
    </dgm:pt>
    <dgm:pt modelId="{87002C2B-7625-488A-9125-18EAE4BB0CB2}">
      <dgm:prSet custT="1"/>
      <dgm:spPr/>
      <dgm:t>
        <a:bodyPr/>
        <a:lstStyle/>
        <a:p>
          <a:r>
            <a:rPr lang="en-US" altLang="en-US" sz="1800" b="1"/>
            <a:t>Key words cannot be used as a variable name.</a:t>
          </a:r>
          <a:endParaRPr lang="en-US" altLang="en-US" sz="1800" b="1" dirty="0"/>
        </a:p>
      </dgm:t>
    </dgm:pt>
    <dgm:pt modelId="{8F4CC52C-39EF-4605-BC7A-F5024BDA0B77}" type="parTrans" cxnId="{4D162F64-7B7E-4F45-9F12-9D298AE66381}">
      <dgm:prSet/>
      <dgm:spPr/>
      <dgm:t>
        <a:bodyPr/>
        <a:lstStyle/>
        <a:p>
          <a:endParaRPr lang="en-IN"/>
        </a:p>
      </dgm:t>
    </dgm:pt>
    <dgm:pt modelId="{9E8851EF-76BB-4D75-A587-3AAC33070B80}" type="sibTrans" cxnId="{4D162F64-7B7E-4F45-9F12-9D298AE66381}">
      <dgm:prSet/>
      <dgm:spPr/>
      <dgm:t>
        <a:bodyPr/>
        <a:lstStyle/>
        <a:p>
          <a:endParaRPr lang="en-IN"/>
        </a:p>
      </dgm:t>
    </dgm:pt>
    <dgm:pt modelId="{09E6F32D-F473-4DA1-8CFB-937DD81512C1}">
      <dgm:prSet custT="1"/>
      <dgm:spPr/>
      <dgm:t>
        <a:bodyPr/>
        <a:lstStyle/>
        <a:p>
          <a:r>
            <a:rPr lang="en-US" altLang="en-US" sz="1800" b="1" dirty="0"/>
            <a:t>C is case-sensitive: sum, Sum, and SUM each refer to a different variable.</a:t>
          </a:r>
        </a:p>
      </dgm:t>
    </dgm:pt>
    <dgm:pt modelId="{3FBB7AFB-B3C7-4415-8B18-DC4A2B0AF3F7}" type="parTrans" cxnId="{711DB70C-863B-4848-956B-4077E666D81A}">
      <dgm:prSet/>
      <dgm:spPr/>
      <dgm:t>
        <a:bodyPr/>
        <a:lstStyle/>
        <a:p>
          <a:endParaRPr lang="en-IN"/>
        </a:p>
      </dgm:t>
    </dgm:pt>
    <dgm:pt modelId="{15EA78CA-5CD7-47FB-BBC4-4DFBB5FED945}" type="sibTrans" cxnId="{711DB70C-863B-4848-956B-4077E666D81A}">
      <dgm:prSet/>
      <dgm:spPr/>
      <dgm:t>
        <a:bodyPr/>
        <a:lstStyle/>
        <a:p>
          <a:endParaRPr lang="en-IN"/>
        </a:p>
      </dgm:t>
    </dgm:pt>
    <dgm:pt modelId="{22F4C0A2-0709-4071-86D4-D7362AEB1CF2}">
      <dgm:prSet custT="1"/>
      <dgm:spPr/>
      <dgm:t>
        <a:bodyPr/>
        <a:lstStyle/>
        <a:p>
          <a:r>
            <a:rPr lang="en-US" altLang="en-US" sz="1800" b="1" dirty="0"/>
            <a:t>Variable names can be as long as you want, although only the first 63 (or 31) characters might be significant. </a:t>
          </a:r>
        </a:p>
      </dgm:t>
    </dgm:pt>
    <dgm:pt modelId="{AABE7A72-9104-447F-B4B2-BFC66B43928B}" type="parTrans" cxnId="{3580F758-5168-41A0-93AF-8808894985C4}">
      <dgm:prSet/>
      <dgm:spPr/>
      <dgm:t>
        <a:bodyPr/>
        <a:lstStyle/>
        <a:p>
          <a:endParaRPr lang="en-IN"/>
        </a:p>
      </dgm:t>
    </dgm:pt>
    <dgm:pt modelId="{521BBE70-15D9-42B0-AADC-4E9221133720}" type="sibTrans" cxnId="{3580F758-5168-41A0-93AF-8808894985C4}">
      <dgm:prSet/>
      <dgm:spPr/>
      <dgm:t>
        <a:bodyPr/>
        <a:lstStyle/>
        <a:p>
          <a:endParaRPr lang="en-IN"/>
        </a:p>
      </dgm:t>
    </dgm:pt>
    <dgm:pt modelId="{27EFC574-4C26-4FCA-A658-573E02A87A32}">
      <dgm:prSet custT="1"/>
      <dgm:spPr/>
      <dgm:t>
        <a:bodyPr/>
        <a:lstStyle/>
        <a:p>
          <a:r>
            <a:rPr lang="en-US" altLang="en-US" sz="1800" b="1" dirty="0"/>
            <a:t>Choice of meaningful variable names can increase the readability of a program</a:t>
          </a:r>
        </a:p>
      </dgm:t>
    </dgm:pt>
    <dgm:pt modelId="{4A06AF4F-2E54-419E-858D-EA73D0D51EEF}" type="parTrans" cxnId="{8A229181-21A8-40A3-8657-45B48DB7635D}">
      <dgm:prSet/>
      <dgm:spPr/>
      <dgm:t>
        <a:bodyPr/>
        <a:lstStyle/>
        <a:p>
          <a:endParaRPr lang="en-IN"/>
        </a:p>
      </dgm:t>
    </dgm:pt>
    <dgm:pt modelId="{0099DE41-99EE-4B7B-8F1A-31B580D903A7}" type="sibTrans" cxnId="{8A229181-21A8-40A3-8657-45B48DB7635D}">
      <dgm:prSet/>
      <dgm:spPr/>
      <dgm:t>
        <a:bodyPr/>
        <a:lstStyle/>
        <a:p>
          <a:endParaRPr lang="en-IN"/>
        </a:p>
      </dgm:t>
    </dgm:pt>
    <dgm:pt modelId="{552D8BB0-56BD-4EC7-B1C3-14A363FB9F17}" type="pres">
      <dgm:prSet presAssocID="{36E32EEF-0C2F-4005-9BE9-3F2B4F162264}" presName="Name0" presStyleCnt="0">
        <dgm:presLayoutVars>
          <dgm:chMax val="7"/>
          <dgm:chPref val="7"/>
          <dgm:dir/>
        </dgm:presLayoutVars>
      </dgm:prSet>
      <dgm:spPr/>
    </dgm:pt>
    <dgm:pt modelId="{A02BDFA2-A4F2-4FFE-B2D3-5B5636515636}" type="pres">
      <dgm:prSet presAssocID="{36E32EEF-0C2F-4005-9BE9-3F2B4F162264}" presName="Name1" presStyleCnt="0"/>
      <dgm:spPr/>
    </dgm:pt>
    <dgm:pt modelId="{44D45D35-EFF9-4AB0-B5FC-B5447956C8E9}" type="pres">
      <dgm:prSet presAssocID="{36E32EEF-0C2F-4005-9BE9-3F2B4F162264}" presName="cycle" presStyleCnt="0"/>
      <dgm:spPr/>
    </dgm:pt>
    <dgm:pt modelId="{22B2FA4D-833B-48A5-B9DA-8F847FC75229}" type="pres">
      <dgm:prSet presAssocID="{36E32EEF-0C2F-4005-9BE9-3F2B4F162264}" presName="srcNode" presStyleLbl="node1" presStyleIdx="0" presStyleCnt="5"/>
      <dgm:spPr/>
    </dgm:pt>
    <dgm:pt modelId="{70BCB705-14AB-408C-8BB9-ADDCE0308768}" type="pres">
      <dgm:prSet presAssocID="{36E32EEF-0C2F-4005-9BE9-3F2B4F162264}" presName="conn" presStyleLbl="parChTrans1D2" presStyleIdx="0" presStyleCnt="1"/>
      <dgm:spPr/>
    </dgm:pt>
    <dgm:pt modelId="{43CE633E-9373-4B17-8269-8ACEB4822A31}" type="pres">
      <dgm:prSet presAssocID="{36E32EEF-0C2F-4005-9BE9-3F2B4F162264}" presName="extraNode" presStyleLbl="node1" presStyleIdx="0" presStyleCnt="5"/>
      <dgm:spPr/>
    </dgm:pt>
    <dgm:pt modelId="{DC464815-8833-45F3-8465-69E661527367}" type="pres">
      <dgm:prSet presAssocID="{36E32EEF-0C2F-4005-9BE9-3F2B4F162264}" presName="dstNode" presStyleLbl="node1" presStyleIdx="0" presStyleCnt="5"/>
      <dgm:spPr/>
    </dgm:pt>
    <dgm:pt modelId="{65A4ED87-49F5-4A20-9CE6-E180B274D57C}" type="pres">
      <dgm:prSet presAssocID="{B954D3C2-D4EA-49C9-8B4D-9AB59609B157}" presName="text_1" presStyleLbl="node1" presStyleIdx="0" presStyleCnt="5">
        <dgm:presLayoutVars>
          <dgm:bulletEnabled val="1"/>
        </dgm:presLayoutVars>
      </dgm:prSet>
      <dgm:spPr/>
    </dgm:pt>
    <dgm:pt modelId="{DCB101DA-3CF1-40D3-B84D-FFE60F689E55}" type="pres">
      <dgm:prSet presAssocID="{B954D3C2-D4EA-49C9-8B4D-9AB59609B157}" presName="accent_1" presStyleCnt="0"/>
      <dgm:spPr/>
    </dgm:pt>
    <dgm:pt modelId="{17DFCA13-01BB-4083-8F5A-0EC0AB3272F7}" type="pres">
      <dgm:prSet presAssocID="{B954D3C2-D4EA-49C9-8B4D-9AB59609B157}" presName="accentRepeatNode" presStyleLbl="solidFgAcc1" presStyleIdx="0" presStyleCnt="5"/>
      <dgm:spPr/>
    </dgm:pt>
    <dgm:pt modelId="{028872B4-7702-45C0-B5DF-F9C819A406AE}" type="pres">
      <dgm:prSet presAssocID="{87002C2B-7625-488A-9125-18EAE4BB0CB2}" presName="text_2" presStyleLbl="node1" presStyleIdx="1" presStyleCnt="5">
        <dgm:presLayoutVars>
          <dgm:bulletEnabled val="1"/>
        </dgm:presLayoutVars>
      </dgm:prSet>
      <dgm:spPr/>
    </dgm:pt>
    <dgm:pt modelId="{E872D346-3F5C-42D3-946B-572DBB3FBD21}" type="pres">
      <dgm:prSet presAssocID="{87002C2B-7625-488A-9125-18EAE4BB0CB2}" presName="accent_2" presStyleCnt="0"/>
      <dgm:spPr/>
    </dgm:pt>
    <dgm:pt modelId="{29C6FF7C-1756-430A-A5CB-B2706BE5A80E}" type="pres">
      <dgm:prSet presAssocID="{87002C2B-7625-488A-9125-18EAE4BB0CB2}" presName="accentRepeatNode" presStyleLbl="solidFgAcc1" presStyleIdx="1" presStyleCnt="5"/>
      <dgm:spPr/>
    </dgm:pt>
    <dgm:pt modelId="{0810EF51-B66B-44A7-9B85-CB4DA19AEB33}" type="pres">
      <dgm:prSet presAssocID="{09E6F32D-F473-4DA1-8CFB-937DD81512C1}" presName="text_3" presStyleLbl="node1" presStyleIdx="2" presStyleCnt="5">
        <dgm:presLayoutVars>
          <dgm:bulletEnabled val="1"/>
        </dgm:presLayoutVars>
      </dgm:prSet>
      <dgm:spPr/>
    </dgm:pt>
    <dgm:pt modelId="{BF0ADF07-EC50-469D-AB6E-B388D6B423E8}" type="pres">
      <dgm:prSet presAssocID="{09E6F32D-F473-4DA1-8CFB-937DD81512C1}" presName="accent_3" presStyleCnt="0"/>
      <dgm:spPr/>
    </dgm:pt>
    <dgm:pt modelId="{4F7ACB7C-BB04-481C-B8D6-E79346F73EED}" type="pres">
      <dgm:prSet presAssocID="{09E6F32D-F473-4DA1-8CFB-937DD81512C1}" presName="accentRepeatNode" presStyleLbl="solidFgAcc1" presStyleIdx="2" presStyleCnt="5"/>
      <dgm:spPr/>
    </dgm:pt>
    <dgm:pt modelId="{B7994AEB-148E-4C34-A76C-E331D6FE3FC1}" type="pres">
      <dgm:prSet presAssocID="{22F4C0A2-0709-4071-86D4-D7362AEB1CF2}" presName="text_4" presStyleLbl="node1" presStyleIdx="3" presStyleCnt="5">
        <dgm:presLayoutVars>
          <dgm:bulletEnabled val="1"/>
        </dgm:presLayoutVars>
      </dgm:prSet>
      <dgm:spPr/>
    </dgm:pt>
    <dgm:pt modelId="{A7C76C04-6360-4FAE-8139-D47E0A5953D5}" type="pres">
      <dgm:prSet presAssocID="{22F4C0A2-0709-4071-86D4-D7362AEB1CF2}" presName="accent_4" presStyleCnt="0"/>
      <dgm:spPr/>
    </dgm:pt>
    <dgm:pt modelId="{D3000732-309C-4B6C-975C-885A67A8BD3A}" type="pres">
      <dgm:prSet presAssocID="{22F4C0A2-0709-4071-86D4-D7362AEB1CF2}" presName="accentRepeatNode" presStyleLbl="solidFgAcc1" presStyleIdx="3" presStyleCnt="5"/>
      <dgm:spPr/>
    </dgm:pt>
    <dgm:pt modelId="{ADA25A26-49AB-48BC-9966-FFB9ED2490DB}" type="pres">
      <dgm:prSet presAssocID="{27EFC574-4C26-4FCA-A658-573E02A87A32}" presName="text_5" presStyleLbl="node1" presStyleIdx="4" presStyleCnt="5">
        <dgm:presLayoutVars>
          <dgm:bulletEnabled val="1"/>
        </dgm:presLayoutVars>
      </dgm:prSet>
      <dgm:spPr/>
    </dgm:pt>
    <dgm:pt modelId="{DAAF9E0B-746C-4A87-A986-D2ABC45680A8}" type="pres">
      <dgm:prSet presAssocID="{27EFC574-4C26-4FCA-A658-573E02A87A32}" presName="accent_5" presStyleCnt="0"/>
      <dgm:spPr/>
    </dgm:pt>
    <dgm:pt modelId="{E79062F1-EFB0-4B3E-94A0-8DC2EC3FB4D2}" type="pres">
      <dgm:prSet presAssocID="{27EFC574-4C26-4FCA-A658-573E02A87A32}" presName="accentRepeatNode" presStyleLbl="solidFgAcc1" presStyleIdx="4" presStyleCnt="5"/>
      <dgm:spPr/>
    </dgm:pt>
  </dgm:ptLst>
  <dgm:cxnLst>
    <dgm:cxn modelId="{711DB70C-863B-4848-956B-4077E666D81A}" srcId="{36E32EEF-0C2F-4005-9BE9-3F2B4F162264}" destId="{09E6F32D-F473-4DA1-8CFB-937DD81512C1}" srcOrd="2" destOrd="0" parTransId="{3FBB7AFB-B3C7-4415-8B18-DC4A2B0AF3F7}" sibTransId="{15EA78CA-5CD7-47FB-BBC4-4DFBB5FED945}"/>
    <dgm:cxn modelId="{D9BFDC12-1382-459A-9CF1-716A837B00E2}" type="presOf" srcId="{87002C2B-7625-488A-9125-18EAE4BB0CB2}" destId="{028872B4-7702-45C0-B5DF-F9C819A406AE}" srcOrd="0" destOrd="0" presId="urn:microsoft.com/office/officeart/2008/layout/VerticalCurvedList"/>
    <dgm:cxn modelId="{560D212E-563B-4D98-B530-FD530E856FA8}" type="presOf" srcId="{27EFC574-4C26-4FCA-A658-573E02A87A32}" destId="{ADA25A26-49AB-48BC-9966-FFB9ED2490DB}" srcOrd="0" destOrd="0" presId="urn:microsoft.com/office/officeart/2008/layout/VerticalCurvedList"/>
    <dgm:cxn modelId="{014D1C31-CD89-4EE6-B6CD-5B2D3E9C5CF5}" srcId="{36E32EEF-0C2F-4005-9BE9-3F2B4F162264}" destId="{B954D3C2-D4EA-49C9-8B4D-9AB59609B157}" srcOrd="0" destOrd="0" parTransId="{60B2DC1A-7B48-4FD8-BB3E-9D81C49A4BB8}" sibTransId="{34844B1C-4C1F-41E7-9F78-56A8A37FEBC1}"/>
    <dgm:cxn modelId="{F23A1F35-F4B4-4661-B6F1-6F892592FC19}" type="presOf" srcId="{34844B1C-4C1F-41E7-9F78-56A8A37FEBC1}" destId="{70BCB705-14AB-408C-8BB9-ADDCE0308768}" srcOrd="0" destOrd="0" presId="urn:microsoft.com/office/officeart/2008/layout/VerticalCurvedList"/>
    <dgm:cxn modelId="{5178C95E-DC4D-4D68-9C21-0D56836DEA56}" type="presOf" srcId="{B954D3C2-D4EA-49C9-8B4D-9AB59609B157}" destId="{65A4ED87-49F5-4A20-9CE6-E180B274D57C}" srcOrd="0" destOrd="0" presId="urn:microsoft.com/office/officeart/2008/layout/VerticalCurvedList"/>
    <dgm:cxn modelId="{3389895F-E162-47E0-8D54-614BB4B3A819}" type="presOf" srcId="{22F4C0A2-0709-4071-86D4-D7362AEB1CF2}" destId="{B7994AEB-148E-4C34-A76C-E331D6FE3FC1}" srcOrd="0" destOrd="0" presId="urn:microsoft.com/office/officeart/2008/layout/VerticalCurvedList"/>
    <dgm:cxn modelId="{4D162F64-7B7E-4F45-9F12-9D298AE66381}" srcId="{36E32EEF-0C2F-4005-9BE9-3F2B4F162264}" destId="{87002C2B-7625-488A-9125-18EAE4BB0CB2}" srcOrd="1" destOrd="0" parTransId="{8F4CC52C-39EF-4605-BC7A-F5024BDA0B77}" sibTransId="{9E8851EF-76BB-4D75-A587-3AAC33070B80}"/>
    <dgm:cxn modelId="{DDA32F65-83AA-43B2-AF65-D12994AD0958}" type="presOf" srcId="{09E6F32D-F473-4DA1-8CFB-937DD81512C1}" destId="{0810EF51-B66B-44A7-9B85-CB4DA19AEB33}" srcOrd="0" destOrd="0" presId="urn:microsoft.com/office/officeart/2008/layout/VerticalCurvedList"/>
    <dgm:cxn modelId="{3580F758-5168-41A0-93AF-8808894985C4}" srcId="{36E32EEF-0C2F-4005-9BE9-3F2B4F162264}" destId="{22F4C0A2-0709-4071-86D4-D7362AEB1CF2}" srcOrd="3" destOrd="0" parTransId="{AABE7A72-9104-447F-B4B2-BFC66B43928B}" sibTransId="{521BBE70-15D9-42B0-AADC-4E9221133720}"/>
    <dgm:cxn modelId="{8A229181-21A8-40A3-8657-45B48DB7635D}" srcId="{36E32EEF-0C2F-4005-9BE9-3F2B4F162264}" destId="{27EFC574-4C26-4FCA-A658-573E02A87A32}" srcOrd="4" destOrd="0" parTransId="{4A06AF4F-2E54-419E-858D-EA73D0D51EEF}" sibTransId="{0099DE41-99EE-4B7B-8F1A-31B580D903A7}"/>
    <dgm:cxn modelId="{486FFF86-F114-4A25-B641-DE34668DB480}" type="presOf" srcId="{36E32EEF-0C2F-4005-9BE9-3F2B4F162264}" destId="{552D8BB0-56BD-4EC7-B1C3-14A363FB9F17}" srcOrd="0" destOrd="0" presId="urn:microsoft.com/office/officeart/2008/layout/VerticalCurvedList"/>
    <dgm:cxn modelId="{5C264D9F-57CF-4E1D-86BB-FB5E03C70DF8}" type="presParOf" srcId="{552D8BB0-56BD-4EC7-B1C3-14A363FB9F17}" destId="{A02BDFA2-A4F2-4FFE-B2D3-5B5636515636}" srcOrd="0" destOrd="0" presId="urn:microsoft.com/office/officeart/2008/layout/VerticalCurvedList"/>
    <dgm:cxn modelId="{9AF08313-3C45-41C5-8CFE-6FCA3FDA2E86}" type="presParOf" srcId="{A02BDFA2-A4F2-4FFE-B2D3-5B5636515636}" destId="{44D45D35-EFF9-4AB0-B5FC-B5447956C8E9}" srcOrd="0" destOrd="0" presId="urn:microsoft.com/office/officeart/2008/layout/VerticalCurvedList"/>
    <dgm:cxn modelId="{1915AFE5-3DD7-4C2A-93AE-1947A25F0CD1}" type="presParOf" srcId="{44D45D35-EFF9-4AB0-B5FC-B5447956C8E9}" destId="{22B2FA4D-833B-48A5-B9DA-8F847FC75229}" srcOrd="0" destOrd="0" presId="urn:microsoft.com/office/officeart/2008/layout/VerticalCurvedList"/>
    <dgm:cxn modelId="{049E87EB-94A2-4210-B4B8-E8D6EF80A301}" type="presParOf" srcId="{44D45D35-EFF9-4AB0-B5FC-B5447956C8E9}" destId="{70BCB705-14AB-408C-8BB9-ADDCE0308768}" srcOrd="1" destOrd="0" presId="urn:microsoft.com/office/officeart/2008/layout/VerticalCurvedList"/>
    <dgm:cxn modelId="{0518A26C-01B4-4252-83AE-CE378F67939F}" type="presParOf" srcId="{44D45D35-EFF9-4AB0-B5FC-B5447956C8E9}" destId="{43CE633E-9373-4B17-8269-8ACEB4822A31}" srcOrd="2" destOrd="0" presId="urn:microsoft.com/office/officeart/2008/layout/VerticalCurvedList"/>
    <dgm:cxn modelId="{E9BE7CA9-9E2F-458C-82F1-6A9AC2862EE1}" type="presParOf" srcId="{44D45D35-EFF9-4AB0-B5FC-B5447956C8E9}" destId="{DC464815-8833-45F3-8465-69E661527367}" srcOrd="3" destOrd="0" presId="urn:microsoft.com/office/officeart/2008/layout/VerticalCurvedList"/>
    <dgm:cxn modelId="{8CBCEE7A-4C93-48B9-AAEC-67BBBC59F59B}" type="presParOf" srcId="{A02BDFA2-A4F2-4FFE-B2D3-5B5636515636}" destId="{65A4ED87-49F5-4A20-9CE6-E180B274D57C}" srcOrd="1" destOrd="0" presId="urn:microsoft.com/office/officeart/2008/layout/VerticalCurvedList"/>
    <dgm:cxn modelId="{CC46906E-2A88-4162-9FA5-3310750E28B8}" type="presParOf" srcId="{A02BDFA2-A4F2-4FFE-B2D3-5B5636515636}" destId="{DCB101DA-3CF1-40D3-B84D-FFE60F689E55}" srcOrd="2" destOrd="0" presId="urn:microsoft.com/office/officeart/2008/layout/VerticalCurvedList"/>
    <dgm:cxn modelId="{0B290245-6058-4AB8-8FB2-B2E75236ED7E}" type="presParOf" srcId="{DCB101DA-3CF1-40D3-B84D-FFE60F689E55}" destId="{17DFCA13-01BB-4083-8F5A-0EC0AB3272F7}" srcOrd="0" destOrd="0" presId="urn:microsoft.com/office/officeart/2008/layout/VerticalCurvedList"/>
    <dgm:cxn modelId="{C32C677B-148D-46AD-A409-7416FC486A18}" type="presParOf" srcId="{A02BDFA2-A4F2-4FFE-B2D3-5B5636515636}" destId="{028872B4-7702-45C0-B5DF-F9C819A406AE}" srcOrd="3" destOrd="0" presId="urn:microsoft.com/office/officeart/2008/layout/VerticalCurvedList"/>
    <dgm:cxn modelId="{88F5219C-9135-4D14-85F0-0031E8F7D2F1}" type="presParOf" srcId="{A02BDFA2-A4F2-4FFE-B2D3-5B5636515636}" destId="{E872D346-3F5C-42D3-946B-572DBB3FBD21}" srcOrd="4" destOrd="0" presId="urn:microsoft.com/office/officeart/2008/layout/VerticalCurvedList"/>
    <dgm:cxn modelId="{691AC99C-E2CB-4FB3-91D8-731476175555}" type="presParOf" srcId="{E872D346-3F5C-42D3-946B-572DBB3FBD21}" destId="{29C6FF7C-1756-430A-A5CB-B2706BE5A80E}" srcOrd="0" destOrd="0" presId="urn:microsoft.com/office/officeart/2008/layout/VerticalCurvedList"/>
    <dgm:cxn modelId="{11A63447-C574-485D-B1C2-E8B69A9111B8}" type="presParOf" srcId="{A02BDFA2-A4F2-4FFE-B2D3-5B5636515636}" destId="{0810EF51-B66B-44A7-9B85-CB4DA19AEB33}" srcOrd="5" destOrd="0" presId="urn:microsoft.com/office/officeart/2008/layout/VerticalCurvedList"/>
    <dgm:cxn modelId="{73A8A865-9B20-4DC1-998C-B3E9DC0B644E}" type="presParOf" srcId="{A02BDFA2-A4F2-4FFE-B2D3-5B5636515636}" destId="{BF0ADF07-EC50-469D-AB6E-B388D6B423E8}" srcOrd="6" destOrd="0" presId="urn:microsoft.com/office/officeart/2008/layout/VerticalCurvedList"/>
    <dgm:cxn modelId="{4D200705-6FA5-4C9F-865B-20ECA7E318A8}" type="presParOf" srcId="{BF0ADF07-EC50-469D-AB6E-B388D6B423E8}" destId="{4F7ACB7C-BB04-481C-B8D6-E79346F73EED}" srcOrd="0" destOrd="0" presId="urn:microsoft.com/office/officeart/2008/layout/VerticalCurvedList"/>
    <dgm:cxn modelId="{D23DF6E2-9E6C-4A26-B8AD-ED0CF2C270FB}" type="presParOf" srcId="{A02BDFA2-A4F2-4FFE-B2D3-5B5636515636}" destId="{B7994AEB-148E-4C34-A76C-E331D6FE3FC1}" srcOrd="7" destOrd="0" presId="urn:microsoft.com/office/officeart/2008/layout/VerticalCurvedList"/>
    <dgm:cxn modelId="{7A5480BC-8E88-4B4A-BFE9-7CAF267E7E53}" type="presParOf" srcId="{A02BDFA2-A4F2-4FFE-B2D3-5B5636515636}" destId="{A7C76C04-6360-4FAE-8139-D47E0A5953D5}" srcOrd="8" destOrd="0" presId="urn:microsoft.com/office/officeart/2008/layout/VerticalCurvedList"/>
    <dgm:cxn modelId="{9ECFD60B-F0BA-4DCB-A0BE-7B833A7E8240}" type="presParOf" srcId="{A7C76C04-6360-4FAE-8139-D47E0A5953D5}" destId="{D3000732-309C-4B6C-975C-885A67A8BD3A}" srcOrd="0" destOrd="0" presId="urn:microsoft.com/office/officeart/2008/layout/VerticalCurvedList"/>
    <dgm:cxn modelId="{1A61278A-7FDA-4064-9FA9-B2127A3C8CCF}" type="presParOf" srcId="{A02BDFA2-A4F2-4FFE-B2D3-5B5636515636}" destId="{ADA25A26-49AB-48BC-9966-FFB9ED2490DB}" srcOrd="9" destOrd="0" presId="urn:microsoft.com/office/officeart/2008/layout/VerticalCurvedList"/>
    <dgm:cxn modelId="{BE39AAD7-6F62-4229-94E7-6BDE7B4F35D4}" type="presParOf" srcId="{A02BDFA2-A4F2-4FFE-B2D3-5B5636515636}" destId="{DAAF9E0B-746C-4A87-A986-D2ABC45680A8}" srcOrd="10" destOrd="0" presId="urn:microsoft.com/office/officeart/2008/layout/VerticalCurvedList"/>
    <dgm:cxn modelId="{B64E8212-35BF-44DE-A905-CFF6264770A1}" type="presParOf" srcId="{DAAF9E0B-746C-4A87-A986-D2ABC45680A8}" destId="{E79062F1-EFB0-4B3E-94A0-8DC2EC3FB4D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BCB705-14AB-408C-8BB9-ADDCE0308768}">
      <dsp:nvSpPr>
        <dsp:cNvPr id="0" name=""/>
        <dsp:cNvSpPr/>
      </dsp:nvSpPr>
      <dsp:spPr>
        <a:xfrm>
          <a:off x="-6429822" y="-983450"/>
          <a:ext cx="7653242" cy="7653242"/>
        </a:xfrm>
        <a:prstGeom prst="blockArc">
          <a:avLst>
            <a:gd name="adj1" fmla="val 18900000"/>
            <a:gd name="adj2" fmla="val 2700000"/>
            <a:gd name="adj3" fmla="val 282"/>
          </a:avLst>
        </a:prstGeom>
        <a:noFill/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A4ED87-49F5-4A20-9CE6-E180B274D57C}">
      <dsp:nvSpPr>
        <dsp:cNvPr id="0" name=""/>
        <dsp:cNvSpPr/>
      </dsp:nvSpPr>
      <dsp:spPr>
        <a:xfrm>
          <a:off x="534452" y="355282"/>
          <a:ext cx="8223938" cy="71102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4372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1" kern="1200" dirty="0"/>
            <a:t>Name must begin with a letter or underscore ( _ ) and can be followed by any combination of letters, underscores, or digits.</a:t>
          </a:r>
        </a:p>
      </dsp:txBody>
      <dsp:txXfrm>
        <a:off x="534452" y="355282"/>
        <a:ext cx="8223938" cy="711020"/>
      </dsp:txXfrm>
    </dsp:sp>
    <dsp:sp modelId="{17DFCA13-01BB-4083-8F5A-0EC0AB3272F7}">
      <dsp:nvSpPr>
        <dsp:cNvPr id="0" name=""/>
        <dsp:cNvSpPr/>
      </dsp:nvSpPr>
      <dsp:spPr>
        <a:xfrm>
          <a:off x="90064" y="266405"/>
          <a:ext cx="888775" cy="8887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8872B4-7702-45C0-B5DF-F9C819A406AE}">
      <dsp:nvSpPr>
        <dsp:cNvPr id="0" name=""/>
        <dsp:cNvSpPr/>
      </dsp:nvSpPr>
      <dsp:spPr>
        <a:xfrm>
          <a:off x="1043948" y="1421471"/>
          <a:ext cx="7714442" cy="7110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4372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1" kern="1200"/>
            <a:t>Key words cannot be used as a variable name.</a:t>
          </a:r>
          <a:endParaRPr lang="en-US" altLang="en-US" sz="1800" b="1" kern="1200" dirty="0"/>
        </a:p>
      </dsp:txBody>
      <dsp:txXfrm>
        <a:off x="1043948" y="1421471"/>
        <a:ext cx="7714442" cy="711020"/>
      </dsp:txXfrm>
    </dsp:sp>
    <dsp:sp modelId="{29C6FF7C-1756-430A-A5CB-B2706BE5A80E}">
      <dsp:nvSpPr>
        <dsp:cNvPr id="0" name=""/>
        <dsp:cNvSpPr/>
      </dsp:nvSpPr>
      <dsp:spPr>
        <a:xfrm>
          <a:off x="599560" y="1332594"/>
          <a:ext cx="888775" cy="8887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10EF51-B66B-44A7-9B85-CB4DA19AEB33}">
      <dsp:nvSpPr>
        <dsp:cNvPr id="0" name=""/>
        <dsp:cNvSpPr/>
      </dsp:nvSpPr>
      <dsp:spPr>
        <a:xfrm>
          <a:off x="1200322" y="2487660"/>
          <a:ext cx="7558068" cy="71102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4372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1" kern="1200" dirty="0"/>
            <a:t>C is case-sensitive: sum, Sum, and SUM each refer to a different variable.</a:t>
          </a:r>
        </a:p>
      </dsp:txBody>
      <dsp:txXfrm>
        <a:off x="1200322" y="2487660"/>
        <a:ext cx="7558068" cy="711020"/>
      </dsp:txXfrm>
    </dsp:sp>
    <dsp:sp modelId="{4F7ACB7C-BB04-481C-B8D6-E79346F73EED}">
      <dsp:nvSpPr>
        <dsp:cNvPr id="0" name=""/>
        <dsp:cNvSpPr/>
      </dsp:nvSpPr>
      <dsp:spPr>
        <a:xfrm>
          <a:off x="755935" y="2398782"/>
          <a:ext cx="888775" cy="8887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994AEB-148E-4C34-A76C-E331D6FE3FC1}">
      <dsp:nvSpPr>
        <dsp:cNvPr id="0" name=""/>
        <dsp:cNvSpPr/>
      </dsp:nvSpPr>
      <dsp:spPr>
        <a:xfrm>
          <a:off x="1043948" y="3553849"/>
          <a:ext cx="7714442" cy="71102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4372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1" kern="1200" dirty="0"/>
            <a:t>Variable names can be as long as you want, although only the first 63 (or 31) characters might be significant. </a:t>
          </a:r>
        </a:p>
      </dsp:txBody>
      <dsp:txXfrm>
        <a:off x="1043948" y="3553849"/>
        <a:ext cx="7714442" cy="711020"/>
      </dsp:txXfrm>
    </dsp:sp>
    <dsp:sp modelId="{D3000732-309C-4B6C-975C-885A67A8BD3A}">
      <dsp:nvSpPr>
        <dsp:cNvPr id="0" name=""/>
        <dsp:cNvSpPr/>
      </dsp:nvSpPr>
      <dsp:spPr>
        <a:xfrm>
          <a:off x="599560" y="3464971"/>
          <a:ext cx="888775" cy="8887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A25A26-49AB-48BC-9966-FFB9ED2490DB}">
      <dsp:nvSpPr>
        <dsp:cNvPr id="0" name=""/>
        <dsp:cNvSpPr/>
      </dsp:nvSpPr>
      <dsp:spPr>
        <a:xfrm>
          <a:off x="534452" y="4620038"/>
          <a:ext cx="8223938" cy="71102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4372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1" kern="1200" dirty="0"/>
            <a:t>Choice of meaningful variable names can increase the readability of a program</a:t>
          </a:r>
        </a:p>
      </dsp:txBody>
      <dsp:txXfrm>
        <a:off x="534452" y="4620038"/>
        <a:ext cx="8223938" cy="711020"/>
      </dsp:txXfrm>
    </dsp:sp>
    <dsp:sp modelId="{E79062F1-EFB0-4B3E-94A0-8DC2EC3FB4D2}">
      <dsp:nvSpPr>
        <dsp:cNvPr id="0" name=""/>
        <dsp:cNvSpPr/>
      </dsp:nvSpPr>
      <dsp:spPr>
        <a:xfrm>
          <a:off x="90064" y="4531160"/>
          <a:ext cx="888775" cy="8887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0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40175" y="0"/>
            <a:ext cx="30130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67D29-0E54-4FC2-B286-9BE94D2829B8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375"/>
            <a:ext cx="30130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40175" y="8842375"/>
            <a:ext cx="30130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9E78D-3266-4CC1-916B-2600E39DD5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545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545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C4BA4553-079D-4D20-B90C-B0C298FDB8E7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50938" y="698500"/>
            <a:ext cx="4652962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21823"/>
            <a:ext cx="5563870" cy="4189095"/>
          </a:xfrm>
          <a:prstGeom prst="rect">
            <a:avLst/>
          </a:prstGeom>
        </p:spPr>
        <p:txBody>
          <a:bodyPr vert="horz" lIns="92930" tIns="46465" rIns="92930" bIns="4646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13763" cy="465455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29"/>
            <a:ext cx="3013763" cy="465455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ACEE32E0-70ED-475D-B6A3-4A43F6DB1D4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45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1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808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63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817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42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181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72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85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65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38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7748E43-AAF6-4998-B241-677BD4572ECB}" type="datetimeFigureOut">
              <a:rPr lang="en-US" smtClean="0"/>
              <a:pPr/>
              <a:t>8/19/2025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9F8D158-0A38-4D3A-B417-336D3A99D0B9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887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28600" y="457200"/>
            <a:ext cx="8686800" cy="4610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3600" b="1" dirty="0"/>
              <a:t>Problem Solving Using Computers</a:t>
            </a:r>
          </a:p>
          <a:p>
            <a:pPr algn="ctr"/>
            <a:r>
              <a:rPr lang="en-IN" sz="4000" b="1" dirty="0">
                <a:solidFill>
                  <a:srgbClr val="C00000"/>
                </a:solidFill>
              </a:rPr>
              <a:t>Variables</a:t>
            </a:r>
            <a:endParaRPr lang="en-IN" sz="3600" b="1" dirty="0">
              <a:latin typeface="Palatino"/>
              <a:ea typeface="Calibri" panose="020F0502020204030204" pitchFamily="34" charset="0"/>
              <a:cs typeface="Helvetica" panose="020B0604020202020204" pitchFamily="34" charset="0"/>
            </a:endParaRPr>
          </a:p>
          <a:p>
            <a:pPr lvl="0" algn="ctr">
              <a:spcBef>
                <a:spcPct val="0"/>
              </a:spcBef>
              <a:defRPr/>
            </a:pPr>
            <a:endParaRPr lang="en-IN" sz="3600" b="1" dirty="0">
              <a:effectLst/>
              <a:latin typeface="Palatino"/>
              <a:ea typeface="Calibri" panose="020F0502020204030204" pitchFamily="34" charset="0"/>
              <a:cs typeface="Helvetica" panose="020B0604020202020204" pitchFamily="34" charset="0"/>
            </a:endParaRPr>
          </a:p>
          <a:p>
            <a:pPr lvl="0" algn="ctr">
              <a:spcBef>
                <a:spcPct val="0"/>
              </a:spcBef>
              <a:defRPr/>
            </a:pPr>
            <a:endParaRPr lang="en-IN" sz="3600" b="1" dirty="0">
              <a:effectLst/>
              <a:latin typeface="Palatino"/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F5816D-803F-F3BD-F9D8-B12255E00C04}"/>
              </a:ext>
            </a:extLst>
          </p:cNvPr>
          <p:cNvSpPr txBox="1"/>
          <p:nvPr/>
        </p:nvSpPr>
        <p:spPr>
          <a:xfrm>
            <a:off x="381000" y="923057"/>
            <a:ext cx="83820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IN" sz="2800" b="1" dirty="0"/>
              <a:t>A variable</a:t>
            </a:r>
            <a:r>
              <a:rPr lang="en-IN" sz="2800" dirty="0"/>
              <a:t> is a name of storage location in memory that holds data.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IN" sz="2800" dirty="0"/>
              <a:t>Variables are used to store data which can be read and write during program execution.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IN" sz="2800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IN" sz="2800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IN" sz="2800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IN" sz="2800" dirty="0"/>
              <a:t>Each variable has a Data </a:t>
            </a:r>
            <a:r>
              <a:rPr lang="en-IN" sz="2800" b="1" dirty="0"/>
              <a:t>type</a:t>
            </a:r>
            <a:r>
              <a:rPr lang="en-IN" sz="2800" dirty="0"/>
              <a:t>, which defines memory size and data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800" b="1" dirty="0"/>
              <a:t>In C variables have to be </a:t>
            </a:r>
            <a:r>
              <a:rPr lang="en-US" altLang="en-US" sz="2800" b="1" i="1" dirty="0"/>
              <a:t>declared</a:t>
            </a:r>
            <a:r>
              <a:rPr lang="en-US" altLang="en-US" sz="2800" b="1" dirty="0"/>
              <a:t> before they are used Ex:  int x;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800" b="1" dirty="0"/>
              <a:t>Variable can’t be a keyword.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IN" sz="28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14E4A-1D88-5CE2-308A-E88E0AA8E3AF}"/>
              </a:ext>
            </a:extLst>
          </p:cNvPr>
          <p:cNvSpPr txBox="1"/>
          <p:nvPr/>
        </p:nvSpPr>
        <p:spPr>
          <a:xfrm>
            <a:off x="2514600" y="304800"/>
            <a:ext cx="4596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b="1" dirty="0">
                <a:solidFill>
                  <a:srgbClr val="FF0000"/>
                </a:solidFill>
              </a:rPr>
              <a:t>VARIABLE</a:t>
            </a:r>
            <a:endParaRPr lang="en-IN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985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>
          <a:xfrm>
            <a:off x="2037202" y="155660"/>
            <a:ext cx="5372100" cy="514350"/>
          </a:xfrm>
        </p:spPr>
        <p:txBody>
          <a:bodyPr>
            <a:normAutofit fontScale="90000"/>
          </a:bodyPr>
          <a:lstStyle/>
          <a:p>
            <a:pPr algn="ctr" eaLnBrk="1" hangingPunct="1"/>
            <a:r>
              <a:rPr lang="en-US" altLang="en-US" dirty="0"/>
              <a:t>Variable names</a:t>
            </a:r>
          </a:p>
        </p:txBody>
      </p:sp>
      <p:sp>
        <p:nvSpPr>
          <p:cNvPr id="44034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85775" y="670010"/>
            <a:ext cx="8172450" cy="365125"/>
          </a:xfrm>
          <a:ln>
            <a:miter lim="800000"/>
            <a:headEnd/>
            <a:tailEnd/>
          </a:ln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just" eaLnBrk="1" hangingPunct="1">
              <a:buFontTx/>
              <a:buNone/>
              <a:defRPr/>
            </a:pPr>
            <a:r>
              <a:rPr lang="en-US" altLang="en-US" sz="2000" b="1" dirty="0">
                <a:solidFill>
                  <a:schemeClr val="bg2">
                    <a:lumMod val="10000"/>
                  </a:schemeClr>
                </a:solidFill>
                <a:latin typeface="Arial Black" pitchFamily="34" charset="0"/>
              </a:rPr>
              <a:t>Rules for valid variable names (</a:t>
            </a:r>
            <a:r>
              <a:rPr lang="en-US" altLang="en-US" sz="2000" b="1" i="1" dirty="0">
                <a:solidFill>
                  <a:schemeClr val="bg2">
                    <a:lumMod val="10000"/>
                  </a:schemeClr>
                </a:solidFill>
                <a:latin typeface="Arial Black" pitchFamily="34" charset="0"/>
              </a:rPr>
              <a:t>identifiers</a:t>
            </a:r>
            <a:r>
              <a:rPr lang="en-US" altLang="en-US" sz="2000" b="1" dirty="0">
                <a:solidFill>
                  <a:schemeClr val="bg2">
                    <a:lumMod val="10000"/>
                  </a:schemeClr>
                </a:solidFill>
                <a:latin typeface="Arial Black" pitchFamily="34" charset="0"/>
              </a:rPr>
              <a:t>)  :</a:t>
            </a:r>
          </a:p>
          <a:p>
            <a:pPr marL="0" indent="0" algn="just" eaLnBrk="1" hangingPunct="1">
              <a:buNone/>
              <a:defRPr/>
            </a:pPr>
            <a:endParaRPr lang="en-US" altLang="en-US" sz="2000" b="1" dirty="0"/>
          </a:p>
          <a:p>
            <a:pPr algn="just" eaLnBrk="1" hangingPunct="1">
              <a:buFont typeface="Arial" charset="0"/>
              <a:buNone/>
              <a:defRPr/>
            </a:pPr>
            <a:endParaRPr lang="en-US" altLang="en-US" sz="2000" b="1" dirty="0"/>
          </a:p>
          <a:p>
            <a:pPr algn="just" eaLnBrk="1" hangingPunct="1">
              <a:buFont typeface="Arial" charset="0"/>
              <a:buChar char="•"/>
              <a:defRPr/>
            </a:pPr>
            <a:endParaRPr lang="en-US" altLang="en-US" sz="2000" b="1" dirty="0"/>
          </a:p>
          <a:p>
            <a:pPr algn="just" eaLnBrk="1" hangingPunct="1">
              <a:buFont typeface="Arial" charset="0"/>
              <a:buChar char="•"/>
              <a:defRPr/>
            </a:pPr>
            <a:endParaRPr lang="en-US" altLang="en-US" sz="2000" dirty="0"/>
          </a:p>
        </p:txBody>
      </p:sp>
      <p:sp>
        <p:nvSpPr>
          <p:cNvPr id="51204" name="Slide Number Placeholder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4A24590-4E2C-4FC7-ADA9-9B5936277D6B}" type="slidenum">
              <a:rPr lang="en-US" altLang="en-US"/>
              <a:pPr/>
              <a:t>3</a:t>
            </a:fld>
            <a:endParaRPr lang="en-US" altLang="en-US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093CE2B8-1F25-44AE-877A-B6C1AF671B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5565219"/>
              </p:ext>
            </p:extLst>
          </p:nvPr>
        </p:nvGraphicFramePr>
        <p:xfrm>
          <a:off x="-1" y="1105977"/>
          <a:ext cx="8839201" cy="56863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015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>
          <a:xfrm>
            <a:off x="2057400" y="1314994"/>
            <a:ext cx="5372100" cy="514350"/>
          </a:xfrm>
        </p:spPr>
        <p:txBody>
          <a:bodyPr>
            <a:normAutofit fontScale="90000"/>
          </a:bodyPr>
          <a:lstStyle/>
          <a:p>
            <a:pPr algn="ctr" eaLnBrk="1" hangingPunct="1"/>
            <a:r>
              <a:rPr lang="en-US" altLang="en-US" dirty="0"/>
              <a:t>Variable declarations</a:t>
            </a:r>
          </a:p>
        </p:txBody>
      </p:sp>
      <p:sp>
        <p:nvSpPr>
          <p:cNvPr id="46082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2278277" y="2637235"/>
            <a:ext cx="5086350" cy="857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buFontTx/>
              <a:buNone/>
            </a:pPr>
            <a:r>
              <a:rPr lang="en-US" altLang="en-US" dirty="0"/>
              <a:t>Data type               Variable name;</a:t>
            </a:r>
          </a:p>
        </p:txBody>
      </p:sp>
      <p:sp>
        <p:nvSpPr>
          <p:cNvPr id="46089" name="Slide Number Placeholder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90F755E-C1AB-4B32-9156-983F0F2E6069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99332" name="Freeform 4"/>
          <p:cNvSpPr>
            <a:spLocks/>
          </p:cNvSpPr>
          <p:nvPr/>
        </p:nvSpPr>
        <p:spPr bwMode="auto">
          <a:xfrm>
            <a:off x="1867513" y="2470547"/>
            <a:ext cx="1987153" cy="901304"/>
          </a:xfrm>
          <a:custGeom>
            <a:avLst/>
            <a:gdLst>
              <a:gd name="T0" fmla="*/ 2147483646 w 1669"/>
              <a:gd name="T1" fmla="*/ 2147483646 h 757"/>
              <a:gd name="T2" fmla="*/ 2147483646 w 1669"/>
              <a:gd name="T3" fmla="*/ 2147483646 h 757"/>
              <a:gd name="T4" fmla="*/ 2147483646 w 1669"/>
              <a:gd name="T5" fmla="*/ 2147483646 h 757"/>
              <a:gd name="T6" fmla="*/ 2147483646 w 1669"/>
              <a:gd name="T7" fmla="*/ 2147483646 h 757"/>
              <a:gd name="T8" fmla="*/ 2147483646 w 1669"/>
              <a:gd name="T9" fmla="*/ 2147483646 h 757"/>
              <a:gd name="T10" fmla="*/ 2147483646 w 1669"/>
              <a:gd name="T11" fmla="*/ 2147483646 h 757"/>
              <a:gd name="T12" fmla="*/ 2147483646 w 1669"/>
              <a:gd name="T13" fmla="*/ 2147483646 h 757"/>
              <a:gd name="T14" fmla="*/ 2147483646 w 1669"/>
              <a:gd name="T15" fmla="*/ 2147483646 h 757"/>
              <a:gd name="T16" fmla="*/ 2147483646 w 1669"/>
              <a:gd name="T17" fmla="*/ 2147483646 h 757"/>
              <a:gd name="T18" fmla="*/ 2147483646 w 1669"/>
              <a:gd name="T19" fmla="*/ 2147483646 h 757"/>
              <a:gd name="T20" fmla="*/ 2147483646 w 1669"/>
              <a:gd name="T21" fmla="*/ 2147483646 h 757"/>
              <a:gd name="T22" fmla="*/ 2147483646 w 1669"/>
              <a:gd name="T23" fmla="*/ 2147483646 h 757"/>
              <a:gd name="T24" fmla="*/ 2147483646 w 1669"/>
              <a:gd name="T25" fmla="*/ 2147483646 h 757"/>
              <a:gd name="T26" fmla="*/ 2147483646 w 1669"/>
              <a:gd name="T27" fmla="*/ 2147483646 h 757"/>
              <a:gd name="T28" fmla="*/ 2147483646 w 1669"/>
              <a:gd name="T29" fmla="*/ 2147483646 h 757"/>
              <a:gd name="T30" fmla="*/ 2147483646 w 1669"/>
              <a:gd name="T31" fmla="*/ 2147483646 h 757"/>
              <a:gd name="T32" fmla="*/ 2147483646 w 1669"/>
              <a:gd name="T33" fmla="*/ 2147483646 h 757"/>
              <a:gd name="T34" fmla="*/ 2147483646 w 1669"/>
              <a:gd name="T35" fmla="*/ 2147483646 h 757"/>
              <a:gd name="T36" fmla="*/ 2147483646 w 1669"/>
              <a:gd name="T37" fmla="*/ 2147483646 h 757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669"/>
              <a:gd name="T58" fmla="*/ 0 h 757"/>
              <a:gd name="T59" fmla="*/ 1669 w 1669"/>
              <a:gd name="T60" fmla="*/ 757 h 757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669" h="757">
                <a:moveTo>
                  <a:pt x="1053" y="32"/>
                </a:moveTo>
                <a:cubicBezTo>
                  <a:pt x="841" y="36"/>
                  <a:pt x="513" y="0"/>
                  <a:pt x="273" y="80"/>
                </a:cubicBezTo>
                <a:cubicBezTo>
                  <a:pt x="208" y="145"/>
                  <a:pt x="139" y="219"/>
                  <a:pt x="57" y="260"/>
                </a:cubicBezTo>
                <a:cubicBezTo>
                  <a:pt x="28" y="304"/>
                  <a:pt x="0" y="363"/>
                  <a:pt x="33" y="416"/>
                </a:cubicBezTo>
                <a:cubicBezTo>
                  <a:pt x="42" y="431"/>
                  <a:pt x="65" y="432"/>
                  <a:pt x="81" y="440"/>
                </a:cubicBezTo>
                <a:cubicBezTo>
                  <a:pt x="125" y="495"/>
                  <a:pt x="163" y="570"/>
                  <a:pt x="213" y="620"/>
                </a:cubicBezTo>
                <a:cubicBezTo>
                  <a:pt x="280" y="687"/>
                  <a:pt x="457" y="713"/>
                  <a:pt x="549" y="728"/>
                </a:cubicBezTo>
                <a:cubicBezTo>
                  <a:pt x="1503" y="708"/>
                  <a:pt x="901" y="757"/>
                  <a:pt x="1209" y="680"/>
                </a:cubicBezTo>
                <a:cubicBezTo>
                  <a:pt x="1316" y="613"/>
                  <a:pt x="1269" y="632"/>
                  <a:pt x="1341" y="608"/>
                </a:cubicBezTo>
                <a:cubicBezTo>
                  <a:pt x="1403" y="546"/>
                  <a:pt x="1471" y="547"/>
                  <a:pt x="1557" y="536"/>
                </a:cubicBezTo>
                <a:cubicBezTo>
                  <a:pt x="1569" y="520"/>
                  <a:pt x="1585" y="506"/>
                  <a:pt x="1593" y="488"/>
                </a:cubicBezTo>
                <a:cubicBezTo>
                  <a:pt x="1669" y="305"/>
                  <a:pt x="1577" y="452"/>
                  <a:pt x="1641" y="356"/>
                </a:cubicBezTo>
                <a:cubicBezTo>
                  <a:pt x="1637" y="320"/>
                  <a:pt x="1643" y="281"/>
                  <a:pt x="1629" y="248"/>
                </a:cubicBezTo>
                <a:cubicBezTo>
                  <a:pt x="1621" y="230"/>
                  <a:pt x="1596" y="225"/>
                  <a:pt x="1581" y="212"/>
                </a:cubicBezTo>
                <a:cubicBezTo>
                  <a:pt x="1495" y="138"/>
                  <a:pt x="1612" y="209"/>
                  <a:pt x="1449" y="128"/>
                </a:cubicBezTo>
                <a:cubicBezTo>
                  <a:pt x="1382" y="94"/>
                  <a:pt x="1408" y="145"/>
                  <a:pt x="1329" y="92"/>
                </a:cubicBezTo>
                <a:cubicBezTo>
                  <a:pt x="1303" y="75"/>
                  <a:pt x="1284" y="47"/>
                  <a:pt x="1257" y="32"/>
                </a:cubicBezTo>
                <a:cubicBezTo>
                  <a:pt x="1235" y="20"/>
                  <a:pt x="1185" y="8"/>
                  <a:pt x="1185" y="8"/>
                </a:cubicBezTo>
                <a:cubicBezTo>
                  <a:pt x="989" y="21"/>
                  <a:pt x="947" y="5"/>
                  <a:pt x="1053" y="32"/>
                </a:cubicBezTo>
                <a:close/>
              </a:path>
            </a:pathLst>
          </a:custGeom>
          <a:noFill/>
          <a:ln w="9525">
            <a:solidFill>
              <a:srgbClr val="D6009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99333" name="Text Box 5"/>
          <p:cNvSpPr txBox="1">
            <a:spLocks noChangeArrowheads="1"/>
          </p:cNvSpPr>
          <p:nvPr/>
        </p:nvSpPr>
        <p:spPr bwMode="auto">
          <a:xfrm>
            <a:off x="1784855" y="3490913"/>
            <a:ext cx="2533066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</a:rPr>
              <a:t>Which data types </a:t>
            </a:r>
          </a:p>
          <a:p>
            <a:pPr algn="ctr" eaLnBrk="1" hangingPunct="1">
              <a:defRPr/>
            </a:pPr>
            <a:r>
              <a:rPr lang="en-US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</a:rPr>
              <a:t>are possible in C ? </a:t>
            </a:r>
          </a:p>
        </p:txBody>
      </p:sp>
      <p:sp>
        <p:nvSpPr>
          <p:cNvPr id="99334" name="Text Box 6"/>
          <p:cNvSpPr txBox="1">
            <a:spLocks noChangeArrowheads="1"/>
          </p:cNvSpPr>
          <p:nvPr/>
        </p:nvSpPr>
        <p:spPr bwMode="auto">
          <a:xfrm>
            <a:off x="4523415" y="3490913"/>
            <a:ext cx="267252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</a:rPr>
              <a:t>Which variable names </a:t>
            </a:r>
          </a:p>
          <a:p>
            <a:pPr algn="ctr" eaLnBrk="1" hangingPunct="1">
              <a:defRPr/>
            </a:pPr>
            <a:r>
              <a:rPr lang="en-US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</a:rPr>
              <a:t>are allowed in C ? </a:t>
            </a:r>
          </a:p>
        </p:txBody>
      </p:sp>
      <p:sp>
        <p:nvSpPr>
          <p:cNvPr id="99335" name="Freeform 7"/>
          <p:cNvSpPr>
            <a:spLocks/>
          </p:cNvSpPr>
          <p:nvPr/>
        </p:nvSpPr>
        <p:spPr bwMode="auto">
          <a:xfrm>
            <a:off x="4335677" y="2465785"/>
            <a:ext cx="2628900" cy="901304"/>
          </a:xfrm>
          <a:custGeom>
            <a:avLst/>
            <a:gdLst>
              <a:gd name="T0" fmla="*/ 2147483646 w 1669"/>
              <a:gd name="T1" fmla="*/ 2147483646 h 757"/>
              <a:gd name="T2" fmla="*/ 2147483646 w 1669"/>
              <a:gd name="T3" fmla="*/ 2147483646 h 757"/>
              <a:gd name="T4" fmla="*/ 2147483646 w 1669"/>
              <a:gd name="T5" fmla="*/ 2147483646 h 757"/>
              <a:gd name="T6" fmla="*/ 2147483646 w 1669"/>
              <a:gd name="T7" fmla="*/ 2147483646 h 757"/>
              <a:gd name="T8" fmla="*/ 2147483646 w 1669"/>
              <a:gd name="T9" fmla="*/ 2147483646 h 757"/>
              <a:gd name="T10" fmla="*/ 2147483646 w 1669"/>
              <a:gd name="T11" fmla="*/ 2147483646 h 757"/>
              <a:gd name="T12" fmla="*/ 2147483646 w 1669"/>
              <a:gd name="T13" fmla="*/ 2147483646 h 757"/>
              <a:gd name="T14" fmla="*/ 2147483646 w 1669"/>
              <a:gd name="T15" fmla="*/ 2147483646 h 757"/>
              <a:gd name="T16" fmla="*/ 2147483646 w 1669"/>
              <a:gd name="T17" fmla="*/ 2147483646 h 757"/>
              <a:gd name="T18" fmla="*/ 2147483646 w 1669"/>
              <a:gd name="T19" fmla="*/ 2147483646 h 757"/>
              <a:gd name="T20" fmla="*/ 2147483646 w 1669"/>
              <a:gd name="T21" fmla="*/ 2147483646 h 757"/>
              <a:gd name="T22" fmla="*/ 2147483646 w 1669"/>
              <a:gd name="T23" fmla="*/ 2147483646 h 757"/>
              <a:gd name="T24" fmla="*/ 2147483646 w 1669"/>
              <a:gd name="T25" fmla="*/ 2147483646 h 757"/>
              <a:gd name="T26" fmla="*/ 2147483646 w 1669"/>
              <a:gd name="T27" fmla="*/ 2147483646 h 757"/>
              <a:gd name="T28" fmla="*/ 2147483646 w 1669"/>
              <a:gd name="T29" fmla="*/ 2147483646 h 757"/>
              <a:gd name="T30" fmla="*/ 2147483646 w 1669"/>
              <a:gd name="T31" fmla="*/ 2147483646 h 757"/>
              <a:gd name="T32" fmla="*/ 2147483646 w 1669"/>
              <a:gd name="T33" fmla="*/ 2147483646 h 757"/>
              <a:gd name="T34" fmla="*/ 2147483646 w 1669"/>
              <a:gd name="T35" fmla="*/ 2147483646 h 757"/>
              <a:gd name="T36" fmla="*/ 2147483646 w 1669"/>
              <a:gd name="T37" fmla="*/ 2147483646 h 757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669"/>
              <a:gd name="T58" fmla="*/ 0 h 757"/>
              <a:gd name="T59" fmla="*/ 1669 w 1669"/>
              <a:gd name="T60" fmla="*/ 757 h 757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669" h="757">
                <a:moveTo>
                  <a:pt x="1053" y="32"/>
                </a:moveTo>
                <a:cubicBezTo>
                  <a:pt x="841" y="36"/>
                  <a:pt x="513" y="0"/>
                  <a:pt x="273" y="80"/>
                </a:cubicBezTo>
                <a:cubicBezTo>
                  <a:pt x="208" y="145"/>
                  <a:pt x="139" y="219"/>
                  <a:pt x="57" y="260"/>
                </a:cubicBezTo>
                <a:cubicBezTo>
                  <a:pt x="28" y="304"/>
                  <a:pt x="0" y="363"/>
                  <a:pt x="33" y="416"/>
                </a:cubicBezTo>
                <a:cubicBezTo>
                  <a:pt x="42" y="431"/>
                  <a:pt x="65" y="432"/>
                  <a:pt x="81" y="440"/>
                </a:cubicBezTo>
                <a:cubicBezTo>
                  <a:pt x="125" y="495"/>
                  <a:pt x="163" y="570"/>
                  <a:pt x="213" y="620"/>
                </a:cubicBezTo>
                <a:cubicBezTo>
                  <a:pt x="280" y="687"/>
                  <a:pt x="457" y="713"/>
                  <a:pt x="549" y="728"/>
                </a:cubicBezTo>
                <a:cubicBezTo>
                  <a:pt x="1503" y="708"/>
                  <a:pt x="901" y="757"/>
                  <a:pt x="1209" y="680"/>
                </a:cubicBezTo>
                <a:cubicBezTo>
                  <a:pt x="1316" y="613"/>
                  <a:pt x="1269" y="632"/>
                  <a:pt x="1341" y="608"/>
                </a:cubicBezTo>
                <a:cubicBezTo>
                  <a:pt x="1403" y="546"/>
                  <a:pt x="1471" y="547"/>
                  <a:pt x="1557" y="536"/>
                </a:cubicBezTo>
                <a:cubicBezTo>
                  <a:pt x="1569" y="520"/>
                  <a:pt x="1585" y="506"/>
                  <a:pt x="1593" y="488"/>
                </a:cubicBezTo>
                <a:cubicBezTo>
                  <a:pt x="1669" y="305"/>
                  <a:pt x="1577" y="452"/>
                  <a:pt x="1641" y="356"/>
                </a:cubicBezTo>
                <a:cubicBezTo>
                  <a:pt x="1637" y="320"/>
                  <a:pt x="1643" y="281"/>
                  <a:pt x="1629" y="248"/>
                </a:cubicBezTo>
                <a:cubicBezTo>
                  <a:pt x="1621" y="230"/>
                  <a:pt x="1596" y="225"/>
                  <a:pt x="1581" y="212"/>
                </a:cubicBezTo>
                <a:cubicBezTo>
                  <a:pt x="1495" y="138"/>
                  <a:pt x="1612" y="209"/>
                  <a:pt x="1449" y="128"/>
                </a:cubicBezTo>
                <a:cubicBezTo>
                  <a:pt x="1382" y="94"/>
                  <a:pt x="1408" y="145"/>
                  <a:pt x="1329" y="92"/>
                </a:cubicBezTo>
                <a:cubicBezTo>
                  <a:pt x="1303" y="75"/>
                  <a:pt x="1284" y="47"/>
                  <a:pt x="1257" y="32"/>
                </a:cubicBezTo>
                <a:cubicBezTo>
                  <a:pt x="1235" y="20"/>
                  <a:pt x="1185" y="8"/>
                  <a:pt x="1185" y="8"/>
                </a:cubicBezTo>
                <a:cubicBezTo>
                  <a:pt x="989" y="21"/>
                  <a:pt x="947" y="5"/>
                  <a:pt x="1053" y="32"/>
                </a:cubicBezTo>
                <a:close/>
              </a:path>
            </a:pathLst>
          </a:custGeom>
          <a:noFill/>
          <a:ln w="9525">
            <a:solidFill>
              <a:srgbClr val="D6009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46088" name="Rectangle 8"/>
          <p:cNvSpPr>
            <a:spLocks noChangeArrowheads="1"/>
          </p:cNvSpPr>
          <p:nvPr/>
        </p:nvSpPr>
        <p:spPr bwMode="auto">
          <a:xfrm>
            <a:off x="1992527" y="2351485"/>
            <a:ext cx="5143500" cy="10287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 sz="1350"/>
          </a:p>
        </p:txBody>
      </p:sp>
    </p:spTree>
    <p:extLst>
      <p:ext uri="{BB962C8B-B14F-4D97-AF65-F5344CB8AC3E}">
        <p14:creationId xmlns:p14="http://schemas.microsoft.com/office/powerpoint/2010/main" val="109601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32" grpId="0" animBg="1"/>
      <p:bldP spid="99333" grpId="0"/>
      <p:bldP spid="99334" grpId="0"/>
      <p:bldP spid="993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AA31C07-704C-63F1-E824-D4CE822CA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75456"/>
            <a:ext cx="4556055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 Basics (</a:t>
            </a:r>
            <a:r>
              <a:rPr kumimoji="0" lang="en-US" altLang="en-US" sz="3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scanf</a:t>
            </a:r>
            <a:r>
              <a:rPr kumimoji="0" lang="en-US" altLang="en-US" sz="3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endParaRPr kumimoji="0" lang="en-US" altLang="en-US" sz="3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709667-3643-8CF7-CE77-ECD080BE4A11}"/>
              </a:ext>
            </a:extLst>
          </p:cNvPr>
          <p:cNvSpPr txBox="1"/>
          <p:nvPr/>
        </p:nvSpPr>
        <p:spPr>
          <a:xfrm>
            <a:off x="685800" y="1143000"/>
            <a:ext cx="7086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 err="1"/>
              <a:t>scanf</a:t>
            </a:r>
            <a:r>
              <a:rPr lang="en-IN" sz="2800" dirty="0"/>
              <a:t>("</a:t>
            </a:r>
            <a:r>
              <a:rPr lang="en-IN" sz="2800" dirty="0" err="1"/>
              <a:t>format_specifier</a:t>
            </a:r>
            <a:r>
              <a:rPr lang="en-IN" sz="2800" dirty="0"/>
              <a:t>", &amp;variable);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E76CA-3A35-996B-6AC5-936408911443}"/>
              </a:ext>
            </a:extLst>
          </p:cNvPr>
          <p:cNvSpPr txBox="1"/>
          <p:nvPr/>
        </p:nvSpPr>
        <p:spPr>
          <a:xfrm>
            <a:off x="661737" y="2056656"/>
            <a:ext cx="45960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int </a:t>
            </a:r>
            <a:r>
              <a:rPr lang="en-IN" dirty="0" err="1"/>
              <a:t>num</a:t>
            </a:r>
            <a:r>
              <a:rPr lang="en-IN" dirty="0"/>
              <a:t>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printf</a:t>
            </a:r>
            <a:r>
              <a:rPr lang="en-IN" dirty="0"/>
              <a:t>("Enter a number (width 3): ");</a:t>
            </a:r>
          </a:p>
          <a:p>
            <a:r>
              <a:rPr lang="en-IN" dirty="0"/>
              <a:t>    </a:t>
            </a:r>
            <a:r>
              <a:rPr lang="en-IN" dirty="0" err="1"/>
              <a:t>scanf</a:t>
            </a:r>
            <a:r>
              <a:rPr lang="en-IN" dirty="0"/>
              <a:t>("%3d", &amp;</a:t>
            </a:r>
            <a:r>
              <a:rPr lang="en-IN" dirty="0" err="1"/>
              <a:t>num</a:t>
            </a:r>
            <a:r>
              <a:rPr lang="en-IN" dirty="0"/>
              <a:t>);   // reads max 3 digits</a:t>
            </a:r>
          </a:p>
        </p:txBody>
      </p:sp>
    </p:spTree>
    <p:extLst>
      <p:ext uri="{BB962C8B-B14F-4D97-AF65-F5344CB8AC3E}">
        <p14:creationId xmlns:p14="http://schemas.microsoft.com/office/powerpoint/2010/main" val="2184822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29D9B7-7E45-BADA-632F-19049B3F47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75"/>
          <a:stretch>
            <a:fillRect/>
          </a:stretch>
        </p:blipFill>
        <p:spPr>
          <a:xfrm>
            <a:off x="228600" y="76200"/>
            <a:ext cx="8524875" cy="41195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ADB400-605C-5C61-D5E0-1290FEDDC6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33"/>
          <a:stretch>
            <a:fillRect/>
          </a:stretch>
        </p:blipFill>
        <p:spPr>
          <a:xfrm>
            <a:off x="51384" y="4648200"/>
            <a:ext cx="8702091" cy="113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53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B94753-F125-7BA0-B783-FFB9CC8863F3}"/>
              </a:ext>
            </a:extLst>
          </p:cNvPr>
          <p:cNvSpPr txBox="1"/>
          <p:nvPr/>
        </p:nvSpPr>
        <p:spPr>
          <a:xfrm>
            <a:off x="838200" y="762000"/>
            <a:ext cx="74676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Float Data Type </a:t>
            </a:r>
          </a:p>
          <a:p>
            <a:endParaRPr lang="en-IN" sz="2800" dirty="0"/>
          </a:p>
          <a:p>
            <a:r>
              <a:rPr lang="en-IN" sz="2800" dirty="0"/>
              <a:t>: </a:t>
            </a:r>
          </a:p>
          <a:p>
            <a:r>
              <a:rPr lang="en-IN" sz="2800" dirty="0"/>
              <a:t>Input and output</a:t>
            </a:r>
          </a:p>
          <a:p>
            <a:r>
              <a:rPr lang="en-IN" sz="2800" dirty="0"/>
              <a:t>Format specifier with float</a:t>
            </a:r>
          </a:p>
          <a:p>
            <a:r>
              <a:rPr lang="en-IN" sz="2800" dirty="0"/>
              <a:t>Width specifier with output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27893765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8873</TotalTime>
  <Words>252</Words>
  <Application>Microsoft Office PowerPoint</Application>
  <PresentationFormat>On-screen Show (4:3)</PresentationFormat>
  <Paragraphs>40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Arial Unicode MS</vt:lpstr>
      <vt:lpstr>Calibri</vt:lpstr>
      <vt:lpstr>Calibri Light</vt:lpstr>
      <vt:lpstr>Palatino</vt:lpstr>
      <vt:lpstr>Retrospect</vt:lpstr>
      <vt:lpstr>PowerPoint Presentation</vt:lpstr>
      <vt:lpstr>PowerPoint Presentation</vt:lpstr>
      <vt:lpstr>Variable names</vt:lpstr>
      <vt:lpstr>Variable declarations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shubhangi</dc:creator>
  <cp:lastModifiedBy>Arvind Kumar Mehta [MU - Jaipur]</cp:lastModifiedBy>
  <cp:revision>281</cp:revision>
  <dcterms:created xsi:type="dcterms:W3CDTF">2017-07-11T09:12:16Z</dcterms:created>
  <dcterms:modified xsi:type="dcterms:W3CDTF">2025-08-19T07:37:43Z</dcterms:modified>
</cp:coreProperties>
</file>