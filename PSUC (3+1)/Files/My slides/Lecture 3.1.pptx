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handoutMasterIdLst>
    <p:handoutMasterId r:id="rId16"/>
  </p:handoutMasterIdLst>
  <p:sldIdLst>
    <p:sldId id="295" r:id="rId2"/>
    <p:sldId id="323" r:id="rId3"/>
    <p:sldId id="324" r:id="rId4"/>
    <p:sldId id="325" r:id="rId5"/>
    <p:sldId id="315" r:id="rId6"/>
    <p:sldId id="326" r:id="rId7"/>
    <p:sldId id="327" r:id="rId8"/>
    <p:sldId id="328" r:id="rId9"/>
    <p:sldId id="329" r:id="rId10"/>
    <p:sldId id="330" r:id="rId11"/>
    <p:sldId id="331" r:id="rId12"/>
    <p:sldId id="318" r:id="rId13"/>
    <p:sldId id="316" r:id="rId14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18" autoAdjust="0"/>
  </p:normalViewPr>
  <p:slideViewPr>
    <p:cSldViewPr>
      <p:cViewPr varScale="1">
        <p:scale>
          <a:sx n="53" d="100"/>
          <a:sy n="53" d="100"/>
        </p:scale>
        <p:origin x="158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67D29-0E54-4FC2-B286-9BE94D2829B8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9E78D-3266-4CC1-916B-2600E39DD5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4BA4553-079D-4D20-B90C-B0C298FDB8E7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3"/>
            <a:ext cx="5563870" cy="4189095"/>
          </a:xfrm>
          <a:prstGeom prst="rect">
            <a:avLst/>
          </a:prstGeom>
        </p:spPr>
        <p:txBody>
          <a:bodyPr vert="horz" lIns="92930" tIns="46465" rIns="92930" bIns="4646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ACEE32E0-70ED-475D-B6A3-4A43F6DB1D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E32E0-70ED-475D-B6A3-4A43F6DB1D4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80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00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99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89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4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56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54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4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61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28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21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58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48E43-AAF6-4998-B241-677BD4572ECB}" type="datetimeFigureOut">
              <a:rPr lang="en-US" smtClean="0"/>
              <a:pPr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9F8D158-0A38-4D3A-B417-336D3A99D0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4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28600" y="457200"/>
            <a:ext cx="8686800" cy="4610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600" b="1" dirty="0"/>
              <a:t>Problem Solving Using Computers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sz="3600" b="1" dirty="0">
                <a:latin typeface="Palatino"/>
                <a:ea typeface="Calibri" panose="020F0502020204030204" pitchFamily="34" charset="0"/>
                <a:cs typeface="Helvetica" panose="020B0604020202020204" pitchFamily="34" charset="0"/>
              </a:rPr>
              <a:t>CPU Architecture</a:t>
            </a: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lvl="0" algn="ctr">
              <a:spcBef>
                <a:spcPct val="0"/>
              </a:spcBef>
              <a:defRPr/>
            </a:pPr>
            <a:endParaRPr lang="en-IN" sz="3600" b="1" dirty="0">
              <a:effectLst/>
              <a:latin typeface="Palatino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ED14B7-3FBF-8CC7-7BCD-F85E4E7C9468}"/>
              </a:ext>
            </a:extLst>
          </p:cNvPr>
          <p:cNvSpPr txBox="1"/>
          <p:nvPr/>
        </p:nvSpPr>
        <p:spPr>
          <a:xfrm>
            <a:off x="228600" y="2291410"/>
            <a:ext cx="7772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600" b="1" dirty="0"/>
              <a:t>CPU Architecture</a:t>
            </a:r>
            <a:r>
              <a:rPr lang="en-IN" sz="3600" dirty="0"/>
              <a:t> </a:t>
            </a:r>
          </a:p>
          <a:p>
            <a:pPr algn="just"/>
            <a:r>
              <a:rPr lang="en-IN" sz="3600" dirty="0"/>
              <a:t>Internal structure and design of a </a:t>
            </a:r>
            <a:r>
              <a:rPr lang="en-IN" sz="3600" b="1" dirty="0"/>
              <a:t>Central Processing Unit (CPU)</a:t>
            </a:r>
            <a:r>
              <a:rPr lang="en-IN" sz="3600" dirty="0"/>
              <a:t>, </a:t>
            </a:r>
          </a:p>
          <a:p>
            <a:pPr algn="just"/>
            <a:endParaRPr lang="en-IN" sz="3600" dirty="0"/>
          </a:p>
          <a:p>
            <a:pPr algn="just"/>
            <a:r>
              <a:rPr lang="en-IN" sz="3600" dirty="0"/>
              <a:t>How CPU processes </a:t>
            </a:r>
            <a:r>
              <a:rPr lang="en-IN" sz="3600" b="1" dirty="0"/>
              <a:t>instructions</a:t>
            </a:r>
            <a:r>
              <a:rPr lang="en-IN" sz="3600" dirty="0"/>
              <a:t> and </a:t>
            </a:r>
            <a:r>
              <a:rPr lang="en-IN" sz="3600" b="1" dirty="0"/>
              <a:t>manages data</a:t>
            </a:r>
            <a:r>
              <a:rPr lang="en-IN" sz="3600" dirty="0"/>
              <a:t>. </a:t>
            </a:r>
          </a:p>
        </p:txBody>
      </p:sp>
      <p:pic>
        <p:nvPicPr>
          <p:cNvPr id="1026" name="Picture 2" descr="What could be the reasons for low CPU usage?">
            <a:extLst>
              <a:ext uri="{FF2B5EF4-FFF2-40B4-BE49-F238E27FC236}">
                <a16:creationId xmlns:a16="http://schemas.microsoft.com/office/drawing/2014/main" id="{73A97A03-612D-F6A1-04E4-02B8000BB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-28074"/>
            <a:ext cx="4456698" cy="222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850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DD7DA4-DFB2-94CE-0ADC-12E4EDD1D5FA}"/>
              </a:ext>
            </a:extLst>
          </p:cNvPr>
          <p:cNvSpPr txBox="1"/>
          <p:nvPr/>
        </p:nvSpPr>
        <p:spPr>
          <a:xfrm>
            <a:off x="0" y="151179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Key components Of CPU</a:t>
            </a:r>
          </a:p>
          <a:p>
            <a:pPr>
              <a:buFont typeface="+mj-lt"/>
              <a:buAutoNum type="arabicPeriod"/>
            </a:pPr>
            <a:r>
              <a:rPr lang="en-IN" sz="3600" b="1" dirty="0"/>
              <a:t>Arithmetic Logic Unit (ALU)</a:t>
            </a:r>
            <a:r>
              <a:rPr lang="en-IN" sz="3600" dirty="0"/>
              <a:t>: Executes arithmetic and logic operations.</a:t>
            </a:r>
          </a:p>
          <a:p>
            <a:pPr>
              <a:buFont typeface="+mj-lt"/>
              <a:buAutoNum type="arabicPeriod"/>
            </a:pPr>
            <a:r>
              <a:rPr lang="en-IN" sz="3600" b="1" dirty="0"/>
              <a:t>Control Unit (CU)</a:t>
            </a:r>
            <a:r>
              <a:rPr lang="en-IN" sz="3600" dirty="0"/>
              <a:t>: Directs the operations of the processor, managing the execution of instructions by the ALU.</a:t>
            </a:r>
          </a:p>
          <a:p>
            <a:pPr>
              <a:buFont typeface="+mj-lt"/>
              <a:buAutoNum type="arabicPeriod"/>
            </a:pPr>
            <a:r>
              <a:rPr lang="en-IN" sz="3600" b="1" dirty="0"/>
              <a:t>Registers</a:t>
            </a:r>
            <a:r>
              <a:rPr lang="en-IN" sz="3600" dirty="0"/>
              <a:t>: Small, fast storage locations inside the CPU that hold data temporarily.</a:t>
            </a:r>
          </a:p>
        </p:txBody>
      </p:sp>
    </p:spTree>
    <p:extLst>
      <p:ext uri="{BB962C8B-B14F-4D97-AF65-F5344CB8AC3E}">
        <p14:creationId xmlns:p14="http://schemas.microsoft.com/office/powerpoint/2010/main" val="265036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DD7DA4-DFB2-94CE-0ADC-12E4EDD1D5FA}"/>
              </a:ext>
            </a:extLst>
          </p:cNvPr>
          <p:cNvSpPr txBox="1"/>
          <p:nvPr/>
        </p:nvSpPr>
        <p:spPr>
          <a:xfrm>
            <a:off x="0" y="151179"/>
            <a:ext cx="9144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IN" sz="3600" b="1" dirty="0"/>
              <a:t>Cache</a:t>
            </a:r>
            <a:r>
              <a:rPr lang="en-IN" sz="3600" dirty="0"/>
              <a:t>: A small amount of high-speed memory located on or near the CPU to reduce the time it takes to access data from the main memory (RAM).</a:t>
            </a:r>
          </a:p>
          <a:p>
            <a:pPr>
              <a:buFont typeface="+mj-lt"/>
              <a:buAutoNum type="arabicPeriod"/>
            </a:pPr>
            <a:r>
              <a:rPr lang="en-IN" sz="3600" b="1" dirty="0"/>
              <a:t>Clock Speed</a:t>
            </a:r>
            <a:r>
              <a:rPr lang="en-IN" sz="3600" dirty="0"/>
              <a:t>: The speed at which a CPU can execute instructions, measured in Hertz (Hz).</a:t>
            </a:r>
          </a:p>
          <a:p>
            <a:pPr>
              <a:buFont typeface="+mj-lt"/>
              <a:buAutoNum type="arabicPeriod"/>
            </a:pPr>
            <a:r>
              <a:rPr lang="en-IN" sz="3600" b="1" dirty="0"/>
              <a:t>Instruction Set Architecture (ISA)</a:t>
            </a:r>
            <a:r>
              <a:rPr lang="en-IN" sz="3600" dirty="0"/>
              <a:t>: Defines the set of instructions that the CPU can understand and execute (e.g., x86, ARM).</a:t>
            </a:r>
          </a:p>
        </p:txBody>
      </p:sp>
    </p:spTree>
    <p:extLst>
      <p:ext uri="{BB962C8B-B14F-4D97-AF65-F5344CB8AC3E}">
        <p14:creationId xmlns:p14="http://schemas.microsoft.com/office/powerpoint/2010/main" val="155498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C93E31C8-1DCF-C0D1-63E6-2DAB991A7A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3" r="19167"/>
          <a:stretch/>
        </p:blipFill>
        <p:spPr bwMode="auto">
          <a:xfrm>
            <a:off x="533400" y="65942"/>
            <a:ext cx="7772400" cy="672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84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EA9B5EE-D997-7BA8-FB9D-02F102A3FA90}"/>
              </a:ext>
            </a:extLst>
          </p:cNvPr>
          <p:cNvSpPr txBox="1"/>
          <p:nvPr/>
        </p:nvSpPr>
        <p:spPr>
          <a:xfrm>
            <a:off x="2133600" y="228600"/>
            <a:ext cx="662639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The </a:t>
            </a:r>
            <a:r>
              <a:rPr lang="en-IN" sz="2800" b="1" dirty="0"/>
              <a:t>Von Neumann architecture</a:t>
            </a:r>
            <a:r>
              <a:rPr lang="en-IN" sz="2800" dirty="0"/>
              <a:t>,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/>
              <a:t>Foundational concept for most modern computer designs.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/>
              <a:t>It was proposed by mathematician and physicist </a:t>
            </a:r>
            <a:r>
              <a:rPr lang="en-IN" sz="2800" b="1" dirty="0"/>
              <a:t>John von Neumann</a:t>
            </a:r>
            <a:r>
              <a:rPr lang="en-IN" sz="2800" dirty="0"/>
              <a:t> in the 1940s.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/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/>
              <a:t>it describes a computing system where both </a:t>
            </a:r>
            <a:r>
              <a:rPr lang="en-IN" sz="2800" b="1" dirty="0"/>
              <a:t>data</a:t>
            </a:r>
            <a:r>
              <a:rPr lang="en-IN" sz="2800" dirty="0"/>
              <a:t> and </a:t>
            </a:r>
            <a:r>
              <a:rPr lang="en-IN" sz="2800" b="1" dirty="0"/>
              <a:t>program instructions</a:t>
            </a:r>
            <a:r>
              <a:rPr lang="en-IN" sz="2800" dirty="0"/>
              <a:t> are stored in the same memory. This concept is key to how most general-purpose computers operate today.</a:t>
            </a:r>
          </a:p>
        </p:txBody>
      </p:sp>
    </p:spTree>
    <p:extLst>
      <p:ext uri="{BB962C8B-B14F-4D97-AF65-F5344CB8AC3E}">
        <p14:creationId xmlns:p14="http://schemas.microsoft.com/office/powerpoint/2010/main" val="99479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78FFB-E810-76A8-C15A-62A820F4EDA8}"/>
              </a:ext>
            </a:extLst>
          </p:cNvPr>
          <p:cNvSpPr txBox="1"/>
          <p:nvPr/>
        </p:nvSpPr>
        <p:spPr>
          <a:xfrm>
            <a:off x="304800" y="0"/>
            <a:ext cx="8305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Key Features of Von Neumann Architecture:</a:t>
            </a:r>
          </a:p>
          <a:p>
            <a:pPr>
              <a:buFont typeface="+mj-lt"/>
              <a:buAutoNum type="arabicPeriod"/>
            </a:pPr>
            <a:r>
              <a:rPr lang="en-IN" sz="2800" b="1" dirty="0"/>
              <a:t>Single Memory for Data and Instructions</a:t>
            </a:r>
            <a:r>
              <a:rPr lang="en-IN" sz="2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Both program instructions and data are stored in the same </a:t>
            </a:r>
            <a:r>
              <a:rPr lang="en-IN" sz="2800" b="1" dirty="0"/>
              <a:t>read-write memory</a:t>
            </a:r>
            <a:r>
              <a:rPr lang="en-IN" sz="2800" dirty="0"/>
              <a:t>. This is in contrast to </a:t>
            </a:r>
            <a:r>
              <a:rPr lang="en-IN" sz="2800" b="1" dirty="0"/>
              <a:t>Harvard Architecture</a:t>
            </a:r>
            <a:r>
              <a:rPr lang="en-IN" sz="2800" dirty="0"/>
              <a:t>, where program instructions and data are stored separately.</a:t>
            </a:r>
          </a:p>
          <a:p>
            <a:pPr>
              <a:buFont typeface="+mj-lt"/>
              <a:buAutoNum type="arabicPeriod"/>
            </a:pPr>
            <a:r>
              <a:rPr lang="en-IN" sz="2800" b="1" dirty="0"/>
              <a:t>Sequential Execution of Instructions</a:t>
            </a:r>
            <a:r>
              <a:rPr lang="en-IN" sz="28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Instructions are executed one after the other in a linear fashion unless control instructions (like jumps or branches) are used.</a:t>
            </a:r>
          </a:p>
        </p:txBody>
      </p:sp>
    </p:spTree>
    <p:extLst>
      <p:ext uri="{BB962C8B-B14F-4D97-AF65-F5344CB8AC3E}">
        <p14:creationId xmlns:p14="http://schemas.microsoft.com/office/powerpoint/2010/main" val="1799822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2089E7-134C-F53B-A499-87A6512D2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09600"/>
            <a:ext cx="8229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Stored-Program Concept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Programs are stored in memory alongside data, allowing the CPU to fetch instructions from memory, decode them, and execute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Processing Unit (CPU)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CPU consists of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Unit (CU)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Arithmetic Logic Unit (ALU)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 CU fetches instructions from memory and decodes them, while the ALU performs arithmetic and logic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175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5EF6A6-71C3-2936-0AF5-3AD185886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7848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memory in a Von Neumann machine is a linear storage of addressable units. The CPU accesses the memory by addressing a particular location.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Input/Output (I/O) System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architecture allows data to be read from or written to input/output devices like keyboards, printers, or screens.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97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61E491-D81D-86D3-5657-460D4E586509}"/>
              </a:ext>
            </a:extLst>
          </p:cNvPr>
          <p:cNvSpPr txBox="1"/>
          <p:nvPr/>
        </p:nvSpPr>
        <p:spPr>
          <a:xfrm>
            <a:off x="114300" y="152400"/>
            <a:ext cx="8915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Flexibility</a:t>
            </a:r>
            <a:r>
              <a:rPr lang="en-IN" sz="2800" dirty="0"/>
              <a:t>: Programs can be easily modified and stored in memory.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Simplicity</a:t>
            </a:r>
            <a:r>
              <a:rPr lang="en-IN" sz="2800" dirty="0"/>
              <a:t>: The unified memory model simplifies hardware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General Purpose</a:t>
            </a:r>
            <a:r>
              <a:rPr lang="en-IN" sz="2800" dirty="0"/>
              <a:t>: This architecture is suitable for general-purpose computing.</a:t>
            </a:r>
          </a:p>
        </p:txBody>
      </p:sp>
    </p:spTree>
    <p:extLst>
      <p:ext uri="{BB962C8B-B14F-4D97-AF65-F5344CB8AC3E}">
        <p14:creationId xmlns:p14="http://schemas.microsoft.com/office/powerpoint/2010/main" val="2331062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7372E-AAA1-0452-D1CF-FCB3E6C6A249}"/>
              </a:ext>
            </a:extLst>
          </p:cNvPr>
          <p:cNvSpPr txBox="1"/>
          <p:nvPr/>
        </p:nvSpPr>
        <p:spPr>
          <a:xfrm>
            <a:off x="609600" y="228600"/>
            <a:ext cx="8305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Disadvantages: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Von Neumann Bottleneck</a:t>
            </a:r>
            <a:r>
              <a:rPr lang="en-IN" sz="3200" dirty="0"/>
              <a:t>: Since data and instructions share the same memory and bus, the CPU can be idle while waiting for data or instructions.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Slower Parallel Execution</a:t>
            </a:r>
            <a:r>
              <a:rPr lang="en-IN" sz="3200" dirty="0"/>
              <a:t>: Modern tasks like parallel computing are less efficient with this architecture compared to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482370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731EE-E8AA-E7AF-18A4-8556988D7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762000"/>
            <a:ext cx="8458200" cy="365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82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E42B3B-E765-BF1B-7F9D-51CC19AA8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24632"/>
            <a:ext cx="8686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Characteristics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</a:rPr>
              <a:t> of </a:t>
            </a:r>
            <a:r>
              <a:rPr lang="en-IN" sz="3200" b="1" dirty="0">
                <a:solidFill>
                  <a:srgbClr val="FF0000"/>
                </a:solidFill>
              </a:rPr>
              <a:t>Harvard Architecture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Instructions and data can be fetched in parallel, improving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Commonly used in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systems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microcontrollers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ARM microcontrollers, DSP processors. </a:t>
            </a:r>
          </a:p>
        </p:txBody>
      </p:sp>
    </p:spTree>
    <p:extLst>
      <p:ext uri="{BB962C8B-B14F-4D97-AF65-F5344CB8AC3E}">
        <p14:creationId xmlns:p14="http://schemas.microsoft.com/office/powerpoint/2010/main" val="76230353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7527</TotalTime>
  <Words>533</Words>
  <Application>Microsoft Office PowerPoint</Application>
  <PresentationFormat>On-screen Show (4:3)</PresentationFormat>
  <Paragraphs>50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Palatino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shubhangi</dc:creator>
  <cp:lastModifiedBy>Arvind Kumar Mehta [MU - Jaipur]</cp:lastModifiedBy>
  <cp:revision>217</cp:revision>
  <dcterms:created xsi:type="dcterms:W3CDTF">2017-07-11T09:12:16Z</dcterms:created>
  <dcterms:modified xsi:type="dcterms:W3CDTF">2024-09-24T05:01:33Z</dcterms:modified>
</cp:coreProperties>
</file>