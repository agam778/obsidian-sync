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95" r:id="rId2"/>
    <p:sldId id="256" r:id="rId3"/>
    <p:sldId id="258" r:id="rId4"/>
    <p:sldId id="303" r:id="rId5"/>
    <p:sldId id="296" r:id="rId6"/>
    <p:sldId id="298" r:id="rId7"/>
    <p:sldId id="297" r:id="rId8"/>
    <p:sldId id="299" r:id="rId9"/>
    <p:sldId id="301" r:id="rId10"/>
    <p:sldId id="300" r:id="rId11"/>
    <p:sldId id="302" r:id="rId12"/>
    <p:sldId id="309" r:id="rId13"/>
    <p:sldId id="304" r:id="rId14"/>
    <p:sldId id="306" r:id="rId15"/>
    <p:sldId id="305" r:id="rId16"/>
    <p:sldId id="311" r:id="rId17"/>
    <p:sldId id="313" r:id="rId18"/>
    <p:sldId id="314" r:id="rId19"/>
    <p:sldId id="315" r:id="rId20"/>
    <p:sldId id="316" r:id="rId21"/>
    <p:sldId id="317" r:id="rId22"/>
    <p:sldId id="319" r:id="rId23"/>
    <p:sldId id="320" r:id="rId24"/>
    <p:sldId id="318" r:id="rId25"/>
    <p:sldId id="321" r:id="rId26"/>
    <p:sldId id="322" r:id="rId27"/>
    <p:sldId id="323" r:id="rId28"/>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57" autoAdjust="0"/>
  </p:normalViewPr>
  <p:slideViewPr>
    <p:cSldViewPr>
      <p:cViewPr varScale="1">
        <p:scale>
          <a:sx n="57" d="100"/>
          <a:sy n="57" d="100"/>
        </p:scale>
        <p:origin x="1468" y="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1440" tIns="45720" rIns="91440" bIns="45720" rtlCol="0"/>
          <a:lstStyle>
            <a:lvl1pPr algn="r">
              <a:defRPr sz="1200"/>
            </a:lvl1pPr>
          </a:lstStyle>
          <a:p>
            <a:fld id="{3B467D29-0E54-4FC2-B286-9BE94D2829B8}" type="datetimeFigureOut">
              <a:rPr lang="en-US" smtClean="0"/>
              <a:pPr/>
              <a:t>8/7/2025</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lIns="91440" tIns="45720" rIns="91440" bIns="45720" rtlCol="0" anchor="b"/>
          <a:lstStyle>
            <a:lvl1pPr algn="r">
              <a:defRPr sz="1200"/>
            </a:lvl1pPr>
          </a:lstStyle>
          <a:p>
            <a:fld id="{8969E78D-3266-4CC1-916B-2600E39DD55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5455"/>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5455"/>
          </a:xfrm>
          <a:prstGeom prst="rect">
            <a:avLst/>
          </a:prstGeom>
        </p:spPr>
        <p:txBody>
          <a:bodyPr vert="horz" lIns="92930" tIns="46465" rIns="92930" bIns="46465" rtlCol="0"/>
          <a:lstStyle>
            <a:lvl1pPr algn="r">
              <a:defRPr sz="1200"/>
            </a:lvl1pPr>
          </a:lstStyle>
          <a:p>
            <a:fld id="{C4BA4553-079D-4D20-B90C-B0C298FDB8E7}" type="datetimeFigureOut">
              <a:rPr lang="en-US" smtClean="0"/>
              <a:pPr/>
              <a:t>8/7/2025</a:t>
            </a:fld>
            <a:endParaRPr lang="en-US"/>
          </a:p>
        </p:txBody>
      </p:sp>
      <p:sp>
        <p:nvSpPr>
          <p:cNvPr id="4" name="Slide Image Placeholder 3"/>
          <p:cNvSpPr>
            <a:spLocks noGrp="1" noRot="1" noChangeAspect="1"/>
          </p:cNvSpPr>
          <p:nvPr>
            <p:ph type="sldImg" idx="2"/>
          </p:nvPr>
        </p:nvSpPr>
        <p:spPr>
          <a:xfrm>
            <a:off x="1150938" y="698500"/>
            <a:ext cx="4652962" cy="3490913"/>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21823"/>
            <a:ext cx="5563870" cy="4189095"/>
          </a:xfrm>
          <a:prstGeom prst="rect">
            <a:avLst/>
          </a:prstGeom>
        </p:spPr>
        <p:txBody>
          <a:bodyPr vert="horz" lIns="92930" tIns="46465" rIns="92930" bIns="4646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13763" cy="465455"/>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29"/>
            <a:ext cx="3013763" cy="465455"/>
          </a:xfrm>
          <a:prstGeom prst="rect">
            <a:avLst/>
          </a:prstGeom>
        </p:spPr>
        <p:txBody>
          <a:bodyPr vert="horz" lIns="92930" tIns="46465" rIns="92930" bIns="46465" rtlCol="0" anchor="b"/>
          <a:lstStyle>
            <a:lvl1pPr algn="r">
              <a:defRPr sz="1200"/>
            </a:lvl1pPr>
          </a:lstStyle>
          <a:p>
            <a:fld id="{ACEE32E0-70ED-475D-B6A3-4A43F6DB1D4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EE32E0-70ED-475D-B6A3-4A43F6DB1D4C}" type="slidenum">
              <a:rPr lang="en-US" smtClean="0"/>
              <a:pPr/>
              <a:t>17</a:t>
            </a:fld>
            <a:endParaRPr lang="en-US"/>
          </a:p>
        </p:txBody>
      </p:sp>
    </p:spTree>
    <p:extLst>
      <p:ext uri="{BB962C8B-B14F-4D97-AF65-F5344CB8AC3E}">
        <p14:creationId xmlns:p14="http://schemas.microsoft.com/office/powerpoint/2010/main" val="3428979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748E43-AAF6-4998-B241-677BD4572ECB}"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48E43-AAF6-4998-B241-677BD4572ECB}"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748E43-AAF6-4998-B241-677BD4572ECB}"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748E43-AAF6-4998-B241-677BD4572ECB}" type="datetimeFigureOut">
              <a:rPr lang="en-US" smtClean="0"/>
              <a:pPr/>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748E43-AAF6-4998-B241-677BD4572ECB}" type="datetimeFigureOut">
              <a:rPr lang="en-US" smtClean="0"/>
              <a:pPr/>
              <a:t>8/7/2025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748E43-AAF6-4998-B241-677BD4572ECB}" type="datetimeFigureOut">
              <a:rPr lang="en-US" smtClean="0"/>
              <a:pPr/>
              <a:t>8/7/2025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748E43-AAF6-4998-B241-677BD4572ECB}" type="datetimeFigureOut">
              <a:rPr lang="en-US" smtClean="0"/>
              <a:pPr/>
              <a:t>8/7/2025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748E43-AAF6-4998-B241-677BD4572ECB}" type="datetimeFigureOut">
              <a:rPr lang="en-US" smtClean="0"/>
              <a:pPr/>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748E43-AAF6-4998-B241-677BD4572ECB}" type="datetimeFigureOut">
              <a:rPr lang="en-US" smtClean="0"/>
              <a:pPr/>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48E43-AAF6-4998-B241-677BD4572ECB}"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48E43-AAF6-4998-B241-677BD4572ECB}"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8D158-0A38-4D3A-B417-336D3A99D0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48E43-AAF6-4998-B241-677BD4572ECB}" type="datetimeFigureOut">
              <a:rPr lang="en-US" smtClean="0"/>
              <a:pPr/>
              <a:t>8/7/2025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F8D158-0A38-4D3A-B417-336D3A99D0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28600" y="457200"/>
            <a:ext cx="8686800" cy="4610100"/>
          </a:xfrm>
          <a:prstGeom prst="rect">
            <a:avLst/>
          </a:prstGeom>
        </p:spPr>
        <p:txBody>
          <a:bodyPr vert="horz" lIns="91440" tIns="45720" rIns="91440" bIns="45720" rtlCol="0" anchor="ctr">
            <a:normAutofit/>
          </a:bodyPr>
          <a:lstStyle/>
          <a:p>
            <a:pPr lvl="0" algn="ctr">
              <a:spcBef>
                <a:spcPct val="0"/>
              </a:spcBef>
              <a:defRPr/>
            </a:pPr>
            <a:r>
              <a:rPr lang="en-US" sz="3600" b="1" dirty="0"/>
              <a:t>Problem Solving Using Computers</a:t>
            </a:r>
          </a:p>
          <a:p>
            <a:pPr lvl="0" algn="ctr">
              <a:spcBef>
                <a:spcPct val="0"/>
              </a:spcBef>
              <a:defRPr/>
            </a:pPr>
            <a:endParaRPr lang="en-IN" sz="3600" b="1" dirty="0">
              <a:latin typeface="Palatino"/>
              <a:ea typeface="Calibri" panose="020F0502020204030204" pitchFamily="34" charset="0"/>
              <a:cs typeface="Helvetica" panose="020B0604020202020204" pitchFamily="34" charset="0"/>
            </a:endParaRPr>
          </a:p>
          <a:p>
            <a:pPr lvl="0" algn="ctr">
              <a:spcBef>
                <a:spcPct val="0"/>
              </a:spcBef>
              <a:defRPr/>
            </a:pPr>
            <a:endParaRPr lang="en-IN" sz="3600" b="1" dirty="0">
              <a:effectLst/>
              <a:latin typeface="Palatino"/>
              <a:ea typeface="Calibri" panose="020F0502020204030204" pitchFamily="34" charset="0"/>
              <a:cs typeface="Helvetica" panose="020B0604020202020204" pitchFamily="34" charset="0"/>
            </a:endParaRPr>
          </a:p>
          <a:p>
            <a:pPr lvl="0" algn="ctr">
              <a:spcBef>
                <a:spcPct val="0"/>
              </a:spcBef>
              <a:defRPr/>
            </a:pPr>
            <a:endParaRPr lang="en-IN" sz="3600" b="1" dirty="0">
              <a:effectLst/>
              <a:latin typeface="Palatino"/>
              <a:ea typeface="Calibri" panose="020F0502020204030204" pitchFamily="34" charset="0"/>
              <a:cs typeface="Helvetica"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1"/>
            <a:ext cx="7772400" cy="761999"/>
          </a:xfrm>
        </p:spPr>
        <p:txBody>
          <a:bodyPr>
            <a:normAutofit/>
          </a:bodyPr>
          <a:lstStyle/>
          <a:p>
            <a:r>
              <a:rPr lang="en-US" sz="2800" b="1" dirty="0"/>
              <a:t>Programming Introduction</a:t>
            </a:r>
          </a:p>
        </p:txBody>
      </p:sp>
      <p:pic>
        <p:nvPicPr>
          <p:cNvPr id="1026" name="Picture 2" descr="Introduction of Operating System - Set 1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914399"/>
            <a:ext cx="5353613" cy="268943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93032" y="3810000"/>
            <a:ext cx="6096000" cy="2554545"/>
          </a:xfrm>
          <a:prstGeom prst="rect">
            <a:avLst/>
          </a:prstGeom>
        </p:spPr>
        <p:txBody>
          <a:bodyPr wrap="square">
            <a:spAutoFit/>
          </a:bodyPr>
          <a:lstStyle/>
          <a:p>
            <a:r>
              <a:rPr lang="en-US" sz="3200" b="1" dirty="0"/>
              <a:t>It is a program to operate  computer hardware .</a:t>
            </a:r>
          </a:p>
          <a:p>
            <a:r>
              <a:rPr lang="en-US" sz="3200" b="1" dirty="0"/>
              <a:t>Unix —Most powerful OS</a:t>
            </a:r>
          </a:p>
          <a:p>
            <a:r>
              <a:rPr lang="en-US" sz="3200" b="1" dirty="0"/>
              <a:t>Windows—Most popular  </a:t>
            </a:r>
          </a:p>
          <a:p>
            <a:r>
              <a:rPr lang="en-US" sz="3200" b="1" dirty="0"/>
              <a:t>OS programming language: c\</a:t>
            </a:r>
            <a:r>
              <a:rPr lang="en-US" sz="3200" b="1" dirty="0" err="1"/>
              <a:t>c++</a:t>
            </a:r>
            <a:endParaRPr lang="en-US" sz="3200" b="1" dirty="0"/>
          </a:p>
        </p:txBody>
      </p:sp>
    </p:spTree>
    <p:extLst>
      <p:ext uri="{BB962C8B-B14F-4D97-AF65-F5344CB8AC3E}">
        <p14:creationId xmlns:p14="http://schemas.microsoft.com/office/powerpoint/2010/main" val="2360372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1"/>
            <a:ext cx="7772400" cy="761999"/>
          </a:xfrm>
        </p:spPr>
        <p:txBody>
          <a:bodyPr>
            <a:normAutofit/>
          </a:bodyPr>
          <a:lstStyle/>
          <a:p>
            <a:r>
              <a:rPr lang="en-US" sz="2800" b="1" dirty="0"/>
              <a:t>Programming Introduction</a:t>
            </a:r>
          </a:p>
        </p:txBody>
      </p:sp>
      <p:sp>
        <p:nvSpPr>
          <p:cNvPr id="5" name="TextBox 4"/>
          <p:cNvSpPr txBox="1"/>
          <p:nvPr/>
        </p:nvSpPr>
        <p:spPr>
          <a:xfrm>
            <a:off x="381000" y="914400"/>
            <a:ext cx="5334000" cy="646331"/>
          </a:xfrm>
          <a:prstGeom prst="rect">
            <a:avLst/>
          </a:prstGeom>
          <a:noFill/>
        </p:spPr>
        <p:txBody>
          <a:bodyPr wrap="square" rtlCol="0">
            <a:spAutoFit/>
          </a:bodyPr>
          <a:lstStyle/>
          <a:p>
            <a:r>
              <a:rPr lang="en-US" sz="3600" b="1" dirty="0"/>
              <a:t>What is Program:</a:t>
            </a:r>
          </a:p>
        </p:txBody>
      </p:sp>
      <p:sp>
        <p:nvSpPr>
          <p:cNvPr id="6" name="Rectangle 5"/>
          <p:cNvSpPr/>
          <p:nvPr/>
        </p:nvSpPr>
        <p:spPr>
          <a:xfrm>
            <a:off x="381000" y="1905000"/>
            <a:ext cx="8337665" cy="3539430"/>
          </a:xfrm>
          <a:prstGeom prst="rect">
            <a:avLst/>
          </a:prstGeom>
        </p:spPr>
        <p:txBody>
          <a:bodyPr wrap="square">
            <a:spAutoFit/>
          </a:bodyPr>
          <a:lstStyle/>
          <a:p>
            <a:r>
              <a:rPr lang="en-US" sz="3200" dirty="0"/>
              <a:t>Program—Set</a:t>
            </a:r>
            <a:r>
              <a:rPr lang="en-US" sz="3200" b="1" dirty="0"/>
              <a:t> of instructions-&gt; M/c code</a:t>
            </a:r>
          </a:p>
          <a:p>
            <a:endParaRPr lang="en-US" sz="3200" b="1" dirty="0"/>
          </a:p>
          <a:p>
            <a:r>
              <a:rPr lang="en-US" sz="3200" b="1" dirty="0"/>
              <a:t>English statements </a:t>
            </a:r>
            <a:r>
              <a:rPr lang="en-US" sz="3200" b="1" dirty="0">
                <a:sym typeface="Wingdings" pitchFamily="2" charset="2"/>
              </a:rPr>
              <a:t> Compiler M/c</a:t>
            </a:r>
          </a:p>
          <a:p>
            <a:r>
              <a:rPr lang="en-US" sz="3200" b="1" dirty="0"/>
              <a:t>(High level language)</a:t>
            </a:r>
          </a:p>
          <a:p>
            <a:endParaRPr lang="en-US" sz="3200" b="1" dirty="0"/>
          </a:p>
          <a:p>
            <a:r>
              <a:rPr lang="en-US" sz="3200" b="1" dirty="0"/>
              <a:t>English statements </a:t>
            </a:r>
            <a:r>
              <a:rPr lang="en-US" sz="3200" b="1" dirty="0">
                <a:sym typeface="Wingdings" pitchFamily="2" charset="2"/>
              </a:rPr>
              <a:t> interpreter M/c</a:t>
            </a:r>
          </a:p>
          <a:p>
            <a:r>
              <a:rPr lang="en-US" sz="3200" b="1" dirty="0"/>
              <a:t>(High level language)</a:t>
            </a:r>
          </a:p>
        </p:txBody>
      </p:sp>
      <p:sp>
        <p:nvSpPr>
          <p:cNvPr id="3" name="AutoShape 4" descr="Compiler Vs. Interpreter: What&amp;#39;s the Differen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12771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1"/>
            <a:ext cx="7772400" cy="761999"/>
          </a:xfrm>
        </p:spPr>
        <p:txBody>
          <a:bodyPr>
            <a:normAutofit/>
          </a:bodyPr>
          <a:lstStyle/>
          <a:p>
            <a:r>
              <a:rPr lang="en-US" sz="2800" b="1" dirty="0"/>
              <a:t>Programming Introduction</a:t>
            </a:r>
          </a:p>
        </p:txBody>
      </p:sp>
      <p:sp>
        <p:nvSpPr>
          <p:cNvPr id="3" name="AutoShape 4" descr="Compiler Vs. Interpreter: What&amp;#39;s the Differen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p:cNvPicPr/>
          <p:nvPr/>
        </p:nvPicPr>
        <p:blipFill rotWithShape="1">
          <a:blip r:embed="rId2"/>
          <a:srcRect l="39626" t="6267" r="4327" b="6837"/>
          <a:stretch/>
        </p:blipFill>
        <p:spPr bwMode="auto">
          <a:xfrm>
            <a:off x="914400" y="1425957"/>
            <a:ext cx="7046750" cy="40060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43290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849732-C68E-D117-CC40-CD782089D296}"/>
              </a:ext>
            </a:extLst>
          </p:cNvPr>
          <p:cNvSpPr txBox="1"/>
          <p:nvPr/>
        </p:nvSpPr>
        <p:spPr>
          <a:xfrm>
            <a:off x="990600" y="228600"/>
            <a:ext cx="7315200" cy="1077218"/>
          </a:xfrm>
          <a:prstGeom prst="rect">
            <a:avLst/>
          </a:prstGeom>
          <a:noFill/>
        </p:spPr>
        <p:txBody>
          <a:bodyPr wrap="square">
            <a:spAutoFit/>
          </a:bodyPr>
          <a:lstStyle/>
          <a:p>
            <a:pPr algn="ctr"/>
            <a:r>
              <a:rPr lang="en-IN" sz="3200" b="1" dirty="0">
                <a:effectLst/>
                <a:latin typeface="Arial" panose="020B0604020202020204" pitchFamily="34" charset="0"/>
                <a:ea typeface="Arial" panose="020B0604020202020204" pitchFamily="34" charset="0"/>
              </a:rPr>
              <a:t>Major Evolution of programming language</a:t>
            </a:r>
            <a:endParaRPr lang="en-IN" sz="3200" dirty="0"/>
          </a:p>
        </p:txBody>
      </p:sp>
      <p:sp>
        <p:nvSpPr>
          <p:cNvPr id="7" name="TextBox 6">
            <a:extLst>
              <a:ext uri="{FF2B5EF4-FFF2-40B4-BE49-F238E27FC236}">
                <a16:creationId xmlns:a16="http://schemas.microsoft.com/office/drawing/2014/main" id="{C7B08EE4-C43D-1D55-CA16-29CBC3E2946C}"/>
              </a:ext>
            </a:extLst>
          </p:cNvPr>
          <p:cNvSpPr txBox="1"/>
          <p:nvPr/>
        </p:nvSpPr>
        <p:spPr>
          <a:xfrm>
            <a:off x="533400" y="1524000"/>
            <a:ext cx="7772400" cy="2875724"/>
          </a:xfrm>
          <a:prstGeom prst="rect">
            <a:avLst/>
          </a:prstGeom>
          <a:noFill/>
        </p:spPr>
        <p:txBody>
          <a:bodyPr wrap="square">
            <a:spAutoFit/>
          </a:bodyPr>
          <a:lstStyle/>
          <a:p>
            <a:pPr algn="just">
              <a:lnSpc>
                <a:spcPct val="115000"/>
              </a:lnSpc>
            </a:pPr>
            <a:r>
              <a:rPr lang="en-IN" sz="3200" b="1" dirty="0">
                <a:effectLst/>
                <a:latin typeface="Arial" panose="020B0604020202020204" pitchFamily="34" charset="0"/>
                <a:ea typeface="Arial" panose="020B0604020202020204" pitchFamily="34" charset="0"/>
              </a:rPr>
              <a:t>Machine languages:</a:t>
            </a:r>
            <a:r>
              <a:rPr lang="en-IN" sz="3200" dirty="0">
                <a:effectLst/>
                <a:latin typeface="Arial" panose="020B0604020202020204" pitchFamily="34" charset="0"/>
                <a:ea typeface="Arial" panose="020B0604020202020204" pitchFamily="34" charset="0"/>
              </a:rPr>
              <a:t> </a:t>
            </a:r>
          </a:p>
          <a:p>
            <a:pPr algn="just">
              <a:lnSpc>
                <a:spcPct val="115000"/>
              </a:lnSpc>
            </a:pPr>
            <a:r>
              <a:rPr lang="en-IN" sz="3200" dirty="0">
                <a:effectLst/>
                <a:latin typeface="Arial" panose="020B0604020202020204" pitchFamily="34" charset="0"/>
                <a:ea typeface="Arial" panose="020B0604020202020204" pitchFamily="34" charset="0"/>
              </a:rPr>
              <a:t>first programming languages, </a:t>
            </a:r>
          </a:p>
          <a:p>
            <a:pPr algn="just">
              <a:lnSpc>
                <a:spcPct val="115000"/>
              </a:lnSpc>
            </a:pPr>
            <a:r>
              <a:rPr lang="en-IN" sz="3200" dirty="0">
                <a:effectLst/>
                <a:latin typeface="Arial" panose="020B0604020202020204" pitchFamily="34" charset="0"/>
                <a:ea typeface="Arial" panose="020B0604020202020204" pitchFamily="34" charset="0"/>
              </a:rPr>
              <a:t>It consisted of binary code that was directly executed by the computer's hardware.</a:t>
            </a:r>
          </a:p>
        </p:txBody>
      </p:sp>
    </p:spTree>
    <p:extLst>
      <p:ext uri="{BB962C8B-B14F-4D97-AF65-F5344CB8AC3E}">
        <p14:creationId xmlns:p14="http://schemas.microsoft.com/office/powerpoint/2010/main" val="2703269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1_2">
            <a:extLst>
              <a:ext uri="{FF2B5EF4-FFF2-40B4-BE49-F238E27FC236}">
                <a16:creationId xmlns:a16="http://schemas.microsoft.com/office/drawing/2014/main" id="{193B0E5D-7563-B66E-D7DC-5986AA8BBD10}"/>
              </a:ext>
            </a:extLst>
          </p:cNvPr>
          <p:cNvPicPr>
            <a:picLocks noChangeAspect="1"/>
          </p:cNvPicPr>
          <p:nvPr/>
        </p:nvPicPr>
        <p:blipFill rotWithShape="1">
          <a:blip r:embed="rId2">
            <a:extLst>
              <a:ext uri="{28A0092B-C50C-407E-A947-70E740481C1C}">
                <a14:useLocalDpi xmlns:a14="http://schemas.microsoft.com/office/drawing/2010/main" val="0"/>
              </a:ext>
            </a:extLst>
          </a:blip>
          <a:srcRect b="12523"/>
          <a:stretch/>
        </p:blipFill>
        <p:spPr bwMode="auto">
          <a:xfrm>
            <a:off x="928370" y="457200"/>
            <a:ext cx="7331872" cy="48006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20090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0ABD9C-6D6F-2DA6-8BD9-456D800E226C}"/>
              </a:ext>
            </a:extLst>
          </p:cNvPr>
          <p:cNvSpPr txBox="1"/>
          <p:nvPr/>
        </p:nvSpPr>
        <p:spPr>
          <a:xfrm>
            <a:off x="647700" y="609600"/>
            <a:ext cx="7848600" cy="3170099"/>
          </a:xfrm>
          <a:prstGeom prst="rect">
            <a:avLst/>
          </a:prstGeom>
          <a:noFill/>
        </p:spPr>
        <p:txBody>
          <a:bodyPr wrap="square">
            <a:spAutoFit/>
          </a:bodyPr>
          <a:lstStyle/>
          <a:p>
            <a:pPr marL="571500" indent="-571500" algn="just">
              <a:buFont typeface="Arial" panose="020B0604020202020204" pitchFamily="34" charset="0"/>
              <a:buChar char="•"/>
            </a:pPr>
            <a:r>
              <a:rPr lang="en-IN" sz="4000" b="1" dirty="0"/>
              <a:t>Due to its complexity </a:t>
            </a:r>
          </a:p>
          <a:p>
            <a:pPr marL="571500" indent="-571500" algn="just">
              <a:buFont typeface="Arial" panose="020B0604020202020204" pitchFamily="34" charset="0"/>
              <a:buChar char="•"/>
            </a:pPr>
            <a:r>
              <a:rPr lang="en-IN" sz="4000" b="1" dirty="0"/>
              <a:t>lack of readability </a:t>
            </a:r>
          </a:p>
          <a:p>
            <a:pPr algn="just"/>
            <a:r>
              <a:rPr lang="en-IN" sz="4000" dirty="0"/>
              <a:t>Higher-level programming languages were later developed to make coding </a:t>
            </a:r>
            <a:r>
              <a:rPr lang="en-IN" sz="4000" b="1" dirty="0"/>
              <a:t>more accessible and efficient.</a:t>
            </a:r>
          </a:p>
        </p:txBody>
      </p:sp>
    </p:spTree>
    <p:extLst>
      <p:ext uri="{BB962C8B-B14F-4D97-AF65-F5344CB8AC3E}">
        <p14:creationId xmlns:p14="http://schemas.microsoft.com/office/powerpoint/2010/main" val="1067889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EDD81C-D64B-CB6C-8EF2-701A926F183A}"/>
              </a:ext>
            </a:extLst>
          </p:cNvPr>
          <p:cNvSpPr txBox="1"/>
          <p:nvPr/>
        </p:nvSpPr>
        <p:spPr>
          <a:xfrm>
            <a:off x="1066800" y="762000"/>
            <a:ext cx="7620000" cy="6494085"/>
          </a:xfrm>
          <a:prstGeom prst="rect">
            <a:avLst/>
          </a:prstGeom>
          <a:noFill/>
        </p:spPr>
        <p:txBody>
          <a:bodyPr wrap="square">
            <a:spAutoFit/>
          </a:bodyPr>
          <a:lstStyle/>
          <a:p>
            <a:pPr algn="ctr"/>
            <a:r>
              <a:rPr lang="en-IN" sz="3600" b="1" dirty="0">
                <a:solidFill>
                  <a:srgbClr val="FF0000"/>
                </a:solidFill>
              </a:rPr>
              <a:t>Assembly Language</a:t>
            </a:r>
          </a:p>
          <a:p>
            <a:pPr marL="457200" indent="-457200" algn="ctr">
              <a:buFont typeface="Arial" panose="020B0604020202020204" pitchFamily="34" charset="0"/>
              <a:buChar char="•"/>
            </a:pPr>
            <a:endParaRPr lang="en-IN" sz="3200" b="1" dirty="0"/>
          </a:p>
          <a:p>
            <a:pPr marL="457200" indent="-457200">
              <a:buFont typeface="Arial" panose="020B0604020202020204" pitchFamily="34" charset="0"/>
              <a:buChar char="•"/>
            </a:pPr>
            <a:r>
              <a:rPr lang="en-IN" sz="3200" b="1" dirty="0"/>
              <a:t>Second-generation programming languages</a:t>
            </a:r>
          </a:p>
          <a:p>
            <a:pPr marL="457200" indent="-457200">
              <a:buFont typeface="Arial" panose="020B0604020202020204" pitchFamily="34" charset="0"/>
              <a:buChar char="•"/>
            </a:pPr>
            <a:endParaRPr lang="en-IN" sz="3200" b="1" dirty="0"/>
          </a:p>
          <a:p>
            <a:pPr marL="457200" indent="-457200">
              <a:buFont typeface="Arial" panose="020B0604020202020204" pitchFamily="34" charset="0"/>
              <a:buChar char="•"/>
            </a:pPr>
            <a:r>
              <a:rPr lang="en-IN" sz="3200" b="1" dirty="0"/>
              <a:t>More human-readable alternative to machine language</a:t>
            </a:r>
          </a:p>
          <a:p>
            <a:pPr marL="457200" indent="-457200">
              <a:buFont typeface="Arial" panose="020B0604020202020204" pitchFamily="34" charset="0"/>
              <a:buChar char="•"/>
            </a:pPr>
            <a:endParaRPr lang="en-IN" sz="3200" b="1" dirty="0"/>
          </a:p>
          <a:p>
            <a:pPr marL="457200" indent="-457200">
              <a:buFont typeface="Arial" panose="020B0604020202020204" pitchFamily="34" charset="0"/>
              <a:buChar char="•"/>
            </a:pPr>
            <a:r>
              <a:rPr lang="en-IN" sz="3200" b="1" dirty="0"/>
              <a:t>Mnemonic codes and symbols instead of binary</a:t>
            </a:r>
          </a:p>
          <a:p>
            <a:pPr marL="457200" indent="-457200">
              <a:buFont typeface="Arial" panose="020B0604020202020204" pitchFamily="34" charset="0"/>
              <a:buChar char="•"/>
            </a:pPr>
            <a:endParaRPr lang="en-IN" sz="3200" b="1" dirty="0"/>
          </a:p>
          <a:p>
            <a:pPr marL="457200" indent="-457200">
              <a:buFont typeface="Arial" panose="020B0604020202020204" pitchFamily="34" charset="0"/>
              <a:buChar char="•"/>
            </a:pPr>
            <a:endParaRPr lang="en-IN" sz="3200" b="1" dirty="0"/>
          </a:p>
          <a:p>
            <a:pPr marL="457200" indent="-457200">
              <a:buFont typeface="Arial" panose="020B0604020202020204" pitchFamily="34" charset="0"/>
              <a:buChar char="•"/>
            </a:pPr>
            <a:endParaRPr lang="en-IN" sz="3200" b="1" dirty="0"/>
          </a:p>
        </p:txBody>
      </p:sp>
    </p:spTree>
    <p:extLst>
      <p:ext uri="{BB962C8B-B14F-4D97-AF65-F5344CB8AC3E}">
        <p14:creationId xmlns:p14="http://schemas.microsoft.com/office/powerpoint/2010/main" val="1400174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BEE4E7-5E0B-66D1-093E-F0F021172AE1}"/>
              </a:ext>
            </a:extLst>
          </p:cNvPr>
          <p:cNvPicPr>
            <a:picLocks noChangeAspect="1"/>
          </p:cNvPicPr>
          <p:nvPr/>
        </p:nvPicPr>
        <p:blipFill>
          <a:blip r:embed="rId2"/>
          <a:srcRect r="26397"/>
          <a:stretch/>
        </p:blipFill>
        <p:spPr>
          <a:xfrm>
            <a:off x="152400" y="685800"/>
            <a:ext cx="8785412" cy="2667000"/>
          </a:xfrm>
          <a:prstGeom prst="rect">
            <a:avLst/>
          </a:prstGeom>
        </p:spPr>
      </p:pic>
    </p:spTree>
    <p:extLst>
      <p:ext uri="{BB962C8B-B14F-4D97-AF65-F5344CB8AC3E}">
        <p14:creationId xmlns:p14="http://schemas.microsoft.com/office/powerpoint/2010/main" val="4186322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075786-37FE-FD93-4A7D-5CAB37876BFD}"/>
              </a:ext>
            </a:extLst>
          </p:cNvPr>
          <p:cNvSpPr txBox="1"/>
          <p:nvPr/>
        </p:nvSpPr>
        <p:spPr>
          <a:xfrm>
            <a:off x="228600" y="457200"/>
            <a:ext cx="8686800" cy="5755422"/>
          </a:xfrm>
          <a:prstGeom prst="rect">
            <a:avLst/>
          </a:prstGeom>
          <a:noFill/>
        </p:spPr>
        <p:txBody>
          <a:bodyPr wrap="square">
            <a:spAutoFit/>
          </a:bodyPr>
          <a:lstStyle/>
          <a:p>
            <a:pPr algn="just"/>
            <a:r>
              <a:rPr lang="en-IN" sz="3200" b="1" dirty="0"/>
              <a:t>Key features of assembly language:</a:t>
            </a:r>
          </a:p>
          <a:p>
            <a:pPr algn="just"/>
            <a:endParaRPr lang="en-IN" sz="2800" b="1" dirty="0"/>
          </a:p>
          <a:p>
            <a:pPr algn="just"/>
            <a:r>
              <a:rPr lang="en-IN" sz="2800" b="1" dirty="0">
                <a:solidFill>
                  <a:srgbClr val="FF0000"/>
                </a:solidFill>
              </a:rPr>
              <a:t>Mnemonics:</a:t>
            </a:r>
            <a:r>
              <a:rPr lang="en-IN" sz="2800" b="1" dirty="0"/>
              <a:t> symbolic names like MOV, ADD, SUB,  correspond to specific machine code </a:t>
            </a:r>
          </a:p>
          <a:p>
            <a:pPr algn="just"/>
            <a:endParaRPr lang="en-IN" sz="2800" b="1" dirty="0"/>
          </a:p>
          <a:p>
            <a:pPr algn="just"/>
            <a:br>
              <a:rPr lang="en-IN" sz="2800" b="1" dirty="0"/>
            </a:br>
            <a:r>
              <a:rPr lang="en-IN" sz="2800" b="1" dirty="0">
                <a:solidFill>
                  <a:srgbClr val="FF0000"/>
                </a:solidFill>
              </a:rPr>
              <a:t>Instructions Registers:</a:t>
            </a:r>
            <a:r>
              <a:rPr lang="en-IN" sz="2800" b="1" dirty="0"/>
              <a:t> Assembly languages operate closely with a computer's hardware registers (small storage locations inside the CPU).</a:t>
            </a:r>
          </a:p>
          <a:p>
            <a:pPr algn="just"/>
            <a:endParaRPr lang="en-IN" sz="2800" b="1" dirty="0"/>
          </a:p>
          <a:p>
            <a:pPr algn="just"/>
            <a:r>
              <a:rPr lang="en-IN" sz="2800" b="1" dirty="0">
                <a:solidFill>
                  <a:srgbClr val="FF0000"/>
                </a:solidFill>
              </a:rPr>
              <a:t>Assembler:</a:t>
            </a:r>
            <a:r>
              <a:rPr lang="en-IN" sz="2800" b="1" dirty="0"/>
              <a:t> </a:t>
            </a:r>
            <a:r>
              <a:rPr lang="en-IN" sz="2800" b="1" dirty="0">
                <a:solidFill>
                  <a:srgbClr val="FF0000"/>
                </a:solidFill>
              </a:rPr>
              <a:t>A special program called an assembler </a:t>
            </a:r>
            <a:r>
              <a:rPr lang="en-IN" sz="2800" b="1" dirty="0"/>
              <a:t>is used to convert assembly language code into machine language (binary) that the hardware can execute.</a:t>
            </a:r>
          </a:p>
        </p:txBody>
      </p:sp>
    </p:spTree>
    <p:extLst>
      <p:ext uri="{BB962C8B-B14F-4D97-AF65-F5344CB8AC3E}">
        <p14:creationId xmlns:p14="http://schemas.microsoft.com/office/powerpoint/2010/main" val="1315136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at is Assembler? — Limeup">
            <a:extLst>
              <a:ext uri="{FF2B5EF4-FFF2-40B4-BE49-F238E27FC236}">
                <a16:creationId xmlns:a16="http://schemas.microsoft.com/office/drawing/2014/main" id="{787AB554-7290-03F8-EA3E-8791183C8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838199"/>
            <a:ext cx="7515639" cy="5046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15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0845E7-2C72-74F5-A234-116E382946E4}"/>
              </a:ext>
            </a:extLst>
          </p:cNvPr>
          <p:cNvSpPr txBox="1"/>
          <p:nvPr/>
        </p:nvSpPr>
        <p:spPr>
          <a:xfrm>
            <a:off x="304800" y="152400"/>
            <a:ext cx="8305800" cy="5386090"/>
          </a:xfrm>
          <a:prstGeom prst="rect">
            <a:avLst/>
          </a:prstGeom>
          <a:noFill/>
        </p:spPr>
        <p:txBody>
          <a:bodyPr wrap="square">
            <a:spAutoFit/>
          </a:bodyPr>
          <a:lstStyle/>
          <a:p>
            <a:pPr algn="ctr"/>
            <a:r>
              <a:rPr lang="en-IN" sz="3600" b="1" dirty="0">
                <a:solidFill>
                  <a:srgbClr val="FF0000"/>
                </a:solidFill>
              </a:rPr>
              <a:t>Assembler</a:t>
            </a:r>
          </a:p>
          <a:p>
            <a:pPr algn="just">
              <a:buFont typeface="Arial" panose="020B0604020202020204" pitchFamily="34" charset="0"/>
              <a:buChar char="•"/>
            </a:pPr>
            <a:r>
              <a:rPr lang="en-IN" sz="2800" b="1" dirty="0"/>
              <a:t>Purpose</a:t>
            </a:r>
            <a:r>
              <a:rPr lang="en-IN" sz="2800" dirty="0"/>
              <a:t>: Converts assembly language code into machine code (binary) that can be executed by the computer's CPU.</a:t>
            </a:r>
          </a:p>
          <a:p>
            <a:pPr algn="just">
              <a:buFont typeface="Arial" panose="020B0604020202020204" pitchFamily="34" charset="0"/>
              <a:buChar char="•"/>
            </a:pPr>
            <a:r>
              <a:rPr lang="en-IN" sz="2800" b="1" dirty="0"/>
              <a:t>Input</a:t>
            </a:r>
            <a:r>
              <a:rPr lang="en-IN" sz="2800" dirty="0"/>
              <a:t>: Assembly language (low-level code close to machine instructions).</a:t>
            </a:r>
          </a:p>
          <a:p>
            <a:pPr algn="just">
              <a:buFont typeface="Arial" panose="020B0604020202020204" pitchFamily="34" charset="0"/>
              <a:buChar char="•"/>
            </a:pPr>
            <a:r>
              <a:rPr lang="en-IN" sz="2800" b="1" dirty="0"/>
              <a:t>Output</a:t>
            </a:r>
            <a:r>
              <a:rPr lang="en-IN" sz="2800" dirty="0"/>
              <a:t>: Machine code.</a:t>
            </a:r>
          </a:p>
          <a:p>
            <a:pPr algn="just">
              <a:buFont typeface="Arial" panose="020B0604020202020204" pitchFamily="34" charset="0"/>
              <a:buChar char="•"/>
            </a:pPr>
            <a:r>
              <a:rPr lang="en-IN" sz="2800" b="1" dirty="0"/>
              <a:t>Execution Speed</a:t>
            </a:r>
            <a:r>
              <a:rPr lang="en-IN" sz="2800" dirty="0"/>
              <a:t>: Very fast, as assembly is a low-level language and directly translates to machine instructions.</a:t>
            </a:r>
          </a:p>
          <a:p>
            <a:pPr algn="just">
              <a:buFont typeface="Arial" panose="020B0604020202020204" pitchFamily="34" charset="0"/>
              <a:buChar char="•"/>
            </a:pPr>
            <a:r>
              <a:rPr lang="en-IN" sz="2800" b="1" dirty="0"/>
              <a:t>Example</a:t>
            </a:r>
            <a:r>
              <a:rPr lang="en-IN" sz="2800" dirty="0"/>
              <a:t>: NASM (Netwide Assembler), MASM (Microsoft Macro Assembler)</a:t>
            </a:r>
          </a:p>
        </p:txBody>
      </p:sp>
    </p:spTree>
    <p:extLst>
      <p:ext uri="{BB962C8B-B14F-4D97-AF65-F5344CB8AC3E}">
        <p14:creationId xmlns:p14="http://schemas.microsoft.com/office/powerpoint/2010/main" val="3885705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2174AB-5661-4566-7D71-FF21755D6D4F}"/>
              </a:ext>
            </a:extLst>
          </p:cNvPr>
          <p:cNvSpPr txBox="1"/>
          <p:nvPr/>
        </p:nvSpPr>
        <p:spPr>
          <a:xfrm>
            <a:off x="685800" y="381000"/>
            <a:ext cx="7772400" cy="2657331"/>
          </a:xfrm>
          <a:prstGeom prst="rect">
            <a:avLst/>
          </a:prstGeom>
          <a:noFill/>
        </p:spPr>
        <p:txBody>
          <a:bodyPr wrap="square">
            <a:spAutoFit/>
          </a:bodyPr>
          <a:lstStyle/>
          <a:p>
            <a:pPr algn="just">
              <a:lnSpc>
                <a:spcPct val="115000"/>
              </a:lnSpc>
            </a:pPr>
            <a:r>
              <a:rPr lang="en-IN" sz="4000" b="1" dirty="0"/>
              <a:t>High-Level Languages:</a:t>
            </a:r>
            <a:endParaRPr lang="en-IN" sz="4000" b="1" dirty="0">
              <a:latin typeface="Arial" panose="020B0604020202020204" pitchFamily="34" charset="0"/>
            </a:endParaRPr>
          </a:p>
          <a:p>
            <a:pPr algn="just">
              <a:lnSpc>
                <a:spcPct val="115000"/>
              </a:lnSpc>
            </a:pPr>
            <a:r>
              <a:rPr lang="en-IN" sz="2400" dirty="0">
                <a:effectLst/>
                <a:latin typeface="Arial" panose="020B0604020202020204" pitchFamily="34" charset="0"/>
                <a:ea typeface="Arial" panose="020B0604020202020204" pitchFamily="34" charset="0"/>
              </a:rPr>
              <a:t>These languages used English-like syntax.</a:t>
            </a:r>
          </a:p>
          <a:p>
            <a:pPr algn="just">
              <a:lnSpc>
                <a:spcPct val="115000"/>
              </a:lnSpc>
            </a:pPr>
            <a:r>
              <a:rPr lang="en-IN" sz="2400" dirty="0">
                <a:effectLst/>
                <a:latin typeface="Arial" panose="020B0604020202020204" pitchFamily="34" charset="0"/>
                <a:ea typeface="Arial" panose="020B0604020202020204" pitchFamily="34" charset="0"/>
              </a:rPr>
              <a:t>Easier for humans to read and write. </a:t>
            </a:r>
          </a:p>
          <a:p>
            <a:pPr algn="just">
              <a:lnSpc>
                <a:spcPct val="115000"/>
              </a:lnSpc>
            </a:pPr>
            <a:endParaRPr lang="en-IN" sz="2400" dirty="0">
              <a:latin typeface="Arial" panose="020B0604020202020204" pitchFamily="34" charset="0"/>
              <a:ea typeface="Arial" panose="020B0604020202020204" pitchFamily="34" charset="0"/>
            </a:endParaRPr>
          </a:p>
          <a:p>
            <a:pPr algn="just">
              <a:lnSpc>
                <a:spcPct val="115000"/>
              </a:lnSpc>
            </a:pPr>
            <a:r>
              <a:rPr lang="en-IN" sz="2400" dirty="0">
                <a:effectLst/>
                <a:latin typeface="Arial" panose="020B0604020202020204" pitchFamily="34" charset="0"/>
                <a:ea typeface="Arial" panose="020B0604020202020204" pitchFamily="34" charset="0"/>
              </a:rPr>
              <a:t>Examples include COBOL, FORTRAN, and LISP, </a:t>
            </a:r>
            <a:r>
              <a:rPr lang="en-IN" sz="3600" dirty="0">
                <a:effectLst/>
                <a:latin typeface="Arial" panose="020B0604020202020204" pitchFamily="34" charset="0"/>
                <a:ea typeface="Arial" panose="020B0604020202020204" pitchFamily="34" charset="0"/>
              </a:rPr>
              <a:t>c</a:t>
            </a:r>
            <a:r>
              <a:rPr lang="en-IN" sz="2400" dirty="0">
                <a:effectLst/>
                <a:latin typeface="Arial" panose="020B0604020202020204" pitchFamily="34" charset="0"/>
                <a:ea typeface="Arial" panose="020B0604020202020204" pitchFamily="34" charset="0"/>
              </a:rPr>
              <a:t>. </a:t>
            </a:r>
          </a:p>
        </p:txBody>
      </p:sp>
      <p:pic>
        <p:nvPicPr>
          <p:cNvPr id="4" name="Picture 3">
            <a:extLst>
              <a:ext uri="{FF2B5EF4-FFF2-40B4-BE49-F238E27FC236}">
                <a16:creationId xmlns:a16="http://schemas.microsoft.com/office/drawing/2014/main" id="{FC08623F-8B49-5DC1-1CF7-5B5E8A7FB93C}"/>
              </a:ext>
            </a:extLst>
          </p:cNvPr>
          <p:cNvPicPr>
            <a:picLocks noChangeAspect="1"/>
          </p:cNvPicPr>
          <p:nvPr/>
        </p:nvPicPr>
        <p:blipFill rotWithShape="1">
          <a:blip r:embed="rId2"/>
          <a:srcRect l="3588" t="8955" r="35421" b="2907"/>
          <a:stretch/>
        </p:blipFill>
        <p:spPr bwMode="auto">
          <a:xfrm>
            <a:off x="838200" y="3074426"/>
            <a:ext cx="7772400" cy="316722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91482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2151F4-98FF-99ED-7A67-B3DA6B841140}"/>
              </a:ext>
            </a:extLst>
          </p:cNvPr>
          <p:cNvSpPr txBox="1"/>
          <p:nvPr/>
        </p:nvSpPr>
        <p:spPr>
          <a:xfrm>
            <a:off x="533400" y="197346"/>
            <a:ext cx="8153400" cy="5632311"/>
          </a:xfrm>
          <a:prstGeom prst="rect">
            <a:avLst/>
          </a:prstGeom>
          <a:noFill/>
        </p:spPr>
        <p:txBody>
          <a:bodyPr wrap="square">
            <a:spAutoFit/>
          </a:bodyPr>
          <a:lstStyle/>
          <a:p>
            <a:endParaRPr lang="en-IN" sz="3600" b="1" dirty="0"/>
          </a:p>
          <a:p>
            <a:r>
              <a:rPr lang="en-IN" sz="3600" b="1" dirty="0"/>
              <a:t>Compiler/Interpreter:</a:t>
            </a:r>
            <a:r>
              <a:rPr lang="en-IN" sz="3600" dirty="0"/>
              <a:t> </a:t>
            </a:r>
          </a:p>
          <a:p>
            <a:endParaRPr lang="en-IN" sz="3600" dirty="0"/>
          </a:p>
          <a:p>
            <a:r>
              <a:rPr lang="en-IN" sz="3600" dirty="0"/>
              <a:t>High-level language code is not executed directly by the CPU. Instead, it is either compiled (e.g., C, C++).</a:t>
            </a:r>
          </a:p>
          <a:p>
            <a:endParaRPr lang="en-IN" sz="3600" dirty="0"/>
          </a:p>
          <a:p>
            <a:r>
              <a:rPr lang="en-IN" sz="3600" dirty="0"/>
              <a:t>Interpreted (e.g., Python, JavaScript) into machine code that the computer can execute.</a:t>
            </a:r>
          </a:p>
        </p:txBody>
      </p:sp>
    </p:spTree>
    <p:extLst>
      <p:ext uri="{BB962C8B-B14F-4D97-AF65-F5344CB8AC3E}">
        <p14:creationId xmlns:p14="http://schemas.microsoft.com/office/powerpoint/2010/main" val="1064151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2151F4-98FF-99ED-7A67-B3DA6B841140}"/>
              </a:ext>
            </a:extLst>
          </p:cNvPr>
          <p:cNvSpPr txBox="1"/>
          <p:nvPr/>
        </p:nvSpPr>
        <p:spPr>
          <a:xfrm>
            <a:off x="533400" y="197346"/>
            <a:ext cx="8153400" cy="6124754"/>
          </a:xfrm>
          <a:prstGeom prst="rect">
            <a:avLst/>
          </a:prstGeom>
          <a:noFill/>
        </p:spPr>
        <p:txBody>
          <a:bodyPr wrap="square">
            <a:spAutoFit/>
          </a:bodyPr>
          <a:lstStyle/>
          <a:p>
            <a:pPr algn="ctr"/>
            <a:r>
              <a:rPr lang="en-IN" sz="3600" b="1" dirty="0">
                <a:solidFill>
                  <a:srgbClr val="00B050"/>
                </a:solidFill>
              </a:rPr>
              <a:t>Characteristics of High-Level Languages:</a:t>
            </a:r>
          </a:p>
          <a:p>
            <a:pPr algn="ctr"/>
            <a:endParaRPr lang="en-IN" sz="3600" b="1" dirty="0">
              <a:solidFill>
                <a:srgbClr val="00B050"/>
              </a:solidFill>
            </a:endParaRPr>
          </a:p>
          <a:p>
            <a:pPr algn="just">
              <a:buFont typeface="+mj-lt"/>
              <a:buAutoNum type="arabicPeriod"/>
            </a:pPr>
            <a:r>
              <a:rPr lang="en-IN" sz="3200" b="1" dirty="0">
                <a:solidFill>
                  <a:srgbClr val="FF0000"/>
                </a:solidFill>
              </a:rPr>
              <a:t>Readability:</a:t>
            </a:r>
            <a:r>
              <a:rPr lang="en-IN" sz="3200" b="1" dirty="0"/>
              <a:t> English statement makes code easier to read and write.</a:t>
            </a:r>
          </a:p>
          <a:p>
            <a:pPr algn="just">
              <a:buFont typeface="+mj-lt"/>
              <a:buAutoNum type="arabicPeriod"/>
            </a:pPr>
            <a:endParaRPr lang="en-IN" sz="3200" b="1" dirty="0"/>
          </a:p>
          <a:p>
            <a:pPr algn="just">
              <a:buFont typeface="+mj-lt"/>
              <a:buAutoNum type="arabicPeriod"/>
            </a:pPr>
            <a:r>
              <a:rPr lang="en-IN" sz="3200" b="1" dirty="0">
                <a:solidFill>
                  <a:srgbClr val="FF0000"/>
                </a:solidFill>
              </a:rPr>
              <a:t>Portability</a:t>
            </a:r>
            <a:r>
              <a:rPr lang="en-IN" sz="3200" b="1" dirty="0"/>
              <a:t> Code written in these languages can run on different hardware architectures with minimal modification.</a:t>
            </a:r>
          </a:p>
          <a:p>
            <a:pPr algn="just"/>
            <a:endParaRPr lang="en-IN" sz="3200" b="1" dirty="0"/>
          </a:p>
          <a:p>
            <a:pPr algn="just"/>
            <a:r>
              <a:rPr lang="en-IN" sz="3200" b="1" dirty="0"/>
              <a:t>3. </a:t>
            </a:r>
            <a:r>
              <a:rPr lang="en-IN" sz="3200" b="1" dirty="0">
                <a:solidFill>
                  <a:srgbClr val="FF0000"/>
                </a:solidFill>
              </a:rPr>
              <a:t>Ease of Use:</a:t>
            </a:r>
            <a:r>
              <a:rPr lang="en-IN" sz="3200" b="1" dirty="0"/>
              <a:t> memory management, error handling, and built-in libraries, making them easier to use than lower-level languages.</a:t>
            </a:r>
          </a:p>
        </p:txBody>
      </p:sp>
    </p:spTree>
    <p:extLst>
      <p:ext uri="{BB962C8B-B14F-4D97-AF65-F5344CB8AC3E}">
        <p14:creationId xmlns:p14="http://schemas.microsoft.com/office/powerpoint/2010/main" val="2911035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57BB03-4346-CAAE-3552-13BAB07E3A3F}"/>
              </a:ext>
            </a:extLst>
          </p:cNvPr>
          <p:cNvSpPr txBox="1"/>
          <p:nvPr/>
        </p:nvSpPr>
        <p:spPr>
          <a:xfrm>
            <a:off x="228600" y="152400"/>
            <a:ext cx="8458200" cy="6309420"/>
          </a:xfrm>
          <a:prstGeom prst="rect">
            <a:avLst/>
          </a:prstGeom>
          <a:noFill/>
        </p:spPr>
        <p:txBody>
          <a:bodyPr wrap="square">
            <a:spAutoFit/>
          </a:bodyPr>
          <a:lstStyle/>
          <a:p>
            <a:pPr algn="ctr"/>
            <a:r>
              <a:rPr lang="en-IN" sz="4000" b="1" dirty="0">
                <a:solidFill>
                  <a:srgbClr val="FF0000"/>
                </a:solidFill>
              </a:rPr>
              <a:t>Compiler</a:t>
            </a:r>
          </a:p>
          <a:p>
            <a:pPr algn="just">
              <a:buFont typeface="Arial" panose="020B0604020202020204" pitchFamily="34" charset="0"/>
              <a:buChar char="•"/>
            </a:pPr>
            <a:r>
              <a:rPr lang="en-IN" sz="2800" b="1" dirty="0">
                <a:solidFill>
                  <a:srgbClr val="FF0000"/>
                </a:solidFill>
              </a:rPr>
              <a:t>Purpose</a:t>
            </a:r>
            <a:r>
              <a:rPr lang="en-IN" sz="2800" dirty="0"/>
              <a:t>: Translates high-level programming languages (e.g., C++, Java) into machine code or an intermediate bytecode, which can be executed by the machine or a virtual machine.</a:t>
            </a:r>
          </a:p>
          <a:p>
            <a:pPr algn="just">
              <a:buFont typeface="Arial" panose="020B0604020202020204" pitchFamily="34" charset="0"/>
              <a:buChar char="•"/>
            </a:pPr>
            <a:r>
              <a:rPr lang="en-IN" sz="2800" b="1" dirty="0">
                <a:solidFill>
                  <a:srgbClr val="FF0000"/>
                </a:solidFill>
              </a:rPr>
              <a:t>Input</a:t>
            </a:r>
            <a:r>
              <a:rPr lang="en-IN" sz="2800" dirty="0"/>
              <a:t>: High-level language (e.g., C, C++, Java).</a:t>
            </a:r>
          </a:p>
          <a:p>
            <a:pPr algn="just">
              <a:buFont typeface="Arial" panose="020B0604020202020204" pitchFamily="34" charset="0"/>
              <a:buChar char="•"/>
            </a:pPr>
            <a:r>
              <a:rPr lang="en-IN" sz="2800" b="1" dirty="0">
                <a:solidFill>
                  <a:srgbClr val="FF0000"/>
                </a:solidFill>
              </a:rPr>
              <a:t>Output</a:t>
            </a:r>
            <a:r>
              <a:rPr lang="en-IN" sz="2800" dirty="0"/>
              <a:t>: Machine code (native code) or intermediate code (e.g., bytecode in Java).</a:t>
            </a:r>
          </a:p>
          <a:p>
            <a:pPr algn="just">
              <a:buFont typeface="Arial" panose="020B0604020202020204" pitchFamily="34" charset="0"/>
              <a:buChar char="•"/>
            </a:pPr>
            <a:r>
              <a:rPr lang="en-IN" sz="2800" b="1" dirty="0">
                <a:solidFill>
                  <a:srgbClr val="FF0000"/>
                </a:solidFill>
              </a:rPr>
              <a:t>Execution</a:t>
            </a:r>
            <a:r>
              <a:rPr lang="en-IN" sz="2800" dirty="0"/>
              <a:t>: Converts the entire program into machine code before execution.</a:t>
            </a:r>
          </a:p>
          <a:p>
            <a:pPr algn="just">
              <a:buFont typeface="Arial" panose="020B0604020202020204" pitchFamily="34" charset="0"/>
              <a:buChar char="•"/>
            </a:pPr>
            <a:r>
              <a:rPr lang="en-IN" sz="2800" b="1" dirty="0">
                <a:solidFill>
                  <a:srgbClr val="FF0000"/>
                </a:solidFill>
              </a:rPr>
              <a:t>Execution Speed</a:t>
            </a:r>
            <a:r>
              <a:rPr lang="en-IN" sz="2800" dirty="0">
                <a:solidFill>
                  <a:srgbClr val="FF0000"/>
                </a:solidFill>
              </a:rPr>
              <a:t>:</a:t>
            </a:r>
            <a:r>
              <a:rPr lang="en-IN" sz="2800" dirty="0"/>
              <a:t> Program runs faster as it's fully translated into machine code before execution.</a:t>
            </a:r>
          </a:p>
          <a:p>
            <a:pPr algn="just">
              <a:buFont typeface="Arial" panose="020B0604020202020204" pitchFamily="34" charset="0"/>
              <a:buChar char="•"/>
            </a:pPr>
            <a:r>
              <a:rPr lang="en-IN" sz="2800" b="1" dirty="0"/>
              <a:t>Example</a:t>
            </a:r>
            <a:r>
              <a:rPr lang="en-IN" sz="2800" dirty="0"/>
              <a:t>: GCC (GNU Compiler Collection), </a:t>
            </a:r>
            <a:r>
              <a:rPr lang="en-IN" sz="2800" dirty="0" err="1"/>
              <a:t>javac</a:t>
            </a:r>
            <a:r>
              <a:rPr lang="en-IN" sz="2800" dirty="0"/>
              <a:t> (Java Compiler).</a:t>
            </a:r>
          </a:p>
        </p:txBody>
      </p:sp>
    </p:spTree>
    <p:extLst>
      <p:ext uri="{BB962C8B-B14F-4D97-AF65-F5344CB8AC3E}">
        <p14:creationId xmlns:p14="http://schemas.microsoft.com/office/powerpoint/2010/main" val="2243301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5.1 - Compilation Process of a C Program - Theory - Master C and Embedded C  Programming - YouTube">
            <a:extLst>
              <a:ext uri="{FF2B5EF4-FFF2-40B4-BE49-F238E27FC236}">
                <a16:creationId xmlns:a16="http://schemas.microsoft.com/office/drawing/2014/main" id="{6BEC97DB-EDC0-91FF-B411-03AA72A089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14" r="10231" b="5555"/>
          <a:stretch/>
        </p:blipFill>
        <p:spPr bwMode="auto">
          <a:xfrm>
            <a:off x="152400" y="857249"/>
            <a:ext cx="8915400" cy="5772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594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EF2FE-2904-4D0F-BA99-BBCEE443C812}"/>
              </a:ext>
            </a:extLst>
          </p:cNvPr>
          <p:cNvSpPr txBox="1"/>
          <p:nvPr/>
        </p:nvSpPr>
        <p:spPr>
          <a:xfrm>
            <a:off x="244642" y="304800"/>
            <a:ext cx="8442158" cy="6678751"/>
          </a:xfrm>
          <a:prstGeom prst="rect">
            <a:avLst/>
          </a:prstGeom>
          <a:noFill/>
        </p:spPr>
        <p:txBody>
          <a:bodyPr wrap="square">
            <a:spAutoFit/>
          </a:bodyPr>
          <a:lstStyle/>
          <a:p>
            <a:pPr algn="ctr"/>
            <a:r>
              <a:rPr lang="en-IN" sz="3600" b="1" dirty="0">
                <a:solidFill>
                  <a:srgbClr val="00B050"/>
                </a:solidFill>
              </a:rPr>
              <a:t>Interpreter</a:t>
            </a:r>
          </a:p>
          <a:p>
            <a:pPr algn="just">
              <a:buFont typeface="Arial" panose="020B0604020202020204" pitchFamily="34" charset="0"/>
              <a:buChar char="•"/>
            </a:pPr>
            <a:r>
              <a:rPr lang="en-IN" sz="2800" b="1" dirty="0"/>
              <a:t>Purpose</a:t>
            </a:r>
            <a:r>
              <a:rPr lang="en-IN" sz="2800" dirty="0"/>
              <a:t>: Directly executes high-level language code line-by-line without translating it into machine code in one go.</a:t>
            </a:r>
          </a:p>
          <a:p>
            <a:pPr algn="just">
              <a:buFont typeface="Arial" panose="020B0604020202020204" pitchFamily="34" charset="0"/>
              <a:buChar char="•"/>
            </a:pPr>
            <a:endParaRPr lang="en-IN" sz="2800" dirty="0"/>
          </a:p>
          <a:p>
            <a:pPr algn="just">
              <a:buFont typeface="Arial" panose="020B0604020202020204" pitchFamily="34" charset="0"/>
              <a:buChar char="•"/>
            </a:pPr>
            <a:r>
              <a:rPr lang="en-IN" sz="2800" b="1" dirty="0"/>
              <a:t>Input</a:t>
            </a:r>
            <a:r>
              <a:rPr lang="en-IN" sz="2800" dirty="0"/>
              <a:t>: High-level language (e.g., Python, JavaScript).</a:t>
            </a:r>
          </a:p>
          <a:p>
            <a:pPr algn="just">
              <a:buFont typeface="Arial" panose="020B0604020202020204" pitchFamily="34" charset="0"/>
              <a:buChar char="•"/>
            </a:pPr>
            <a:r>
              <a:rPr lang="en-IN" sz="2800" b="1" dirty="0"/>
              <a:t>Output</a:t>
            </a:r>
            <a:r>
              <a:rPr lang="en-IN" sz="2800" dirty="0"/>
              <a:t>: No direct machine code output. Executes the program directly.</a:t>
            </a:r>
          </a:p>
          <a:p>
            <a:pPr algn="just">
              <a:buFont typeface="Arial" panose="020B0604020202020204" pitchFamily="34" charset="0"/>
              <a:buChar char="•"/>
            </a:pPr>
            <a:r>
              <a:rPr lang="en-IN" sz="2800" b="1" dirty="0"/>
              <a:t>Execution</a:t>
            </a:r>
            <a:r>
              <a:rPr lang="en-IN" sz="2800" dirty="0"/>
              <a:t>: Interprets and runs code line-by-line, so no intermediate or machine code is generated.</a:t>
            </a:r>
          </a:p>
          <a:p>
            <a:pPr algn="just"/>
            <a:endParaRPr lang="en-IN" sz="2800" dirty="0"/>
          </a:p>
          <a:p>
            <a:pPr algn="just">
              <a:buFont typeface="Arial" panose="020B0604020202020204" pitchFamily="34" charset="0"/>
              <a:buChar char="•"/>
            </a:pPr>
            <a:r>
              <a:rPr lang="en-IN" sz="2800" b="1" dirty="0"/>
              <a:t>Execution Speed</a:t>
            </a:r>
            <a:r>
              <a:rPr lang="en-IN" sz="2800" dirty="0"/>
              <a:t>: Generally slower than compiled programs because each line is translated and executed at runtime.</a:t>
            </a:r>
          </a:p>
          <a:p>
            <a:pPr algn="just">
              <a:buFont typeface="Arial" panose="020B0604020202020204" pitchFamily="34" charset="0"/>
              <a:buChar char="•"/>
            </a:pPr>
            <a:r>
              <a:rPr lang="en-IN" sz="2800" b="1" dirty="0"/>
              <a:t>Example</a:t>
            </a:r>
            <a:r>
              <a:rPr lang="en-IN" sz="2800" dirty="0"/>
              <a:t>: Python Interpreter, Node.js (for JavaScript).</a:t>
            </a:r>
          </a:p>
        </p:txBody>
      </p:sp>
    </p:spTree>
    <p:extLst>
      <p:ext uri="{BB962C8B-B14F-4D97-AF65-F5344CB8AC3E}">
        <p14:creationId xmlns:p14="http://schemas.microsoft.com/office/powerpoint/2010/main" val="3775490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8C5FB508-8DBB-D717-195F-67CDC2D6C1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336"/>
          <a:stretch/>
        </p:blipFill>
        <p:spPr bwMode="auto">
          <a:xfrm>
            <a:off x="138113" y="990600"/>
            <a:ext cx="9009897"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96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C93E31C8-1DCF-C0D1-63E6-2DAB991A7A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833" r="19167"/>
          <a:stretch/>
        </p:blipFill>
        <p:spPr bwMode="auto">
          <a:xfrm>
            <a:off x="533400" y="65942"/>
            <a:ext cx="7772400" cy="6726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847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1ABD6-5ED9-1E41-44CC-679D5F9CA0F8}"/>
              </a:ext>
            </a:extLst>
          </p:cNvPr>
          <p:cNvSpPr txBox="1"/>
          <p:nvPr/>
        </p:nvSpPr>
        <p:spPr>
          <a:xfrm>
            <a:off x="381000" y="228600"/>
            <a:ext cx="7924800" cy="6555641"/>
          </a:xfrm>
          <a:prstGeom prst="rect">
            <a:avLst/>
          </a:prstGeom>
          <a:noFill/>
        </p:spPr>
        <p:txBody>
          <a:bodyPr wrap="square">
            <a:spAutoFit/>
          </a:bodyPr>
          <a:lstStyle/>
          <a:p>
            <a:pPr algn="just"/>
            <a:r>
              <a:rPr lang="en-IN" sz="2800" b="1" dirty="0"/>
              <a:t>Von Neumann Architecture</a:t>
            </a:r>
          </a:p>
          <a:p>
            <a:pPr algn="just">
              <a:buFont typeface="Arial" panose="020B0604020202020204" pitchFamily="34" charset="0"/>
              <a:buChar char="•"/>
            </a:pPr>
            <a:r>
              <a:rPr lang="en-IN" sz="2800" b="1" dirty="0"/>
              <a:t>Overview</a:t>
            </a:r>
            <a:r>
              <a:rPr lang="en-IN" sz="2800" dirty="0"/>
              <a:t>: The most common and traditional computer architecture. It is based on the concept of a single memory space that stores both instructions and data.</a:t>
            </a:r>
          </a:p>
          <a:p>
            <a:pPr algn="just">
              <a:buFont typeface="Arial" panose="020B0604020202020204" pitchFamily="34" charset="0"/>
              <a:buChar char="•"/>
            </a:pPr>
            <a:r>
              <a:rPr lang="en-IN" sz="2800" b="1" dirty="0"/>
              <a:t>Key Components</a:t>
            </a:r>
            <a:r>
              <a:rPr lang="en-IN" sz="2800" dirty="0"/>
              <a:t>:</a:t>
            </a:r>
          </a:p>
          <a:p>
            <a:pPr marL="742950" lvl="1" indent="-285750" algn="just">
              <a:buFont typeface="Arial" panose="020B0604020202020204" pitchFamily="34" charset="0"/>
              <a:buChar char="•"/>
            </a:pPr>
            <a:r>
              <a:rPr lang="en-IN" sz="2800" b="1" dirty="0"/>
              <a:t>Central Processing Unit (CPU)</a:t>
            </a:r>
            <a:r>
              <a:rPr lang="en-IN" sz="2800" dirty="0"/>
              <a:t>: Executes instructions.</a:t>
            </a:r>
          </a:p>
          <a:p>
            <a:pPr marL="742950" lvl="1" indent="-285750" algn="just">
              <a:buFont typeface="Arial" panose="020B0604020202020204" pitchFamily="34" charset="0"/>
              <a:buChar char="•"/>
            </a:pPr>
            <a:r>
              <a:rPr lang="en-IN" sz="2800" b="1" dirty="0"/>
              <a:t>Memory</a:t>
            </a:r>
            <a:r>
              <a:rPr lang="en-IN" sz="2800" dirty="0"/>
              <a:t>: Stores both the program (instructions) and the data.</a:t>
            </a:r>
          </a:p>
          <a:p>
            <a:pPr marL="742950" lvl="1" indent="-285750" algn="just">
              <a:buFont typeface="Arial" panose="020B0604020202020204" pitchFamily="34" charset="0"/>
              <a:buChar char="•"/>
            </a:pPr>
            <a:r>
              <a:rPr lang="en-IN" sz="2800" b="1" dirty="0"/>
              <a:t>Input/Output Devices (I/O)</a:t>
            </a:r>
            <a:r>
              <a:rPr lang="en-IN" sz="2800" dirty="0"/>
              <a:t>: Interfaces for communication between the computer and external devices.</a:t>
            </a:r>
          </a:p>
          <a:p>
            <a:pPr marL="742950" lvl="1" indent="-285750" algn="just">
              <a:buFont typeface="Arial" panose="020B0604020202020204" pitchFamily="34" charset="0"/>
              <a:buChar char="•"/>
            </a:pPr>
            <a:r>
              <a:rPr lang="en-IN" sz="2800" b="1" dirty="0"/>
              <a:t>Bus System</a:t>
            </a:r>
            <a:r>
              <a:rPr lang="en-IN" sz="2800" dirty="0"/>
              <a:t>: Connects the CPU, memory, and I/O devices.</a:t>
            </a:r>
          </a:p>
        </p:txBody>
      </p:sp>
    </p:spTree>
    <p:extLst>
      <p:ext uri="{BB962C8B-B14F-4D97-AF65-F5344CB8AC3E}">
        <p14:creationId xmlns:p14="http://schemas.microsoft.com/office/powerpoint/2010/main" val="2149754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DEB852-ABDD-9105-5E9F-EE79D0A2C13E}"/>
              </a:ext>
            </a:extLst>
          </p:cNvPr>
          <p:cNvSpPr txBox="1"/>
          <p:nvPr/>
        </p:nvSpPr>
        <p:spPr>
          <a:xfrm>
            <a:off x="152400" y="152400"/>
            <a:ext cx="8686800" cy="5509200"/>
          </a:xfrm>
          <a:prstGeom prst="rect">
            <a:avLst/>
          </a:prstGeom>
          <a:noFill/>
        </p:spPr>
        <p:txBody>
          <a:bodyPr wrap="square">
            <a:spAutoFit/>
          </a:bodyPr>
          <a:lstStyle/>
          <a:p>
            <a:pPr>
              <a:buFont typeface="Arial" panose="020B0604020202020204" pitchFamily="34" charset="0"/>
              <a:buChar char="•"/>
            </a:pPr>
            <a:r>
              <a:rPr lang="en-IN" sz="3200" b="1" dirty="0"/>
              <a:t>Control Unit (CU)</a:t>
            </a:r>
            <a:r>
              <a:rPr lang="en-IN" sz="3200" dirty="0"/>
              <a:t>:</a:t>
            </a:r>
          </a:p>
          <a:p>
            <a:pPr marL="742950" lvl="1" indent="-285750" algn="just">
              <a:buFont typeface="Arial" panose="020B0604020202020204" pitchFamily="34" charset="0"/>
              <a:buChar char="•"/>
            </a:pPr>
            <a:r>
              <a:rPr lang="en-IN" sz="3200" b="1" dirty="0"/>
              <a:t>Function</a:t>
            </a:r>
            <a:r>
              <a:rPr lang="en-IN" sz="3200" dirty="0"/>
              <a:t>: Manages and coordinates the operations of the computer. It interprets instructions from the program, directs the flow of data between different parts of the CPU, and controls the execution of instructions. </a:t>
            </a:r>
          </a:p>
          <a:p>
            <a:pPr marL="742950" lvl="1" indent="-285750">
              <a:buFont typeface="Arial" panose="020B0604020202020204" pitchFamily="34" charset="0"/>
              <a:buChar char="•"/>
            </a:pPr>
            <a:endParaRPr lang="en-IN" sz="3200" b="1" dirty="0"/>
          </a:p>
          <a:p>
            <a:pPr marL="742950" lvl="1" indent="-285750">
              <a:buFont typeface="Arial" panose="020B0604020202020204" pitchFamily="34" charset="0"/>
              <a:buChar char="•"/>
            </a:pPr>
            <a:r>
              <a:rPr lang="en-IN" sz="3200" b="1" dirty="0"/>
              <a:t>Arithmetic Logic Unit (ALU)</a:t>
            </a:r>
            <a:r>
              <a:rPr lang="en-IN" sz="3200" dirty="0"/>
              <a:t>:</a:t>
            </a:r>
          </a:p>
          <a:p>
            <a:pPr lvl="1" algn="just"/>
            <a:r>
              <a:rPr lang="en-IN" sz="3200" dirty="0"/>
              <a:t>Performs arithmetic (addition, subtraction, etc.) and logical operations (AND, OR, NOT, comparisons).</a:t>
            </a:r>
          </a:p>
        </p:txBody>
      </p:sp>
    </p:spTree>
    <p:extLst>
      <p:ext uri="{BB962C8B-B14F-4D97-AF65-F5344CB8AC3E}">
        <p14:creationId xmlns:p14="http://schemas.microsoft.com/office/powerpoint/2010/main" val="1510865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DEB852-ABDD-9105-5E9F-EE79D0A2C13E}"/>
              </a:ext>
            </a:extLst>
          </p:cNvPr>
          <p:cNvSpPr txBox="1"/>
          <p:nvPr/>
        </p:nvSpPr>
        <p:spPr>
          <a:xfrm>
            <a:off x="152400" y="152400"/>
            <a:ext cx="8686800" cy="6124754"/>
          </a:xfrm>
          <a:prstGeom prst="rect">
            <a:avLst/>
          </a:prstGeom>
          <a:noFill/>
        </p:spPr>
        <p:txBody>
          <a:bodyPr wrap="square">
            <a:spAutoFit/>
          </a:bodyPr>
          <a:lstStyle/>
          <a:p>
            <a:pPr lvl="1"/>
            <a:endParaRPr lang="en-IN" sz="2800" b="1" dirty="0"/>
          </a:p>
          <a:p>
            <a:pPr marL="742950" lvl="1" indent="-285750">
              <a:buFont typeface="Arial" panose="020B0604020202020204" pitchFamily="34" charset="0"/>
              <a:buChar char="•"/>
            </a:pPr>
            <a:r>
              <a:rPr lang="en-IN" sz="2800" b="1" dirty="0"/>
              <a:t>Register </a:t>
            </a:r>
            <a:r>
              <a:rPr lang="en-IN" sz="2800" dirty="0"/>
              <a:t>: Small, fast memory locations inside the CPU that store temporary data and instructions that are being processed.</a:t>
            </a:r>
          </a:p>
          <a:p>
            <a:pPr marL="742950" lvl="1" indent="-285750">
              <a:buFont typeface="Arial" panose="020B0604020202020204" pitchFamily="34" charset="0"/>
              <a:buChar char="•"/>
            </a:pPr>
            <a:r>
              <a:rPr lang="en-IN" sz="2800" b="1" dirty="0"/>
              <a:t>Types</a:t>
            </a:r>
            <a:r>
              <a:rPr lang="en-IN" sz="2800" dirty="0"/>
              <a:t>:</a:t>
            </a:r>
          </a:p>
          <a:p>
            <a:pPr marL="1143000" lvl="2" indent="-228600">
              <a:buFont typeface="Arial" panose="020B0604020202020204" pitchFamily="34" charset="0"/>
              <a:buChar char="•"/>
            </a:pPr>
            <a:r>
              <a:rPr lang="en-IN" sz="2800" b="1" dirty="0"/>
              <a:t>Accumulator</a:t>
            </a:r>
            <a:r>
              <a:rPr lang="en-IN" sz="2800" dirty="0"/>
              <a:t>: Stores intermediate results of operations.</a:t>
            </a:r>
          </a:p>
          <a:p>
            <a:pPr marL="1143000" lvl="2" indent="-228600">
              <a:buFont typeface="Arial" panose="020B0604020202020204" pitchFamily="34" charset="0"/>
              <a:buChar char="•"/>
            </a:pPr>
            <a:r>
              <a:rPr lang="en-IN" sz="2800" b="1" dirty="0"/>
              <a:t>Program Counter (PC)</a:t>
            </a:r>
            <a:r>
              <a:rPr lang="en-IN" sz="2800" dirty="0"/>
              <a:t>: Keeps track of the memory address of the next instruction to be executed.</a:t>
            </a:r>
          </a:p>
          <a:p>
            <a:pPr marL="1143000" lvl="2" indent="-228600">
              <a:buFont typeface="Arial" panose="020B0604020202020204" pitchFamily="34" charset="0"/>
              <a:buChar char="•"/>
            </a:pPr>
            <a:r>
              <a:rPr lang="en-IN" sz="2800" b="1" dirty="0"/>
              <a:t>Instruction Register (IR)</a:t>
            </a:r>
            <a:r>
              <a:rPr lang="en-IN" sz="2800" dirty="0"/>
              <a:t>: Holds the current instruction being executed.</a:t>
            </a:r>
          </a:p>
          <a:p>
            <a:pPr marL="1143000" lvl="2" indent="-228600">
              <a:buFont typeface="Arial" panose="020B0604020202020204" pitchFamily="34" charset="0"/>
              <a:buChar char="•"/>
            </a:pPr>
            <a:r>
              <a:rPr lang="en-IN" sz="2800" b="1" dirty="0"/>
              <a:t>Status Register</a:t>
            </a:r>
            <a:r>
              <a:rPr lang="en-IN" sz="2800" dirty="0"/>
              <a:t>: Stores flags (e.g., carry, zero, overflow) that indicate the status of the ALU after an operation.</a:t>
            </a:r>
          </a:p>
        </p:txBody>
      </p:sp>
    </p:spTree>
    <p:extLst>
      <p:ext uri="{BB962C8B-B14F-4D97-AF65-F5344CB8AC3E}">
        <p14:creationId xmlns:p14="http://schemas.microsoft.com/office/powerpoint/2010/main" val="158650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F731EE-E8AA-E7AF-18A4-8556988D75F4}"/>
              </a:ext>
            </a:extLst>
          </p:cNvPr>
          <p:cNvPicPr>
            <a:picLocks noChangeAspect="1"/>
          </p:cNvPicPr>
          <p:nvPr/>
        </p:nvPicPr>
        <p:blipFill>
          <a:blip r:embed="rId2"/>
          <a:stretch>
            <a:fillRect/>
          </a:stretch>
        </p:blipFill>
        <p:spPr>
          <a:xfrm>
            <a:off x="342900" y="762000"/>
            <a:ext cx="8458200" cy="3656409"/>
          </a:xfrm>
          <a:prstGeom prst="rect">
            <a:avLst/>
          </a:prstGeom>
        </p:spPr>
      </p:pic>
    </p:spTree>
    <p:extLst>
      <p:ext uri="{BB962C8B-B14F-4D97-AF65-F5344CB8AC3E}">
        <p14:creationId xmlns:p14="http://schemas.microsoft.com/office/powerpoint/2010/main" val="1069782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FE9BCC-8AB7-93BE-0D45-5200956B6B2F}"/>
              </a:ext>
            </a:extLst>
          </p:cNvPr>
          <p:cNvSpPr txBox="1"/>
          <p:nvPr/>
        </p:nvSpPr>
        <p:spPr>
          <a:xfrm>
            <a:off x="457200" y="1166843"/>
            <a:ext cx="8305800" cy="3539430"/>
          </a:xfrm>
          <a:prstGeom prst="rect">
            <a:avLst/>
          </a:prstGeom>
          <a:noFill/>
        </p:spPr>
        <p:txBody>
          <a:bodyPr wrap="square">
            <a:spAutoFit/>
          </a:bodyPr>
          <a:lstStyle/>
          <a:p>
            <a:pPr>
              <a:buFont typeface="Arial" panose="020B0604020202020204" pitchFamily="34" charset="0"/>
              <a:buChar char="•"/>
            </a:pPr>
            <a:r>
              <a:rPr lang="en-IN" sz="2800" b="1" dirty="0"/>
              <a:t>Characteristics</a:t>
            </a:r>
            <a:r>
              <a:rPr lang="en-IN" sz="2800" dirty="0"/>
              <a:t>:</a:t>
            </a:r>
          </a:p>
          <a:p>
            <a:pPr marL="742950" lvl="1" indent="-285750">
              <a:buFont typeface="Arial" panose="020B0604020202020204" pitchFamily="34" charset="0"/>
              <a:buChar char="•"/>
            </a:pPr>
            <a:r>
              <a:rPr lang="en-IN" sz="2800" dirty="0"/>
              <a:t>Instructions and data are fetched sequentially, one at a time.</a:t>
            </a:r>
          </a:p>
          <a:p>
            <a:pPr marL="742950" lvl="1" indent="-285750">
              <a:buFont typeface="Arial" panose="020B0604020202020204" pitchFamily="34" charset="0"/>
              <a:buChar char="•"/>
            </a:pPr>
            <a:r>
              <a:rPr lang="en-IN" sz="2800" b="1" dirty="0"/>
              <a:t>Bottleneck</a:t>
            </a:r>
            <a:r>
              <a:rPr lang="en-IN" sz="2800" dirty="0"/>
              <a:t>: The single bus for both instructions and data can lead to performance bottlenecks, known as the </a:t>
            </a:r>
            <a:r>
              <a:rPr lang="en-IN" sz="2800" b="1" dirty="0"/>
              <a:t>Von Neumann bottleneck</a:t>
            </a:r>
            <a:r>
              <a:rPr lang="en-IN" sz="2800" dirty="0"/>
              <a:t>.</a:t>
            </a:r>
          </a:p>
          <a:p>
            <a:pPr>
              <a:buFont typeface="Arial" panose="020B0604020202020204" pitchFamily="34" charset="0"/>
              <a:buChar char="•"/>
            </a:pPr>
            <a:r>
              <a:rPr lang="en-IN" sz="2800" b="1" dirty="0"/>
              <a:t>Example</a:t>
            </a:r>
            <a:r>
              <a:rPr lang="en-IN" sz="2800" dirty="0"/>
              <a:t>: Most general-purpose computers, including personal computers</a:t>
            </a:r>
          </a:p>
        </p:txBody>
      </p:sp>
    </p:spTree>
    <p:extLst>
      <p:ext uri="{BB962C8B-B14F-4D97-AF65-F5344CB8AC3E}">
        <p14:creationId xmlns:p14="http://schemas.microsoft.com/office/powerpoint/2010/main" val="3488057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E42B3B-E765-BF1B-7F9D-51CC19AA80BB}"/>
              </a:ext>
            </a:extLst>
          </p:cNvPr>
          <p:cNvSpPr>
            <a:spLocks noChangeArrowheads="1"/>
          </p:cNvSpPr>
          <p:nvPr/>
        </p:nvSpPr>
        <p:spPr bwMode="auto">
          <a:xfrm>
            <a:off x="304800" y="624632"/>
            <a:ext cx="86868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1" i="0" u="none" strike="noStrike" cap="none" normalizeH="0" baseline="0" dirty="0">
                <a:ln>
                  <a:noFill/>
                </a:ln>
                <a:solidFill>
                  <a:srgbClr val="FF0000"/>
                </a:solidFill>
                <a:effectLst/>
                <a:latin typeface="Arial" panose="020B0604020202020204" pitchFamily="34" charset="0"/>
              </a:rPr>
              <a:t>Characteristics</a:t>
            </a:r>
            <a:r>
              <a:rPr lang="en-US" altLang="en-US" sz="3200" b="1" dirty="0">
                <a:solidFill>
                  <a:srgbClr val="FF0000"/>
                </a:solidFill>
                <a:latin typeface="Arial" panose="020B0604020202020204" pitchFamily="34" charset="0"/>
              </a:rPr>
              <a:t> of </a:t>
            </a:r>
            <a:r>
              <a:rPr lang="en-IN" sz="3200" b="1" dirty="0">
                <a:solidFill>
                  <a:srgbClr val="FF0000"/>
                </a:solidFill>
              </a:rPr>
              <a:t>Harvard Architecture</a:t>
            </a:r>
            <a:endParaRPr lang="en-US" sz="3200" b="1" dirty="0">
              <a:solidFill>
                <a:srgbClr val="FF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Instructions and data can be fetched in parallel, improving performance.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Commonly used in </a:t>
            </a:r>
            <a:r>
              <a:rPr kumimoji="0" lang="en-US" altLang="en-US" sz="3200" b="1" i="0" u="none" strike="noStrike" cap="none" normalizeH="0" baseline="0" dirty="0">
                <a:ln>
                  <a:noFill/>
                </a:ln>
                <a:solidFill>
                  <a:schemeClr val="tx1"/>
                </a:solidFill>
                <a:effectLst/>
                <a:latin typeface="Arial" panose="020B0604020202020204" pitchFamily="34" charset="0"/>
              </a:rPr>
              <a:t>embedded systems</a:t>
            </a:r>
            <a:r>
              <a:rPr kumimoji="0" lang="en-US" altLang="en-US" sz="3200" b="0" i="0" u="none" strike="noStrike" cap="none" normalizeH="0" baseline="0" dirty="0">
                <a:ln>
                  <a:noFill/>
                </a:ln>
                <a:solidFill>
                  <a:schemeClr val="tx1"/>
                </a:solidFill>
                <a:effectLst/>
                <a:latin typeface="Arial" panose="020B0604020202020204" pitchFamily="34" charset="0"/>
              </a:rPr>
              <a:t> and </a:t>
            </a:r>
            <a:r>
              <a:rPr kumimoji="0" lang="en-US" altLang="en-US" sz="3200" b="1" i="0" u="none" strike="noStrike" cap="none" normalizeH="0" baseline="0" dirty="0">
                <a:ln>
                  <a:noFill/>
                </a:ln>
                <a:solidFill>
                  <a:schemeClr val="tx1"/>
                </a:solidFill>
                <a:effectLst/>
                <a:latin typeface="Arial" panose="020B0604020202020204" pitchFamily="34" charset="0"/>
              </a:rPr>
              <a:t>microcontrollers</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Example</a:t>
            </a:r>
            <a:r>
              <a:rPr kumimoji="0" lang="en-US" altLang="en-US" sz="3200" b="0" i="0" u="none" strike="noStrike" cap="none" normalizeH="0" baseline="0" dirty="0">
                <a:ln>
                  <a:noFill/>
                </a:ln>
                <a:solidFill>
                  <a:schemeClr val="tx1"/>
                </a:solidFill>
                <a:effectLst/>
                <a:latin typeface="Arial" panose="020B0604020202020204" pitchFamily="34" charset="0"/>
              </a:rPr>
              <a:t>: ARM microcontrollers, DSP processors. </a:t>
            </a:r>
          </a:p>
        </p:txBody>
      </p:sp>
    </p:spTree>
    <p:extLst>
      <p:ext uri="{BB962C8B-B14F-4D97-AF65-F5344CB8AC3E}">
        <p14:creationId xmlns:p14="http://schemas.microsoft.com/office/powerpoint/2010/main" val="762303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AD82E2-10B2-B48A-6469-172F012DEA81}"/>
              </a:ext>
            </a:extLst>
          </p:cNvPr>
          <p:cNvGraphicFramePr>
            <a:graphicFrameLocks noGrp="1"/>
          </p:cNvGraphicFramePr>
          <p:nvPr>
            <p:extLst>
              <p:ext uri="{D42A27DB-BD31-4B8C-83A1-F6EECF244321}">
                <p14:modId xmlns:p14="http://schemas.microsoft.com/office/powerpoint/2010/main" val="3145981418"/>
              </p:ext>
            </p:extLst>
          </p:nvPr>
        </p:nvGraphicFramePr>
        <p:xfrm>
          <a:off x="152399" y="243182"/>
          <a:ext cx="8458201" cy="6109660"/>
        </p:xfrm>
        <a:graphic>
          <a:graphicData uri="http://schemas.openxmlformats.org/drawingml/2006/table">
            <a:tbl>
              <a:tblPr firstRow="1" bandRow="1">
                <a:tableStyleId>{8799B23B-EC83-4686-B30A-512413B5E67A}</a:tableStyleId>
              </a:tblPr>
              <a:tblGrid>
                <a:gridCol w="1111258">
                  <a:extLst>
                    <a:ext uri="{9D8B030D-6E8A-4147-A177-3AD203B41FA5}">
                      <a16:colId xmlns:a16="http://schemas.microsoft.com/office/drawing/2014/main" val="2031629486"/>
                    </a:ext>
                  </a:extLst>
                </a:gridCol>
                <a:gridCol w="2381226">
                  <a:extLst>
                    <a:ext uri="{9D8B030D-6E8A-4147-A177-3AD203B41FA5}">
                      <a16:colId xmlns:a16="http://schemas.microsoft.com/office/drawing/2014/main" val="1361464858"/>
                    </a:ext>
                  </a:extLst>
                </a:gridCol>
                <a:gridCol w="2534109">
                  <a:extLst>
                    <a:ext uri="{9D8B030D-6E8A-4147-A177-3AD203B41FA5}">
                      <a16:colId xmlns:a16="http://schemas.microsoft.com/office/drawing/2014/main" val="4012588086"/>
                    </a:ext>
                  </a:extLst>
                </a:gridCol>
                <a:gridCol w="2431608">
                  <a:extLst>
                    <a:ext uri="{9D8B030D-6E8A-4147-A177-3AD203B41FA5}">
                      <a16:colId xmlns:a16="http://schemas.microsoft.com/office/drawing/2014/main" val="2308740923"/>
                    </a:ext>
                  </a:extLst>
                </a:gridCol>
              </a:tblGrid>
              <a:tr h="539596">
                <a:tc>
                  <a:txBody>
                    <a:bodyPr/>
                    <a:lstStyle/>
                    <a:p>
                      <a:pPr algn="just" fontAlgn="base"/>
                      <a:r>
                        <a:rPr lang="en-IN" sz="1600" b="1" dirty="0">
                          <a:solidFill>
                            <a:srgbClr val="0000FF"/>
                          </a:solidFill>
                          <a:effectLst/>
                        </a:rPr>
                        <a:t>PARAMETERS</a:t>
                      </a:r>
                      <a:endParaRPr lang="en-IN" sz="1600" b="1" dirty="0">
                        <a:effectLst/>
                      </a:endParaRPr>
                    </a:p>
                  </a:txBody>
                  <a:tcPr marL="10754" marR="10754" marT="5377" marB="5377" anchor="ctr"/>
                </a:tc>
                <a:tc>
                  <a:txBody>
                    <a:bodyPr/>
                    <a:lstStyle/>
                    <a:p>
                      <a:pPr algn="just" fontAlgn="base"/>
                      <a:r>
                        <a:rPr lang="en-IN" sz="1600" b="1" dirty="0">
                          <a:solidFill>
                            <a:srgbClr val="0000FF"/>
                          </a:solidFill>
                          <a:effectLst/>
                        </a:rPr>
                        <a:t>COMPILER</a:t>
                      </a:r>
                      <a:endParaRPr lang="en-IN" sz="1600" b="1" dirty="0">
                        <a:effectLst/>
                      </a:endParaRPr>
                    </a:p>
                  </a:txBody>
                  <a:tcPr marL="10754" marR="10754" marT="5377" marB="5377" anchor="ctr"/>
                </a:tc>
                <a:tc>
                  <a:txBody>
                    <a:bodyPr/>
                    <a:lstStyle/>
                    <a:p>
                      <a:pPr algn="just" fontAlgn="base"/>
                      <a:r>
                        <a:rPr lang="en-IN" sz="1600" b="1" dirty="0">
                          <a:solidFill>
                            <a:srgbClr val="0000FF"/>
                          </a:solidFill>
                          <a:effectLst/>
                        </a:rPr>
                        <a:t>INTERPRETER</a:t>
                      </a:r>
                      <a:endParaRPr lang="en-IN" sz="1600" b="1" dirty="0">
                        <a:effectLst/>
                      </a:endParaRPr>
                    </a:p>
                  </a:txBody>
                  <a:tcPr marL="10754" marR="10754" marT="5377" marB="5377" anchor="ctr"/>
                </a:tc>
                <a:tc>
                  <a:txBody>
                    <a:bodyPr/>
                    <a:lstStyle/>
                    <a:p>
                      <a:pPr algn="just" fontAlgn="base"/>
                      <a:r>
                        <a:rPr lang="en-IN" sz="1600" b="1">
                          <a:solidFill>
                            <a:srgbClr val="0000FF"/>
                          </a:solidFill>
                          <a:effectLst/>
                        </a:rPr>
                        <a:t>ASSEMBLER</a:t>
                      </a:r>
                      <a:endParaRPr lang="en-IN" sz="1600" b="1">
                        <a:effectLst/>
                      </a:endParaRPr>
                    </a:p>
                  </a:txBody>
                  <a:tcPr marL="10754" marR="10754" marT="5377" marB="5377" anchor="ctr"/>
                </a:tc>
                <a:extLst>
                  <a:ext uri="{0D108BD9-81ED-4DB2-BD59-A6C34878D82A}">
                    <a16:rowId xmlns:a16="http://schemas.microsoft.com/office/drawing/2014/main" val="3047307711"/>
                  </a:ext>
                </a:extLst>
              </a:tr>
              <a:tr h="1334958">
                <a:tc>
                  <a:txBody>
                    <a:bodyPr/>
                    <a:lstStyle/>
                    <a:p>
                      <a:pPr algn="just"/>
                      <a:r>
                        <a:rPr lang="en-IN" sz="1600" b="1">
                          <a:effectLst/>
                        </a:rPr>
                        <a:t>Conversion</a:t>
                      </a:r>
                      <a:endParaRPr lang="en-IN" sz="1600">
                        <a:effectLst/>
                      </a:endParaRPr>
                    </a:p>
                  </a:txBody>
                  <a:tcPr marL="10754" marR="10754" marT="5377" marB="5377" anchor="ctr"/>
                </a:tc>
                <a:tc>
                  <a:txBody>
                    <a:bodyPr/>
                    <a:lstStyle/>
                    <a:p>
                      <a:pPr algn="just"/>
                      <a:r>
                        <a:rPr lang="en-IN" sz="1600" dirty="0">
                          <a:effectLst/>
                        </a:rPr>
                        <a:t>It converts the high-level programming into Machine language.</a:t>
                      </a:r>
                    </a:p>
                  </a:txBody>
                  <a:tcPr marL="10754" marR="10754" marT="5377" marB="5377" anchor="ctr"/>
                </a:tc>
                <a:tc>
                  <a:txBody>
                    <a:bodyPr/>
                    <a:lstStyle/>
                    <a:p>
                      <a:pPr algn="just"/>
                      <a:r>
                        <a:rPr lang="en-IN" sz="1600" dirty="0">
                          <a:effectLst/>
                        </a:rPr>
                        <a:t>It also converts the High-level Instruction (Byte Code) into machine language</a:t>
                      </a:r>
                    </a:p>
                  </a:txBody>
                  <a:tcPr marL="10754" marR="10754" marT="5377" marB="5377" anchor="ctr"/>
                </a:tc>
                <a:tc>
                  <a:txBody>
                    <a:bodyPr/>
                    <a:lstStyle/>
                    <a:p>
                      <a:pPr algn="just"/>
                      <a:r>
                        <a:rPr lang="en-IN" sz="1600" dirty="0">
                          <a:effectLst/>
                        </a:rPr>
                        <a:t>It converts programs written in the assembly language to the machine language or binary code.</a:t>
                      </a:r>
                    </a:p>
                  </a:txBody>
                  <a:tcPr marL="10754" marR="10754" marT="5377" marB="5377" anchor="ctr"/>
                </a:tc>
                <a:extLst>
                  <a:ext uri="{0D108BD9-81ED-4DB2-BD59-A6C34878D82A}">
                    <a16:rowId xmlns:a16="http://schemas.microsoft.com/office/drawing/2014/main" val="2774867539"/>
                  </a:ext>
                </a:extLst>
              </a:tr>
              <a:tr h="1069837">
                <a:tc>
                  <a:txBody>
                    <a:bodyPr/>
                    <a:lstStyle/>
                    <a:p>
                      <a:pPr algn="just" fontAlgn="base"/>
                      <a:r>
                        <a:rPr lang="en-IN" sz="1600" b="1">
                          <a:effectLst/>
                        </a:rPr>
                        <a:t> </a:t>
                      </a:r>
                      <a:endParaRPr lang="en-IN" sz="1600">
                        <a:effectLst/>
                      </a:endParaRPr>
                    </a:p>
                    <a:p>
                      <a:pPr algn="just" fontAlgn="base"/>
                      <a:r>
                        <a:rPr lang="en-IN" sz="1600" b="1">
                          <a:effectLst/>
                        </a:rPr>
                        <a:t> </a:t>
                      </a:r>
                      <a:endParaRPr lang="en-IN" sz="1600">
                        <a:effectLst/>
                      </a:endParaRPr>
                    </a:p>
                    <a:p>
                      <a:pPr algn="just" fontAlgn="base"/>
                      <a:r>
                        <a:rPr lang="en-IN" sz="1600" b="1">
                          <a:effectLst/>
                        </a:rPr>
                        <a:t>Scanning</a:t>
                      </a:r>
                      <a:endParaRPr lang="en-IN" sz="1600">
                        <a:effectLst/>
                      </a:endParaRPr>
                    </a:p>
                  </a:txBody>
                  <a:tcPr marL="10754" marR="10754" marT="5377" marB="5377" anchor="ctr"/>
                </a:tc>
                <a:tc>
                  <a:txBody>
                    <a:bodyPr/>
                    <a:lstStyle/>
                    <a:p>
                      <a:pPr algn="just"/>
                      <a:r>
                        <a:rPr lang="en-IN" sz="1600" dirty="0">
                          <a:effectLst/>
                        </a:rPr>
                        <a:t>It scans the entire program before converting it into binary code.</a:t>
                      </a:r>
                    </a:p>
                  </a:txBody>
                  <a:tcPr marL="10754" marR="10754" marT="5377" marB="5377" anchor="ctr"/>
                </a:tc>
                <a:tc>
                  <a:txBody>
                    <a:bodyPr/>
                    <a:lstStyle/>
                    <a:p>
                      <a:pPr algn="just"/>
                      <a:r>
                        <a:rPr lang="en-IN" sz="1600" dirty="0">
                          <a:effectLst/>
                        </a:rPr>
                        <a:t>It translates the program line by line to the equivalent machine code.</a:t>
                      </a:r>
                    </a:p>
                  </a:txBody>
                  <a:tcPr marL="10754" marR="10754" marT="5377" marB="5377" anchor="ctr"/>
                </a:tc>
                <a:tc>
                  <a:txBody>
                    <a:bodyPr/>
                    <a:lstStyle/>
                    <a:p>
                      <a:pPr algn="just"/>
                      <a:r>
                        <a:rPr lang="en-IN" sz="1600" dirty="0">
                          <a:effectLst/>
                        </a:rPr>
                        <a:t>It converts the source code into the object code then converts it into the machine code.</a:t>
                      </a:r>
                    </a:p>
                  </a:txBody>
                  <a:tcPr marL="10754" marR="10754" marT="5377" marB="5377" anchor="ctr"/>
                </a:tc>
                <a:extLst>
                  <a:ext uri="{0D108BD9-81ED-4DB2-BD59-A6C34878D82A}">
                    <a16:rowId xmlns:a16="http://schemas.microsoft.com/office/drawing/2014/main" val="2274467657"/>
                  </a:ext>
                </a:extLst>
              </a:tr>
              <a:tr h="1069837">
                <a:tc>
                  <a:txBody>
                    <a:bodyPr/>
                    <a:lstStyle/>
                    <a:p>
                      <a:pPr algn="just" fontAlgn="base"/>
                      <a:r>
                        <a:rPr lang="en-IN" sz="1600" b="1">
                          <a:effectLst/>
                        </a:rPr>
                        <a:t> </a:t>
                      </a:r>
                      <a:endParaRPr lang="en-IN" sz="1600">
                        <a:effectLst/>
                      </a:endParaRPr>
                    </a:p>
                    <a:p>
                      <a:pPr algn="just" fontAlgn="base"/>
                      <a:r>
                        <a:rPr lang="en-IN" sz="1600" b="1">
                          <a:effectLst/>
                        </a:rPr>
                        <a:t>Error Detection</a:t>
                      </a:r>
                      <a:endParaRPr lang="en-IN" sz="1600">
                        <a:effectLst/>
                      </a:endParaRPr>
                    </a:p>
                  </a:txBody>
                  <a:tcPr marL="10754" marR="10754" marT="5377" marB="5377" anchor="ctr"/>
                </a:tc>
                <a:tc>
                  <a:txBody>
                    <a:bodyPr/>
                    <a:lstStyle/>
                    <a:p>
                      <a:pPr algn="just"/>
                      <a:r>
                        <a:rPr lang="en-IN" sz="1600">
                          <a:effectLst/>
                        </a:rPr>
                        <a:t>Gives the full error report after the whole scan.</a:t>
                      </a:r>
                    </a:p>
                  </a:txBody>
                  <a:tcPr marL="10754" marR="10754" marT="5377" marB="5377" anchor="ctr"/>
                </a:tc>
                <a:tc>
                  <a:txBody>
                    <a:bodyPr/>
                    <a:lstStyle/>
                    <a:p>
                      <a:pPr algn="just"/>
                      <a:r>
                        <a:rPr lang="en-IN" sz="1600">
                          <a:effectLst/>
                        </a:rPr>
                        <a:t>Detects error line by line. And stops scanning until the error in the previous line is solved.</a:t>
                      </a:r>
                    </a:p>
                  </a:txBody>
                  <a:tcPr marL="10754" marR="10754" marT="5377" marB="5377" anchor="ctr"/>
                </a:tc>
                <a:tc>
                  <a:txBody>
                    <a:bodyPr/>
                    <a:lstStyle/>
                    <a:p>
                      <a:pPr algn="just"/>
                      <a:r>
                        <a:rPr lang="en-IN" sz="1600">
                          <a:effectLst/>
                        </a:rPr>
                        <a:t>It detects errors in the first phase, after fixation the second phase starts.</a:t>
                      </a:r>
                    </a:p>
                  </a:txBody>
                  <a:tcPr marL="10754" marR="10754" marT="5377" marB="5377" anchor="ctr"/>
                </a:tc>
                <a:extLst>
                  <a:ext uri="{0D108BD9-81ED-4DB2-BD59-A6C34878D82A}">
                    <a16:rowId xmlns:a16="http://schemas.microsoft.com/office/drawing/2014/main" val="3465876764"/>
                  </a:ext>
                </a:extLst>
              </a:tr>
              <a:tr h="1069837">
                <a:tc>
                  <a:txBody>
                    <a:bodyPr/>
                    <a:lstStyle/>
                    <a:p>
                      <a:pPr algn="just" fontAlgn="base"/>
                      <a:r>
                        <a:rPr lang="en-IN" sz="1600" b="1">
                          <a:effectLst/>
                        </a:rPr>
                        <a:t>Code generation</a:t>
                      </a:r>
                      <a:endParaRPr lang="en-IN" sz="1600">
                        <a:effectLst/>
                      </a:endParaRPr>
                    </a:p>
                    <a:p>
                      <a:pPr algn="just" fontAlgn="base"/>
                      <a:r>
                        <a:rPr lang="en-IN" sz="1600" b="1">
                          <a:effectLst/>
                        </a:rPr>
                        <a:t> </a:t>
                      </a:r>
                      <a:endParaRPr lang="en-IN" sz="1600">
                        <a:effectLst/>
                      </a:endParaRPr>
                    </a:p>
                  </a:txBody>
                  <a:tcPr marL="10754" marR="10754" marT="5377" marB="5377" anchor="ctr"/>
                </a:tc>
                <a:tc>
                  <a:txBody>
                    <a:bodyPr/>
                    <a:lstStyle/>
                    <a:p>
                      <a:pPr algn="just"/>
                      <a:r>
                        <a:rPr lang="en-IN" sz="1600" dirty="0">
                          <a:effectLst/>
                        </a:rPr>
                        <a:t>Intermediate code generation is done in the case of Compiler.</a:t>
                      </a:r>
                    </a:p>
                  </a:txBody>
                  <a:tcPr marL="10754" marR="10754" marT="5377" marB="5377" anchor="ctr"/>
                </a:tc>
                <a:tc>
                  <a:txBody>
                    <a:bodyPr/>
                    <a:lstStyle/>
                    <a:p>
                      <a:pPr algn="just"/>
                      <a:r>
                        <a:rPr lang="en-IN" sz="1600">
                          <a:effectLst/>
                        </a:rPr>
                        <a:t>There is no intermediate code generation.</a:t>
                      </a:r>
                    </a:p>
                  </a:txBody>
                  <a:tcPr marL="10754" marR="10754" marT="5377" marB="5377" anchor="ctr"/>
                </a:tc>
                <a:tc>
                  <a:txBody>
                    <a:bodyPr/>
                    <a:lstStyle/>
                    <a:p>
                      <a:pPr algn="just"/>
                      <a:r>
                        <a:rPr lang="en-IN" sz="1600">
                          <a:effectLst/>
                        </a:rPr>
                        <a:t>There is an intermediate object code generation.</a:t>
                      </a:r>
                    </a:p>
                  </a:txBody>
                  <a:tcPr marL="10754" marR="10754" marT="5377" marB="5377" anchor="ctr"/>
                </a:tc>
                <a:extLst>
                  <a:ext uri="{0D108BD9-81ED-4DB2-BD59-A6C34878D82A}">
                    <a16:rowId xmlns:a16="http://schemas.microsoft.com/office/drawing/2014/main" val="3588829526"/>
                  </a:ext>
                </a:extLst>
              </a:tr>
              <a:tr h="485999">
                <a:tc>
                  <a:txBody>
                    <a:bodyPr/>
                    <a:lstStyle/>
                    <a:p>
                      <a:pPr algn="just" fontAlgn="base"/>
                      <a:endParaRPr lang="en-IN" sz="1600" dirty="0">
                        <a:effectLst/>
                      </a:endParaRPr>
                    </a:p>
                  </a:txBody>
                  <a:tcPr marL="10754" marR="10754" marT="5377" marB="5377" anchor="ctr"/>
                </a:tc>
                <a:tc>
                  <a:txBody>
                    <a:bodyPr/>
                    <a:lstStyle/>
                    <a:p>
                      <a:pPr algn="just"/>
                      <a:endParaRPr lang="en-IN" sz="1600" dirty="0">
                        <a:effectLst/>
                      </a:endParaRPr>
                    </a:p>
                  </a:txBody>
                  <a:tcPr marL="10754" marR="10754" marT="5377" marB="5377" anchor="ctr"/>
                </a:tc>
                <a:tc>
                  <a:txBody>
                    <a:bodyPr/>
                    <a:lstStyle/>
                    <a:p>
                      <a:pPr algn="just"/>
                      <a:endParaRPr lang="en-IN" sz="1600">
                        <a:effectLst/>
                      </a:endParaRPr>
                    </a:p>
                  </a:txBody>
                  <a:tcPr marL="10754" marR="10754" marT="5377" marB="5377" anchor="ctr"/>
                </a:tc>
                <a:tc>
                  <a:txBody>
                    <a:bodyPr/>
                    <a:lstStyle/>
                    <a:p>
                      <a:pPr algn="just"/>
                      <a:endParaRPr lang="en-IN" sz="1600" dirty="0">
                        <a:effectLst/>
                      </a:endParaRPr>
                    </a:p>
                  </a:txBody>
                  <a:tcPr marL="10754" marR="10754" marT="5377" marB="5377" anchor="ctr"/>
                </a:tc>
                <a:extLst>
                  <a:ext uri="{0D108BD9-81ED-4DB2-BD59-A6C34878D82A}">
                    <a16:rowId xmlns:a16="http://schemas.microsoft.com/office/drawing/2014/main" val="1338298359"/>
                  </a:ext>
                </a:extLst>
              </a:tr>
              <a:tr h="539596">
                <a:tc>
                  <a:txBody>
                    <a:bodyPr/>
                    <a:lstStyle/>
                    <a:p>
                      <a:pPr algn="just"/>
                      <a:r>
                        <a:rPr lang="en-IN" sz="1600" b="1">
                          <a:effectLst/>
                        </a:rPr>
                        <a:t>Examples</a:t>
                      </a:r>
                      <a:endParaRPr lang="en-IN" sz="1600">
                        <a:effectLst/>
                      </a:endParaRPr>
                    </a:p>
                  </a:txBody>
                  <a:tcPr marL="10754" marR="10754" marT="5377" marB="5377" anchor="ctr"/>
                </a:tc>
                <a:tc>
                  <a:txBody>
                    <a:bodyPr/>
                    <a:lstStyle/>
                    <a:p>
                      <a:pPr algn="just"/>
                      <a:r>
                        <a:rPr lang="en-IN" sz="1600" dirty="0">
                          <a:effectLst/>
                        </a:rPr>
                        <a:t>C, C#, Java, C++</a:t>
                      </a:r>
                    </a:p>
                  </a:txBody>
                  <a:tcPr marL="10754" marR="10754" marT="5377" marB="5377" anchor="ctr"/>
                </a:tc>
                <a:tc>
                  <a:txBody>
                    <a:bodyPr/>
                    <a:lstStyle/>
                    <a:p>
                      <a:pPr algn="just"/>
                      <a:r>
                        <a:rPr lang="en-IN" sz="1600">
                          <a:effectLst/>
                        </a:rPr>
                        <a:t>Python, Perl, VB, PostScript, LISP, etc…</a:t>
                      </a:r>
                    </a:p>
                  </a:txBody>
                  <a:tcPr marL="10754" marR="10754" marT="5377" marB="5377" anchor="ctr"/>
                </a:tc>
                <a:tc>
                  <a:txBody>
                    <a:bodyPr/>
                    <a:lstStyle/>
                    <a:p>
                      <a:pPr algn="just"/>
                      <a:r>
                        <a:rPr lang="en-IN" sz="1600" dirty="0">
                          <a:effectLst/>
                        </a:rPr>
                        <a:t>GAS, GNU</a:t>
                      </a:r>
                    </a:p>
                  </a:txBody>
                  <a:tcPr marL="10754" marR="10754" marT="5377" marB="5377" anchor="ctr"/>
                </a:tc>
                <a:extLst>
                  <a:ext uri="{0D108BD9-81ED-4DB2-BD59-A6C34878D82A}">
                    <a16:rowId xmlns:a16="http://schemas.microsoft.com/office/drawing/2014/main" val="2839057649"/>
                  </a:ext>
                </a:extLst>
              </a:tr>
            </a:tbl>
          </a:graphicData>
        </a:graphic>
      </p:graphicFrame>
    </p:spTree>
    <p:extLst>
      <p:ext uri="{BB962C8B-B14F-4D97-AF65-F5344CB8AC3E}">
        <p14:creationId xmlns:p14="http://schemas.microsoft.com/office/powerpoint/2010/main" val="532358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7471</TotalTime>
  <Words>1136</Words>
  <Application>Microsoft Office PowerPoint</Application>
  <PresentationFormat>On-screen Show (4:3)</PresentationFormat>
  <Paragraphs>137</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Palatino</vt:lpstr>
      <vt:lpstr>Wingdings</vt:lpstr>
      <vt:lpstr>Office Theme</vt:lpstr>
      <vt:lpstr>PowerPoint Presentation</vt:lpstr>
      <vt:lpstr>Programming Introduction</vt:lpstr>
      <vt:lpstr>Programming Introduction</vt:lpstr>
      <vt:lpstr>Programming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shubhangi</dc:creator>
  <cp:lastModifiedBy>Arvind Kumar Mehta [MU - Jaipur]</cp:lastModifiedBy>
  <cp:revision>221</cp:revision>
  <dcterms:created xsi:type="dcterms:W3CDTF">2017-07-11T09:12:16Z</dcterms:created>
  <dcterms:modified xsi:type="dcterms:W3CDTF">2025-08-07T07:26:56Z</dcterms:modified>
</cp:coreProperties>
</file>