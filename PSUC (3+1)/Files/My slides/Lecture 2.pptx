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95" r:id="rId2"/>
    <p:sldId id="287" r:id="rId3"/>
    <p:sldId id="288" r:id="rId4"/>
    <p:sldId id="308" r:id="rId5"/>
    <p:sldId id="309" r:id="rId6"/>
    <p:sldId id="312" r:id="rId7"/>
    <p:sldId id="307" r:id="rId8"/>
    <p:sldId id="321" r:id="rId9"/>
    <p:sldId id="256" r:id="rId10"/>
    <p:sldId id="257" r:id="rId11"/>
    <p:sldId id="258" r:id="rId12"/>
    <p:sldId id="259" r:id="rId13"/>
    <p:sldId id="260" r:id="rId14"/>
    <p:sldId id="261" r:id="rId15"/>
    <p:sldId id="322" r:id="rId16"/>
    <p:sldId id="262" r:id="rId17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11495-7EAD-43DE-9FC9-254C8E53E682}" v="3" dt="2026-07-27T05:53:37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18" autoAdjust="0"/>
  </p:normalViewPr>
  <p:slideViewPr>
    <p:cSldViewPr>
      <p:cViewPr>
        <p:scale>
          <a:sx n="66" d="100"/>
          <a:sy n="66" d="100"/>
        </p:scale>
        <p:origin x="1208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custSel modSld">
      <pc:chgData name="Arvind Kumar Mehta [MU - Jaipur]" userId="05c91892-566a-4226-a371-aa1d586f0be7" providerId="ADAL" clId="{B053A5CE-0A90-414C-9281-C211CC0B95EF}" dt="2026-07-27T05:56:29.301" v="34" actId="1076"/>
      <pc:docMkLst>
        <pc:docMk/>
      </pc:docMkLst>
      <pc:sldChg chg="modSp mod">
        <pc:chgData name="Arvind Kumar Mehta [MU - Jaipur]" userId="05c91892-566a-4226-a371-aa1d586f0be7" providerId="ADAL" clId="{B053A5CE-0A90-414C-9281-C211CC0B95EF}" dt="2026-07-27T05:22:00.823" v="4" actId="5793"/>
        <pc:sldMkLst>
          <pc:docMk/>
          <pc:sldMk cId="2628025698" sldId="257"/>
        </pc:sldMkLst>
        <pc:spChg chg="mod">
          <ac:chgData name="Arvind Kumar Mehta [MU - Jaipur]" userId="05c91892-566a-4226-a371-aa1d586f0be7" providerId="ADAL" clId="{B053A5CE-0A90-414C-9281-C211CC0B95EF}" dt="2026-07-27T05:22:00.823" v="4" actId="5793"/>
          <ac:spMkLst>
            <pc:docMk/>
            <pc:sldMk cId="2628025698" sldId="257"/>
            <ac:spMk id="5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6-07-27T05:21:55.139" v="3" actId="113"/>
          <ac:spMkLst>
            <pc:docMk/>
            <pc:sldMk cId="2628025698" sldId="257"/>
            <ac:spMk id="6" creationId="{42545617-738F-0CC0-1FC5-EABB59E841FD}"/>
          </ac:spMkLst>
        </pc:spChg>
      </pc:sldChg>
      <pc:sldChg chg="addSp modSp mod setBg">
        <pc:chgData name="Arvind Kumar Mehta [MU - Jaipur]" userId="05c91892-566a-4226-a371-aa1d586f0be7" providerId="ADAL" clId="{B053A5CE-0A90-414C-9281-C211CC0B95EF}" dt="2026-07-27T05:56:29.301" v="34" actId="1076"/>
        <pc:sldMkLst>
          <pc:docMk/>
          <pc:sldMk cId="1043675751" sldId="262"/>
        </pc:sldMkLst>
        <pc:spChg chg="mod ord">
          <ac:chgData name="Arvind Kumar Mehta [MU - Jaipur]" userId="05c91892-566a-4226-a371-aa1d586f0be7" providerId="ADAL" clId="{B053A5CE-0A90-414C-9281-C211CC0B95EF}" dt="2026-07-27T05:54:01.387" v="25" actId="6549"/>
          <ac:spMkLst>
            <pc:docMk/>
            <pc:sldMk cId="1043675751" sldId="262"/>
            <ac:spMk id="5" creationId="{A2DB438D-D780-7AA4-3723-4C0AB4B0D285}"/>
          </ac:spMkLst>
        </pc:spChg>
        <pc:spChg chg="add">
          <ac:chgData name="Arvind Kumar Mehta [MU - Jaipur]" userId="05c91892-566a-4226-a371-aa1d586f0be7" providerId="ADAL" clId="{B053A5CE-0A90-414C-9281-C211CC0B95EF}" dt="2026-07-27T05:51:19.373" v="12" actId="26606"/>
          <ac:spMkLst>
            <pc:docMk/>
            <pc:sldMk cId="1043675751" sldId="262"/>
            <ac:spMk id="10" creationId="{2EB492CD-616E-47F8-933B-5E2D952A0593}"/>
          </ac:spMkLst>
        </pc:spChg>
        <pc:spChg chg="add">
          <ac:chgData name="Arvind Kumar Mehta [MU - Jaipur]" userId="05c91892-566a-4226-a371-aa1d586f0be7" providerId="ADAL" clId="{B053A5CE-0A90-414C-9281-C211CC0B95EF}" dt="2026-07-27T05:51:19.373" v="12" actId="26606"/>
          <ac:spMkLst>
            <pc:docMk/>
            <pc:sldMk cId="1043675751" sldId="262"/>
            <ac:spMk id="12" creationId="{59383CF9-23B5-4335-9B21-1791C4CF1C75}"/>
          </ac:spMkLst>
        </pc:spChg>
        <pc:spChg chg="add">
          <ac:chgData name="Arvind Kumar Mehta [MU - Jaipur]" userId="05c91892-566a-4226-a371-aa1d586f0be7" providerId="ADAL" clId="{B053A5CE-0A90-414C-9281-C211CC0B95EF}" dt="2026-07-27T05:51:19.373" v="12" actId="26606"/>
          <ac:spMkLst>
            <pc:docMk/>
            <pc:sldMk cId="1043675751" sldId="262"/>
            <ac:spMk id="14" creationId="{0007FE00-9498-4706-B255-6437B0252C02}"/>
          </ac:spMkLst>
        </pc:spChg>
        <pc:picChg chg="add mod">
          <ac:chgData name="Arvind Kumar Mehta [MU - Jaipur]" userId="05c91892-566a-4226-a371-aa1d586f0be7" providerId="ADAL" clId="{B053A5CE-0A90-414C-9281-C211CC0B95EF}" dt="2026-07-27T05:56:14.652" v="29" actId="1076"/>
          <ac:picMkLst>
            <pc:docMk/>
            <pc:sldMk cId="1043675751" sldId="262"/>
            <ac:picMk id="2" creationId="{A918FA74-319C-A815-CE22-D486210BD97D}"/>
          </ac:picMkLst>
        </pc:picChg>
        <pc:picChg chg="add mod">
          <ac:chgData name="Arvind Kumar Mehta [MU - Jaipur]" userId="05c91892-566a-4226-a371-aa1d586f0be7" providerId="ADAL" clId="{B053A5CE-0A90-414C-9281-C211CC0B95EF}" dt="2026-07-27T05:56:29.301" v="34" actId="1076"/>
          <ac:picMkLst>
            <pc:docMk/>
            <pc:sldMk cId="1043675751" sldId="262"/>
            <ac:picMk id="3" creationId="{50296EC7-13C5-9E1C-C64F-B8F85ABE8E2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Imperative programming: It is a software development paradigm where functions are implicitly coded in every required step to solve a problem. In imperative programming, every operation is coded and the code itself specifies how the problem is to </a:t>
            </a:r>
            <a:r>
              <a:rPr lang="en-IN" sz="1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be solved.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E32E0-70ED-475D-B6A3-4A43F6DB1D4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Syllabus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C1EA2-D09F-2F4F-B24C-1ED9B763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7"/>
          <a:stretch>
            <a:fillRect/>
          </a:stretch>
        </p:blipFill>
        <p:spPr>
          <a:xfrm>
            <a:off x="-33621" y="1066801"/>
            <a:ext cx="9177621" cy="4218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Autofit/>
          </a:bodyPr>
          <a:lstStyle/>
          <a:p>
            <a:br>
              <a:rPr lang="en-US" sz="2400" b="1" dirty="0"/>
            </a:br>
            <a:r>
              <a:rPr lang="en-US" sz="2400" b="1" dirty="0"/>
              <a:t>TEXTBOOKS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674782"/>
            <a:ext cx="86868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just">
              <a:lnSpc>
                <a:spcPct val="105000"/>
              </a:lnSpc>
            </a:pPr>
            <a:r>
              <a:rPr lang="en-IN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Masting C KR Venugopal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32" name="Picture 8" descr="Buy MASTERING C Book Online at Low Prices in India | MASTERING C Reviews &amp;  Ratings - Amazon.in">
            <a:extLst>
              <a:ext uri="{FF2B5EF4-FFF2-40B4-BE49-F238E27FC236}">
                <a16:creationId xmlns:a16="http://schemas.microsoft.com/office/drawing/2014/main" id="{35350554-30E3-7974-F0C0-0E741B621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647" y="1189879"/>
            <a:ext cx="2534954" cy="342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uy Mastering C Book Online at Low Prices in India | Mastering C Reviews &amp;  Ratings - Amazon.in">
            <a:extLst>
              <a:ext uri="{FF2B5EF4-FFF2-40B4-BE49-F238E27FC236}">
                <a16:creationId xmlns:a16="http://schemas.microsoft.com/office/drawing/2014/main" id="{ADAA54B8-9764-4D21-9AB6-3218D89EC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12" y="1191632"/>
            <a:ext cx="2445644" cy="338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e C Programming Language 2e : Brian W. Kernighan / Dennis Ritchie:  Amazon.in: Books">
            <a:extLst>
              <a:ext uri="{FF2B5EF4-FFF2-40B4-BE49-F238E27FC236}">
                <a16:creationId xmlns:a16="http://schemas.microsoft.com/office/drawing/2014/main" id="{BF8392E2-0FE1-8C95-D618-40A39B7B0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4214294"/>
            <a:ext cx="1447800" cy="195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4034B-73E9-1618-2D1A-B8E42C323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981" b="-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1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345A07-08EF-9560-05A7-F7FD8513E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34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2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BFCB8-1F06-A491-9E23-A57AE02EA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982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4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F369D-AD8B-7799-C632-EA599BFE2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981" b="-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8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34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7800" y="165755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COMPUTER ORGANIZATION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791163"/>
            <a:ext cx="280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Processor: </a:t>
            </a:r>
          </a:p>
        </p:txBody>
      </p:sp>
      <p:sp>
        <p:nvSpPr>
          <p:cNvPr id="7" name="AutoShape 2" descr="HTG Explains: How Does a CPU Actually Work?"/>
          <p:cNvSpPr>
            <a:spLocks noChangeAspect="1" noChangeArrowheads="1"/>
          </p:cNvSpPr>
          <p:nvPr/>
        </p:nvSpPr>
        <p:spPr bwMode="auto">
          <a:xfrm>
            <a:off x="155575" y="748904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HTG Explains: How Does a CPU Actually Work?"/>
          <p:cNvSpPr>
            <a:spLocks noChangeAspect="1" noChangeArrowheads="1"/>
          </p:cNvSpPr>
          <p:nvPr/>
        </p:nvSpPr>
        <p:spPr bwMode="auto">
          <a:xfrm>
            <a:off x="307975" y="863204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3404731"/>
            <a:ext cx="1834259" cy="92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7" descr="Computer System, Computer System in Jorasanko, Kolkata , Software House |  ID: 14547208962"/>
          <p:cNvSpPr>
            <a:spLocks noChangeAspect="1" noChangeArrowheads="1"/>
          </p:cNvSpPr>
          <p:nvPr/>
        </p:nvSpPr>
        <p:spPr bwMode="auto">
          <a:xfrm>
            <a:off x="460375" y="977504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675" y="1635764"/>
            <a:ext cx="2187783" cy="164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92030" y="2920968"/>
            <a:ext cx="2856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It’s 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988" y="2442276"/>
            <a:ext cx="2394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Manufacturing</a:t>
            </a:r>
            <a:r>
              <a:rPr lang="en-US" sz="2000" dirty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624" y="3491369"/>
            <a:ext cx="5034376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Instructions per second (ON &amp; off)/ clock cycle</a:t>
            </a:r>
          </a:p>
          <a:p>
            <a:r>
              <a:rPr lang="en-US" sz="3200" dirty="0">
                <a:latin typeface="+mj-lt"/>
              </a:rPr>
              <a:t>P-1  1000Hz</a:t>
            </a:r>
          </a:p>
          <a:p>
            <a:r>
              <a:rPr lang="en-US" sz="3200" dirty="0">
                <a:latin typeface="+mj-lt"/>
              </a:rPr>
              <a:t>P-4  3x10</a:t>
            </a:r>
            <a:r>
              <a:rPr lang="en-US" sz="3200" baseline="30000" dirty="0">
                <a:latin typeface="+mj-lt"/>
              </a:rPr>
              <a:t>9 </a:t>
            </a:r>
            <a:r>
              <a:rPr lang="en-US" sz="3200" dirty="0">
                <a:latin typeface="+mj-lt"/>
              </a:rPr>
              <a:t>Hz= 3 GHz</a:t>
            </a:r>
          </a:p>
          <a:p>
            <a:r>
              <a:rPr lang="en-US" sz="3200" dirty="0">
                <a:latin typeface="+mj-lt"/>
              </a:rPr>
              <a:t>Multi-core processer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8879" y="4776662"/>
            <a:ext cx="415549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Power:</a:t>
            </a:r>
          </a:p>
          <a:p>
            <a:r>
              <a:rPr lang="en-US" sz="2800" dirty="0"/>
              <a:t>16 bits v/s 64bits processer</a:t>
            </a:r>
          </a:p>
        </p:txBody>
      </p:sp>
    </p:spTree>
    <p:extLst>
      <p:ext uri="{BB962C8B-B14F-4D97-AF65-F5344CB8AC3E}">
        <p14:creationId xmlns:p14="http://schemas.microsoft.com/office/powerpoint/2010/main" val="426054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382286"/>
            <a:ext cx="48298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Fastest I/o device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Flip-flop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Speed: 1ps =10</a:t>
            </a:r>
            <a:r>
              <a:rPr lang="en-US" sz="3600" b="1" baseline="30000" dirty="0"/>
              <a:t>-12 </a:t>
            </a:r>
            <a:r>
              <a:rPr lang="en-US" sz="3600" b="1" dirty="0"/>
              <a:t>sec.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16 bits to 64 bits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err="1"/>
              <a:t>Qty</a:t>
            </a:r>
            <a:r>
              <a:rPr lang="en-US" sz="3600" b="1" dirty="0"/>
              <a:t>: 24-32 registers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costly  </a:t>
            </a:r>
          </a:p>
          <a:p>
            <a:r>
              <a:rPr lang="en-US" sz="4400" b="1" dirty="0"/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1636" b="40435"/>
          <a:stretch/>
        </p:blipFill>
        <p:spPr bwMode="auto">
          <a:xfrm>
            <a:off x="7314156" y="990601"/>
            <a:ext cx="1678489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45617-738F-0CC0-1FC5-EABB59E841FD}"/>
              </a:ext>
            </a:extLst>
          </p:cNvPr>
          <p:cNvSpPr txBox="1"/>
          <p:nvPr/>
        </p:nvSpPr>
        <p:spPr>
          <a:xfrm>
            <a:off x="2286000" y="38100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Register</a:t>
            </a:r>
            <a:endParaRPr lang="en-US" sz="4400" b="1" dirty="0"/>
          </a:p>
        </p:txBody>
      </p:sp>
      <p:pic>
        <p:nvPicPr>
          <p:cNvPr id="1026" name="Picture 2" descr="Understanding Analog and Digital Signal: Definition,Types, Advantages and  Disadvantages - Quarktwin Electronic Parts">
            <a:extLst>
              <a:ext uri="{FF2B5EF4-FFF2-40B4-BE49-F238E27FC236}">
                <a16:creationId xmlns:a16="http://schemas.microsoft.com/office/drawing/2014/main" id="{010DA993-FCB7-2076-2A58-0FCE47D59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"/>
          <a:stretch>
            <a:fillRect/>
          </a:stretch>
        </p:blipFill>
        <p:spPr bwMode="auto">
          <a:xfrm>
            <a:off x="2896177" y="4176524"/>
            <a:ext cx="5943600" cy="259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02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9372" y="2009766"/>
            <a:ext cx="87160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Stores frequently used instructions and data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/>
              <a:t>2</a:t>
            </a:r>
            <a:r>
              <a:rPr lang="en-US" sz="3600" b="1" baseline="30000" dirty="0"/>
              <a:t>nd</a:t>
            </a:r>
            <a:r>
              <a:rPr lang="en-US" sz="3600" b="1" dirty="0"/>
              <a:t> Fastest I/o device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/>
              <a:t>Transistors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/>
              <a:t>Speed: 1ns =10</a:t>
            </a:r>
            <a:r>
              <a:rPr lang="en-US" sz="3600" b="1" baseline="30000" dirty="0"/>
              <a:t>-9 </a:t>
            </a:r>
            <a:r>
              <a:rPr lang="en-US" sz="3600" b="1" dirty="0"/>
              <a:t>sec.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/>
              <a:t>Size&gt;4MB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/>
              <a:t>costly  </a:t>
            </a:r>
          </a:p>
          <a:p>
            <a:r>
              <a:rPr lang="en-US" sz="4400" b="1" dirty="0"/>
              <a:t> </a:t>
            </a:r>
          </a:p>
        </p:txBody>
      </p:sp>
      <p:pic>
        <p:nvPicPr>
          <p:cNvPr id="1026" name="Picture 2" descr="Working of Cache Memory in Computer - Shiksha Online">
            <a:extLst>
              <a:ext uri="{FF2B5EF4-FFF2-40B4-BE49-F238E27FC236}">
                <a16:creationId xmlns:a16="http://schemas.microsoft.com/office/drawing/2014/main" id="{83A62522-16EA-7973-78C7-016115204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341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144946-F258-4589-BE58-B79BDE838995}"/>
              </a:ext>
            </a:extLst>
          </p:cNvPr>
          <p:cNvSpPr txBox="1"/>
          <p:nvPr/>
        </p:nvSpPr>
        <p:spPr>
          <a:xfrm>
            <a:off x="1600200" y="4572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Cache Memory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727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34673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RAM(</a:t>
            </a:r>
            <a:r>
              <a:rPr lang="en-US" sz="4000" b="1" dirty="0"/>
              <a:t>Random Access Memory</a:t>
            </a:r>
            <a:r>
              <a:rPr lang="en-US" sz="40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72" y="2009765"/>
            <a:ext cx="546239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Stores data temporary 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Fastest I/o device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capacitors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Speed: 800 MHz =10</a:t>
            </a:r>
            <a:r>
              <a:rPr lang="en-US" sz="3200" b="1" baseline="30000" dirty="0"/>
              <a:t>-9 </a:t>
            </a:r>
            <a:r>
              <a:rPr lang="en-US" sz="3200" b="1" dirty="0"/>
              <a:t>sec.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Size&gt;1GB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costly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 </a:t>
            </a:r>
          </a:p>
        </p:txBody>
      </p:sp>
      <p:sp>
        <p:nvSpPr>
          <p:cNvPr id="7" name="AutoShape 2" descr="How does 8GB of RAM work? - Quora"/>
          <p:cNvSpPr>
            <a:spLocks noChangeAspect="1" noChangeArrowheads="1"/>
          </p:cNvSpPr>
          <p:nvPr/>
        </p:nvSpPr>
        <p:spPr bwMode="auto">
          <a:xfrm>
            <a:off x="155575" y="7207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" r="19854" b="34611"/>
          <a:stretch/>
        </p:blipFill>
        <p:spPr bwMode="auto">
          <a:xfrm>
            <a:off x="5250860" y="1054616"/>
            <a:ext cx="3745432" cy="2445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6" descr="How to Check How Much RAM I Have | Windows 10 &amp;amp; 7 | Avast"/>
          <p:cNvSpPr>
            <a:spLocks noChangeAspect="1" noChangeArrowheads="1"/>
          </p:cNvSpPr>
          <p:nvPr/>
        </p:nvSpPr>
        <p:spPr bwMode="auto">
          <a:xfrm>
            <a:off x="307975" y="8731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1" r="19265" b="11391"/>
          <a:stretch/>
        </p:blipFill>
        <p:spPr bwMode="auto">
          <a:xfrm>
            <a:off x="5246849" y="4876800"/>
            <a:ext cx="3337078" cy="1662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48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9372" y="2009766"/>
            <a:ext cx="84874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Stores permanent program into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Fastest I/o device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Speed: 5- 50 </a:t>
            </a:r>
            <a:r>
              <a:rPr lang="en-US" sz="3200" b="1" dirty="0" err="1"/>
              <a:t>mHz</a:t>
            </a: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Size= 256MB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costly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EEPROM re-programmed for certain number of times only</a:t>
            </a:r>
          </a:p>
        </p:txBody>
      </p:sp>
      <p:sp>
        <p:nvSpPr>
          <p:cNvPr id="7" name="AutoShape 2" descr="How does 8GB of RAM work? - Quora"/>
          <p:cNvSpPr>
            <a:spLocks noChangeAspect="1" noChangeArrowheads="1"/>
          </p:cNvSpPr>
          <p:nvPr/>
        </p:nvSpPr>
        <p:spPr bwMode="auto">
          <a:xfrm>
            <a:off x="155575" y="7207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 descr="What is ROM | Read-Only Memory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949345"/>
            <a:ext cx="2959100" cy="106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C4D41C-F85F-5171-8D5B-5A4F7F6F274D}"/>
              </a:ext>
            </a:extLst>
          </p:cNvPr>
          <p:cNvSpPr txBox="1"/>
          <p:nvPr/>
        </p:nvSpPr>
        <p:spPr>
          <a:xfrm>
            <a:off x="1752600" y="74394"/>
            <a:ext cx="6055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ROM(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Read-Only Memory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688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9372" y="2009765"/>
            <a:ext cx="67348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Stores permanent data in the form of magnetic/ de-magnetic (1/0).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slower I/o device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Magnetic material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Size&gt;1TB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Segments :10</a:t>
            </a:r>
            <a:r>
              <a:rPr lang="en-US" sz="2800" b="1" baseline="30000" dirty="0"/>
              <a:t>10 </a:t>
            </a:r>
            <a:r>
              <a:rPr lang="en-US" sz="2800" b="1" dirty="0"/>
              <a:t>X 512 byte FOR 1TB in 64 bits Operating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sp>
        <p:nvSpPr>
          <p:cNvPr id="7" name="AutoShape 2" descr="How does 8GB of RAM work? - Quora"/>
          <p:cNvSpPr>
            <a:spLocks noChangeAspect="1" noChangeArrowheads="1"/>
          </p:cNvSpPr>
          <p:nvPr/>
        </p:nvSpPr>
        <p:spPr bwMode="auto">
          <a:xfrm>
            <a:off x="155575" y="7207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252955"/>
            <a:ext cx="2286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101A64-CEB5-ADD7-A5A9-3FB2818CAE4D}"/>
              </a:ext>
            </a:extLst>
          </p:cNvPr>
          <p:cNvSpPr txBox="1"/>
          <p:nvPr/>
        </p:nvSpPr>
        <p:spPr>
          <a:xfrm>
            <a:off x="4038600" y="98457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HDD</a:t>
            </a:r>
          </a:p>
        </p:txBody>
      </p:sp>
    </p:spTree>
    <p:extLst>
      <p:ext uri="{BB962C8B-B14F-4D97-AF65-F5344CB8AC3E}">
        <p14:creationId xmlns:p14="http://schemas.microsoft.com/office/powerpoint/2010/main" val="238612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 descr="How does 8GB of RAM work? - Quora"/>
          <p:cNvSpPr>
            <a:spLocks noChangeAspect="1" noChangeArrowheads="1"/>
          </p:cNvSpPr>
          <p:nvPr/>
        </p:nvSpPr>
        <p:spPr bwMode="auto">
          <a:xfrm>
            <a:off x="155575" y="720725"/>
            <a:ext cx="298450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66700"/>
            <a:ext cx="63246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101A64-CEB5-ADD7-A5A9-3FB2818CAE4D}"/>
              </a:ext>
            </a:extLst>
          </p:cNvPr>
          <p:cNvSpPr txBox="1"/>
          <p:nvPr/>
        </p:nvSpPr>
        <p:spPr>
          <a:xfrm>
            <a:off x="4038600" y="98457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HDD</a:t>
            </a:r>
          </a:p>
        </p:txBody>
      </p:sp>
    </p:spTree>
    <p:extLst>
      <p:ext uri="{BB962C8B-B14F-4D97-AF65-F5344CB8AC3E}">
        <p14:creationId xmlns:p14="http://schemas.microsoft.com/office/powerpoint/2010/main" val="348999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https://images.openai.com/static-rsc-4/djUvWu2mldR9DxqQ2M78mdNJSAomvEHCdU7-OeyPJ_n6GsejYlaaiPNrvwsoRHfbx6ul9mEWCnOJwm91zlP-PQO0gacz9n_55CDRE-Mp9pHw3CzUAH5hgey0dBpD8jZWy49uXK9EeKITuDpNlzkSqzmQK8YUz0r_-1UVOH21zL25fFs2ceYBAiQFq_Q3HSop?purpose=fullsize">
            <a:extLst>
              <a:ext uri="{FF2B5EF4-FFF2-40B4-BE49-F238E27FC236}">
                <a16:creationId xmlns:a16="http://schemas.microsoft.com/office/drawing/2014/main" id="{A918FA74-319C-A815-CE22-D486210BD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57" y="228600"/>
            <a:ext cx="3583036" cy="392661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B438D-D780-7AA4-3723-4C0AB4B0D285}"/>
              </a:ext>
            </a:extLst>
          </p:cNvPr>
          <p:cNvSpPr txBox="1"/>
          <p:nvPr/>
        </p:nvSpPr>
        <p:spPr>
          <a:xfrm>
            <a:off x="4421221" y="762000"/>
            <a:ext cx="4094129" cy="541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</a:rPr>
              <a:t>Solid-state drive (SSD) 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IN" sz="2800" dirty="0"/>
              <a:t>Data is stored as </a:t>
            </a:r>
            <a:r>
              <a:rPr lang="en-IN" sz="2800" b="1" dirty="0"/>
              <a:t>electrical charges</a:t>
            </a:r>
            <a:r>
              <a:rPr lang="en-IN" sz="2800" dirty="0"/>
              <a:t> inside </a:t>
            </a:r>
            <a:r>
              <a:rPr lang="en-IN" sz="2800" b="1" dirty="0"/>
              <a:t>floating-gate transistors</a:t>
            </a:r>
            <a:r>
              <a:rPr lang="en-IN" sz="2800" dirty="0"/>
              <a:t>.</a:t>
            </a:r>
            <a:endParaRPr lang="en-US" sz="28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28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800" b="1" dirty="0"/>
              <a:t>NAND Flash Memory</a:t>
            </a:r>
            <a:r>
              <a:rPr lang="en-US" sz="2800" dirty="0"/>
              <a:t> (electronic memory cells).</a:t>
            </a:r>
            <a:endParaRPr lang="en-US" sz="2800" b="1" dirty="0"/>
          </a:p>
        </p:txBody>
      </p:sp>
      <p:pic>
        <p:nvPicPr>
          <p:cNvPr id="3" name="Picture 2" descr="https://images.openai.com/static-rsc-4/CySkhl_e-y3gEniu5uCMFpDXYlsKP333iIoP89R046p6SSu5YZ3cm_st7rARm0yU7-8Etxj9Oyga5laDm2Rl7_uwSZhtAN9BosMS-RdTqspf03xP_oCm5T9rNyEVxAM9v5IYZV-k2_tPt2_VEhotkJ8_pPESt28EBwi7hQXN2JBhzF3bxR2kE6_H5E-io5Rg?purpose=fullsize">
            <a:extLst>
              <a:ext uri="{FF2B5EF4-FFF2-40B4-BE49-F238E27FC236}">
                <a16:creationId xmlns:a16="http://schemas.microsoft.com/office/drawing/2014/main" id="{50296EC7-13C5-9E1C-C64F-B8F85ABE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367" y="4143182"/>
            <a:ext cx="2525564" cy="189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7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7578</TotalTime>
  <Words>266</Words>
  <Application>Microsoft Office PowerPoint</Application>
  <PresentationFormat>On-screen Show (4:3)</PresentationFormat>
  <Paragraphs>59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Palatino</vt:lpstr>
      <vt:lpstr>Office Theme</vt:lpstr>
      <vt:lpstr>PowerPoint Presentation</vt:lpstr>
      <vt:lpstr>Syllabus</vt:lpstr>
      <vt:lpstr> TEXTBOOKS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190</cp:revision>
  <dcterms:created xsi:type="dcterms:W3CDTF">2017-07-11T09:12:16Z</dcterms:created>
  <dcterms:modified xsi:type="dcterms:W3CDTF">2026-07-27T05:56:30Z</dcterms:modified>
</cp:coreProperties>
</file>