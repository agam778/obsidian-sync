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9"/>
  </p:notesMasterIdLst>
  <p:handoutMasterIdLst>
    <p:handoutMasterId r:id="rId10"/>
  </p:handoutMasterIdLst>
  <p:sldIdLst>
    <p:sldId id="295" r:id="rId2"/>
    <p:sldId id="296" r:id="rId3"/>
    <p:sldId id="297" r:id="rId4"/>
    <p:sldId id="298" r:id="rId5"/>
    <p:sldId id="299" r:id="rId6"/>
    <p:sldId id="301" r:id="rId7"/>
    <p:sldId id="300" r:id="rId8"/>
  </p:sldIdLst>
  <p:sldSz cx="9144000" cy="6858000" type="screen4x3"/>
  <p:notesSz cx="6954838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918" autoAdjust="0"/>
  </p:normalViewPr>
  <p:slideViewPr>
    <p:cSldViewPr>
      <p:cViewPr>
        <p:scale>
          <a:sx n="75" d="100"/>
          <a:sy n="75" d="100"/>
        </p:scale>
        <p:origin x="948" y="-3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40175" y="0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67D29-0E54-4FC2-B286-9BE94D2829B8}" type="datetimeFigureOut">
              <a:rPr lang="en-US" smtClean="0"/>
              <a:pPr/>
              <a:t>9/27/2024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40175" y="8842375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69E78D-3266-4CC1-916B-2600E39DD5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C4BA4553-079D-4D20-B90C-B0C298FDB8E7}" type="datetimeFigureOut">
              <a:rPr lang="en-US" smtClean="0"/>
              <a:pPr/>
              <a:t>9/27/2024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8500"/>
            <a:ext cx="4652962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21823"/>
            <a:ext cx="5563870" cy="4189095"/>
          </a:xfrm>
          <a:prstGeom prst="rect">
            <a:avLst/>
          </a:prstGeom>
        </p:spPr>
        <p:txBody>
          <a:bodyPr vert="horz" lIns="92930" tIns="46465" rIns="92930" bIns="4646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29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842029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ACEE32E0-70ED-475D-B6A3-4A43F6DB1D4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9/27/2024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9455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9/27/2024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1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9/27/2024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7808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9/27/2024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636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9/27/2024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817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9/27/2024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426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9/27/2024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181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27748E43-AAF6-4998-B241-677BD4572ECB}" type="datetimeFigureOut">
              <a:rPr lang="en-US" smtClean="0"/>
              <a:pPr/>
              <a:t>9/27/2024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724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9/27/2024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885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9/27/2024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165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9/27/2024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438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7748E43-AAF6-4998-B241-677BD4572ECB}" type="datetimeFigureOut">
              <a:rPr lang="en-US" smtClean="0"/>
              <a:pPr/>
              <a:t>9/27/2024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887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228600" y="457200"/>
            <a:ext cx="8686800" cy="4610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600" b="1" dirty="0"/>
              <a:t>Problem Solving Using Computers</a:t>
            </a:r>
          </a:p>
          <a:p>
            <a:pPr algn="ctr"/>
            <a:r>
              <a:rPr lang="en-IN" sz="4000" b="1" dirty="0">
                <a:solidFill>
                  <a:srgbClr val="C00000"/>
                </a:solidFill>
              </a:rPr>
              <a:t>Flow chart</a:t>
            </a:r>
          </a:p>
          <a:p>
            <a:pPr lvl="0" algn="ctr">
              <a:spcBef>
                <a:spcPct val="0"/>
              </a:spcBef>
              <a:defRPr/>
            </a:pPr>
            <a:endParaRPr lang="en-IN" sz="3600" b="1" dirty="0">
              <a:latin typeface="Palatino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lvl="0" algn="ctr">
              <a:spcBef>
                <a:spcPct val="0"/>
              </a:spcBef>
              <a:defRPr/>
            </a:pPr>
            <a:endParaRPr lang="en-IN" sz="3600" b="1" dirty="0">
              <a:effectLst/>
              <a:latin typeface="Palatino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lvl="0" algn="ctr">
              <a:spcBef>
                <a:spcPct val="0"/>
              </a:spcBef>
              <a:defRPr/>
            </a:pPr>
            <a:endParaRPr lang="en-IN" sz="3600" b="1" dirty="0">
              <a:effectLst/>
              <a:latin typeface="Palatino"/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E579C66-68DC-4CE8-3562-1971E60D8CBB}"/>
              </a:ext>
            </a:extLst>
          </p:cNvPr>
          <p:cNvSpPr txBox="1"/>
          <p:nvPr/>
        </p:nvSpPr>
        <p:spPr>
          <a:xfrm>
            <a:off x="381000" y="457200"/>
            <a:ext cx="838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Flowchart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is a graphical representation of a program.</a:t>
            </a:r>
            <a:endParaRPr lang="en-IN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2B016D-51D9-BA4A-2206-C17452C0C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6675"/>
            <a:ext cx="9144000" cy="276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158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EB7A9C-D7C2-4279-F942-E1A6D8E88CF5}"/>
              </a:ext>
            </a:extLst>
          </p:cNvPr>
          <p:cNvSpPr txBox="1"/>
          <p:nvPr/>
        </p:nvSpPr>
        <p:spPr>
          <a:xfrm>
            <a:off x="990600" y="533400"/>
            <a:ext cx="7620000" cy="4755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Advantages of flow chart in software:</a:t>
            </a:r>
          </a:p>
          <a:p>
            <a:endParaRPr lang="en-IN" sz="3200" b="1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/>
              <a:t>Simplifies Communication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/>
              <a:t>Improves Workflow Design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/>
              <a:t>Facilitates Logical Thinking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/>
              <a:t>Clear Documentation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/>
              <a:t>Saves Time:</a:t>
            </a:r>
          </a:p>
        </p:txBody>
      </p:sp>
    </p:spTree>
    <p:extLst>
      <p:ext uri="{BB962C8B-B14F-4D97-AF65-F5344CB8AC3E}">
        <p14:creationId xmlns:p14="http://schemas.microsoft.com/office/powerpoint/2010/main" val="1869408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asic flowchart symbols">
            <a:extLst>
              <a:ext uri="{FF2B5EF4-FFF2-40B4-BE49-F238E27FC236}">
                <a16:creationId xmlns:a16="http://schemas.microsoft.com/office/drawing/2014/main" id="{FE7C92C2-5218-47C2-4094-74A3E4BB9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907" y="609600"/>
            <a:ext cx="8694186" cy="563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4747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C8A1429-8AB9-505D-D214-367053D3CCC4}"/>
              </a:ext>
            </a:extLst>
          </p:cNvPr>
          <p:cNvGrpSpPr/>
          <p:nvPr/>
        </p:nvGrpSpPr>
        <p:grpSpPr>
          <a:xfrm>
            <a:off x="4648200" y="228600"/>
            <a:ext cx="4572000" cy="2017355"/>
            <a:chOff x="304800" y="533400"/>
            <a:chExt cx="4572000" cy="2017355"/>
          </a:xfrm>
        </p:grpSpPr>
        <p:pic>
          <p:nvPicPr>
            <p:cNvPr id="2050" name="Picture 2" descr="Connector Symbol">
              <a:extLst>
                <a:ext uri="{FF2B5EF4-FFF2-40B4-BE49-F238E27FC236}">
                  <a16:creationId xmlns:a16="http://schemas.microsoft.com/office/drawing/2014/main" id="{40D40070-E45E-F933-2C52-B57607399A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6800" y="533400"/>
              <a:ext cx="2667000" cy="1581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A1E5642-9BC7-8370-EB16-DF018701B24C}"/>
                </a:ext>
              </a:extLst>
            </p:cNvPr>
            <p:cNvSpPr txBox="1"/>
            <p:nvPr/>
          </p:nvSpPr>
          <p:spPr>
            <a:xfrm>
              <a:off x="304800" y="2150645"/>
              <a:ext cx="4572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2000" b="1" i="0" dirty="0">
                  <a:solidFill>
                    <a:srgbClr val="444444"/>
                  </a:solidFill>
                  <a:effectLst/>
                  <a:latin typeface="IBM Plex Sans" panose="020B0503050203000203" pitchFamily="34" charset="0"/>
                </a:rPr>
                <a:t>Connector Symbol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9209F9B-4E74-5D0D-E468-FFA36ED63063}"/>
              </a:ext>
            </a:extLst>
          </p:cNvPr>
          <p:cNvGrpSpPr/>
          <p:nvPr/>
        </p:nvGrpSpPr>
        <p:grpSpPr>
          <a:xfrm>
            <a:off x="990600" y="3426994"/>
            <a:ext cx="2671004" cy="1765816"/>
            <a:chOff x="529396" y="2299216"/>
            <a:chExt cx="2671004" cy="1765816"/>
          </a:xfrm>
        </p:grpSpPr>
        <p:pic>
          <p:nvPicPr>
            <p:cNvPr id="2052" name="Picture 4" descr="Subroutine Symbol">
              <a:extLst>
                <a:ext uri="{FF2B5EF4-FFF2-40B4-BE49-F238E27FC236}">
                  <a16:creationId xmlns:a16="http://schemas.microsoft.com/office/drawing/2014/main" id="{5E24DD7A-D5F1-F144-DC16-51DB22F07D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400" y="2299216"/>
              <a:ext cx="2667000" cy="1581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53B491A-BE96-95B1-98D0-9EE535A92E51}"/>
                </a:ext>
              </a:extLst>
            </p:cNvPr>
            <p:cNvSpPr txBox="1"/>
            <p:nvPr/>
          </p:nvSpPr>
          <p:spPr>
            <a:xfrm>
              <a:off x="529396" y="3695700"/>
              <a:ext cx="251860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b="1" i="0" dirty="0">
                  <a:solidFill>
                    <a:srgbClr val="444444"/>
                  </a:solidFill>
                  <a:effectLst/>
                  <a:latin typeface="IBM Plex Sans" panose="020B0503050203000203" pitchFamily="34" charset="0"/>
                </a:rPr>
                <a:t>Subroutine Symbol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BC9AA98-E18F-51AB-47FD-D64B18A2E96A}"/>
              </a:ext>
            </a:extLst>
          </p:cNvPr>
          <p:cNvGrpSpPr/>
          <p:nvPr/>
        </p:nvGrpSpPr>
        <p:grpSpPr>
          <a:xfrm>
            <a:off x="990600" y="300789"/>
            <a:ext cx="2667000" cy="1765816"/>
            <a:chOff x="381000" y="228600"/>
            <a:chExt cx="2667000" cy="176581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B964C0A-7EAB-C23B-77A0-BD6F118A3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1000" y="228600"/>
              <a:ext cx="2667000" cy="158115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2279B4B-87D7-6748-B68E-175BD0230E36}"/>
                </a:ext>
              </a:extLst>
            </p:cNvPr>
            <p:cNvSpPr txBox="1"/>
            <p:nvPr/>
          </p:nvSpPr>
          <p:spPr>
            <a:xfrm>
              <a:off x="908384" y="1625084"/>
              <a:ext cx="161223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b="1" i="0" dirty="0">
                  <a:solidFill>
                    <a:srgbClr val="444444"/>
                  </a:solidFill>
                  <a:effectLst/>
                  <a:latin typeface="IBM Plex Sans" panose="020B0503050203000203" pitchFamily="34" charset="0"/>
                </a:rPr>
                <a:t>Loop Symbol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CE0712F-CE30-51F9-3B43-CD1667449709}"/>
              </a:ext>
            </a:extLst>
          </p:cNvPr>
          <p:cNvGrpSpPr/>
          <p:nvPr/>
        </p:nvGrpSpPr>
        <p:grpSpPr>
          <a:xfrm>
            <a:off x="5600700" y="3144708"/>
            <a:ext cx="2667000" cy="2145721"/>
            <a:chOff x="4991100" y="2365571"/>
            <a:chExt cx="2667000" cy="2145721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F4036DD-EF84-F7EF-F1FD-12AAE0DF96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91100" y="2365571"/>
              <a:ext cx="2667000" cy="19050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868DDE1-7086-A828-0FC1-93836F2C13EB}"/>
                </a:ext>
              </a:extLst>
            </p:cNvPr>
            <p:cNvSpPr txBox="1"/>
            <p:nvPr/>
          </p:nvSpPr>
          <p:spPr>
            <a:xfrm>
              <a:off x="5317960" y="4141960"/>
              <a:ext cx="22258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b="1" i="0" dirty="0">
                  <a:solidFill>
                    <a:srgbClr val="444444"/>
                  </a:solidFill>
                  <a:effectLst/>
                  <a:latin typeface="IBM Plex Sans" panose="020B0503050203000203" pitchFamily="34" charset="0"/>
                </a:rPr>
                <a:t>Database Symbol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6920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28F84F-6A90-A0EB-5EC1-226150FCFAA3}"/>
              </a:ext>
            </a:extLst>
          </p:cNvPr>
          <p:cNvSpPr txBox="1"/>
          <p:nvPr/>
        </p:nvSpPr>
        <p:spPr>
          <a:xfrm>
            <a:off x="304800" y="228600"/>
            <a:ext cx="8305800" cy="5865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While developing a flowchart :</a:t>
            </a:r>
          </a:p>
          <a:p>
            <a:pPr algn="l"/>
            <a:endParaRPr lang="en-IN" sz="280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Flowchart can have only </a:t>
            </a:r>
            <a:r>
              <a:rPr lang="en-IN" sz="2400" b="1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one start and one stop symbol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On-page connectors</a:t>
            </a:r>
            <a:r>
              <a:rPr lang="en-IN" sz="240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are referenced using </a:t>
            </a:r>
            <a:r>
              <a:rPr lang="en-IN" sz="240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numbers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Off-page connectors</a:t>
            </a:r>
            <a:r>
              <a:rPr lang="en-IN" sz="240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are referenced using </a:t>
            </a:r>
            <a:r>
              <a:rPr lang="en-IN" sz="240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alphabets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General flow of processes is </a:t>
            </a:r>
            <a:r>
              <a:rPr lang="en-IN" sz="24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top to bottom </a:t>
            </a:r>
            <a:r>
              <a:rPr lang="en-IN" sz="240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or </a:t>
            </a:r>
            <a:r>
              <a:rPr lang="en-IN" sz="24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left to right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Arrows </a:t>
            </a:r>
            <a:r>
              <a:rPr lang="en-IN" sz="24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should not cross </a:t>
            </a:r>
            <a:r>
              <a:rPr lang="en-IN" sz="240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each other</a:t>
            </a:r>
          </a:p>
        </p:txBody>
      </p:sp>
    </p:spTree>
    <p:extLst>
      <p:ext uri="{BB962C8B-B14F-4D97-AF65-F5344CB8AC3E}">
        <p14:creationId xmlns:p14="http://schemas.microsoft.com/office/powerpoint/2010/main" val="1787259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1E0CFC-6619-5900-68AA-602D55EC6F04}"/>
              </a:ext>
            </a:extLst>
          </p:cNvPr>
          <p:cNvSpPr txBox="1"/>
          <p:nvPr/>
        </p:nvSpPr>
        <p:spPr>
          <a:xfrm>
            <a:off x="914400" y="457200"/>
            <a:ext cx="8001000" cy="3709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3200" b="1" dirty="0"/>
              <a:t>Find the sum of two Number?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3200" b="1" dirty="0"/>
              <a:t>Find the Maximum between two Number?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3200" b="1" dirty="0"/>
              <a:t>Display counting Table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3200" b="1" dirty="0"/>
              <a:t>Login your account</a:t>
            </a:r>
          </a:p>
          <a:p>
            <a:pPr>
              <a:lnSpc>
                <a:spcPct val="150000"/>
              </a:lnSpc>
            </a:pP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90237271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7737</TotalTime>
  <Words>108</Words>
  <Application>Microsoft Office PowerPoint</Application>
  <PresentationFormat>On-screen Show (4:3)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IBM Plex Sans</vt:lpstr>
      <vt:lpstr>Palatino</vt:lpstr>
      <vt:lpstr>Verdana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shubhangi</dc:creator>
  <cp:lastModifiedBy>Arvind Kumar Mehta [MU - Jaipur]</cp:lastModifiedBy>
  <cp:revision>239</cp:revision>
  <dcterms:created xsi:type="dcterms:W3CDTF">2017-07-11T09:12:16Z</dcterms:created>
  <dcterms:modified xsi:type="dcterms:W3CDTF">2024-09-27T04:07:29Z</dcterms:modified>
</cp:coreProperties>
</file>