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  <p:sldMasterId id="2147483700" r:id="rId5"/>
  </p:sldMasterIdLst>
  <p:notesMasterIdLst>
    <p:notesMasterId r:id="rId26"/>
  </p:notesMasterIdLst>
  <p:sldIdLst>
    <p:sldId id="257" r:id="rId6"/>
    <p:sldId id="262" r:id="rId7"/>
    <p:sldId id="263" r:id="rId8"/>
    <p:sldId id="603" r:id="rId9"/>
    <p:sldId id="672" r:id="rId10"/>
    <p:sldId id="675" r:id="rId11"/>
    <p:sldId id="659" r:id="rId12"/>
    <p:sldId id="660" r:id="rId13"/>
    <p:sldId id="619" r:id="rId14"/>
    <p:sldId id="658" r:id="rId15"/>
    <p:sldId id="620" r:id="rId16"/>
    <p:sldId id="678" r:id="rId17"/>
    <p:sldId id="679" r:id="rId18"/>
    <p:sldId id="680" r:id="rId19"/>
    <p:sldId id="271" r:id="rId20"/>
    <p:sldId id="682" r:id="rId21"/>
    <p:sldId id="268" r:id="rId22"/>
    <p:sldId id="677" r:id="rId23"/>
    <p:sldId id="676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4E93FD-EAD7-4F7B-8C0C-A21BF215D6AB}" v="10" dt="2024-10-01T04:36:12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869" autoAdjust="0"/>
  </p:normalViewPr>
  <p:slideViewPr>
    <p:cSldViewPr snapToGrid="0">
      <p:cViewPr varScale="1">
        <p:scale>
          <a:sx n="54" d="100"/>
          <a:sy n="54" d="100"/>
        </p:scale>
        <p:origin x="156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C44E93FD-EAD7-4F7B-8C0C-A21BF215D6AB}"/>
    <pc:docChg chg="delSld modSld sldOrd">
      <pc:chgData name="Arvind Kumar Mehta [MU - Jaipur]" userId="05c91892-566a-4226-a371-aa1d586f0be7" providerId="ADAL" clId="{C44E93FD-EAD7-4F7B-8C0C-A21BF215D6AB}" dt="2024-10-01T04:37:26.378" v="19" actId="47"/>
      <pc:docMkLst>
        <pc:docMk/>
      </pc:docMkLst>
      <pc:sldChg chg="ord">
        <pc:chgData name="Arvind Kumar Mehta [MU - Jaipur]" userId="05c91892-566a-4226-a371-aa1d586f0be7" providerId="ADAL" clId="{C44E93FD-EAD7-4F7B-8C0C-A21BF215D6AB}" dt="2024-10-01T04:33:47.313" v="1"/>
        <pc:sldMkLst>
          <pc:docMk/>
          <pc:sldMk cId="496145577" sldId="262"/>
        </pc:sldMkLst>
      </pc:sldChg>
      <pc:sldChg chg="modSp">
        <pc:chgData name="Arvind Kumar Mehta [MU - Jaipur]" userId="05c91892-566a-4226-a371-aa1d586f0be7" providerId="ADAL" clId="{C44E93FD-EAD7-4F7B-8C0C-A21BF215D6AB}" dt="2024-10-01T04:34:02.850" v="3" actId="1076"/>
        <pc:sldMkLst>
          <pc:docMk/>
          <pc:sldMk cId="2439667360" sldId="263"/>
        </pc:sldMkLst>
        <pc:picChg chg="mod">
          <ac:chgData name="Arvind Kumar Mehta [MU - Jaipur]" userId="05c91892-566a-4226-a371-aa1d586f0be7" providerId="ADAL" clId="{C44E93FD-EAD7-4F7B-8C0C-A21BF215D6AB}" dt="2024-10-01T04:34:02.850" v="3" actId="1076"/>
          <ac:picMkLst>
            <pc:docMk/>
            <pc:sldMk cId="2439667360" sldId="263"/>
            <ac:picMk id="1026" creationId="{00000000-0000-0000-0000-000000000000}"/>
          </ac:picMkLst>
        </pc:picChg>
      </pc:sldChg>
      <pc:sldChg chg="delSp modSp mod">
        <pc:chgData name="Arvind Kumar Mehta [MU - Jaipur]" userId="05c91892-566a-4226-a371-aa1d586f0be7" providerId="ADAL" clId="{C44E93FD-EAD7-4F7B-8C0C-A21BF215D6AB}" dt="2024-10-01T04:34:38.624" v="6" actId="478"/>
        <pc:sldMkLst>
          <pc:docMk/>
          <pc:sldMk cId="0" sldId="603"/>
        </pc:sldMkLst>
        <pc:spChg chg="del">
          <ac:chgData name="Arvind Kumar Mehta [MU - Jaipur]" userId="05c91892-566a-4226-a371-aa1d586f0be7" providerId="ADAL" clId="{C44E93FD-EAD7-4F7B-8C0C-A21BF215D6AB}" dt="2024-10-01T04:34:38.624" v="6" actId="478"/>
          <ac:spMkLst>
            <pc:docMk/>
            <pc:sldMk cId="0" sldId="603"/>
            <ac:spMk id="34824" creationId="{67C63E27-F4C3-43C3-BE51-34D631D69B09}"/>
          </ac:spMkLst>
        </pc:spChg>
        <pc:spChg chg="mod">
          <ac:chgData name="Arvind Kumar Mehta [MU - Jaipur]" userId="05c91892-566a-4226-a371-aa1d586f0be7" providerId="ADAL" clId="{C44E93FD-EAD7-4F7B-8C0C-A21BF215D6AB}" dt="2024-10-01T04:34:31.900" v="4" actId="6549"/>
          <ac:spMkLst>
            <pc:docMk/>
            <pc:sldMk cId="0" sldId="603"/>
            <ac:spMk id="505861" creationId="{49AA8932-733F-4D41-8D0C-C2FB73311E49}"/>
          </ac:spMkLst>
        </pc:spChg>
        <pc:spChg chg="del">
          <ac:chgData name="Arvind Kumar Mehta [MU - Jaipur]" userId="05c91892-566a-4226-a371-aa1d586f0be7" providerId="ADAL" clId="{C44E93FD-EAD7-4F7B-8C0C-A21BF215D6AB}" dt="2024-10-01T04:34:35.455" v="5" actId="478"/>
          <ac:spMkLst>
            <pc:docMk/>
            <pc:sldMk cId="0" sldId="603"/>
            <ac:spMk id="505863" creationId="{6EA47FEB-EAE4-4CFA-BE85-0548C56DC877}"/>
          </ac:spMkLst>
        </pc:spChg>
      </pc:sldChg>
      <pc:sldChg chg="modSp">
        <pc:chgData name="Arvind Kumar Mehta [MU - Jaipur]" userId="05c91892-566a-4226-a371-aa1d586f0be7" providerId="ADAL" clId="{C44E93FD-EAD7-4F7B-8C0C-A21BF215D6AB}" dt="2024-10-01T04:36:12.442" v="12" actId="732"/>
        <pc:sldMkLst>
          <pc:docMk/>
          <pc:sldMk cId="0" sldId="619"/>
        </pc:sldMkLst>
        <pc:picChg chg="mod">
          <ac:chgData name="Arvind Kumar Mehta [MU - Jaipur]" userId="05c91892-566a-4226-a371-aa1d586f0be7" providerId="ADAL" clId="{C44E93FD-EAD7-4F7B-8C0C-A21BF215D6AB}" dt="2024-10-01T04:36:12.442" v="12" actId="732"/>
          <ac:picMkLst>
            <pc:docMk/>
            <pc:sldMk cId="0" sldId="619"/>
            <ac:picMk id="39943" creationId="{AE548152-5813-4A03-B812-AD003038C7D1}"/>
          </ac:picMkLst>
        </pc:picChg>
      </pc:sldChg>
      <pc:sldChg chg="del">
        <pc:chgData name="Arvind Kumar Mehta [MU - Jaipur]" userId="05c91892-566a-4226-a371-aa1d586f0be7" providerId="ADAL" clId="{C44E93FD-EAD7-4F7B-8C0C-A21BF215D6AB}" dt="2024-10-01T04:37:04.824" v="18" actId="47"/>
        <pc:sldMkLst>
          <pc:docMk/>
          <pc:sldMk cId="0" sldId="642"/>
        </pc:sldMkLst>
      </pc:sldChg>
      <pc:sldChg chg="ord">
        <pc:chgData name="Arvind Kumar Mehta [MU - Jaipur]" userId="05c91892-566a-4226-a371-aa1d586f0be7" providerId="ADAL" clId="{C44E93FD-EAD7-4F7B-8C0C-A21BF215D6AB}" dt="2024-10-01T04:36:42.017" v="16"/>
        <pc:sldMkLst>
          <pc:docMk/>
          <pc:sldMk cId="1165719610" sldId="658"/>
        </pc:sldMkLst>
      </pc:sldChg>
      <pc:sldChg chg="del">
        <pc:chgData name="Arvind Kumar Mehta [MU - Jaipur]" userId="05c91892-566a-4226-a371-aa1d586f0be7" providerId="ADAL" clId="{C44E93FD-EAD7-4F7B-8C0C-A21BF215D6AB}" dt="2024-10-01T04:37:02.778" v="17" actId="47"/>
        <pc:sldMkLst>
          <pc:docMk/>
          <pc:sldMk cId="3923897786" sldId="676"/>
        </pc:sldMkLst>
      </pc:sldChg>
      <pc:sldChg chg="del">
        <pc:chgData name="Arvind Kumar Mehta [MU - Jaipur]" userId="05c91892-566a-4226-a371-aa1d586f0be7" providerId="ADAL" clId="{C44E93FD-EAD7-4F7B-8C0C-A21BF215D6AB}" dt="2024-10-01T04:37:26.378" v="19" actId="47"/>
        <pc:sldMkLst>
          <pc:docMk/>
          <pc:sldMk cId="3931928774" sldId="6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098C13-0F9F-4139-8DC1-21B371BA03FC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188971-D7E5-4C87-8FCE-331DC81BD44D}">
      <dgm:prSet/>
      <dgm:spPr/>
      <dgm:t>
        <a:bodyPr/>
        <a:lstStyle/>
        <a:p>
          <a:r>
            <a:rPr lang="en-US" b="1"/>
            <a:t>These are some reserved words in C which have predefined meaning to compiler called keywords. </a:t>
          </a:r>
          <a:endParaRPr lang="en-US"/>
        </a:p>
      </dgm:t>
    </dgm:pt>
    <dgm:pt modelId="{53426E84-0213-441A-803D-87A50E3DC151}" type="parTrans" cxnId="{E30C3BC7-0235-422A-A9AE-2B3C664CBD8A}">
      <dgm:prSet/>
      <dgm:spPr/>
      <dgm:t>
        <a:bodyPr/>
        <a:lstStyle/>
        <a:p>
          <a:endParaRPr lang="en-US"/>
        </a:p>
      </dgm:t>
    </dgm:pt>
    <dgm:pt modelId="{A7214DAB-2DC6-4281-A44D-87A3C0A8F577}" type="sibTrans" cxnId="{E30C3BC7-0235-422A-A9AE-2B3C664CBD8A}">
      <dgm:prSet/>
      <dgm:spPr/>
      <dgm:t>
        <a:bodyPr/>
        <a:lstStyle/>
        <a:p>
          <a:endParaRPr lang="en-US"/>
        </a:p>
      </dgm:t>
    </dgm:pt>
    <dgm:pt modelId="{36D4A236-970C-438D-96C5-1CAAE8E5D5C4}">
      <dgm:prSet/>
      <dgm:spPr/>
      <dgm:t>
        <a:bodyPr/>
        <a:lstStyle/>
        <a:p>
          <a:r>
            <a:rPr lang="en-US" b="1"/>
            <a:t>Keywords are not to be used as variable and constant names. </a:t>
          </a:r>
          <a:endParaRPr lang="en-US"/>
        </a:p>
      </dgm:t>
    </dgm:pt>
    <dgm:pt modelId="{8FEE3D2F-19D0-482F-8D6F-8528DE6A0A54}" type="parTrans" cxnId="{AA808241-F8AA-4DDC-A695-1A848521FFFE}">
      <dgm:prSet/>
      <dgm:spPr/>
      <dgm:t>
        <a:bodyPr/>
        <a:lstStyle/>
        <a:p>
          <a:endParaRPr lang="en-US"/>
        </a:p>
      </dgm:t>
    </dgm:pt>
    <dgm:pt modelId="{AABD0141-50FB-4BB0-9465-C641DF0BAF80}" type="sibTrans" cxnId="{AA808241-F8AA-4DDC-A695-1A848521FFFE}">
      <dgm:prSet/>
      <dgm:spPr/>
      <dgm:t>
        <a:bodyPr/>
        <a:lstStyle/>
        <a:p>
          <a:endParaRPr lang="en-US"/>
        </a:p>
      </dgm:t>
    </dgm:pt>
    <dgm:pt modelId="{12846C00-0D09-46CF-869E-553094A6936E}">
      <dgm:prSet/>
      <dgm:spPr/>
      <dgm:t>
        <a:bodyPr/>
        <a:lstStyle/>
        <a:p>
          <a:r>
            <a:rPr lang="en-US" b="1"/>
            <a:t>All keywords have fixed meanings and these meanings cannot be changed. </a:t>
          </a:r>
          <a:endParaRPr lang="en-US"/>
        </a:p>
      </dgm:t>
    </dgm:pt>
    <dgm:pt modelId="{DE6D3078-5F56-4344-89BC-1D4D1A08E719}" type="parTrans" cxnId="{51A950BD-D5AA-46D6-903B-8392B54A9660}">
      <dgm:prSet/>
      <dgm:spPr/>
      <dgm:t>
        <a:bodyPr/>
        <a:lstStyle/>
        <a:p>
          <a:endParaRPr lang="en-US"/>
        </a:p>
      </dgm:t>
    </dgm:pt>
    <dgm:pt modelId="{A3F34C00-A04D-4D1E-B838-A52E9815AE4D}" type="sibTrans" cxnId="{51A950BD-D5AA-46D6-903B-8392B54A9660}">
      <dgm:prSet/>
      <dgm:spPr/>
      <dgm:t>
        <a:bodyPr/>
        <a:lstStyle/>
        <a:p>
          <a:endParaRPr lang="en-US"/>
        </a:p>
      </dgm:t>
    </dgm:pt>
    <dgm:pt modelId="{2F8F2F41-AF4B-40E1-A168-BBC9CBDD83D7}" type="pres">
      <dgm:prSet presAssocID="{CC098C13-0F9F-4139-8DC1-21B371BA03FC}" presName="linear" presStyleCnt="0">
        <dgm:presLayoutVars>
          <dgm:animLvl val="lvl"/>
          <dgm:resizeHandles val="exact"/>
        </dgm:presLayoutVars>
      </dgm:prSet>
      <dgm:spPr/>
    </dgm:pt>
    <dgm:pt modelId="{D3217208-7B95-4683-AB3E-A87E0280192F}" type="pres">
      <dgm:prSet presAssocID="{68188971-D7E5-4C87-8FCE-331DC81BD4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8651D79-1E62-442B-838C-B56DF30AFD83}" type="pres">
      <dgm:prSet presAssocID="{A7214DAB-2DC6-4281-A44D-87A3C0A8F577}" presName="spacer" presStyleCnt="0"/>
      <dgm:spPr/>
    </dgm:pt>
    <dgm:pt modelId="{279AD36D-AAB1-4F1F-938C-697229C403D8}" type="pres">
      <dgm:prSet presAssocID="{36D4A236-970C-438D-96C5-1CAAE8E5D5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587E07-D018-4EBE-928F-A475F5D49AB8}" type="pres">
      <dgm:prSet presAssocID="{AABD0141-50FB-4BB0-9465-C641DF0BAF80}" presName="spacer" presStyleCnt="0"/>
      <dgm:spPr/>
    </dgm:pt>
    <dgm:pt modelId="{28C3F638-7012-4FB7-A5C8-32702B31833C}" type="pres">
      <dgm:prSet presAssocID="{12846C00-0D09-46CF-869E-553094A6936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42C608-1877-47EB-BB64-5FE0994AE001}" type="presOf" srcId="{36D4A236-970C-438D-96C5-1CAAE8E5D5C4}" destId="{279AD36D-AAB1-4F1F-938C-697229C403D8}" srcOrd="0" destOrd="0" presId="urn:microsoft.com/office/officeart/2005/8/layout/vList2"/>
    <dgm:cxn modelId="{E4956818-495B-4B95-82F4-213379E0FF65}" type="presOf" srcId="{12846C00-0D09-46CF-869E-553094A6936E}" destId="{28C3F638-7012-4FB7-A5C8-32702B31833C}" srcOrd="0" destOrd="0" presId="urn:microsoft.com/office/officeart/2005/8/layout/vList2"/>
    <dgm:cxn modelId="{94759133-4FA5-464F-A808-5AB02523F709}" type="presOf" srcId="{68188971-D7E5-4C87-8FCE-331DC81BD44D}" destId="{D3217208-7B95-4683-AB3E-A87E0280192F}" srcOrd="0" destOrd="0" presId="urn:microsoft.com/office/officeart/2005/8/layout/vList2"/>
    <dgm:cxn modelId="{AA808241-F8AA-4DDC-A695-1A848521FFFE}" srcId="{CC098C13-0F9F-4139-8DC1-21B371BA03FC}" destId="{36D4A236-970C-438D-96C5-1CAAE8E5D5C4}" srcOrd="1" destOrd="0" parTransId="{8FEE3D2F-19D0-482F-8D6F-8528DE6A0A54}" sibTransId="{AABD0141-50FB-4BB0-9465-C641DF0BAF80}"/>
    <dgm:cxn modelId="{986EFE47-1432-4E9A-A456-6A3567AC78B8}" type="presOf" srcId="{CC098C13-0F9F-4139-8DC1-21B371BA03FC}" destId="{2F8F2F41-AF4B-40E1-A168-BBC9CBDD83D7}" srcOrd="0" destOrd="0" presId="urn:microsoft.com/office/officeart/2005/8/layout/vList2"/>
    <dgm:cxn modelId="{51A950BD-D5AA-46D6-903B-8392B54A9660}" srcId="{CC098C13-0F9F-4139-8DC1-21B371BA03FC}" destId="{12846C00-0D09-46CF-869E-553094A6936E}" srcOrd="2" destOrd="0" parTransId="{DE6D3078-5F56-4344-89BC-1D4D1A08E719}" sibTransId="{A3F34C00-A04D-4D1E-B838-A52E9815AE4D}"/>
    <dgm:cxn modelId="{E30C3BC7-0235-422A-A9AE-2B3C664CBD8A}" srcId="{CC098C13-0F9F-4139-8DC1-21B371BA03FC}" destId="{68188971-D7E5-4C87-8FCE-331DC81BD44D}" srcOrd="0" destOrd="0" parTransId="{53426E84-0213-441A-803D-87A50E3DC151}" sibTransId="{A7214DAB-2DC6-4281-A44D-87A3C0A8F577}"/>
    <dgm:cxn modelId="{E96B482C-F175-46EB-88C3-B2905B5A51CE}" type="presParOf" srcId="{2F8F2F41-AF4B-40E1-A168-BBC9CBDD83D7}" destId="{D3217208-7B95-4683-AB3E-A87E0280192F}" srcOrd="0" destOrd="0" presId="urn:microsoft.com/office/officeart/2005/8/layout/vList2"/>
    <dgm:cxn modelId="{E8AB4298-B059-467D-8966-BAA67D9DB1CB}" type="presParOf" srcId="{2F8F2F41-AF4B-40E1-A168-BBC9CBDD83D7}" destId="{A8651D79-1E62-442B-838C-B56DF30AFD83}" srcOrd="1" destOrd="0" presId="urn:microsoft.com/office/officeart/2005/8/layout/vList2"/>
    <dgm:cxn modelId="{EFE79BDE-3DA3-4C3D-9A94-4AEE18F5979B}" type="presParOf" srcId="{2F8F2F41-AF4B-40E1-A168-BBC9CBDD83D7}" destId="{279AD36D-AAB1-4F1F-938C-697229C403D8}" srcOrd="2" destOrd="0" presId="urn:microsoft.com/office/officeart/2005/8/layout/vList2"/>
    <dgm:cxn modelId="{F5204792-547A-4E2C-8CDD-FA90B5CC0645}" type="presParOf" srcId="{2F8F2F41-AF4B-40E1-A168-BBC9CBDD83D7}" destId="{70587E07-D018-4EBE-928F-A475F5D49AB8}" srcOrd="3" destOrd="0" presId="urn:microsoft.com/office/officeart/2005/8/layout/vList2"/>
    <dgm:cxn modelId="{F2C6E2AC-149C-4C0C-8A18-EEA9E4757650}" type="presParOf" srcId="{2F8F2F41-AF4B-40E1-A168-BBC9CBDD83D7}" destId="{28C3F638-7012-4FB7-A5C8-32702B31833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217208-7B95-4683-AB3E-A87E0280192F}">
      <dsp:nvSpPr>
        <dsp:cNvPr id="0" name=""/>
        <dsp:cNvSpPr/>
      </dsp:nvSpPr>
      <dsp:spPr>
        <a:xfrm>
          <a:off x="0" y="577360"/>
          <a:ext cx="8245806" cy="1193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These are some reserved words in C which have predefined meaning to compiler called keywords. </a:t>
          </a:r>
          <a:endParaRPr lang="en-US" sz="3000" kern="1200"/>
        </a:p>
      </dsp:txBody>
      <dsp:txXfrm>
        <a:off x="58257" y="635617"/>
        <a:ext cx="8129292" cy="1076886"/>
      </dsp:txXfrm>
    </dsp:sp>
    <dsp:sp modelId="{279AD36D-AAB1-4F1F-938C-697229C403D8}">
      <dsp:nvSpPr>
        <dsp:cNvPr id="0" name=""/>
        <dsp:cNvSpPr/>
      </dsp:nvSpPr>
      <dsp:spPr>
        <a:xfrm>
          <a:off x="0" y="1857160"/>
          <a:ext cx="8245806" cy="1193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Keywords are not to be used as variable and constant names. </a:t>
          </a:r>
          <a:endParaRPr lang="en-US" sz="3000" kern="1200"/>
        </a:p>
      </dsp:txBody>
      <dsp:txXfrm>
        <a:off x="58257" y="1915417"/>
        <a:ext cx="8129292" cy="1076886"/>
      </dsp:txXfrm>
    </dsp:sp>
    <dsp:sp modelId="{28C3F638-7012-4FB7-A5C8-32702B31833C}">
      <dsp:nvSpPr>
        <dsp:cNvPr id="0" name=""/>
        <dsp:cNvSpPr/>
      </dsp:nvSpPr>
      <dsp:spPr>
        <a:xfrm>
          <a:off x="0" y="3136960"/>
          <a:ext cx="8245806" cy="1193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All keywords have fixed meanings and these meanings cannot be changed. </a:t>
          </a:r>
          <a:endParaRPr lang="en-US" sz="3000" kern="1200"/>
        </a:p>
      </dsp:txBody>
      <dsp:txXfrm>
        <a:off x="58257" y="3195217"/>
        <a:ext cx="8129292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6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421E0F93-77C4-4E05-A171-E6D0976CD7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C712C9A2-8053-4296-BECC-338A4B6A0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95CCA686-BC6D-4114-9892-0EB734FEC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75EFB8-7094-4BB0-9EF0-DA9D9043E7D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F896867B-49DD-4B29-B54A-69A227D261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BAC0EAEC-D2D6-4914-9E3C-11217E8F2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24EC08B1-1D25-4BD2-814E-10A94692F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D83CC4-76CE-436A-B3AD-D2ED7DBF030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D4BF0C2F-A5C1-42B3-AF34-B0D8A43916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E2FD3A50-4221-4DC6-9BD8-A9E1D50D4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18D0D399-5697-4C3E-8C32-F5321BFF1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6531BC-CA01-4C93-82BE-5A2B0121D70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ED4B1365-39AE-4E86-BD95-BAB7596A69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F2CEF94D-54FC-46EA-96A5-55E9AC0D1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07EAE36C-98AD-40F4-B13D-5409C1B63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532282-996D-4B3F-909A-B7E0EB055EB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FB198441-E81B-4DBA-8C26-E45560D2F4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56A18B3C-6A8E-4925-9596-A4BE5780E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BF7B3120-4A75-4A67-9220-640E83C90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AEABD0-E0D1-476D-AA64-710770F0D29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74976419-A10A-40B3-80AD-D3C43060A4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6297D68A-7764-4B68-9DA1-0EED9353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6FAF6E9E-A736-41F3-AE80-46A004C3F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B578F8-6343-495E-929A-BB591D638CD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99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1EFBD542-06A8-4626-8753-EEB802BF27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E583F484-62D7-409E-94B5-642C58DE5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2572CB80-B250-4F7D-A92A-E8E7F173E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C883EC-D8D1-473C-A404-B43E093C6EC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04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4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88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80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8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51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19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5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53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42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Science: A Structured Programming Approach Using C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18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06EA338-C114-4D85-BA50-7D8A8C15FB8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FCCA37B2-4289-4071-8675-050E2E421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CBD1D2D-2C06-49A7-A0E9-F18E73A77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60F8D3B-9ABF-40C6-9749-1D77A47E9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D8AE847-DCA2-4ED7-8485-BBC574D8C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ADEC48AD-CB59-49CE-A0BB-945063CB2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730979F2-E91F-4B54-BB66-80C63A122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4788AB37-A997-4AF7-B102-517657D93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3F332240-65D1-4BA8-817A-9942BD30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30C3E353-BEA3-42D8-9B2D-8A14431D234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4" name="Text Box 17">
            <a:extLst>
              <a:ext uri="{FF2B5EF4-FFF2-40B4-BE49-F238E27FC236}">
                <a16:creationId xmlns:a16="http://schemas.microsoft.com/office/drawing/2014/main" id="{93C1283D-305A-4C23-92D4-8A08F86128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b="0"/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2CD88D8C-A97E-454B-94B2-88E61B3E0E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b="0"/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B28C206F-04E4-443D-937C-495FE64A66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049B6D11-1F53-4F52-8CC4-8A49B6459D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E7C08A51-3A02-4FF3-9919-9124554D3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b="0">
                <a:solidFill>
                  <a:schemeClr val="bg2"/>
                </a:solidFill>
              </a:defRPr>
            </a:lvl1pPr>
          </a:lstStyle>
          <a:p>
            <a:fld id="{D7CFA794-BC00-45CF-A43C-04483B14AC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53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6A4777C-F4DD-4102-9E9B-ABB7869B26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922D2C0-D6EF-4307-AD2E-82B5ABDFF9F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1F837E-9D3C-4CA3-9E69-52C8B45FC3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992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95EEFC2-98F5-4E41-ACE6-6783C53470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AA8D78F-013D-457D-8DE9-1524AF3838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9309C1-D211-4FA7-BDC0-84F85EC06A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831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6E8836-43D5-4889-8F3D-D6F54CD3FD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DA591A-E584-4B65-9DA6-167A3FF78D3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9DD6EB-FBED-4216-87C5-804D39A1FD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482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1B2682F3-8E7B-428A-BD8F-7CEF36CF2A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1404000-9711-4D92-B4F2-86D39BD40F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919C78-0F94-42F5-B23B-C36AF8EB65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747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E6E7BD7-BB2F-47C2-B93D-34A7D6F892D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506F99B4-04BD-44A3-9463-095596B84F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2F4A60-FA92-4C62-93E2-3670F69165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977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15708462-5840-4380-835C-563E5FEAF1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B85E667A-6B5F-4990-A8AF-AEF8232F34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C5D821-6C4B-4E94-A775-45EB21E39A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3020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C709D8A-CBFD-4FA9-B87D-9CF9983CF2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5A4F2B-9523-4B87-8C3C-839A6C686B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AF981-FFD1-430E-9392-27FBD4A833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9511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CFEAED8-2BFB-4E3F-92A1-AD7E2C7232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3722A74-DD82-47BA-8ADE-0F7C46D076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EDB859-B8B9-448B-BDE5-4F4AE2EA76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1404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89513BB-33FA-4CEB-A149-638E3BFEA7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E8347FD-1AE1-4C81-94BF-1CC314DD19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13BA03-CEDD-4CE6-9599-FBA54C2389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028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68C11A9-8203-40FC-B710-FA5B227D32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6AACC9A-4792-482D-9373-DEF9D916DA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FE5270-36BB-480E-8A7A-B45C869314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01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Computer Science: A Structured Programming Approach Using 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>
            <a:extLst>
              <a:ext uri="{FF2B5EF4-FFF2-40B4-BE49-F238E27FC236}">
                <a16:creationId xmlns:a16="http://schemas.microsoft.com/office/drawing/2014/main" id="{395A5F96-1B99-4B05-9F1A-63F70695A5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243638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Computer Science: A Structured Programming Approach Using C</a:t>
            </a:r>
          </a:p>
        </p:txBody>
      </p:sp>
      <p:sp>
        <p:nvSpPr>
          <p:cNvPr id="209933" name="Rectangle 13">
            <a:extLst>
              <a:ext uri="{FF2B5EF4-FFF2-40B4-BE49-F238E27FC236}">
                <a16:creationId xmlns:a16="http://schemas.microsoft.com/office/drawing/2014/main" id="{E8B38829-1FE7-4406-9988-D6FD548EE7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anose="020B0604030504040204" pitchFamily="34" charset="0"/>
              </a:defRPr>
            </a:lvl1pPr>
          </a:lstStyle>
          <a:p>
            <a:fld id="{1400A7AE-CB15-483E-9FBE-75FF0306748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8" name="Text Box 15">
            <a:extLst>
              <a:ext uri="{FF2B5EF4-FFF2-40B4-BE49-F238E27FC236}">
                <a16:creationId xmlns:a16="http://schemas.microsoft.com/office/drawing/2014/main" id="{3D5600E5-F043-44C8-864E-4E03F6D1572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©"/>
              <a:defRPr/>
            </a:pPr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317889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430554" y="2877740"/>
            <a:ext cx="10005107" cy="1102519"/>
          </a:xfrm>
        </p:spPr>
        <p:txBody>
          <a:bodyPr>
            <a:normAutofit fontScale="90000"/>
          </a:bodyPr>
          <a:lstStyle/>
          <a:p>
            <a:r>
              <a:rPr lang="en-US" sz="4800" b="0" i="0" u="none" strike="noStrike" baseline="0" dirty="0">
                <a:solidFill>
                  <a:srgbClr val="000000"/>
                </a:solidFill>
                <a:latin typeface="Gill Sans MT" panose="020B0502020104020203" pitchFamily="34" charset="0"/>
              </a:rPr>
              <a:t>Keywords </a:t>
            </a:r>
            <a:br>
              <a:rPr lang="en-US" sz="4800" b="0" i="0" u="none" strike="noStrike" baseline="0" dirty="0">
                <a:solidFill>
                  <a:srgbClr val="000000"/>
                </a:solidFill>
                <a:latin typeface="Gill Sans MT" panose="020B0502020104020203" pitchFamily="34" charset="0"/>
              </a:rPr>
            </a:br>
            <a:r>
              <a:rPr lang="en-US" sz="4800" b="0" i="0" u="none" strike="noStrike" baseline="0" dirty="0">
                <a:solidFill>
                  <a:srgbClr val="000000"/>
                </a:solidFill>
                <a:latin typeface="Gill Sans MT" panose="020B0502020104020203" pitchFamily="34" charset="0"/>
              </a:rPr>
              <a:t>Constants(integer, real, character, string) Literals</a:t>
            </a:r>
            <a:br>
              <a:rPr lang="en-US" sz="4800" b="0" i="0" u="none" strike="noStrike" baseline="0" dirty="0">
                <a:solidFill>
                  <a:srgbClr val="000000"/>
                </a:solidFill>
                <a:latin typeface="Gill Sans MT" panose="020B0502020104020203" pitchFamily="34" charset="0"/>
              </a:rPr>
            </a:br>
            <a:r>
              <a:rPr lang="en-US" sz="4800" b="0" i="0" u="none" strike="noStrike" baseline="0" dirty="0">
                <a:solidFill>
                  <a:srgbClr val="000000"/>
                </a:solidFill>
                <a:latin typeface="Gill Sans MT" panose="020B0502020104020203" pitchFamily="34" charset="0"/>
              </a:rPr>
              <a:t>Variables	</a:t>
            </a:r>
          </a:p>
        </p:txBody>
      </p:sp>
    </p:spTree>
    <p:extLst>
      <p:ext uri="{BB962C8B-B14F-4D97-AF65-F5344CB8AC3E}">
        <p14:creationId xmlns:p14="http://schemas.microsoft.com/office/powerpoint/2010/main" val="5380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Title 2"/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 Keywords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515350" y="6356351"/>
            <a:ext cx="35910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fld id="{1C9B34C3-6381-4778-9539-D790606488D5}" type="slidenum">
              <a:rPr lang="en-US" alt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en-US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39942" name="Content Placeholder 1">
            <a:extLst>
              <a:ext uri="{FF2B5EF4-FFF2-40B4-BE49-F238E27FC236}">
                <a16:creationId xmlns:a16="http://schemas.microsoft.com/office/drawing/2014/main" id="{5529DE0D-90DD-49A8-AA23-94A460635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542984"/>
              </p:ext>
            </p:extLst>
          </p:nvPr>
        </p:nvGraphicFramePr>
        <p:xfrm>
          <a:off x="628650" y="1269243"/>
          <a:ext cx="8245806" cy="4907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14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itle 2"/>
          <p:cNvSpPr>
            <a:spLocks noGrp="1"/>
          </p:cNvSpPr>
          <p:nvPr>
            <p:ph type="title"/>
          </p:nvPr>
        </p:nvSpPr>
        <p:spPr>
          <a:xfrm>
            <a:off x="1658203" y="707724"/>
            <a:ext cx="5372100" cy="514350"/>
          </a:xfrm>
        </p:spPr>
        <p:txBody>
          <a:bodyPr/>
          <a:lstStyle/>
          <a:p>
            <a:pPr algn="ctr"/>
            <a:r>
              <a:rPr lang="en-US" altLang="en-US" sz="2100" dirty="0"/>
              <a:t>Compiler specific keywords (32)</a:t>
            </a:r>
          </a:p>
        </p:txBody>
      </p:sp>
      <p:sp>
        <p:nvSpPr>
          <p:cNvPr id="4096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956854" y="6401991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fld id="{67FBB61B-9A2B-4728-8BEF-A98133FF1B42}" type="slidenum">
              <a:rPr lang="en-US" altLang="en-US">
                <a:solidFill>
                  <a:srgbClr val="002060"/>
                </a:solidFill>
              </a:rPr>
              <a:pPr algn="ctr"/>
              <a:t>3</a:t>
            </a:fld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1064525" y="1408571"/>
            <a:ext cx="7342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/>
              <a:t>Some commonly used keywords are given below:</a:t>
            </a:r>
          </a:p>
        </p:txBody>
      </p:sp>
      <p:pic>
        <p:nvPicPr>
          <p:cNvPr id="1026" name="Picture 2" descr="Image result for list of keywords in 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86" y="2105068"/>
            <a:ext cx="7826027" cy="364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66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5DE5AD7-11E1-44EF-BF20-990D2B9A0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50027-1856-4A54-8A8E-8DBE78DF3E5D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166F3B8A-F719-4702-9687-2752355C5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00FF"/>
              </a:highligh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21" name="Text Box 3">
            <a:extLst>
              <a:ext uri="{FF2B5EF4-FFF2-40B4-BE49-F238E27FC236}">
                <a16:creationId xmlns:a16="http://schemas.microsoft.com/office/drawing/2014/main" id="{C17DBB2D-8E39-4617-BFF7-DB051EB7A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26917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Constants</a:t>
            </a:r>
          </a:p>
        </p:txBody>
      </p:sp>
      <p:sp>
        <p:nvSpPr>
          <p:cNvPr id="34822" name="Text Box 4">
            <a:extLst>
              <a:ext uri="{FF2B5EF4-FFF2-40B4-BE49-F238E27FC236}">
                <a16:creationId xmlns:a16="http://schemas.microsoft.com/office/drawing/2014/main" id="{FB930773-9493-4A68-8861-6BDE00032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05861" name="Rectangle 5">
            <a:extLst>
              <a:ext uri="{FF2B5EF4-FFF2-40B4-BE49-F238E27FC236}">
                <a16:creationId xmlns:a16="http://schemas.microsoft.com/office/drawing/2014/main" id="{49AA8932-733F-4D41-8D0C-C2FB73311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30428"/>
            <a:ext cx="8458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Constants are data values that cannot be changed during the execution of a program.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00B463B-ABFE-4D23-B06B-F1E95DC5DB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14C209-F4EC-4879-B146-E59129ADD131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5844" name="Line 2">
            <a:extLst>
              <a:ext uri="{FF2B5EF4-FFF2-40B4-BE49-F238E27FC236}">
                <a16:creationId xmlns:a16="http://schemas.microsoft.com/office/drawing/2014/main" id="{8A30C63B-B0DA-4291-9E71-C72E5A8E2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5845" name="Line 3">
            <a:extLst>
              <a:ext uri="{FF2B5EF4-FFF2-40B4-BE49-F238E27FC236}">
                <a16:creationId xmlns:a16="http://schemas.microsoft.com/office/drawing/2014/main" id="{F3B5A00C-AF24-480E-8AF6-07ED099F5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5846" name="Rectangle 4">
            <a:extLst>
              <a:ext uri="{FF2B5EF4-FFF2-40B4-BE49-F238E27FC236}">
                <a16:creationId xmlns:a16="http://schemas.microsoft.com/office/drawing/2014/main" id="{1FC3B3DD-F4AF-41E9-9E55-80D78F2CB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759075"/>
            <a:ext cx="8077200" cy="4572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character constant is enclosed in single quotes.</a:t>
            </a:r>
          </a:p>
        </p:txBody>
      </p:sp>
      <p:sp>
        <p:nvSpPr>
          <p:cNvPr id="580613" name="Text Box 5">
            <a:extLst>
              <a:ext uri="{FF2B5EF4-FFF2-40B4-BE49-F238E27FC236}">
                <a16:creationId xmlns:a16="http://schemas.microsoft.com/office/drawing/2014/main" id="{38EF4D12-B197-4B26-A015-2C1FBC4B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Note</a:t>
            </a: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7906F44F-A0FA-4EBA-B7FB-248F6DE76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150" y="3527924"/>
            <a:ext cx="8153400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73676EF6-ACB9-4425-97C9-AC3794444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738" y="4531519"/>
            <a:ext cx="8153400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4B1C8C2-82A7-4EC4-9C5A-FFDD98AD9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632994"/>
            <a:ext cx="8077200" cy="822325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 single quotes for character constants. </a:t>
            </a:r>
            <a:b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 double quotes for string constants.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EE2D8-57AD-4B8B-832B-6BF6720702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5D821-6C4B-4E94-A775-45EB21E39A57}" type="slidenum">
              <a:rPr lang="en-US" altLang="en-US" smtClean="0"/>
              <a:pPr/>
              <a:t>6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5B1E8C-2C9C-4520-9EF4-D1FB72742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93374"/>
              </p:ext>
            </p:extLst>
          </p:nvPr>
        </p:nvGraphicFramePr>
        <p:xfrm>
          <a:off x="1270861" y="1596325"/>
          <a:ext cx="6825094" cy="4073751"/>
        </p:xfrm>
        <a:graphic>
          <a:graphicData uri="http://schemas.openxmlformats.org/drawingml/2006/table">
            <a:tbl>
              <a:tblPr/>
              <a:tblGrid>
                <a:gridCol w="3412547">
                  <a:extLst>
                    <a:ext uri="{9D8B030D-6E8A-4147-A177-3AD203B41FA5}">
                      <a16:colId xmlns:a16="http://schemas.microsoft.com/office/drawing/2014/main" val="3166656119"/>
                    </a:ext>
                  </a:extLst>
                </a:gridCol>
                <a:gridCol w="3412547">
                  <a:extLst>
                    <a:ext uri="{9D8B030D-6E8A-4147-A177-3AD203B41FA5}">
                      <a16:colId xmlns:a16="http://schemas.microsoft.com/office/drawing/2014/main" val="3299484446"/>
                    </a:ext>
                  </a:extLst>
                </a:gridCol>
              </a:tblGrid>
              <a:tr h="613853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Constant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50F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F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F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50F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F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FF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02568"/>
                  </a:ext>
                </a:extLst>
              </a:tr>
              <a:tr h="520845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Decimal Constant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10, 20, 450 etc.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093872"/>
                  </a:ext>
                </a:extLst>
              </a:tr>
              <a:tr h="520845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Real or Floating-point Constant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10.3, 20.2, 450.6 etc.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505396"/>
                  </a:ext>
                </a:extLst>
              </a:tr>
              <a:tr h="520845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Octal Constant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021, 033, 046 etc.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805955"/>
                  </a:ext>
                </a:extLst>
              </a:tr>
              <a:tr h="520845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Hexadecimal Constant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0x2a, 0x7b, 0xaa etc.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817740"/>
                  </a:ext>
                </a:extLst>
              </a:tr>
              <a:tr h="520845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Character Constant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'a', 'b', 'x' etc.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28003"/>
                  </a:ext>
                </a:extLst>
              </a:tr>
              <a:tr h="855673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 Constant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fr-FR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"c", "c program", "c in </a:t>
                      </a:r>
                      <a:r>
                        <a:rPr lang="fr-FR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javatpoint</a:t>
                      </a:r>
                      <a:r>
                        <a:rPr lang="fr-FR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" etc.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974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B47C4A-4CC6-4E0D-A23F-B4F134FC7A07}"/>
              </a:ext>
            </a:extLst>
          </p:cNvPr>
          <p:cNvSpPr txBox="1"/>
          <p:nvPr/>
        </p:nvSpPr>
        <p:spPr>
          <a:xfrm>
            <a:off x="1131376" y="726259"/>
            <a:ext cx="514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Examples of Constant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7645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Text Box 4">
            <a:extLst>
              <a:ext uri="{FF2B5EF4-FFF2-40B4-BE49-F238E27FC236}">
                <a16:creationId xmlns:a16="http://schemas.microsoft.com/office/drawing/2014/main" id="{DBD81F2E-8EDF-4B83-8580-5094EA0CD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7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of Integer Constants</a:t>
            </a:r>
          </a:p>
        </p:txBody>
      </p:sp>
      <p:pic>
        <p:nvPicPr>
          <p:cNvPr id="37894" name="Picture 6">
            <a:extLst>
              <a:ext uri="{FF2B5EF4-FFF2-40B4-BE49-F238E27FC236}">
                <a16:creationId xmlns:a16="http://schemas.microsoft.com/office/drawing/2014/main" id="{EBB8FFB8-B095-48A9-A0E9-725490699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497170"/>
            <a:ext cx="8229600" cy="27320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3BBDC25-D5B7-4063-B8DD-EFF9DE0E80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3CE3261-A864-44C5-ABEF-71ECD186063F}" type="slidenum"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R="0" lvl="0" indent="0" fontAlgn="base"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Text Box 4">
            <a:extLst>
              <a:ext uri="{FF2B5EF4-FFF2-40B4-BE49-F238E27FC236}">
                <a16:creationId xmlns:a16="http://schemas.microsoft.com/office/drawing/2014/main" id="{EFEBC0D0-F6F9-4002-9C2A-83E1EE897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of Real Constants</a:t>
            </a:r>
          </a:p>
        </p:txBody>
      </p:sp>
      <p:pic>
        <p:nvPicPr>
          <p:cNvPr id="38918" name="Picture 6">
            <a:extLst>
              <a:ext uri="{FF2B5EF4-FFF2-40B4-BE49-F238E27FC236}">
                <a16:creationId xmlns:a16="http://schemas.microsoft.com/office/drawing/2014/main" id="{7EEB8A53-4291-4041-A596-22E0851CA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156982"/>
            <a:ext cx="8229600" cy="34123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34D25CE-14F0-46E7-B562-73AB757BA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7280760-B6ED-41AB-98F3-7594CB9C0BDA}" type="slidenum"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R="0" lvl="0" indent="0" fontAlgn="base"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4ABEDA6-6F86-48A9-B833-AFF111A226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0EC22C-97F6-44F7-BE94-C1999D9D46F0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9940" name="Line 2">
            <a:extLst>
              <a:ext uri="{FF2B5EF4-FFF2-40B4-BE49-F238E27FC236}">
                <a16:creationId xmlns:a16="http://schemas.microsoft.com/office/drawing/2014/main" id="{A046D2ED-6881-4CC9-94D0-ECB97E828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39943" name="Picture 9">
            <a:extLst>
              <a:ext uri="{FF2B5EF4-FFF2-40B4-BE49-F238E27FC236}">
                <a16:creationId xmlns:a16="http://schemas.microsoft.com/office/drawing/2014/main" id="{AE548152-5813-4A03-B812-AD003038C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9798"/>
          <a:stretch/>
        </p:blipFill>
        <p:spPr bwMode="auto">
          <a:xfrm>
            <a:off x="0" y="2209812"/>
            <a:ext cx="8229601" cy="269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4">
            <a:extLst>
              <a:ext uri="{FF2B5EF4-FFF2-40B4-BE49-F238E27FC236}">
                <a16:creationId xmlns:a16="http://schemas.microsoft.com/office/drawing/2014/main" id="{DC88F412-21A4-4EC3-99E9-0F3257918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600103"/>
            <a:ext cx="8229600" cy="1143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92500"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of String Constants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Text Box 4">
            <a:extLst>
              <a:ext uri="{FF2B5EF4-FFF2-40B4-BE49-F238E27FC236}">
                <a16:creationId xmlns:a16="http://schemas.microsoft.com/office/drawing/2014/main" id="{309A6A37-0ECA-4CCC-89F5-3CE972398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7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Symbolic Names for Control Characters</a:t>
            </a:r>
          </a:p>
        </p:txBody>
      </p:sp>
      <p:pic>
        <p:nvPicPr>
          <p:cNvPr id="36870" name="Picture 6">
            <a:extLst>
              <a:ext uri="{FF2B5EF4-FFF2-40B4-BE49-F238E27FC236}">
                <a16:creationId xmlns:a16="http://schemas.microsoft.com/office/drawing/2014/main" id="{5661DB7B-9B81-47C3-A711-7100B5932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3044" y="1600200"/>
            <a:ext cx="7117911" cy="45259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EF1AB22-A185-46BD-ABA2-68C232B17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FCF5B27-95B5-4175-B11B-AA9A28BA5528}" type="slidenum"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R="0" lvl="0" indent="0" fontAlgn="base"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719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288BC0B-F15B-468A-8BA6-DBD458E16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138308-2459-4799-ADA3-B4FD124DA6B8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0964" name="Line 2">
            <a:extLst>
              <a:ext uri="{FF2B5EF4-FFF2-40B4-BE49-F238E27FC236}">
                <a16:creationId xmlns:a16="http://schemas.microsoft.com/office/drawing/2014/main" id="{D1A39124-BA74-4F40-94B6-48AD9F0AC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4F2477A8-C14A-4737-9B26-8B4924CEF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69" y="939317"/>
            <a:ext cx="40575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Null Characters and Null Strings?</a:t>
            </a:r>
          </a:p>
        </p:txBody>
      </p:sp>
      <p:grpSp>
        <p:nvGrpSpPr>
          <p:cNvPr id="40966" name="Group 4">
            <a:extLst>
              <a:ext uri="{FF2B5EF4-FFF2-40B4-BE49-F238E27FC236}">
                <a16:creationId xmlns:a16="http://schemas.microsoft.com/office/drawing/2014/main" id="{FCF22DE0-69D0-4F52-816B-5FFED5375DEB}"/>
              </a:ext>
            </a:extLst>
          </p:cNvPr>
          <p:cNvGrpSpPr>
            <a:grpSpLocks/>
          </p:cNvGrpSpPr>
          <p:nvPr/>
        </p:nvGrpSpPr>
        <p:grpSpPr bwMode="auto">
          <a:xfrm>
            <a:off x="336550" y="-4656560"/>
            <a:ext cx="8610600" cy="5995987"/>
            <a:chOff x="336" y="159"/>
            <a:chExt cx="5232" cy="3777"/>
          </a:xfrm>
        </p:grpSpPr>
        <p:sp>
          <p:nvSpPr>
            <p:cNvPr id="40968" name="Line 5">
              <a:extLst>
                <a:ext uri="{FF2B5EF4-FFF2-40B4-BE49-F238E27FC236}">
                  <a16:creationId xmlns:a16="http://schemas.microsoft.com/office/drawing/2014/main" id="{42F9A39F-1E20-4364-8EE3-FA0B7713A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0969" name="Line 6">
              <a:extLst>
                <a:ext uri="{FF2B5EF4-FFF2-40B4-BE49-F238E27FC236}">
                  <a16:creationId xmlns:a16="http://schemas.microsoft.com/office/drawing/2014/main" id="{0C0EF09C-A707-4B53-8703-C218B77DC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0970" name="Line 7">
              <a:extLst>
                <a:ext uri="{FF2B5EF4-FFF2-40B4-BE49-F238E27FC236}">
                  <a16:creationId xmlns:a16="http://schemas.microsoft.com/office/drawing/2014/main" id="{E93A4A6B-581F-4AC4-8F81-4243FE4BC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pic>
        <p:nvPicPr>
          <p:cNvPr id="40967" name="Picture 10">
            <a:extLst>
              <a:ext uri="{FF2B5EF4-FFF2-40B4-BE49-F238E27FC236}">
                <a16:creationId xmlns:a16="http://schemas.microsoft.com/office/drawing/2014/main" id="{2C27CED6-45DD-4AB2-8F23-0AB6F8271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2897188"/>
            <a:ext cx="6946900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2D086F-CB9E-4C8D-5A05-A8810A4777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5D821-6C4B-4E94-A775-45EB21E39A5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39247-559D-3955-7AE3-F2607580855E}"/>
              </a:ext>
            </a:extLst>
          </p:cNvPr>
          <p:cNvSpPr txBox="1"/>
          <p:nvPr/>
        </p:nvSpPr>
        <p:spPr>
          <a:xfrm>
            <a:off x="605642" y="658759"/>
            <a:ext cx="793271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Definition of a Variable:</a:t>
            </a:r>
          </a:p>
          <a:p>
            <a:pPr algn="just"/>
            <a:r>
              <a:rPr lang="en-IN" sz="3200" dirty="0"/>
              <a:t>A variable in C is a </a:t>
            </a:r>
            <a:r>
              <a:rPr lang="en-IN" sz="3200" b="1" dirty="0"/>
              <a:t>named memory location</a:t>
            </a:r>
            <a:r>
              <a:rPr lang="en-IN" sz="3200" dirty="0"/>
              <a:t> used to store data that can be modified during the execution of a program. </a:t>
            </a:r>
          </a:p>
          <a:p>
            <a:pPr algn="just"/>
            <a:endParaRPr lang="en-IN" sz="3200" dirty="0"/>
          </a:p>
          <a:p>
            <a:pPr algn="just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8208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B61D52-2202-A1D1-AB38-CFD5BA3857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5D821-6C4B-4E94-A775-45EB21E39A5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EFE9C-9794-B371-6A5F-694086ADF252}"/>
              </a:ext>
            </a:extLst>
          </p:cNvPr>
          <p:cNvSpPr txBox="1"/>
          <p:nvPr/>
        </p:nvSpPr>
        <p:spPr>
          <a:xfrm>
            <a:off x="534388" y="639013"/>
            <a:ext cx="84127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/>
              <a:t>Key Concepts of Variables</a:t>
            </a:r>
          </a:p>
          <a:p>
            <a:pPr algn="just"/>
            <a:r>
              <a:rPr lang="en-IN" sz="3200" b="1" dirty="0"/>
              <a:t>1. Declaration of Variables</a:t>
            </a:r>
          </a:p>
          <a:p>
            <a:pPr algn="just"/>
            <a:r>
              <a:rPr lang="en-IN" sz="3200" dirty="0"/>
              <a:t>Before using a variable in C, you must declare it by specifying:</a:t>
            </a:r>
          </a:p>
          <a:p>
            <a:pPr algn="just"/>
            <a:endParaRPr lang="en-IN" sz="3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Data Type</a:t>
            </a:r>
            <a:r>
              <a:rPr lang="en-IN" sz="3200" dirty="0"/>
              <a:t>: The type of data the variable will store.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Variable Name</a:t>
            </a:r>
            <a:r>
              <a:rPr lang="en-IN" sz="3200" dirty="0"/>
              <a:t>: A name to reference the variable.</a:t>
            </a:r>
          </a:p>
        </p:txBody>
      </p:sp>
    </p:spTree>
    <p:extLst>
      <p:ext uri="{BB962C8B-B14F-4D97-AF65-F5344CB8AC3E}">
        <p14:creationId xmlns:p14="http://schemas.microsoft.com/office/powerpoint/2010/main" val="49012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91C33F-3BC4-6B50-5BE6-F5725238E1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5D821-6C4B-4E94-A775-45EB21E39A5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E8FAF-F98C-4CE5-4345-941914DC529C}"/>
              </a:ext>
            </a:extLst>
          </p:cNvPr>
          <p:cNvSpPr txBox="1"/>
          <p:nvPr/>
        </p:nvSpPr>
        <p:spPr>
          <a:xfrm>
            <a:off x="486889" y="1117892"/>
            <a:ext cx="7861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int age;        // Declares an integer variable</a:t>
            </a:r>
          </a:p>
          <a:p>
            <a:r>
              <a:rPr lang="en-IN" sz="2800" dirty="0"/>
              <a:t>float salary;   // Declares a floating-point variable</a:t>
            </a:r>
          </a:p>
          <a:p>
            <a:r>
              <a:rPr lang="en-IN" sz="2800" dirty="0"/>
              <a:t>char grade;     // Declares a character variable</a:t>
            </a:r>
          </a:p>
        </p:txBody>
      </p:sp>
    </p:spTree>
    <p:extLst>
      <p:ext uri="{BB962C8B-B14F-4D97-AF65-F5344CB8AC3E}">
        <p14:creationId xmlns:p14="http://schemas.microsoft.com/office/powerpoint/2010/main" val="319148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71116" y="1094495"/>
            <a:ext cx="5943600" cy="62865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800" dirty="0"/>
              <a:t>Primary (built-in or Basic)Data types</a:t>
            </a:r>
          </a:p>
        </p:txBody>
      </p:sp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515350" y="6356351"/>
            <a:ext cx="359106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BEA51C-495D-44A2-B925-9AAC4BD9F0A2}" type="slidenum">
              <a:rPr lang="en-IN" smtClean="0"/>
              <a:pPr/>
              <a:t>15</a:t>
            </a:fld>
            <a:endParaRPr lang="en-US" altLang="en-US" dirty="0"/>
          </a:p>
        </p:txBody>
      </p:sp>
      <p:sp>
        <p:nvSpPr>
          <p:cNvPr id="57348" name="Text Box 8"/>
          <p:cNvSpPr txBox="1">
            <a:spLocks noChangeArrowheads="1"/>
          </p:cNvSpPr>
          <p:nvPr/>
        </p:nvSpPr>
        <p:spPr bwMode="auto">
          <a:xfrm>
            <a:off x="5779786" y="1428750"/>
            <a:ext cx="39241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350"/>
          </a:p>
        </p:txBody>
      </p:sp>
      <p:grpSp>
        <p:nvGrpSpPr>
          <p:cNvPr id="57349" name="Group 1"/>
          <p:cNvGrpSpPr>
            <a:grpSpLocks/>
          </p:cNvGrpSpPr>
          <p:nvPr/>
        </p:nvGrpSpPr>
        <p:grpSpPr bwMode="auto">
          <a:xfrm>
            <a:off x="947842" y="2155241"/>
            <a:ext cx="7649485" cy="3655323"/>
            <a:chOff x="457199" y="2159157"/>
            <a:chExt cx="7924801" cy="3586322"/>
          </a:xfrm>
        </p:grpSpPr>
        <p:sp>
          <p:nvSpPr>
            <p:cNvPr id="6154" name="Rectangle 5"/>
            <p:cNvSpPr>
              <a:spLocks noChangeArrowheads="1"/>
            </p:cNvSpPr>
            <p:nvPr/>
          </p:nvSpPr>
          <p:spPr bwMode="auto">
            <a:xfrm>
              <a:off x="457199" y="2590800"/>
              <a:ext cx="4176257" cy="1219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b="1" u="sng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SIGNED TYPE </a:t>
              </a:r>
              <a:r>
                <a:rPr lang="en-US" sz="1400" b="1" dirty="0">
                  <a:solidFill>
                    <a:schemeClr val="bg1"/>
                  </a:solidFill>
                </a:rPr>
                <a:t>	  </a:t>
              </a:r>
              <a:r>
                <a:rPr lang="en-US" b="1" u="sng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UNSIGNED TYPE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</a:rPr>
                <a:t>   INT	   	UNSIGNED INT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</a:rPr>
                <a:t>     SHORT INT              	  UNSIGNED  SHORT INT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</a:rPr>
                <a:t>                  LONG INT 	         UNSIGNED LONG INT</a:t>
              </a:r>
              <a:r>
                <a:rPr lang="en-US" sz="1050" b="1" dirty="0">
                  <a:solidFill>
                    <a:schemeClr val="bg1"/>
                  </a:solidFill>
                </a:rPr>
                <a:t>	</a:t>
              </a:r>
            </a:p>
          </p:txBody>
        </p:sp>
        <p:sp>
          <p:nvSpPr>
            <p:cNvPr id="6155" name="Rectangle 6"/>
            <p:cNvSpPr>
              <a:spLocks noChangeArrowheads="1"/>
            </p:cNvSpPr>
            <p:nvPr/>
          </p:nvSpPr>
          <p:spPr bwMode="auto">
            <a:xfrm>
              <a:off x="4724400" y="2590800"/>
              <a:ext cx="3657600" cy="12192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chemeClr val="bg1"/>
                  </a:solidFill>
                </a:rPr>
                <a:t>SIGNED CHARACTER</a:t>
              </a:r>
            </a:p>
            <a:p>
              <a:pPr algn="ctr">
                <a:defRPr/>
              </a:pPr>
              <a:r>
                <a:rPr lang="en-US" sz="2000" b="1" dirty="0">
                  <a:solidFill>
                    <a:schemeClr val="bg1"/>
                  </a:solidFill>
                </a:rPr>
                <a:t>UNSIGNED CHARACTER</a:t>
              </a:r>
            </a:p>
          </p:txBody>
        </p:sp>
        <p:sp>
          <p:nvSpPr>
            <p:cNvPr id="6156" name="Rectangle 7"/>
            <p:cNvSpPr>
              <a:spLocks noChangeArrowheads="1"/>
            </p:cNvSpPr>
            <p:nvPr/>
          </p:nvSpPr>
          <p:spPr bwMode="auto">
            <a:xfrm>
              <a:off x="678427" y="4678679"/>
              <a:ext cx="3733800" cy="10668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sz="1050" b="1" dirty="0">
                <a:solidFill>
                  <a:schemeClr val="bg1"/>
                </a:solidFill>
              </a:endParaRPr>
            </a:p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FLOATING  POINT  TYPE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</a:rPr>
                <a:t>FLOAT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</a:rPr>
                <a:t>DOUBLE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</a:rPr>
                <a:t>LONG DOUBLE</a:t>
              </a:r>
            </a:p>
            <a:p>
              <a:pPr algn="ctr">
                <a:defRPr/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6157" name="Text Box 11"/>
            <p:cNvSpPr txBox="1">
              <a:spLocks noChangeArrowheads="1"/>
            </p:cNvSpPr>
            <p:nvPr/>
          </p:nvSpPr>
          <p:spPr bwMode="auto">
            <a:xfrm>
              <a:off x="1218504" y="2160267"/>
              <a:ext cx="2438400" cy="392557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INTEGER</a:t>
              </a:r>
            </a:p>
          </p:txBody>
        </p:sp>
        <p:sp>
          <p:nvSpPr>
            <p:cNvPr id="6158" name="Text Box 13"/>
            <p:cNvSpPr txBox="1">
              <a:spLocks noChangeArrowheads="1"/>
            </p:cNvSpPr>
            <p:nvPr/>
          </p:nvSpPr>
          <p:spPr bwMode="auto">
            <a:xfrm>
              <a:off x="5638799" y="2159157"/>
              <a:ext cx="1828800" cy="392557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CHARACTER</a:t>
              </a:r>
            </a:p>
          </p:txBody>
        </p:sp>
        <p:sp>
          <p:nvSpPr>
            <p:cNvPr id="6159" name="Text Box 15"/>
            <p:cNvSpPr txBox="1">
              <a:spLocks noChangeArrowheads="1"/>
            </p:cNvSpPr>
            <p:nvPr/>
          </p:nvSpPr>
          <p:spPr bwMode="auto">
            <a:xfrm>
              <a:off x="1211480" y="4236958"/>
              <a:ext cx="2895600" cy="392557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FLOATING POINT</a:t>
              </a: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5436867" y="4681222"/>
              <a:ext cx="2590800" cy="7620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VOID</a:t>
              </a:r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5638799" y="4220392"/>
              <a:ext cx="1981200" cy="392557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VOID</a:t>
              </a:r>
              <a:r>
                <a:rPr lang="en-US" sz="13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</a:p>
          </p:txBody>
        </p:sp>
      </p:grpSp>
      <p:sp>
        <p:nvSpPr>
          <p:cNvPr id="4" name="Rounded Rectangle 3"/>
          <p:cNvSpPr/>
          <p:nvPr/>
        </p:nvSpPr>
        <p:spPr>
          <a:xfrm>
            <a:off x="747258" y="1730410"/>
            <a:ext cx="8050655" cy="4362862"/>
          </a:xfrm>
          <a:prstGeom prst="round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3737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62E04-2E23-4BDA-4C05-0D74119BB3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5D821-6C4B-4E94-A775-45EB21E39A5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22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A24590-4E2C-4FC7-ADA9-9B5936277D6B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9573F8-84E2-AADA-30BF-C369BD700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44" y="475714"/>
            <a:ext cx="8515350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Rules for Naming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begin with a letter (a-z, A-Z) or an underscore (_)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character must not be a digit.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age;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_counter;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contain letters, digits (0-9), and underscores (_)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names can have any combination of letters, digits, and underscores, after the first character.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float price_2024;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user_name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154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A24590-4E2C-4FC7-ADA9-9B5936277D6B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9573F8-84E2-AADA-30BF-C369BD700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53" y="370249"/>
            <a:ext cx="851535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Case-sensitive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distinguishes between uppercase and lowercase letters, so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myVar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myvar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considered different variables.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Total;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total;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(these are two different variables)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48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A24590-4E2C-4FC7-ADA9-9B5936277D6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9573F8-84E2-AADA-30BF-C369BD700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88" y="366625"/>
            <a:ext cx="8028462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special characters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 characters like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etc., are not allowed.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float total$;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(incorrect)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be a reserved keyword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cannot use C language keywords (like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etc.) as variable names.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if;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(incorrect because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keyword)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 limitation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C allows long variable names, some compilers may limit the length (typically up to 31 characters for standard names, and more for long names).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019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45171" y="259031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Variables - Examples</a:t>
            </a:r>
          </a:p>
        </p:txBody>
      </p:sp>
      <p:sp>
        <p:nvSpPr>
          <p:cNvPr id="5428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6433F4-45AC-48AF-B1BF-E0444E5422B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760956" y="773381"/>
            <a:ext cx="7300699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Arial Black" pitchFamily="34" charset="0"/>
              </a:rPr>
              <a:t>int a</a:t>
            </a:r>
            <a:r>
              <a:rPr lang="en-US" altLang="en-US" sz="2800" dirty="0">
                <a:solidFill>
                  <a:srgbClr val="FF0000"/>
                </a:solidFill>
                <a:latin typeface="Arial Black" pitchFamily="34" charset="0"/>
              </a:rPr>
              <a:t>;                       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en-US" sz="2800" b="1" dirty="0">
              <a:solidFill>
                <a:srgbClr val="FF0000"/>
              </a:solidFill>
              <a:latin typeface="Arial Black" pitchFamily="34" charset="0"/>
            </a:endParaRPr>
          </a:p>
          <a:p>
            <a:pPr eaLnBrk="1" hangingPunct="1"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Arial Black" pitchFamily="34" charset="0"/>
              </a:rPr>
              <a:t>int sum, a1, a2;        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en-US" sz="2800" b="1" dirty="0">
              <a:solidFill>
                <a:srgbClr val="FF0000"/>
              </a:solidFill>
              <a:latin typeface="Arial Black" pitchFamily="34" charset="0"/>
            </a:endParaRPr>
          </a:p>
          <a:p>
            <a:pPr eaLnBrk="1" hangingPunct="1"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Arial Black" pitchFamily="34" charset="0"/>
              </a:rPr>
              <a:t>int x = 7;  	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en-US" sz="2800" b="1" dirty="0">
              <a:solidFill>
                <a:srgbClr val="FF0000"/>
              </a:solidFill>
              <a:latin typeface="Arial Black" pitchFamily="34" charset="0"/>
            </a:endParaRPr>
          </a:p>
          <a:p>
            <a:pPr eaLnBrk="1" hangingPunct="1"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Arial Black" pitchFamily="34" charset="0"/>
              </a:rPr>
              <a:t>int a;</a:t>
            </a:r>
          </a:p>
          <a:p>
            <a:pPr eaLnBrk="1" hangingPunct="1"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Arial Black" pitchFamily="34" charset="0"/>
              </a:rPr>
              <a:t>a = 5;  		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en-US" sz="2800" b="1" dirty="0">
              <a:solidFill>
                <a:srgbClr val="FF0000"/>
              </a:solidFill>
              <a:latin typeface="Arial Black" pitchFamily="34" charset="0"/>
            </a:endParaRPr>
          </a:p>
          <a:p>
            <a:pPr eaLnBrk="1" hangingPunct="1">
              <a:defRPr/>
            </a:pPr>
            <a:r>
              <a:rPr lang="en-US" altLang="en-US" sz="2800" b="1" dirty="0">
                <a:solidFill>
                  <a:srgbClr val="FF0000"/>
                </a:solidFill>
                <a:latin typeface="Arial Black" pitchFamily="34" charset="0"/>
              </a:rPr>
              <a:t>a1 = a</a:t>
            </a:r>
            <a:r>
              <a:rPr lang="en-US" altLang="en-US" sz="2800" b="1" dirty="0">
                <a:solidFill>
                  <a:srgbClr val="FF0000"/>
                </a:solidFill>
              </a:rPr>
              <a:t>;                                 </a:t>
            </a:r>
            <a:endParaRPr lang="en-US" altLang="en-US" sz="2800" b="1" dirty="0">
              <a:solidFill>
                <a:srgbClr val="FF0000"/>
              </a:solidFill>
              <a:latin typeface="Arial Black" pitchFamily="34" charset="0"/>
            </a:endParaRPr>
          </a:p>
          <a:p>
            <a:pPr eaLnBrk="1" hangingPunct="1">
              <a:defRPr/>
            </a:pPr>
            <a:endParaRPr lang="en-US" altLang="en-US" sz="28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842608"/>
      </p:ext>
    </p:extLst>
  </p:cSld>
  <p:clrMapOvr>
    <a:masterClrMapping/>
  </p:clrMapOvr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27067EFAFB89479F25A2A85E229BC9" ma:contentTypeVersion="2" ma:contentTypeDescription="Create a new document." ma:contentTypeScope="" ma:versionID="3f44ca8e356fa5383b1191926e86efaf">
  <xsd:schema xmlns:xsd="http://www.w3.org/2001/XMLSchema" xmlns:xs="http://www.w3.org/2001/XMLSchema" xmlns:p="http://schemas.microsoft.com/office/2006/metadata/properties" xmlns:ns2="a22512fa-64d6-4a80-ac5c-46c00f9341c7" targetNamespace="http://schemas.microsoft.com/office/2006/metadata/properties" ma:root="true" ma:fieldsID="085704be0b932ff7b66a88d95b023925" ns2:_="">
    <xsd:import namespace="a22512fa-64d6-4a80-ac5c-46c00f934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2512fa-64d6-4a80-ac5c-46c00f9341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4E0B8C-3C79-4728-AC7A-C91661499F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6FDA1A-3798-4E88-ADDB-D5722BB572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2512fa-64d6-4a80-ac5c-46c00f934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C9BE06-2370-4085-B953-AAB1259BB50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764</TotalTime>
  <Words>626</Words>
  <Application>Microsoft Office PowerPoint</Application>
  <PresentationFormat>On-screen Show (4:3)</PresentationFormat>
  <Paragraphs>118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Arial</vt:lpstr>
      <vt:lpstr>Arial Black</vt:lpstr>
      <vt:lpstr>Arial Unicode MS</vt:lpstr>
      <vt:lpstr>Calibri</vt:lpstr>
      <vt:lpstr>Gill Sans MT</vt:lpstr>
      <vt:lpstr>inter-regular</vt:lpstr>
      <vt:lpstr>McGrawHill-Italic</vt:lpstr>
      <vt:lpstr>Tahoma</vt:lpstr>
      <vt:lpstr>times new roman</vt:lpstr>
      <vt:lpstr>times new roman</vt:lpstr>
      <vt:lpstr>Wingdings</vt:lpstr>
      <vt:lpstr>PSUC2018 Template</vt:lpstr>
      <vt:lpstr>Blends</vt:lpstr>
      <vt:lpstr>Keywords  Constants(integer, real, character, string) Literals Variables </vt:lpstr>
      <vt:lpstr> Keywords</vt:lpstr>
      <vt:lpstr>Compiler specific keywords (32)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Primary (built-in or Basic)Data types</vt:lpstr>
      <vt:lpstr>PowerPoint Presentation</vt:lpstr>
      <vt:lpstr>PowerPoint Presentation</vt:lpstr>
      <vt:lpstr>PowerPoint Presentation</vt:lpstr>
      <vt:lpstr>PowerPoint Presentation</vt:lpstr>
      <vt:lpstr>Variables -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Variables, Data types, sizes and constants L6 – L9</dc:title>
  <dc:creator>Mahe</dc:creator>
  <cp:lastModifiedBy>Arvind Kumar Mehta [MU - Jaipur]</cp:lastModifiedBy>
  <cp:revision>72</cp:revision>
  <dcterms:created xsi:type="dcterms:W3CDTF">2018-05-08T08:59:52Z</dcterms:created>
  <dcterms:modified xsi:type="dcterms:W3CDTF">2024-10-01T04:59:00Z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0x0101003527067EFAFB89479F25A2A85E229BC9</vt:lpwstr>
  </property>
</Properties>
</file>