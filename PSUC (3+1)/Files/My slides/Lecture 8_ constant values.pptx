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handoutMasterIdLst>
    <p:handoutMasterId r:id="rId20"/>
  </p:handoutMasterIdLst>
  <p:sldIdLst>
    <p:sldId id="295" r:id="rId2"/>
    <p:sldId id="297" r:id="rId3"/>
    <p:sldId id="298" r:id="rId4"/>
    <p:sldId id="309" r:id="rId5"/>
    <p:sldId id="310" r:id="rId6"/>
    <p:sldId id="299" r:id="rId7"/>
    <p:sldId id="302" r:id="rId8"/>
    <p:sldId id="300" r:id="rId9"/>
    <p:sldId id="311" r:id="rId10"/>
    <p:sldId id="301" r:id="rId11"/>
    <p:sldId id="312" r:id="rId12"/>
    <p:sldId id="303" r:id="rId13"/>
    <p:sldId id="304" r:id="rId14"/>
    <p:sldId id="305" r:id="rId15"/>
    <p:sldId id="306" r:id="rId16"/>
    <p:sldId id="307" r:id="rId17"/>
    <p:sldId id="308" r:id="rId18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18" autoAdjust="0"/>
  </p:normalViewPr>
  <p:slideViewPr>
    <p:cSldViewPr>
      <p:cViewPr varScale="1">
        <p:scale>
          <a:sx n="53" d="100"/>
          <a:sy n="53" d="100"/>
        </p:scale>
        <p:origin x="15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5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0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1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2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8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algn="ctr"/>
            <a:r>
              <a:rPr lang="en-IN" sz="4000" b="1" dirty="0">
                <a:solidFill>
                  <a:srgbClr val="C00000"/>
                </a:solidFill>
              </a:rPr>
              <a:t>C-Programming</a:t>
            </a: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A618B-C962-2615-3AB3-6AC2F76A3AC9}"/>
              </a:ext>
            </a:extLst>
          </p:cNvPr>
          <p:cNvSpPr txBox="1"/>
          <p:nvPr/>
        </p:nvSpPr>
        <p:spPr>
          <a:xfrm>
            <a:off x="76200" y="381000"/>
            <a:ext cx="8991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Constant 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Fixed values that do not change during the execution of a program.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7453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D9783DE-DED2-6362-5DC2-E78870710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-152400"/>
            <a:ext cx="8915400" cy="647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Integer Constants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 of [0-9] with 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fractional part.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can be in decimal, octal, or hexadecimal formats: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Decimal: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123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Octal: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0123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(starts with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Hexadecimal: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0x123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0X123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(starts with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800" dirty="0"/>
              <a:t>int </a:t>
            </a:r>
            <a:r>
              <a:rPr lang="en-IN" sz="2800" dirty="0" err="1"/>
              <a:t>binaryValue</a:t>
            </a:r>
            <a:r>
              <a:rPr lang="en-IN" sz="2800" dirty="0"/>
              <a:t> = 0b1010; // Binary for decimal 10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84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B93F6C-D5B1-7058-58B6-E7AB227B7B63}"/>
              </a:ext>
            </a:extLst>
          </p:cNvPr>
          <p:cNvSpPr txBox="1"/>
          <p:nvPr/>
        </p:nvSpPr>
        <p:spPr>
          <a:xfrm>
            <a:off x="381000" y="381000"/>
            <a:ext cx="8610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8-bit signed integer</a:t>
            </a:r>
            <a:r>
              <a:rPr lang="en-IN" sz="2800" dirty="0"/>
              <a:t> can store numbers </a:t>
            </a:r>
          </a:p>
          <a:p>
            <a:r>
              <a:rPr lang="en-IN" sz="2800" dirty="0"/>
              <a:t> </a:t>
            </a:r>
            <a:r>
              <a:rPr lang="en-IN" sz="2800" b="1" dirty="0"/>
              <a:t>–128 to +127</a:t>
            </a:r>
            <a:r>
              <a:rPr lang="en-IN" sz="2800" dirty="0"/>
              <a:t>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stored using </a:t>
            </a:r>
            <a:r>
              <a:rPr lang="en-IN" sz="2800" b="1" dirty="0"/>
              <a:t>two’s complement representation</a:t>
            </a:r>
            <a:r>
              <a:rPr lang="en-IN" sz="2800" dirty="0"/>
              <a:t> in memory.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D955C1-00C9-FCFE-87B2-537E4CDFD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14" y="2286000"/>
            <a:ext cx="861806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 allocation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bit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for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(most significant bit, MSB).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positive number (or zero)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negative number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bits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used for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(absolute value).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27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F99330-67FF-398D-E152-0A22BBA601EB}"/>
              </a:ext>
            </a:extLst>
          </p:cNvPr>
          <p:cNvSpPr txBox="1"/>
          <p:nvPr/>
        </p:nvSpPr>
        <p:spPr>
          <a:xfrm>
            <a:off x="304800" y="38100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Positive numbers (0 to 127)</a:t>
            </a:r>
          </a:p>
          <a:p>
            <a:r>
              <a:rPr lang="en-IN" sz="2800" dirty="0"/>
              <a:t>+5 → 00000101</a:t>
            </a:r>
          </a:p>
          <a:p>
            <a:r>
              <a:rPr lang="en-IN" sz="2800" dirty="0"/>
              <a:t>+127 → 01111111</a:t>
            </a:r>
          </a:p>
          <a:p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0FB69E-65E9-7812-004A-8430C191B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78969"/>
            <a:ext cx="8001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numbers (–1 to –128)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two’s complement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the absolute value in binary.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Invert all bits (one’s complement).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result.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–5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binary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00000101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Invert bits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11111010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11111011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–5 is stored 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11111011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85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DD6D99-21DC-12F0-D75A-CF929C95F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4322"/>
            <a:ext cx="8382000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Floating-Point Constants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Floating-point constants represent real numbers with a fractional part.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3.14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-0.001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6.022e23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(scientific notation)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IEEE Standard 754 Floating Point Numbers - GeeksforGeeks">
            <a:extLst>
              <a:ext uri="{FF2B5EF4-FFF2-40B4-BE49-F238E27FC236}">
                <a16:creationId xmlns:a16="http://schemas.microsoft.com/office/drawing/2014/main" id="{A0E22571-FD69-211F-38D1-0B55F8A5F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971800"/>
            <a:ext cx="71437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78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B67FC-19F7-FA0F-0EEB-25CB6F5DCBE9}"/>
              </a:ext>
            </a:extLst>
          </p:cNvPr>
          <p:cNvSpPr txBox="1"/>
          <p:nvPr/>
        </p:nvSpPr>
        <p:spPr>
          <a:xfrm>
            <a:off x="1143000" y="156864"/>
            <a:ext cx="6998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Positive number: 	19.125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2A56A-5B2E-17F5-56BC-AC0E03B28792}"/>
              </a:ext>
            </a:extLst>
          </p:cNvPr>
          <p:cNvSpPr txBox="1"/>
          <p:nvPr/>
        </p:nvSpPr>
        <p:spPr>
          <a:xfrm>
            <a:off x="1143000" y="1175084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Binary:						10011.001</a:t>
            </a:r>
            <a:r>
              <a:rPr lang="en-IN" sz="3600" b="1" baseline="-25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ABF92-FAAE-7EE8-271D-305C6A1B7C04}"/>
              </a:ext>
            </a:extLst>
          </p:cNvPr>
          <p:cNvSpPr txBox="1"/>
          <p:nvPr/>
        </p:nvSpPr>
        <p:spPr>
          <a:xfrm>
            <a:off x="914400" y="2116804"/>
            <a:ext cx="7988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Normalize				</a:t>
            </a:r>
            <a:r>
              <a:rPr lang="en-IN" sz="3600" dirty="0"/>
              <a:t>1.0011001×2</a:t>
            </a:r>
            <a:r>
              <a:rPr lang="en-IN" sz="3600" baseline="300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CC904-45A7-9E6B-2980-4BA73F17BF1F}"/>
              </a:ext>
            </a:extLst>
          </p:cNvPr>
          <p:cNvSpPr txBox="1"/>
          <p:nvPr/>
        </p:nvSpPr>
        <p:spPr>
          <a:xfrm>
            <a:off x="1167063" y="3404772"/>
            <a:ext cx="647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0 10000011 00110010000000000000000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43023-B389-7316-AB96-095CAA655D94}"/>
              </a:ext>
            </a:extLst>
          </p:cNvPr>
          <p:cNvSpPr txBox="1"/>
          <p:nvPr/>
        </p:nvSpPr>
        <p:spPr>
          <a:xfrm>
            <a:off x="1828800" y="48768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2</a:t>
            </a:r>
            <a:r>
              <a:rPr lang="en-IN" sz="3200" baseline="30000" dirty="0"/>
              <a:t>4</a:t>
            </a:r>
            <a:r>
              <a:rPr lang="en-IN" sz="3200" dirty="0"/>
              <a:t>X (0.203125+1)= </a:t>
            </a:r>
            <a:r>
              <a:rPr lang="en-IN" sz="3200" b="1" dirty="0"/>
              <a:t>19.125</a:t>
            </a:r>
            <a:endParaRPr lang="en-IN" sz="3200" baseline="30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30621B-AD90-C92A-3632-71B0F338F06A}"/>
              </a:ext>
            </a:extLst>
          </p:cNvPr>
          <p:cNvCxnSpPr/>
          <p:nvPr/>
        </p:nvCxnSpPr>
        <p:spPr>
          <a:xfrm>
            <a:off x="4642184" y="40386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80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77355AE-B346-7F40-E1E1-D2115CEB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687824"/>
            <a:ext cx="8534400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Constants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constants represent single characters enclosed in single quotes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'A'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'z'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'#’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and ‘5’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‘\n’ ‘	\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	‘5’ 	5 </a:t>
            </a:r>
          </a:p>
        </p:txBody>
      </p:sp>
    </p:spTree>
    <p:extLst>
      <p:ext uri="{BB962C8B-B14F-4D97-AF65-F5344CB8AC3E}">
        <p14:creationId xmlns:p14="http://schemas.microsoft.com/office/powerpoint/2010/main" val="160065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 Tutorials - Character Set in C Programming Language">
            <a:extLst>
              <a:ext uri="{FF2B5EF4-FFF2-40B4-BE49-F238E27FC236}">
                <a16:creationId xmlns:a16="http://schemas.microsoft.com/office/drawing/2014/main" id="{B497ABA7-A833-D4C8-CD1E-B6DCC5D7C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-1487"/>
            <a:ext cx="7620000" cy="686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37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85E31E-72E7-BB88-73D6-AE8B64A9A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85800"/>
            <a:ext cx="7391400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Constants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constants are sequences of characters enclosed in double quotes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"Hello"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"C Programming“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 Unicode MS"/>
              </a:rPr>
              <a:t>5 , ‘5’  , “5”  	</a:t>
            </a:r>
            <a:r>
              <a:rPr lang="en-US" altLang="en-US" sz="2800" b="1" dirty="0">
                <a:solidFill>
                  <a:srgbClr val="FF0000"/>
                </a:solidFill>
                <a:latin typeface="Arial Unicode MS"/>
              </a:rPr>
              <a:t>a	‘a’   	“a”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30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9192F1-D370-0855-6071-8DD03EF35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0158"/>
            <a:ext cx="9067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formatted string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+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 specifier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how data is displayed or stored.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for output to screen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scanf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for input from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/>
              <a:t>Int a=23,b=56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 err="1">
                <a:latin typeface="Arial" panose="020B0604020202020204" pitchFamily="34" charset="0"/>
              </a:rPr>
              <a:t>printf</a:t>
            </a:r>
            <a:r>
              <a:rPr lang="en-US" altLang="en-US" sz="3200" dirty="0">
                <a:latin typeface="Arial" panose="020B0604020202020204" pitchFamily="34" charset="0"/>
              </a:rPr>
              <a:t>("Integer: %d\n", a)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6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18955-B083-D4D1-4647-4476683543B8}"/>
              </a:ext>
            </a:extLst>
          </p:cNvPr>
          <p:cNvSpPr txBox="1"/>
          <p:nvPr/>
        </p:nvSpPr>
        <p:spPr>
          <a:xfrm>
            <a:off x="266700" y="885383"/>
            <a:ext cx="8610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dirty="0"/>
              <a:t>Using </a:t>
            </a:r>
            <a:r>
              <a:rPr lang="en-IN" sz="3200" b="1" dirty="0" err="1"/>
              <a:t>const</a:t>
            </a:r>
            <a:r>
              <a:rPr lang="en-IN" sz="3200" b="1" dirty="0"/>
              <a:t> keyword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3200" b="1" dirty="0"/>
              <a:t>it tells the compiler that the variable’s value cannot be changed after initialization.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3200" b="1" dirty="0"/>
          </a:p>
          <a:p>
            <a:pPr algn="just"/>
            <a:r>
              <a:rPr lang="en-IN" sz="3200" b="1" dirty="0" err="1"/>
              <a:t>const</a:t>
            </a:r>
            <a:r>
              <a:rPr lang="en-IN" sz="3200" b="1" dirty="0"/>
              <a:t> Int g=10;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03089-363A-4F0E-9DF6-3C0482F730E4}"/>
              </a:ext>
            </a:extLst>
          </p:cNvPr>
          <p:cNvSpPr txBox="1"/>
          <p:nvPr/>
        </p:nvSpPr>
        <p:spPr>
          <a:xfrm>
            <a:off x="2057400" y="87868"/>
            <a:ext cx="6324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</a:rPr>
              <a:t>How to create constant</a:t>
            </a:r>
            <a:endParaRPr lang="en-IN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773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06393-7298-1E38-B0D5-D164F1B31F8D}"/>
              </a:ext>
            </a:extLst>
          </p:cNvPr>
          <p:cNvSpPr txBox="1"/>
          <p:nvPr/>
        </p:nvSpPr>
        <p:spPr>
          <a:xfrm>
            <a:off x="381000" y="914400"/>
            <a:ext cx="876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Definition:</a:t>
            </a:r>
            <a:br>
              <a:rPr lang="en-IN" sz="3200" dirty="0"/>
            </a:br>
            <a:r>
              <a:rPr lang="en-IN" sz="3200" dirty="0"/>
              <a:t>A </a:t>
            </a:r>
            <a:r>
              <a:rPr lang="en-IN" sz="3200" b="1" dirty="0"/>
              <a:t>text replacement</a:t>
            </a:r>
            <a:r>
              <a:rPr lang="en-IN" sz="3200" dirty="0"/>
              <a:t> done by the preprocessor before compilation.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D46EC6-A7B6-3B25-0AF1-738AAF2E9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228600"/>
            <a:ext cx="7086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Preprocessor Macro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#define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48CB3F-9691-094D-2C79-C0339738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72028"/>
            <a:ext cx="6430378" cy="41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6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4CD81-DD2F-731C-4A73-A2FE2F7D7A9E}"/>
              </a:ext>
            </a:extLst>
          </p:cNvPr>
          <p:cNvSpPr txBox="1"/>
          <p:nvPr/>
        </p:nvSpPr>
        <p:spPr>
          <a:xfrm>
            <a:off x="609600" y="68580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Key Points: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No </a:t>
            </a:r>
            <a:r>
              <a:rPr lang="en-IN" sz="2800" b="1" dirty="0"/>
              <a:t>type checking</a:t>
            </a:r>
            <a:r>
              <a:rPr lang="en-IN" sz="2800" dirty="0"/>
              <a:t> — just raw text substitution.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No memory storage — value is inserted everywhere it’s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Can define constants </a:t>
            </a:r>
            <a:r>
              <a:rPr lang="en-IN" sz="2800" b="1" dirty="0"/>
              <a:t>and</a:t>
            </a:r>
            <a:r>
              <a:rPr lang="en-IN" sz="2800" dirty="0"/>
              <a:t> macro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Debugging can be harder (because substitution happens before compilation).</a:t>
            </a:r>
          </a:p>
        </p:txBody>
      </p:sp>
    </p:spTree>
    <p:extLst>
      <p:ext uri="{BB962C8B-B14F-4D97-AF65-F5344CB8AC3E}">
        <p14:creationId xmlns:p14="http://schemas.microsoft.com/office/powerpoint/2010/main" val="116554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5E4511-625B-7327-217F-99B418084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" y="609600"/>
            <a:ext cx="9144000" cy="325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53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8E8822-AFFC-D30F-F854-560D3048BED1}"/>
              </a:ext>
            </a:extLst>
          </p:cNvPr>
          <p:cNvSpPr txBox="1"/>
          <p:nvPr/>
        </p:nvSpPr>
        <p:spPr>
          <a:xfrm>
            <a:off x="457200" y="1143000"/>
            <a:ext cx="7696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Enums are designed to represent </a:t>
            </a:r>
            <a:r>
              <a:rPr lang="en-IN" sz="3200" b="1" dirty="0"/>
              <a:t>integral symbolic constants</a:t>
            </a:r>
            <a:r>
              <a:rPr lang="en-IN" sz="3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AF883-B00F-142B-97C9-D36D28900F1B}"/>
              </a:ext>
            </a:extLst>
          </p:cNvPr>
          <p:cNvSpPr txBox="1"/>
          <p:nvPr/>
        </p:nvSpPr>
        <p:spPr>
          <a:xfrm>
            <a:off x="1828800" y="304800"/>
            <a:ext cx="525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Enums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36D167-3025-7811-388E-4A5E32D38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7" y="4098667"/>
            <a:ext cx="844275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first constant is 0, and each following constant increments by 1.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explicitly set values.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4F567C-9CA5-6A68-F15B-AF766606F083}"/>
              </a:ext>
            </a:extLst>
          </p:cNvPr>
          <p:cNvSpPr txBox="1"/>
          <p:nvPr/>
        </p:nvSpPr>
        <p:spPr>
          <a:xfrm>
            <a:off x="685800" y="2941875"/>
            <a:ext cx="6934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rgbClr val="FF0000"/>
                </a:solidFill>
              </a:rPr>
              <a:t>enum</a:t>
            </a:r>
            <a:r>
              <a:rPr lang="en-IN" sz="2800" b="1" dirty="0">
                <a:solidFill>
                  <a:srgbClr val="FF0000"/>
                </a:solidFill>
              </a:rPr>
              <a:t> RGB { RED, GREEN, BLUE }; </a:t>
            </a:r>
          </a:p>
          <a:p>
            <a:r>
              <a:rPr lang="en-IN" sz="2800" b="1" dirty="0"/>
              <a:t>// RED=0, GREEN=1, BLUE=2</a:t>
            </a:r>
          </a:p>
        </p:txBody>
      </p:sp>
    </p:spTree>
    <p:extLst>
      <p:ext uri="{BB962C8B-B14F-4D97-AF65-F5344CB8AC3E}">
        <p14:creationId xmlns:p14="http://schemas.microsoft.com/office/powerpoint/2010/main" val="765739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A4A33-1490-521F-EE48-FE122B7B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0D00208-822A-7310-35C6-20E6BE6C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2400"/>
            <a:ext cx="5562600" cy="569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873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13380</TotalTime>
  <Words>538</Words>
  <Application>Microsoft Office PowerPoint</Application>
  <PresentationFormat>On-screen Show (4:3)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Unicode MS</vt:lpstr>
      <vt:lpstr>Calibri</vt:lpstr>
      <vt:lpstr>Calibri Light</vt:lpstr>
      <vt:lpstr>Palatino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282</cp:revision>
  <dcterms:created xsi:type="dcterms:W3CDTF">2017-07-11T09:12:16Z</dcterms:created>
  <dcterms:modified xsi:type="dcterms:W3CDTF">2025-08-18T05:45:35Z</dcterms:modified>
</cp:coreProperties>
</file>